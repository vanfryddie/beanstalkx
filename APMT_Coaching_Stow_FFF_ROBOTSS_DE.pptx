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caf3993-1b4c-a3d6-cd4d-d791633aa042}">
          <p14:sldIdLst>
            <p14:sldId id="256"/>
            <p14:sldId id="257"/>
            <p14:sldId id="258"/>
            <p14:sldId id="259"/>
            <p14:sldId id="260"/>
          </p14:sldIdLst>
        </p14:section>
        <p14:section name="First Face Fix" id="{a4a2add4-58ab-8843-5120-cd0349045e94}">
          <p14:sldIdLst>
            <p14:sldId id="261"/>
            <p14:sldId id="262"/>
            <p14:sldId id="263"/>
            <p14:sldId id="264"/>
            <p14:sldId id="265"/>
          </p14:sldIdLst>
        </p14:section>
        <p14:section name="ROBOTSS" id="{4a4cdf89-8b82-1206-4270-efac0ff45df2}">
          <p14:sldIdLst>
            <p14:sldId id="266"/>
            <p14:sldId id="267"/>
            <p14:sldId id="268"/>
            <p14:sldId id="269"/>
            <p14:sldId id="270"/>
            <p14:sldId id="271"/>
            <p14:sldId id="272"/>
            <p14:sldId id="273"/>
            <p14:sldId id="274"/>
          </p14:sldIdLst>
        </p14:section>
        <p14:section name="Wrap-up" id="{f9600704-69cc-3c60-6f07-95e5f1da011e}">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und danke, dass ihr euch ein paar Minuten Zeit nehmt. Dieses Video ist für unser Stow-Team. Heute geht es um Amnesty und um zwei einfache Gewohnheiten, die richtig viel bewirken: First Face Fix und die ROBOTSS-Regeln für die Bin-Etikette. Los geht's.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was ist Amnesty? Amnesty ist ein Artikel, der in einem gestowten Pod-Bin sein sollte, aber physisch nicht da ist. Er wurde nach Prime gestowt und noch nicht gepickt, ist aber rausgefallen oder an der Station oder auf dem Boden gelandet. Das System denkt, er liegt noch im Bin. Das erzeugt einen Fehler in unserem Bestand und kann zu einem Pick Short führen. Und das gefährdet unseren 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taucht an zwei Stellen auf. Floor Amnesty heißt, Artikel fallen aus den Pods auf den Robotics-Boden. Station Amnesty heißt, Artikel bleiben an der Station liegen. Beides hat dieselbe Ursache. Schlechte Bin-Etikette ist die Nummer eins bei Amnesty, und die gute Nachricht ist: Bin-Etikette haben wir komplett selbst in der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kommt der wichtige Unterschied. Amnesty ist nur für Artikel, die schon in einen Pod-Bin gestowt und noch nicht gepickt wurden. Wenn so ein Artikel nicht in seinem Bin ist, kommt er in die Amnesty. Wenn du aber einen Artikel findest, der noch nicht gestowt wurde, also noch in eine Stow-Tote oder einen Cart gehört, und vor dem Stow runtergefallen oder liegen geblieben ist, dann ist das kein Amnesty. Das ist ein Fall für Inbound Problem Solve. Wenn wir nicht gestowte Artikel in die Amnesty legen, blähen wir unseren wAPMT auf und verstecken das echte Inbound-Problem, das gelöst werden muss.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also einen Artikel findest, der nicht an seinem Platz ist, stell dir eine Frage: Wurde er schon gestowt? Wenn ja, und er gehört in einen gestowten Pod-Bin, dann ist es Amnesty. Wenn nein, und er war nie in einem Pod-Bin, dann ist es kein Amnesty. Bring ihn zu Inbound Problem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starten mit Teil eins: First Face Fix, kurz F F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ist ein Standardprozess, bei dem du die Bin-Etikette der allerersten Pod-Seite in Ordnung bringst, die an deine Station kommt. Das dauert nur eine Minute. Du machst es zu Schichtbeginn und nach jeder Pause. Das gilt für alle Stow- und ICQA-Mitarbeitenden.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geht's in vier Schritten. Eins: Geh an deine Station, logg dich ein, wähl deinen Process Path und sorg dafür, dass deine Station bereit ist. Zwei: Wenn die erste Pod-Seite kommt, arbeite von oben nach unten, genau wie bei der Stow Snake. Drei: Bring jeden Bin so in Ordnung, dass er die ROBOTSS-Regeln erfüllt. Die schauen wir uns gleich an. Vier: Starte deinen Prozess nach einer Minute, oder sobald die Seite ROBOTSS erfüllt.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gibt drei Dinge, die du vor oder während des First Face Fix nicht machen darfst. Scanne keine Artikel in Totes oder Bins. Lagere keine Artikel in einen anderen Bin um. Und nimm keine Artikel aus den Bins. Beim First Face Fix ordnest du nur, was schon im Bin ist, damit der Bestand genau dort bleibt, wo das System ihn erwartet.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First Face Fix startest du sauber in die Schicht, aber da hört es nicht auf. Immer wenn deine Hände in einem Bin sind, bring ihn gleich mit in Ordnung. Wenn jeder von uns jeden Bin ein bisschen besser hinterlässt, fallen keine Artikel mehr raus, wenn der Pod fährt. Wir prüfen First Face Fix mit mindestens fünfzehn Audits pro Schicht. Unser Ziel sind neunzig Prozent Compliance oder mehr, und du bekommst sofort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Teil zwei: die Regeln, die du beim First Face Fix und jedes Mal anwendest, wenn du einen Bin anfasst. Sie heißen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ROBOTSS steht für sieben Regeln. R, richtige Bin-Größe. O, nichts steht über. B, nichts verdecken. O, nicht überfüllen. T, Titel nach außen. S, Stapeln. Und S, ähnliche Artikel. Wenn du dich daran hältst, finden Picker Artikel schneller, Bins fassen mehr und nichts fällt raus, wenn der Pod fährt. Schauen wir sie uns einzeln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steht für die richtige Bin-Größe. Links liegt ein winziger Artikel allein in einem großen Bin. Das verschwendet Platz, und kleine Artikel gehen verloren. Rechts passt der Artikel zur Größe des Bins. Stow immer in den kleinsten Bin, in den der Artikel passt, und richte ihn zuerst nach seiner Länge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O heißt: nichts steht über. Links steht der Karton über den Rand des Bins. Rechts ist alles komplett drin. Alles, was übersteht, kann beim Fahren hängen bleiben. Das führt zu Drive-Blockaden und sogar Pod-Crashes, und so landen Artikel auf dem Boden.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steht für Blocking, also nichts verdecken. Links liegt ein flacher Artikel quer vorne und verdeckt alles dahinter. Der Picker sieht nicht, was er braucht. Rechts ist jeder Artikel von vorne sichtbar. Stell nie einen großen Artikel vor einen kleinen, und stell flache Artikel aufrecht, damit sie nicht zwischen den Haltebändern rausrutschen.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zweite O heißt: nicht überfüllen. Links wurden Artikel reingequetscht, und der Bin beult aus. Rechts passt alles, und es bleibt Platz zum Picken. Reinquetschen beschädigt Kundenware, und aus einem überfüllten Bin fällt am ehesten etwas raus.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steht für Titel nach außen. Links zeigen die Buchrücken nach innen, der Picker kann die Titel nicht lesen. Rechts zeigen die Rücken nach außen, und die Titel sind gut lesbar. Stow Bücher und DVDs immer mit dem Rücken nach außen, damit Picker sie sofort finden.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S steht für Stapeln. Links sind verschiedene Artikel übereinander gestapelt. Rechts stehen sie nebeneinander, unter den Bändern. Stapel nur Artikel mit der gleichen ASIN, nur wenn sie mindestens zwei flache Seiten haben, und bleib immer unter den Haltebändern.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letzte S steht für ähnliche Artikel. Links liegen zwei fast gleich aussehende Kabel, ein Meter und zwei Meter, im selben Bin. Da greift der Picker schnell zum falschen. Rechts sind die ähnlichen Artikel in verschiedenen Bins. Nutze für ähnliche Artikel die Cross-Methode, denn das System warnt dich nicht immer auf dem Bildschirm.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sieht deine Schicht aus, Bin für Bin. Zu Schichtbeginn und nach jeder Pause machst du deinen einminütigen First Face Fix. Bei jedem Bin, den du anfasst, wendest du ROBOTSS an. Und die ganze Schicht über räumst du nebenbei auf. Wenn du diese drei Dinge konsequent machst, fallen weniger Artikel raus, unser wAPMT sinkt, und unsere Kunden bekommen, was sie bestellt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Kleine Handgriffe, große Wirkung. Danke fürs Zuschauen, und danke, dass du dich um jeden Bin kümmerst, jedes Mal. Wenn du Fragen hast, sprich deinen Process Guide, deinen Area Manager oder das ICQA-Team an. Und nimm dir bitte kurz Zeit, dieses Video zu bewerten.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STOW</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Jeder Bin, jedes Mal</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First Face Fix und die ROBOTSS-Regeln: zwei Gewohnheiten, die Amnesty an der Quelle stoppen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Was ist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Ein Artikel, der in einem gestowten Pod-Bin sein sollte, aber physisch nicht da ist.</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gehört in einen gestowten Bin</a:t>
            </a:r>
            <a:endParaRPr lang="en-US" sz="1700" dirty="0"/>
          </a:p>
          <a:p>
            <a:pPr indent="0" marL="0">
              <a:buNone/>
            </a:pPr>
            <a:r>
              <a:rPr lang="en-US" sz="1400" dirty="0">
                <a:solidFill>
                  <a:schemeClr val="accent4"/>
                </a:solidFill>
              </a:rPr>
              <a:t>Nach Prime gestowt und noch nicht gepickt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ist physisch nicht da</a:t>
            </a:r>
            <a:endParaRPr lang="en-US" sz="1700" dirty="0"/>
          </a:p>
          <a:p>
            <a:pPr indent="0" marL="0">
              <a:buNone/>
            </a:pPr>
            <a:r>
              <a:rPr lang="en-US" sz="1400" dirty="0">
                <a:solidFill>
                  <a:schemeClr val="accent4"/>
                </a:solidFill>
              </a:rPr>
              <a:t>Er ist rausgefallen oder an der Station oder auf dem Boden gelandet</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gefährdet den Kunden</a:t>
            </a:r>
            <a:endParaRPr lang="en-US" sz="1700" dirty="0"/>
          </a:p>
          <a:p>
            <a:pPr indent="0" marL="0">
              <a:buNone/>
            </a:pPr>
            <a:r>
              <a:rPr lang="en-US" sz="1400" dirty="0">
                <a:solidFill>
                  <a:schemeClr val="accent4"/>
                </a:solidFill>
              </a:rPr>
              <a:t>Ein virtueller Überbestand, der zu einem Pick Short führen kann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Woher Amnesty kommt</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Artikel, die beim Fahren aus den Pods auf den AR-Boden fallen</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Artikel, die an der Station liegen bleiben, wenn der Pod wegfährt</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Schlechte Bin-Etikette ist die Ursache Nr. 1 für Amnesty.</a:t>
            </a:r>
            <a:endParaRPr lang="en-US" sz="1800" dirty="0"/>
          </a:p>
          <a:p>
            <a:pPr indent="0" marL="0">
              <a:buNone/>
            </a:pPr>
            <a:r>
              <a:rPr lang="en-US" sz="1500" dirty="0">
                <a:solidFill>
                  <a:srgbClr val="9EDFF7"/>
                </a:solidFill>
              </a:rPr>
              <a:t>Gute Bin-Etikette hat jeder von uns selbst in der Hand.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oder Problem Solve?</a:t>
            </a:r>
            <a:endParaRPr lang="en-US" sz="2800" dirty="0"/>
          </a:p>
        </p:txBody>
      </p:sp>
      <p:sp>
        <p:nvSpPr>
          <p:cNvPr id="3" name="Side card 1"/>
          <p:cNvSpPr/>
          <p:nvPr/>
        </p:nvSpPr>
        <p:spPr>
          <a:xfrm>
            <a:off x="45720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685800" y="1527048"/>
            <a:ext cx="384048" cy="384048"/>
          </a:xfrm>
          <a:prstGeom prst="rect">
            <a:avLst/>
          </a:prstGeom>
        </p:spPr>
      </p:pic>
      <p:sp>
        <p:nvSpPr>
          <p:cNvPr id="5" name="Side tag 1"/>
          <p:cNvSpPr txBox="1"/>
          <p:nvPr/>
        </p:nvSpPr>
        <p:spPr>
          <a:xfrm>
            <a:off x="118872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6"/>
                </a:solidFill>
              </a:rPr>
              <a:t>AMNESTY</a:t>
            </a:r>
            <a:endParaRPr lang="en-US" sz="1300" dirty="0"/>
          </a:p>
        </p:txBody>
      </p:sp>
      <p:sp>
        <p:nvSpPr>
          <p:cNvPr id="6" name="Side text 1"/>
          <p:cNvSpPr txBox="1"/>
          <p:nvPr/>
        </p:nvSpPr>
        <p:spPr>
          <a:xfrm>
            <a:off x="68580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Gestowt, nicht gepickt</a:t>
            </a:r>
            <a:endParaRPr lang="en-US" sz="1800" dirty="0"/>
          </a:p>
          <a:p>
            <a:pPr marL="342900" indent="-342900">
              <a:spcAft>
                <a:spcPts val="300"/>
              </a:spcAft>
              <a:buSzPct val="100000"/>
              <a:buChar char="•"/>
            </a:pPr>
            <a:r>
              <a:rPr lang="en-US" sz="1400" dirty="0">
                <a:solidFill>
                  <a:schemeClr val="accent4"/>
                </a:solidFill>
              </a:rPr>
              <a:t>Gehört in einen Pod-Bin</a:t>
            </a:r>
            <a:endParaRPr lang="en-US" sz="1800" dirty="0"/>
          </a:p>
          <a:p>
            <a:pPr marL="342900" indent="-342900">
              <a:spcAft>
                <a:spcPts val="300"/>
              </a:spcAft>
              <a:buSzPct val="100000"/>
              <a:buChar char="•"/>
            </a:pPr>
            <a:r>
              <a:rPr lang="en-US" sz="1400" dirty="0">
                <a:solidFill>
                  <a:schemeClr val="accent4"/>
                </a:solidFill>
              </a:rPr>
              <a:t>Rausgefallen oder fehlt</a:t>
            </a:r>
            <a:endParaRPr lang="en-US" sz="1800" dirty="0"/>
          </a:p>
        </p:txBody>
      </p:sp>
      <p:sp>
        <p:nvSpPr>
          <p:cNvPr id="7" name="Side action 1"/>
          <p:cNvSpPr txBox="1"/>
          <p:nvPr/>
        </p:nvSpPr>
        <p:spPr>
          <a:xfrm>
            <a:off x="685800" y="3355848"/>
            <a:ext cx="2194560" cy="365760"/>
          </a:xfrm>
          <a:prstGeom prst="rect">
            <a:avLst/>
          </a:prstGeom>
          <a:noFill/>
          <a:ln/>
        </p:spPr>
        <p:txBody>
          <a:bodyPr wrap="square" lIns="0" tIns="0" rIns="0" bIns="0" rtlCol="0" anchor="ctr"/>
          <a:lstStyle/>
          <a:p>
            <a:pPr indent="0" marL="0">
              <a:buNone/>
            </a:pPr>
            <a:r>
              <a:rPr lang="en-US" sz="1300" b="1" dirty="0">
                <a:solidFill>
                  <a:schemeClr val="accent6"/>
                </a:solidFill>
              </a:rPr>
              <a:t>→ </a:t>
            </a:r>
            <a:pPr indent="0" marL="0">
              <a:buNone/>
            </a:pPr>
            <a:r>
              <a:rPr lang="en-US" sz="1300" b="1" dirty="0">
                <a:solidFill>
                  <a:schemeClr val="accent6"/>
                </a:solidFill>
              </a:rPr>
              <a:t>Ab in die Amnesty</a:t>
            </a:r>
            <a:endParaRPr lang="en-US" sz="1300" dirty="0"/>
          </a:p>
        </p:txBody>
      </p:sp>
      <p:sp>
        <p:nvSpPr>
          <p:cNvPr id="8" name="Side card 2"/>
          <p:cNvSpPr/>
          <p:nvPr/>
        </p:nvSpPr>
        <p:spPr>
          <a:xfrm>
            <a:off x="324612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3474720" y="1527048"/>
            <a:ext cx="384048" cy="384048"/>
          </a:xfrm>
          <a:prstGeom prst="rect">
            <a:avLst/>
          </a:prstGeom>
        </p:spPr>
      </p:pic>
      <p:sp>
        <p:nvSpPr>
          <p:cNvPr id="10" name="Side tag 2"/>
          <p:cNvSpPr txBox="1"/>
          <p:nvPr/>
        </p:nvSpPr>
        <p:spPr>
          <a:xfrm>
            <a:off x="397764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3"/>
                </a:solidFill>
              </a:rPr>
              <a:t>KEIN AMNESTY</a:t>
            </a:r>
            <a:endParaRPr lang="en-US"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Noch nicht gestowt</a:t>
            </a:r>
            <a:endParaRPr lang="en-US" sz="1800" dirty="0"/>
          </a:p>
          <a:p>
            <a:pPr marL="342900" indent="-342900">
              <a:spcAft>
                <a:spcPts val="300"/>
              </a:spcAft>
              <a:buSzPct val="100000"/>
              <a:buChar char="•"/>
            </a:pPr>
            <a:r>
              <a:rPr lang="en-US" sz="1400" dirty="0">
                <a:solidFill>
                  <a:schemeClr val="accent4"/>
                </a:solidFill>
              </a:rPr>
              <a:t>Gehört noch in Stow-Tote oder Cart</a:t>
            </a:r>
            <a:endParaRPr lang="en-US" sz="1800" dirty="0"/>
          </a:p>
          <a:p>
            <a:pPr marL="342900" indent="-342900">
              <a:spcAft>
                <a:spcPts val="300"/>
              </a:spcAft>
              <a:buSzPct val="100000"/>
              <a:buChar char="•"/>
            </a:pPr>
            <a:r>
              <a:rPr lang="en-US" sz="1400" dirty="0">
                <a:solidFill>
                  <a:schemeClr val="accent4"/>
                </a:solidFill>
              </a:rPr>
              <a:t>Vor dem Stow liegen geblieben</a:t>
            </a:r>
            <a:endParaRPr lang="en-US"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indent="0" marL="0">
              <a:buNone/>
            </a:pPr>
            <a:r>
              <a:rPr lang="en-US" sz="1300" b="1" dirty="0">
                <a:solidFill>
                  <a:schemeClr val="accent3"/>
                </a:solidFill>
              </a:rPr>
              <a:t>→ </a:t>
            </a:r>
            <a:pPr indent="0" marL="0">
              <a:buNone/>
            </a:pPr>
            <a:r>
              <a:rPr lang="en-US" sz="1300" b="1" dirty="0">
                <a:solidFill>
                  <a:schemeClr val="accent3"/>
                </a:solidFill>
              </a:rPr>
              <a:t>Inbound Problem Solve</a:t>
            </a:r>
            <a:endParaRPr lang="en-US" sz="1300" dirty="0"/>
          </a:p>
        </p:txBody>
      </p:sp>
      <p:sp>
        <p:nvSpPr>
          <p:cNvPr id="13" name="Inflate callout"/>
          <p:cNvSpPr/>
          <p:nvPr/>
        </p:nvSpPr>
        <p:spPr>
          <a:xfrm>
            <a:off x="457200" y="3977640"/>
            <a:ext cx="5394960" cy="685800"/>
          </a:xfrm>
          <a:prstGeom prst="roundRect">
            <a:avLst>
              <a:gd name="adj" fmla="val 13333"/>
            </a:avLst>
          </a:prstGeom>
          <a:solidFill>
            <a:schemeClr val="tx2"/>
          </a:solidFill>
          <a:ln/>
        </p:spPr>
      </p:sp>
      <p:sp>
        <p:nvSpPr>
          <p:cNvPr id="14" name="Inflate text"/>
          <p:cNvSpPr txBox="1"/>
          <p:nvPr/>
        </p:nvSpPr>
        <p:spPr>
          <a:xfrm>
            <a:off x="731520" y="3977640"/>
            <a:ext cx="4846320" cy="685800"/>
          </a:xfrm>
          <a:prstGeom prst="rect">
            <a:avLst/>
          </a:prstGeom>
          <a:noFill/>
          <a:ln/>
        </p:spPr>
        <p:txBody>
          <a:bodyPr wrap="square" lIns="0" tIns="0" rIns="0" bIns="0" rtlCol="0" anchor="ctr"/>
          <a:lstStyle/>
          <a:p>
            <a:pPr indent="0" marL="0">
              <a:buNone/>
            </a:pPr>
            <a:r>
              <a:rPr lang="en-US" sz="1500" b="1" dirty="0">
                <a:solidFill>
                  <a:schemeClr val="bg1"/>
                </a:solidFill>
              </a:rPr>
              <a:t>Nicht gestowte Artikel in die Amnesty zu legen, bläht wAPMT auf und versteckt das echte Inbound-Problem.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Eine Frage reicht</a:t>
            </a:r>
            <a:endParaRPr lang="en-US" sz="2800" dirty="0"/>
          </a:p>
        </p:txBody>
      </p:sp>
      <p:sp>
        <p:nvSpPr>
          <p:cNvPr id="3" name="Start box"/>
          <p:cNvSpPr/>
          <p:nvPr/>
        </p:nvSpPr>
        <p:spPr>
          <a:xfrm>
            <a:off x="1783080" y="1325880"/>
            <a:ext cx="2743200" cy="548640"/>
          </a:xfrm>
          <a:prstGeom prst="roundRect">
            <a:avLst>
              <a:gd name="adj" fmla="val 16667"/>
            </a:avLst>
          </a:prstGeom>
          <a:solidFill>
            <a:schemeClr val="tx2"/>
          </a:solidFill>
          <a:ln/>
        </p:spPr>
      </p:sp>
      <p:sp>
        <p:nvSpPr>
          <p:cNvPr id="4" name="Start text"/>
          <p:cNvSpPr txBox="1"/>
          <p:nvPr/>
        </p:nvSpPr>
        <p:spPr>
          <a:xfrm>
            <a:off x="1783080" y="1325880"/>
            <a:ext cx="2743200" cy="548640"/>
          </a:xfrm>
          <a:prstGeom prst="rect">
            <a:avLst/>
          </a:prstGeom>
          <a:noFill/>
          <a:ln/>
        </p:spPr>
        <p:txBody>
          <a:bodyPr wrap="square" lIns="0" tIns="0" rIns="0" bIns="0" rtlCol="0" anchor="ctr"/>
          <a:lstStyle/>
          <a:p>
            <a:pPr algn="ctr" indent="0" marL="0">
              <a:buNone/>
            </a:pPr>
            <a:r>
              <a:rPr lang="en-US" sz="1500" dirty="0">
                <a:solidFill>
                  <a:schemeClr val="bg1"/>
                </a:solidFill>
              </a:rPr>
              <a:t>Du findest einen Artikel, der nicht an seinem Platz ist</a:t>
            </a:r>
            <a:endParaRPr lang="en-US" sz="1500" dirty="0"/>
          </a:p>
        </p:txBody>
      </p:sp>
      <p:sp>
        <p:nvSpPr>
          <p:cNvPr id="5" name="Line 1"/>
          <p:cNvSpPr/>
          <p:nvPr/>
        </p:nvSpPr>
        <p:spPr>
          <a:xfrm>
            <a:off x="3154680" y="1874520"/>
            <a:ext cx="0" cy="228600"/>
          </a:xfrm>
          <a:prstGeom prst="line">
            <a:avLst/>
          </a:prstGeom>
          <a:noFill/>
          <a:ln w="25400">
            <a:solidFill>
              <a:srgbClr val="9AA6B2"/>
            </a:solidFill>
            <a:prstDash val="solid"/>
          </a:ln>
        </p:spPr>
      </p:sp>
      <p:sp>
        <p:nvSpPr>
          <p:cNvPr id="6" name="Question box"/>
          <p:cNvSpPr/>
          <p:nvPr/>
        </p:nvSpPr>
        <p:spPr>
          <a:xfrm>
            <a:off x="1554480" y="2103120"/>
            <a:ext cx="3200400" cy="685800"/>
          </a:xfrm>
          <a:prstGeom prst="roundRect">
            <a:avLst>
              <a:gd name="adj" fmla="val 13333"/>
            </a:avLst>
          </a:prstGeom>
          <a:solidFill>
            <a:schemeClr val="accent1"/>
          </a:solidFill>
          <a:ln/>
        </p:spPr>
      </p:sp>
      <p:sp>
        <p:nvSpPr>
          <p:cNvPr id="7" name="Question text"/>
          <p:cNvSpPr txBox="1"/>
          <p:nvPr/>
        </p:nvSpPr>
        <p:spPr>
          <a:xfrm>
            <a:off x="1554480" y="2103120"/>
            <a:ext cx="3200400" cy="685800"/>
          </a:xfrm>
          <a:prstGeom prst="rect">
            <a:avLst/>
          </a:prstGeom>
          <a:noFill/>
          <a:ln/>
        </p:spPr>
        <p:txBody>
          <a:bodyPr wrap="square" lIns="0" tIns="0" rIns="0" bIns="0" rtlCol="0" anchor="ctr"/>
          <a:lstStyle/>
          <a:p>
            <a:pPr algn="ctr" indent="0" marL="0">
              <a:buNone/>
            </a:pPr>
            <a:r>
              <a:rPr lang="en-US" sz="1800" b="1" dirty="0">
                <a:solidFill>
                  <a:schemeClr val="bg1"/>
                </a:solidFill>
              </a:rPr>
              <a:t>Wurde er schon gestowt?</a:t>
            </a:r>
            <a:endParaRPr lang="en-US" sz="1800" dirty="0"/>
          </a:p>
        </p:txBody>
      </p:sp>
      <p:sp>
        <p:nvSpPr>
          <p:cNvPr id="8" name="Line 2"/>
          <p:cNvSpPr/>
          <p:nvPr/>
        </p:nvSpPr>
        <p:spPr>
          <a:xfrm>
            <a:off x="3154680" y="2788920"/>
            <a:ext cx="0" cy="228600"/>
          </a:xfrm>
          <a:prstGeom prst="line">
            <a:avLst/>
          </a:prstGeom>
          <a:noFill/>
          <a:ln w="25400">
            <a:solidFill>
              <a:srgbClr val="9AA6B2"/>
            </a:solidFill>
            <a:prstDash val="solid"/>
          </a:ln>
        </p:spPr>
      </p:sp>
      <p:sp>
        <p:nvSpPr>
          <p:cNvPr id="9" name="Line 3"/>
          <p:cNvSpPr/>
          <p:nvPr/>
        </p:nvSpPr>
        <p:spPr>
          <a:xfrm>
            <a:off x="1783080" y="3017520"/>
            <a:ext cx="2743200" cy="0"/>
          </a:xfrm>
          <a:prstGeom prst="line">
            <a:avLst/>
          </a:prstGeom>
          <a:noFill/>
          <a:ln w="25400">
            <a:solidFill>
              <a:srgbClr val="9AA6B2"/>
            </a:solidFill>
            <a:prstDash val="solid"/>
          </a:ln>
        </p:spPr>
      </p:sp>
      <p:sp>
        <p:nvSpPr>
          <p:cNvPr id="10" name="Line 4"/>
          <p:cNvSpPr/>
          <p:nvPr/>
        </p:nvSpPr>
        <p:spPr>
          <a:xfrm>
            <a:off x="1783080" y="3017520"/>
            <a:ext cx="0" cy="228600"/>
          </a:xfrm>
          <a:prstGeom prst="line">
            <a:avLst/>
          </a:prstGeom>
          <a:noFill/>
          <a:ln w="25400">
            <a:solidFill>
              <a:srgbClr val="9AA6B2"/>
            </a:solidFill>
            <a:prstDash val="solid"/>
          </a:ln>
        </p:spPr>
      </p:sp>
      <p:sp>
        <p:nvSpPr>
          <p:cNvPr id="11" name="Line 5"/>
          <p:cNvSpPr/>
          <p:nvPr/>
        </p:nvSpPr>
        <p:spPr>
          <a:xfrm>
            <a:off x="4526280" y="3017520"/>
            <a:ext cx="0" cy="228600"/>
          </a:xfrm>
          <a:prstGeom prst="line">
            <a:avLst/>
          </a:prstGeom>
          <a:noFill/>
          <a:ln w="25400">
            <a:solidFill>
              <a:srgbClr val="9AA6B2"/>
            </a:solidFill>
            <a:prstDash val="solid"/>
          </a:ln>
        </p:spPr>
      </p:sp>
      <p:sp>
        <p:nvSpPr>
          <p:cNvPr id="12" name="Outcome 1"/>
          <p:cNvSpPr/>
          <p:nvPr/>
        </p:nvSpPr>
        <p:spPr>
          <a:xfrm>
            <a:off x="457200" y="3246120"/>
            <a:ext cx="2651760" cy="1280160"/>
          </a:xfrm>
          <a:prstGeom prst="roundRect">
            <a:avLst>
              <a:gd name="adj" fmla="val 7143"/>
            </a:avLst>
          </a:prstGeom>
          <a:solidFill>
            <a:schemeClr val="bg1"/>
          </a:solidFill>
          <a:ln/>
        </p:spPr>
      </p:sp>
      <p:sp>
        <p:nvSpPr>
          <p:cNvPr id="13" name="Outcome text 1"/>
          <p:cNvSpPr txBox="1"/>
          <p:nvPr/>
        </p:nvSpPr>
        <p:spPr>
          <a:xfrm>
            <a:off x="6400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JA</a:t>
            </a:r>
            <a:endParaRPr lang="en-US" sz="1300" dirty="0"/>
          </a:p>
          <a:p>
            <a:pPr algn="ctr" indent="0" marL="0">
              <a:buNone/>
            </a:pPr>
            <a:r>
              <a:rPr lang="en-US" sz="1800" b="1" dirty="0">
                <a:solidFill>
                  <a:schemeClr val="accent6"/>
                </a:solidFill>
              </a:rPr>
              <a:t>Amnesty</a:t>
            </a:r>
            <a:endParaRPr lang="en-US" sz="1300" dirty="0"/>
          </a:p>
          <a:p>
            <a:pPr algn="ctr" indent="0" marL="0">
              <a:buNone/>
            </a:pPr>
            <a:r>
              <a:rPr lang="en-US" sz="1400" dirty="0">
                <a:solidFill>
                  <a:schemeClr val="tx1"/>
                </a:solidFill>
              </a:rPr>
              <a:t>Er gehört in einen gestowten Pod-Bin</a:t>
            </a:r>
            <a:endParaRPr lang="en-US" sz="1300" dirty="0"/>
          </a:p>
        </p:txBody>
      </p:sp>
      <p:sp>
        <p:nvSpPr>
          <p:cNvPr id="14" name="Outcome 2"/>
          <p:cNvSpPr/>
          <p:nvPr/>
        </p:nvSpPr>
        <p:spPr>
          <a:xfrm>
            <a:off x="3200400" y="3246120"/>
            <a:ext cx="2651760" cy="1280160"/>
          </a:xfrm>
          <a:prstGeom prst="roundRect">
            <a:avLst>
              <a:gd name="adj" fmla="val 7143"/>
            </a:avLst>
          </a:prstGeom>
          <a:solidFill>
            <a:srgbClr val="FBECEC"/>
          </a:solidFill>
          <a:ln/>
        </p:spPr>
      </p:sp>
      <p:sp>
        <p:nvSpPr>
          <p:cNvPr id="15" name="Outcome text 2"/>
          <p:cNvSpPr txBox="1"/>
          <p:nvPr/>
        </p:nvSpPr>
        <p:spPr>
          <a:xfrm>
            <a:off x="33832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NEIN</a:t>
            </a:r>
            <a:endParaRPr lang="en-US" sz="1300" dirty="0"/>
          </a:p>
          <a:p>
            <a:pPr algn="ctr" indent="0" marL="0">
              <a:buNone/>
            </a:pPr>
            <a:r>
              <a:rPr lang="en-US" sz="1800" b="1" dirty="0">
                <a:solidFill>
                  <a:schemeClr val="accent3"/>
                </a:solidFill>
              </a:rPr>
              <a:t>Inbound Problem Solve</a:t>
            </a:r>
            <a:endParaRPr lang="en-US" sz="1300" dirty="0"/>
          </a:p>
          <a:p>
            <a:pPr algn="ctr" indent="0" marL="0">
              <a:buNone/>
            </a:pPr>
            <a:r>
              <a:rPr lang="en-US" sz="1400" dirty="0">
                <a:solidFill>
                  <a:schemeClr val="tx1"/>
                </a:solidFill>
              </a:rPr>
              <a:t>Kein Amnesty: Er war nie in einem Pod-Bin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TEIL 1</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First Face Fix</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Eine Minute. Die erste Pod-Seite. Zu jedem Schichtbeginn und nach jeder Pause.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Was ist First Face Fix?</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Minute, um die erste Pod-Seite in Ordnung zu bringen</a:t>
            </a:r>
            <a:endParaRPr lang="en-US" sz="7200" dirty="0"/>
          </a:p>
        </p:txBody>
      </p:sp>
      <p:pic>
        <p:nvPicPr>
          <p:cNvPr id="5" name="Fact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act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Wann</a:t>
            </a:r>
            <a:endParaRPr lang="en-US" sz="1700" dirty="0"/>
          </a:p>
          <a:p>
            <a:pPr indent="0" marL="0">
              <a:buNone/>
            </a:pPr>
            <a:r>
              <a:rPr lang="en-US" sz="1400" dirty="0">
                <a:solidFill>
                  <a:schemeClr val="accent4"/>
                </a:solidFill>
              </a:rPr>
              <a:t>Zum Schichtbeginn und nach jeder Pause</a:t>
            </a:r>
            <a:endParaRPr lang="en-US" sz="1700" dirty="0"/>
          </a:p>
        </p:txBody>
      </p:sp>
      <p:pic>
        <p:nvPicPr>
          <p:cNvPr id="7" name="Fact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act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Was</a:t>
            </a:r>
            <a:endParaRPr lang="en-US" sz="1700" dirty="0"/>
          </a:p>
          <a:p>
            <a:pPr indent="0" marL="0">
              <a:buNone/>
            </a:pPr>
            <a:r>
              <a:rPr lang="en-US" sz="1400" dirty="0">
                <a:solidFill>
                  <a:schemeClr val="accent4"/>
                </a:solidFill>
              </a:rPr>
              <a:t>Die erste Pod-Seite, die an deine Station kommt</a:t>
            </a:r>
            <a:endParaRPr lang="en-US" sz="1700" dirty="0"/>
          </a:p>
        </p:txBody>
      </p:sp>
      <p:pic>
        <p:nvPicPr>
          <p:cNvPr id="9" name="Fact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act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Wer</a:t>
            </a:r>
            <a:endParaRPr lang="en-US" sz="1700" dirty="0"/>
          </a:p>
          <a:p>
            <a:pPr indent="0" marL="0">
              <a:buNone/>
            </a:pPr>
            <a:r>
              <a:rPr lang="en-US" sz="1400" dirty="0">
                <a:solidFill>
                  <a:schemeClr val="accent4"/>
                </a:solidFill>
              </a:rPr>
              <a:t>Alle Stow- und ICQA-Mitarbeitenden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FFF in 4 Schritten</a:t>
            </a:r>
            <a:endParaRPr lang="en-US" sz="2800" dirty="0"/>
          </a:p>
        </p:txBody>
      </p:sp>
      <p:sp>
        <p:nvSpPr>
          <p:cNvPr id="3" name="Step badge 1"/>
          <p:cNvSpPr/>
          <p:nvPr/>
        </p:nvSpPr>
        <p:spPr>
          <a:xfrm>
            <a:off x="457200" y="1325880"/>
            <a:ext cx="548640" cy="548640"/>
          </a:xfrm>
          <a:prstGeom prst="ellipse">
            <a:avLst/>
          </a:prstGeom>
          <a:solidFill>
            <a:schemeClr val="accent1"/>
          </a:solidFill>
          <a:ln/>
        </p:spPr>
      </p:sp>
      <p:sp>
        <p:nvSpPr>
          <p:cNvPr id="4" name="Step number 1"/>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tep 1"/>
          <p:cNvSpPr txBox="1"/>
          <p:nvPr/>
        </p:nvSpPr>
        <p:spPr>
          <a:xfrm>
            <a:off x="1280160" y="126187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Mach dich bereit</a:t>
            </a:r>
            <a:endParaRPr lang="en-US" sz="1700" dirty="0"/>
          </a:p>
          <a:p>
            <a:pPr indent="0" marL="0">
              <a:buNone/>
            </a:pPr>
            <a:r>
              <a:rPr lang="en-US" sz="1400" dirty="0">
                <a:solidFill>
                  <a:schemeClr val="accent4"/>
                </a:solidFill>
              </a:rPr>
              <a:t>Einloggen, Process Path wählen, Station checken</a:t>
            </a:r>
            <a:endParaRPr lang="en-US" sz="1700" dirty="0"/>
          </a:p>
        </p:txBody>
      </p:sp>
      <p:sp>
        <p:nvSpPr>
          <p:cNvPr id="6" name="Step badge 2"/>
          <p:cNvSpPr/>
          <p:nvPr/>
        </p:nvSpPr>
        <p:spPr>
          <a:xfrm>
            <a:off x="457200" y="2148840"/>
            <a:ext cx="548640" cy="548640"/>
          </a:xfrm>
          <a:prstGeom prst="ellipse">
            <a:avLst/>
          </a:prstGeom>
          <a:solidFill>
            <a:schemeClr val="accent1"/>
          </a:solidFill>
          <a:ln/>
        </p:spPr>
      </p:sp>
      <p:sp>
        <p:nvSpPr>
          <p:cNvPr id="7" name="Step number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tep 2"/>
          <p:cNvSpPr txBox="1"/>
          <p:nvPr/>
        </p:nvSpPr>
        <p:spPr>
          <a:xfrm>
            <a:off x="1280160" y="208483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Von oben nach unten</a:t>
            </a:r>
            <a:endParaRPr lang="en-US" sz="1700" dirty="0"/>
          </a:p>
          <a:p>
            <a:pPr indent="0" marL="0">
              <a:buNone/>
            </a:pPr>
            <a:r>
              <a:rPr lang="en-US" sz="1400" dirty="0">
                <a:solidFill>
                  <a:schemeClr val="accent4"/>
                </a:solidFill>
              </a:rPr>
              <a:t>Oben an der Seite starten und der Stow Snake folgen</a:t>
            </a:r>
            <a:endParaRPr lang="en-US" sz="1700" dirty="0"/>
          </a:p>
        </p:txBody>
      </p:sp>
      <p:sp>
        <p:nvSpPr>
          <p:cNvPr id="9" name="Step badge 3"/>
          <p:cNvSpPr/>
          <p:nvPr/>
        </p:nvSpPr>
        <p:spPr>
          <a:xfrm>
            <a:off x="457200" y="2971800"/>
            <a:ext cx="548640" cy="548640"/>
          </a:xfrm>
          <a:prstGeom prst="ellipse">
            <a:avLst/>
          </a:prstGeom>
          <a:solidFill>
            <a:schemeClr val="accent1"/>
          </a:solidFill>
          <a:ln/>
        </p:spPr>
      </p:sp>
      <p:sp>
        <p:nvSpPr>
          <p:cNvPr id="10" name="Step number 3"/>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Step 3"/>
          <p:cNvSpPr txBox="1"/>
          <p:nvPr/>
        </p:nvSpPr>
        <p:spPr>
          <a:xfrm>
            <a:off x="1280160" y="290779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Jeden Bin richten</a:t>
            </a:r>
            <a:endParaRPr lang="en-US" sz="1700" dirty="0"/>
          </a:p>
          <a:p>
            <a:pPr indent="0" marL="0">
              <a:buNone/>
            </a:pPr>
            <a:r>
              <a:rPr lang="en-US" sz="1400" dirty="0">
                <a:solidFill>
                  <a:schemeClr val="accent4"/>
                </a:solidFill>
              </a:rPr>
              <a:t>Jeden Bin nach den ROBOTSS-Regeln ordnen</a:t>
            </a:r>
            <a:endParaRPr lang="en-US" sz="1700" dirty="0"/>
          </a:p>
        </p:txBody>
      </p:sp>
      <p:sp>
        <p:nvSpPr>
          <p:cNvPr id="12" name="Step badge 4"/>
          <p:cNvSpPr/>
          <p:nvPr/>
        </p:nvSpPr>
        <p:spPr>
          <a:xfrm>
            <a:off x="457200" y="3794760"/>
            <a:ext cx="548640" cy="548640"/>
          </a:xfrm>
          <a:prstGeom prst="ellipse">
            <a:avLst/>
          </a:prstGeom>
          <a:solidFill>
            <a:schemeClr val="accent1"/>
          </a:solidFill>
          <a:ln/>
        </p:spPr>
      </p:sp>
      <p:sp>
        <p:nvSpPr>
          <p:cNvPr id="13" name="Step number 4"/>
          <p:cNvSpPr txBox="1"/>
          <p:nvPr/>
        </p:nvSpPr>
        <p:spPr>
          <a:xfrm>
            <a:off x="4572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Step 4"/>
          <p:cNvSpPr txBox="1"/>
          <p:nvPr/>
        </p:nvSpPr>
        <p:spPr>
          <a:xfrm>
            <a:off x="1280160" y="373075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Prozess starten</a:t>
            </a:r>
            <a:endParaRPr lang="en-US" sz="1700" dirty="0"/>
          </a:p>
          <a:p>
            <a:pPr indent="0" marL="0">
              <a:buNone/>
            </a:pPr>
            <a:r>
              <a:rPr lang="en-US" sz="1400" dirty="0">
                <a:solidFill>
                  <a:schemeClr val="accent4"/>
                </a:solidFill>
              </a:rPr>
              <a:t>Nach 1 Minute oder sobald die Seite ROBOTSS erfüllt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Beim FFF NICHT</a:t>
            </a:r>
            <a:endParaRPr lang="en-US" sz="2800" dirty="0"/>
          </a:p>
        </p:txBody>
      </p:sp>
      <p:sp>
        <p:nvSpPr>
          <p:cNvPr id="3" name="Dont card 1"/>
          <p:cNvSpPr/>
          <p:nvPr/>
        </p:nvSpPr>
        <p:spPr>
          <a:xfrm>
            <a:off x="45720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6858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1554480" y="1554480"/>
            <a:ext cx="365760" cy="365760"/>
          </a:xfrm>
          <a:prstGeom prst="rect">
            <a:avLst/>
          </a:prstGeom>
        </p:spPr>
      </p:pic>
      <p:sp>
        <p:nvSpPr>
          <p:cNvPr id="6" name="Dont text 1"/>
          <p:cNvSpPr txBox="1"/>
          <p:nvPr/>
        </p:nvSpPr>
        <p:spPr>
          <a:xfrm>
            <a:off x="6858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Scannen</a:t>
            </a:r>
            <a:endParaRPr lang="en-US" sz="2000" dirty="0"/>
          </a:p>
          <a:p>
            <a:pPr indent="0" marL="0">
              <a:buNone/>
            </a:pPr>
            <a:r>
              <a:rPr lang="en-US" sz="1400" dirty="0">
                <a:solidFill>
                  <a:schemeClr val="tx1"/>
                </a:solidFill>
              </a:rPr>
              <a:t>keine Artikel in Totes oder Bins</a:t>
            </a:r>
            <a:endParaRPr lang="en-US" sz="2000" dirty="0"/>
          </a:p>
        </p:txBody>
      </p:sp>
      <p:sp>
        <p:nvSpPr>
          <p:cNvPr id="7" name="Dont card 2"/>
          <p:cNvSpPr/>
          <p:nvPr/>
        </p:nvSpPr>
        <p:spPr>
          <a:xfrm>
            <a:off x="228600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25146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3383280" y="1554480"/>
            <a:ext cx="365760" cy="365760"/>
          </a:xfrm>
          <a:prstGeom prst="rect">
            <a:avLst/>
          </a:prstGeom>
        </p:spPr>
      </p:pic>
      <p:sp>
        <p:nvSpPr>
          <p:cNvPr id="10" name="Dont text 2"/>
          <p:cNvSpPr txBox="1"/>
          <p:nvPr/>
        </p:nvSpPr>
        <p:spPr>
          <a:xfrm>
            <a:off x="25146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Umlagern</a:t>
            </a:r>
            <a:endParaRPr lang="en-US" sz="2000" dirty="0"/>
          </a:p>
          <a:p>
            <a:pPr indent="0" marL="0">
              <a:buNone/>
            </a:pPr>
            <a:r>
              <a:rPr lang="en-US" sz="1400" dirty="0">
                <a:solidFill>
                  <a:schemeClr val="tx1"/>
                </a:solidFill>
              </a:rPr>
              <a:t>keine Artikel in einen anderen Bin</a:t>
            </a:r>
            <a:endParaRPr lang="en-US" sz="2000" dirty="0"/>
          </a:p>
        </p:txBody>
      </p:sp>
      <p:sp>
        <p:nvSpPr>
          <p:cNvPr id="11" name="Dont card 3"/>
          <p:cNvSpPr/>
          <p:nvPr/>
        </p:nvSpPr>
        <p:spPr>
          <a:xfrm>
            <a:off x="411480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5212080" y="1554480"/>
            <a:ext cx="365760" cy="365760"/>
          </a:xfrm>
          <a:prstGeom prst="rect">
            <a:avLst/>
          </a:prstGeom>
        </p:spPr>
      </p:pic>
      <p:sp>
        <p:nvSpPr>
          <p:cNvPr id="14" name="Dont text 3"/>
          <p:cNvSpPr txBox="1"/>
          <p:nvPr/>
        </p:nvSpPr>
        <p:spPr>
          <a:xfrm>
            <a:off x="43434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Entnehmen</a:t>
            </a:r>
            <a:endParaRPr lang="en-US" sz="2000" dirty="0"/>
          </a:p>
          <a:p>
            <a:pPr indent="0" marL="0">
              <a:buNone/>
            </a:pPr>
            <a:r>
              <a:rPr lang="en-US" sz="1400" dirty="0">
                <a:solidFill>
                  <a:schemeClr val="tx1"/>
                </a:solidFill>
              </a:rPr>
              <a:t>keine Artikel aus Bins</a:t>
            </a:r>
            <a:endParaRPr lang="en-US" sz="2000" dirty="0"/>
          </a:p>
        </p:txBody>
      </p:sp>
      <p:pic>
        <p:nvPicPr>
          <p:cNvPr id="15" name="Check icon" descr="preencoded.png">    </p:cNvPr>
          <p:cNvPicPr>
            <a:picLocks noChangeAspect="1"/>
          </p:cNvPicPr>
          <p:nvPr/>
        </p:nvPicPr>
        <p:blipFill>
          <a:blip r:embed="rId7"/>
          <a:stretch>
            <a:fillRect/>
          </a:stretch>
        </p:blipFill>
        <p:spPr>
          <a:xfrm>
            <a:off x="457200" y="3886200"/>
            <a:ext cx="365760" cy="365760"/>
          </a:xfrm>
          <a:prstGeom prst="rect">
            <a:avLst/>
          </a:prstGeom>
        </p:spPr>
      </p:pic>
      <p:sp>
        <p:nvSpPr>
          <p:cNvPr id="16" name="Do text"/>
          <p:cNvSpPr txBox="1"/>
          <p:nvPr/>
        </p:nvSpPr>
        <p:spPr>
          <a:xfrm>
            <a:off x="1005840" y="3776472"/>
            <a:ext cx="4846320" cy="594360"/>
          </a:xfrm>
          <a:prstGeom prst="rect">
            <a:avLst/>
          </a:prstGeom>
          <a:noFill/>
          <a:ln/>
        </p:spPr>
        <p:txBody>
          <a:bodyPr wrap="square" lIns="0" tIns="0" rIns="0" bIns="0" rtlCol="0" anchor="ctr"/>
          <a:lstStyle/>
          <a:p>
            <a:pPr indent="0" marL="0">
              <a:buNone/>
            </a:pPr>
            <a:r>
              <a:rPr lang="en-US" sz="1600" b="1" dirty="0">
                <a:solidFill>
                  <a:schemeClr val="accent2"/>
                </a:solidFill>
              </a:rPr>
              <a:t>Beim FFF ordnest du nur, was schon im Bin ist.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Danach: nebenbei aufräumen</a:t>
            </a:r>
            <a:endParaRPr lang="en-US" sz="2800" dirty="0"/>
          </a:p>
        </p:txBody>
      </p:sp>
      <p:sp>
        <p:nvSpPr>
          <p:cNvPr id="3" name="Quote card"/>
          <p:cNvSpPr/>
          <p:nvPr/>
        </p:nvSpPr>
        <p:spPr>
          <a:xfrm>
            <a:off x="45720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731520" y="1709928"/>
            <a:ext cx="411480" cy="411480"/>
          </a:xfrm>
          <a:prstGeom prst="rect">
            <a:avLst/>
          </a:prstGeom>
        </p:spPr>
      </p:pic>
      <p:sp>
        <p:nvSpPr>
          <p:cNvPr id="5" name="Quote"/>
          <p:cNvSpPr txBox="1"/>
          <p:nvPr/>
        </p:nvSpPr>
        <p:spPr>
          <a:xfrm>
            <a:off x="1371600" y="1325880"/>
            <a:ext cx="4297680" cy="1188720"/>
          </a:xfrm>
          <a:prstGeom prst="rect">
            <a:avLst/>
          </a:prstGeom>
          <a:noFill/>
          <a:ln/>
        </p:spPr>
        <p:txBody>
          <a:bodyPr wrap="square" lIns="0" tIns="0" rIns="0" bIns="0" rtlCol="0" anchor="ctr"/>
          <a:lstStyle/>
          <a:p>
            <a:pPr indent="0" marL="0">
              <a:buNone/>
            </a:pPr>
            <a:r>
              <a:rPr lang="en-US" sz="1800" b="1" dirty="0">
                <a:solidFill>
                  <a:schemeClr val="tx1"/>
                </a:solidFill>
              </a:rPr>
              <a:t>Hinterlass jeden Bin besser, als du ihn vorgefunden hast.</a:t>
            </a:r>
            <a:endParaRPr lang="en-US" sz="1800" dirty="0"/>
          </a:p>
          <a:p>
            <a:pPr indent="0" marL="0">
              <a:buNone/>
            </a:pPr>
            <a:r>
              <a:rPr lang="en-US" sz="1400" dirty="0">
                <a:solidFill>
                  <a:schemeClr val="accent4"/>
                </a:solidFill>
              </a:rPr>
              <a:t>Immer wenn deine Hände im Bin sind, bring ihn in Ordnung.</a:t>
            </a:r>
            <a:endParaRPr lang="en-US" sz="1800" dirty="0"/>
          </a:p>
        </p:txBody>
      </p:sp>
      <p:sp>
        <p:nvSpPr>
          <p:cNvPr id="6" name="Stat 1"/>
          <p:cNvSpPr txBox="1"/>
          <p:nvPr/>
        </p:nvSpPr>
        <p:spPr>
          <a:xfrm>
            <a:off x="45720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15</a:t>
            </a:r>
            <a:endParaRPr lang="en-US" sz="5400" dirty="0"/>
          </a:p>
          <a:p>
            <a:pPr indent="0" marL="0">
              <a:buNone/>
            </a:pPr>
            <a:r>
              <a:rPr lang="en-US" sz="1500" dirty="0">
                <a:solidFill>
                  <a:schemeClr val="accent4"/>
                </a:solidFill>
              </a:rPr>
              <a:t>FFF-Audits pro Schicht</a:t>
            </a:r>
            <a:endParaRPr lang="en-US" sz="5400" dirty="0"/>
          </a:p>
        </p:txBody>
      </p:sp>
      <p:sp>
        <p:nvSpPr>
          <p:cNvPr id="7" name="Stat 2"/>
          <p:cNvSpPr txBox="1"/>
          <p:nvPr/>
        </p:nvSpPr>
        <p:spPr>
          <a:xfrm>
            <a:off x="324612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90%+</a:t>
            </a:r>
            <a:endParaRPr lang="en-US" sz="5400" dirty="0"/>
          </a:p>
          <a:p>
            <a:pPr indent="0" marL="0">
              <a:buNone/>
            </a:pPr>
            <a:r>
              <a:rPr lang="en-US" sz="1500" dirty="0">
                <a:solidFill>
                  <a:schemeClr val="accent4"/>
                </a:solidFill>
              </a:rPr>
              <a:t>tägliches Compliance-Ziel</a:t>
            </a:r>
            <a:endParaRPr lang="en-US" sz="5400" dirty="0"/>
          </a:p>
        </p:txBody>
      </p:sp>
      <p:sp>
        <p:nvSpPr>
          <p:cNvPr id="8" name="Caption"/>
          <p:cNvSpPr txBox="1"/>
          <p:nvPr/>
        </p:nvSpPr>
        <p:spPr>
          <a:xfrm>
            <a:off x="457200" y="4343400"/>
            <a:ext cx="5394960" cy="320040"/>
          </a:xfrm>
          <a:prstGeom prst="rect">
            <a:avLst/>
          </a:prstGeom>
          <a:noFill/>
          <a:ln/>
        </p:spPr>
        <p:txBody>
          <a:bodyPr wrap="square" lIns="0" tIns="0" rIns="0" bIns="0" rtlCol="0" anchor="ctr"/>
          <a:lstStyle/>
          <a:p>
            <a:pPr indent="0" marL="0">
              <a:buNone/>
            </a:pPr>
            <a:r>
              <a:rPr lang="en-US" sz="1200" dirty="0">
                <a:solidFill>
                  <a:srgbClr val="7A8795"/>
                </a:solidFill>
              </a:rPr>
              <a:t>Audits durch ICQA, Ops und L&amp;D, mit Feedback direkt vor Ort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TEIL 2</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Bin-Etikette: ROBOTSS</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Sieben Regeln für jeden Bin, den du anfasst, in Stow, Pick und ICQA.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Sieben Regeln, ein Wort</a:t>
            </a:r>
            <a:endParaRPr lang="en-US" sz="2800" dirty="0"/>
          </a:p>
        </p:txBody>
      </p:sp>
      <p:sp>
        <p:nvSpPr>
          <p:cNvPr id="3" name="Tile 1"/>
          <p:cNvSpPr/>
          <p:nvPr/>
        </p:nvSpPr>
        <p:spPr>
          <a:xfrm>
            <a:off x="457200" y="1417320"/>
            <a:ext cx="676656" cy="868680"/>
          </a:xfrm>
          <a:prstGeom prst="roundRect">
            <a:avLst>
              <a:gd name="adj" fmla="val 13514"/>
            </a:avLst>
          </a:prstGeom>
          <a:solidFill>
            <a:schemeClr val="tx2"/>
          </a:solidFill>
          <a:ln/>
        </p:spPr>
      </p:sp>
      <p:sp>
        <p:nvSpPr>
          <p:cNvPr id="4" name="Letter 1"/>
          <p:cNvSpPr txBox="1"/>
          <p:nvPr/>
        </p:nvSpPr>
        <p:spPr>
          <a:xfrm>
            <a:off x="45720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R</a:t>
            </a:r>
            <a:endParaRPr lang="en-US" sz="3600" dirty="0"/>
          </a:p>
        </p:txBody>
      </p:sp>
      <p:sp>
        <p:nvSpPr>
          <p:cNvPr id="5" name="Label 1"/>
          <p:cNvSpPr txBox="1"/>
          <p:nvPr/>
        </p:nvSpPr>
        <p:spPr>
          <a:xfrm>
            <a:off x="42062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Richtige Bin-Größe</a:t>
            </a:r>
            <a:endParaRPr lang="en-US" sz="1200" dirty="0"/>
          </a:p>
        </p:txBody>
      </p:sp>
      <p:sp>
        <p:nvSpPr>
          <p:cNvPr id="6" name="Tile 2"/>
          <p:cNvSpPr/>
          <p:nvPr/>
        </p:nvSpPr>
        <p:spPr>
          <a:xfrm>
            <a:off x="1243584" y="1417320"/>
            <a:ext cx="676656" cy="868680"/>
          </a:xfrm>
          <a:prstGeom prst="roundRect">
            <a:avLst>
              <a:gd name="adj" fmla="val 13514"/>
            </a:avLst>
          </a:prstGeom>
          <a:solidFill>
            <a:schemeClr val="tx2"/>
          </a:solidFill>
          <a:ln/>
        </p:spPr>
      </p:sp>
      <p:sp>
        <p:nvSpPr>
          <p:cNvPr id="7" name="Letter 2"/>
          <p:cNvSpPr txBox="1"/>
          <p:nvPr/>
        </p:nvSpPr>
        <p:spPr>
          <a:xfrm>
            <a:off x="124358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8" name="Label 2"/>
          <p:cNvSpPr txBox="1"/>
          <p:nvPr/>
        </p:nvSpPr>
        <p:spPr>
          <a:xfrm>
            <a:off x="120700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Nichts steht über</a:t>
            </a:r>
            <a:endParaRPr lang="en-US" sz="1200" dirty="0"/>
          </a:p>
        </p:txBody>
      </p:sp>
      <p:sp>
        <p:nvSpPr>
          <p:cNvPr id="9" name="Tile 3"/>
          <p:cNvSpPr/>
          <p:nvPr/>
        </p:nvSpPr>
        <p:spPr>
          <a:xfrm>
            <a:off x="2029968" y="1417320"/>
            <a:ext cx="676656" cy="868680"/>
          </a:xfrm>
          <a:prstGeom prst="roundRect">
            <a:avLst>
              <a:gd name="adj" fmla="val 13514"/>
            </a:avLst>
          </a:prstGeom>
          <a:solidFill>
            <a:schemeClr val="tx2"/>
          </a:solidFill>
          <a:ln/>
        </p:spPr>
      </p:sp>
      <p:sp>
        <p:nvSpPr>
          <p:cNvPr id="10" name="Letter 3"/>
          <p:cNvSpPr txBox="1"/>
          <p:nvPr/>
        </p:nvSpPr>
        <p:spPr>
          <a:xfrm>
            <a:off x="2029968"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B</a:t>
            </a:r>
            <a:endParaRPr lang="en-US" sz="3600" dirty="0"/>
          </a:p>
        </p:txBody>
      </p:sp>
      <p:sp>
        <p:nvSpPr>
          <p:cNvPr id="11" name="Label 3"/>
          <p:cNvSpPr txBox="1"/>
          <p:nvPr/>
        </p:nvSpPr>
        <p:spPr>
          <a:xfrm>
            <a:off x="1993392"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Nichts verdecken</a:t>
            </a:r>
            <a:endParaRPr lang="en-US" sz="1200" dirty="0"/>
          </a:p>
        </p:txBody>
      </p:sp>
      <p:sp>
        <p:nvSpPr>
          <p:cNvPr id="12" name="Tile 4"/>
          <p:cNvSpPr/>
          <p:nvPr/>
        </p:nvSpPr>
        <p:spPr>
          <a:xfrm>
            <a:off x="2816352" y="1417320"/>
            <a:ext cx="676656" cy="868680"/>
          </a:xfrm>
          <a:prstGeom prst="roundRect">
            <a:avLst>
              <a:gd name="adj" fmla="val 13514"/>
            </a:avLst>
          </a:prstGeom>
          <a:solidFill>
            <a:schemeClr val="tx2"/>
          </a:solidFill>
          <a:ln/>
        </p:spPr>
      </p:sp>
      <p:sp>
        <p:nvSpPr>
          <p:cNvPr id="13" name="Letter 4"/>
          <p:cNvSpPr txBox="1"/>
          <p:nvPr/>
        </p:nvSpPr>
        <p:spPr>
          <a:xfrm>
            <a:off x="2816352"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14" name="Label 4"/>
          <p:cNvSpPr txBox="1"/>
          <p:nvPr/>
        </p:nvSpPr>
        <p:spPr>
          <a:xfrm>
            <a:off x="2779776"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Nicht über-füllen</a:t>
            </a:r>
            <a:endParaRPr lang="en-US" sz="1200" dirty="0"/>
          </a:p>
        </p:txBody>
      </p:sp>
      <p:sp>
        <p:nvSpPr>
          <p:cNvPr id="15" name="Tile 5"/>
          <p:cNvSpPr/>
          <p:nvPr/>
        </p:nvSpPr>
        <p:spPr>
          <a:xfrm>
            <a:off x="3602736" y="1417320"/>
            <a:ext cx="676656" cy="868680"/>
          </a:xfrm>
          <a:prstGeom prst="roundRect">
            <a:avLst>
              <a:gd name="adj" fmla="val 13514"/>
            </a:avLst>
          </a:prstGeom>
          <a:solidFill>
            <a:schemeClr val="tx2"/>
          </a:solidFill>
          <a:ln/>
        </p:spPr>
      </p:sp>
      <p:sp>
        <p:nvSpPr>
          <p:cNvPr id="16" name="Letter 5"/>
          <p:cNvSpPr txBox="1"/>
          <p:nvPr/>
        </p:nvSpPr>
        <p:spPr>
          <a:xfrm>
            <a:off x="3602736"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T</a:t>
            </a:r>
            <a:endParaRPr lang="en-US" sz="3600" dirty="0"/>
          </a:p>
        </p:txBody>
      </p:sp>
      <p:sp>
        <p:nvSpPr>
          <p:cNvPr id="17" name="Label 5"/>
          <p:cNvSpPr txBox="1"/>
          <p:nvPr/>
        </p:nvSpPr>
        <p:spPr>
          <a:xfrm>
            <a:off x="3566160"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Titel nach außen</a:t>
            </a:r>
            <a:endParaRPr lang="en-US" sz="1200" dirty="0"/>
          </a:p>
        </p:txBody>
      </p:sp>
      <p:sp>
        <p:nvSpPr>
          <p:cNvPr id="18" name="Tile 6"/>
          <p:cNvSpPr/>
          <p:nvPr/>
        </p:nvSpPr>
        <p:spPr>
          <a:xfrm>
            <a:off x="4389120" y="1417320"/>
            <a:ext cx="676656" cy="868680"/>
          </a:xfrm>
          <a:prstGeom prst="roundRect">
            <a:avLst>
              <a:gd name="adj" fmla="val 13514"/>
            </a:avLst>
          </a:prstGeom>
          <a:solidFill>
            <a:schemeClr val="tx2"/>
          </a:solidFill>
          <a:ln/>
        </p:spPr>
      </p:sp>
      <p:sp>
        <p:nvSpPr>
          <p:cNvPr id="19" name="Letter 6"/>
          <p:cNvSpPr txBox="1"/>
          <p:nvPr/>
        </p:nvSpPr>
        <p:spPr>
          <a:xfrm>
            <a:off x="438912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0" name="Label 6"/>
          <p:cNvSpPr txBox="1"/>
          <p:nvPr/>
        </p:nvSpPr>
        <p:spPr>
          <a:xfrm>
            <a:off x="435254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Stapeln</a:t>
            </a:r>
            <a:endParaRPr lang="en-US" sz="1200" dirty="0"/>
          </a:p>
        </p:txBody>
      </p:sp>
      <p:sp>
        <p:nvSpPr>
          <p:cNvPr id="21" name="Tile 7"/>
          <p:cNvSpPr/>
          <p:nvPr/>
        </p:nvSpPr>
        <p:spPr>
          <a:xfrm>
            <a:off x="5175504" y="1417320"/>
            <a:ext cx="676656" cy="868680"/>
          </a:xfrm>
          <a:prstGeom prst="roundRect">
            <a:avLst>
              <a:gd name="adj" fmla="val 13514"/>
            </a:avLst>
          </a:prstGeom>
          <a:solidFill>
            <a:schemeClr val="tx2"/>
          </a:solidFill>
          <a:ln/>
        </p:spPr>
      </p:sp>
      <p:sp>
        <p:nvSpPr>
          <p:cNvPr id="22" name="Letter 7"/>
          <p:cNvSpPr txBox="1"/>
          <p:nvPr/>
        </p:nvSpPr>
        <p:spPr>
          <a:xfrm>
            <a:off x="517550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3" name="Label 7"/>
          <p:cNvSpPr txBox="1"/>
          <p:nvPr/>
        </p:nvSpPr>
        <p:spPr>
          <a:xfrm>
            <a:off x="513892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Ähnliche Artikel</a:t>
            </a:r>
            <a:endParaRPr lang="en-US" sz="1200" dirty="0"/>
          </a:p>
        </p:txBody>
      </p:sp>
      <p:sp>
        <p:nvSpPr>
          <p:cNvPr id="24" name="Why card"/>
          <p:cNvSpPr/>
          <p:nvPr/>
        </p:nvSpPr>
        <p:spPr>
          <a:xfrm>
            <a:off x="457200" y="3429000"/>
            <a:ext cx="5394960" cy="1097280"/>
          </a:xfrm>
          <a:prstGeom prst="roundRect">
            <a:avLst>
              <a:gd name="adj" fmla="val 8333"/>
            </a:avLst>
          </a:prstGeom>
          <a:solidFill>
            <a:schemeClr val="bg1"/>
          </a:solidFill>
          <a:ln/>
        </p:spPr>
      </p:sp>
      <p:sp>
        <p:nvSpPr>
          <p:cNvPr id="25" name="Why text"/>
          <p:cNvSpPr txBox="1"/>
          <p:nvPr/>
        </p:nvSpPr>
        <p:spPr>
          <a:xfrm>
            <a:off x="731520" y="342900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Warum das wichtig ist: </a:t>
            </a:r>
            <a:pPr indent="0" marL="0">
              <a:buNone/>
            </a:pPr>
            <a:r>
              <a:rPr lang="en-US" sz="1500" dirty="0">
                <a:solidFill>
                  <a:schemeClr val="accent4"/>
                </a:solidFill>
              </a:rPr>
              <a:t>Picker finden Artikel schneller, Bins fassen mehr und nichts fällt raus, wenn der Pod fährt.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R: Richtige Bin-Größe</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Right bin size: wrong example. A tiny item in a big bin wastes space">    </p:cNvPr>
          <p:cNvPicPr>
            <a:picLocks noChangeAspect="1"/>
          </p:cNvPicPr>
          <p:nvPr/>
        </p:nvPicPr>
        <p:blipFill>
          <a:blip r:embed="rId1"/>
          <a:stretch>
            <a:fillRect/>
          </a:stretch>
        </p:blipFill>
        <p:spPr>
          <a:xfrm>
            <a:off x="733451" y="1417320"/>
            <a:ext cx="2053538"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Kleiner Artikel im großen Bin verschwendet Platz</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Right bin size: right example. The item suits the size of the bin">    </p:cNvPr>
          <p:cNvPicPr>
            <a:picLocks noChangeAspect="1"/>
          </p:cNvPicPr>
          <p:nvPr/>
        </p:nvPicPr>
        <p:blipFill>
          <a:blip r:embed="rId2"/>
          <a:stretch>
            <a:fillRect/>
          </a:stretch>
        </p:blipFill>
        <p:spPr>
          <a:xfrm>
            <a:off x="3478987" y="1417320"/>
            <a:ext cx="214030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Der Artikel passt zur Bin-Größe</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Nimm den kleinstmöglichen Bin und richte Artikel zuerst nach der Länge aus.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Nichts steht über</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700128" y="1417320"/>
            <a:ext cx="212018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Der Karton steht über den Bin-Rand</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21332" y="1417320"/>
            <a:ext cx="2055616"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Alles ist komplett im Bin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Alle Artikel müssen in den Bin passen. Überstand führt zu Drive-Blockaden und Pod-Crashes.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Nichts verdecken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706557" y="1417320"/>
            <a:ext cx="210732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Flacher Artikel vorne verdeckt alles dahinter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489168" y="1417320"/>
            <a:ext cx="211994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Jeder Artikel ist von vorne sichtbar</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Verdecke kleine Artikel nie mit großen. Stell flache Artikel aufrecht.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 überfüllen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19733" y="1417320"/>
            <a:ext cx="228097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Artikel reingequetscht, der Bin beult aus</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13099" y="1417320"/>
            <a:ext cx="2272081"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Artikel passen, mit Platz zum Picken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Bins nicht überfüllen. Reinquetschen beschädigt Kundenware.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 Titel nach außen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Titles out: wrong example. Spines face in, so titles can't be read">    </p:cNvPr>
          <p:cNvPicPr>
            <a:picLocks noChangeAspect="1"/>
          </p:cNvPicPr>
          <p:nvPr/>
        </p:nvPicPr>
        <p:blipFill>
          <a:blip r:embed="rId1"/>
          <a:stretch>
            <a:fillRect/>
          </a:stretch>
        </p:blipFill>
        <p:spPr>
          <a:xfrm>
            <a:off x="592074" y="1417320"/>
            <a:ext cx="2336292"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Buchrücken innen, Titel nicht lesbar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Titles out: right example. Spines face out, titles easy to read">    </p:cNvPr>
          <p:cNvPicPr>
            <a:picLocks noChangeAspect="1"/>
          </p:cNvPicPr>
          <p:nvPr/>
        </p:nvPicPr>
        <p:blipFill>
          <a:blip r:embed="rId2"/>
          <a:stretch>
            <a:fillRect/>
          </a:stretch>
        </p:blipFill>
        <p:spPr>
          <a:xfrm>
            <a:off x="3385566" y="1417320"/>
            <a:ext cx="2327148"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Buchrücken außen, Titel gut lesbar</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Bücher und DVDs kommen mit dem Rücken nach außen rein.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Stapeln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3277" y="1417320"/>
            <a:ext cx="227388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Verschiedene Artikel übereinander gestapelt</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30172" y="1417320"/>
            <a:ext cx="223793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Nebeneinander, unter den Bändern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Nur gleiche ASINs mit zwei flachen Seiten stapeln, und unter den Bändern bleiben.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Ähnliche Artikel</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imilar items: wrong example. Two look-alike items share one bin">    </p:cNvPr>
          <p:cNvPicPr>
            <a:picLocks noChangeAspect="1"/>
          </p:cNvPicPr>
          <p:nvPr/>
        </p:nvPicPr>
        <p:blipFill>
          <a:blip r:embed="rId1"/>
          <a:stretch>
            <a:fillRect/>
          </a:stretch>
        </p:blipFill>
        <p:spPr>
          <a:xfrm>
            <a:off x="608511" y="1417320"/>
            <a:ext cx="2303417"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Zwei ähnliche Artikel im selben Bin</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imilar items: right example. Look-alikes are kept in different bins">    </p:cNvPr>
          <p:cNvPicPr>
            <a:picLocks noChangeAspect="1"/>
          </p:cNvPicPr>
          <p:nvPr/>
        </p:nvPicPr>
        <p:blipFill>
          <a:blip r:embed="rId2"/>
          <a:stretch>
            <a:fillRect/>
          </a:stretch>
        </p:blipFill>
        <p:spPr>
          <a:xfrm>
            <a:off x="3397431" y="1417320"/>
            <a:ext cx="230341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Ähnliche Artikel in verschiedenen Bins</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Nutze die Cross-Methode. Das System zeigt ähnliche Artikel nicht immer an.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Deine Schicht, Bin für Bin</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Schichtbeginn und nach Pausen</a:t>
            </a:r>
            <a:endParaRPr lang="en-US" sz="1300" dirty="0"/>
          </a:p>
          <a:p>
            <a:pPr algn="ctr" indent="0" marL="0">
              <a:buNone/>
            </a:pPr>
            <a:r>
              <a:rPr lang="en-US" sz="1700" b="1" dirty="0">
                <a:solidFill>
                  <a:schemeClr val="tx1"/>
                </a:solidFill>
              </a:rPr>
              <a:t>1 Minute First Face Fix</a:t>
            </a:r>
            <a:endParaRPr lang="en-US" sz="1300" dirty="0"/>
          </a:p>
        </p:txBody>
      </p:sp>
      <p:pic>
        <p:nvPicPr>
          <p:cNvPr id="6" name="Arrow 1" descr="preencoded.png">    </p:cNvPr>
          <p:cNvPicPr>
            <a:picLocks noChangeAspect="1"/>
          </p:cNvPicPr>
          <p:nvPr/>
        </p:nvPicPr>
        <p:blipFill>
          <a:blip r:embed="rId2"/>
          <a:stretch>
            <a:fillRect/>
          </a:stretch>
        </p:blipFill>
        <p:spPr>
          <a:xfrm>
            <a:off x="2121408" y="1664208"/>
            <a:ext cx="274320" cy="274320"/>
          </a:xfrm>
          <a:prstGeom prst="rect">
            <a:avLst/>
          </a:prstGeom>
        </p:spPr>
      </p:pic>
      <p:sp>
        <p:nvSpPr>
          <p:cNvPr id="7" name="Recap circle 2"/>
          <p:cNvSpPr/>
          <p:nvPr/>
        </p:nvSpPr>
        <p:spPr>
          <a:xfrm>
            <a:off x="269748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2916936" y="1591056"/>
            <a:ext cx="429768" cy="429768"/>
          </a:xfrm>
          <a:prstGeom prst="rect">
            <a:avLst/>
          </a:prstGeom>
        </p:spPr>
      </p:pic>
      <p:sp>
        <p:nvSpPr>
          <p:cNvPr id="9"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Jeder Bin, den du anfasst</a:t>
            </a:r>
            <a:endParaRPr lang="en-US" sz="1300" dirty="0"/>
          </a:p>
          <a:p>
            <a:pPr algn="ctr" indent="0" marL="0">
              <a:buNone/>
            </a:pPr>
            <a:r>
              <a:rPr lang="en-US" sz="1700" b="1" dirty="0">
                <a:solidFill>
                  <a:schemeClr val="tx1"/>
                </a:solidFill>
              </a:rPr>
              <a:t>ROBOTSS anwenden</a:t>
            </a:r>
            <a:endParaRPr lang="en-US" sz="1300" dirty="0"/>
          </a:p>
        </p:txBody>
      </p:sp>
      <p:pic>
        <p:nvPicPr>
          <p:cNvPr id="10" name="Arrow 2" descr="preencoded.png">    </p:cNvPr>
          <p:cNvPicPr>
            <a:picLocks noChangeAspect="1"/>
          </p:cNvPicPr>
          <p:nvPr/>
        </p:nvPicPr>
        <p:blipFill>
          <a:blip r:embed="rId4"/>
          <a:stretch>
            <a:fillRect/>
          </a:stretch>
        </p:blipFill>
        <p:spPr>
          <a:xfrm>
            <a:off x="3950208" y="1664208"/>
            <a:ext cx="274320" cy="274320"/>
          </a:xfrm>
          <a:prstGeom prst="rect">
            <a:avLst/>
          </a:prstGeom>
        </p:spPr>
      </p:pic>
      <p:sp>
        <p:nvSpPr>
          <p:cNvPr id="11" name="Recap circle 3"/>
          <p:cNvSpPr/>
          <p:nvPr/>
        </p:nvSpPr>
        <p:spPr>
          <a:xfrm>
            <a:off x="452628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4745736" y="1591056"/>
            <a:ext cx="429768" cy="429768"/>
          </a:xfrm>
          <a:prstGeom prst="rect">
            <a:avLst/>
          </a:prstGeom>
        </p:spPr>
      </p:pic>
      <p:sp>
        <p:nvSpPr>
          <p:cNvPr id="13"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Die ganze Schicht</a:t>
            </a:r>
            <a:endParaRPr lang="en-US" sz="1300" dirty="0"/>
          </a:p>
          <a:p>
            <a:pPr algn="ctr" indent="0" marL="0">
              <a:buNone/>
            </a:pPr>
            <a:r>
              <a:rPr lang="en-US" sz="1700" b="1" dirty="0">
                <a:solidFill>
                  <a:schemeClr val="tx1"/>
                </a:solidFill>
              </a:rPr>
              <a:t>Nebenbei aufräumen</a:t>
            </a:r>
            <a:endParaRPr lang="en-US" sz="1300" dirty="0"/>
          </a:p>
        </p:txBody>
      </p:sp>
      <p:sp>
        <p:nvSpPr>
          <p:cNvPr id="14" name="Goal card"/>
          <p:cNvSpPr/>
          <p:nvPr/>
        </p:nvSpPr>
        <p:spPr>
          <a:xfrm>
            <a:off x="457200" y="3749040"/>
            <a:ext cx="5394960" cy="777240"/>
          </a:xfrm>
          <a:prstGeom prst="roundRect">
            <a:avLst>
              <a:gd name="adj" fmla="val 11765"/>
            </a:avLst>
          </a:prstGeom>
          <a:solidFill>
            <a:schemeClr val="tx2"/>
          </a:solidFill>
          <a:ln/>
        </p:spPr>
      </p:sp>
      <p:sp>
        <p:nvSpPr>
          <p:cNvPr id="15"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Ziel: </a:t>
            </a:r>
            <a:pPr indent="0" marL="0">
              <a:buNone/>
            </a:pPr>
            <a:r>
              <a:rPr lang="en-US" sz="1600" dirty="0">
                <a:solidFill>
                  <a:schemeClr val="bg1"/>
                </a:solidFill>
              </a:rPr>
              <a:t>weniger runterfallende Artikel, niedrigerer wAPMT, zufriedenere Kunden.</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Kleine Handgriffe. Große Wirkung.</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Video bewerten</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2026-10-12T14:48:22Z</dcterms:created>
  <dcterms:modified xsi:type="dcterms:W3CDTF">2026-10-12T14:48:22Z</dcterms:modified>
</cp:coreProperties>
</file>