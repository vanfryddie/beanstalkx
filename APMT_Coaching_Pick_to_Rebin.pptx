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05f6309b-c00d-fb4a-16dc-74631591e648}">
          <p14:sldIdLst>
            <p14:sldId id="256"/>
            <p14:sldId id="257"/>
            <p14:sldId id="258"/>
            <p14:sldId id="259"/>
            <p14:sldId id="260"/>
          </p14:sldIdLst>
        </p14:section>
        <p14:section name="Bin etiquette" id="{c577cd64-002e-99d8-3f1c-d3e9567e4b98}">
          <p14:sldIdLst>
            <p14:sldId id="261"/>
            <p14:sldId id="262"/>
            <p14:sldId id="263"/>
            <p14:sldId id="264"/>
            <p14:sldId id="265"/>
            <p14:sldId id="266"/>
          </p14:sldIdLst>
        </p14:section>
        <p14:section name="Wrap-up" id="{6d1f7199-341d-8dbd-bb1f-39f562932228}">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and thanks for taking a few minutes with me. This one is for our pick to rebin team. We'll cover two things: what really counts as amnesty, and what doesn't, and how you can keep bins healthy every time your hands are in one. Let's get into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amnesty? Amnesty is an item that should be in a stowed pod bin, but isn't physically there. It was stowed to prime and hasn't been picked yet, but it fell out, or ended up at the station or on the floor. The system still thinks it's in the bin. That creates a defect in our inventory, and it can lead to a pick short, which puts our customer at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Amnesty shows up in two places. Floor amnesty is when items fall out of pods onto the robotics floor. Station amnesty is when items are left behind at the station. Both have the same root cause. Poor bin etiquette is the number one cause of amnesty, and the good news is that bin etiquette is completely in our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key distinction. Amnesty is only for items that haven't been picked yet: they belong in a stowed pod bin, and they're not in it. Those go to amnesty. But if you find an item that has already been picked, one that should be in a tote, at a rebin location or in a chute, and it fell or was put in the wrong place, that is not amnesty. That's an outbound problem solve item. Putting picked items into amnesty over-inflates our wAPMT, and it hides the real outbound problem that needs fixing.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when you find an item out of place, ask yourself one question: has it already been picked? If the answer is no, and it belongs in a stowed pod bin, it's amnesty. If the answer is yes, and it belongs in a tote, at rebin or in a chute, it's not amnesty. Take it to outbound problem solve.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talk about bin etiquette. As a picker, your hands are in bins all shift long, so you have a big part to play in stopping amnesty before it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one piece flow. Handle one item at a time, with both hands. Take one item, scan it once, and place it in your tote before you reach back into the bin. With Pod Release Optimization, the pod can leave while you're still handling items, and anything left behind becomes station amnesty.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fix as you go. Whenever your hands are in a bin, use the ROBOTSS rules to leave it better than you found it. Look at this first example. On the left, the box is sticking out past the edge of the bin. That's overhang, and it can catch as the pod moves. On the right, everything sits fully inside. If you see something sticking out, push it back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blocking. On the left, a flat item lying across the front hides everything behind it. On the right, every item can be seen from the front. Don't leave small items hidden behind big ones, and stand flat items upright so they can't slip between the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Overstuffing. On the left, items have been forced in and the bin is bulging. That damages products, and it's the bin most likely to spill. On the right, everything fits with room to pick. Never force items back into a full bin.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stacking. On the left, different items are piled on top of each other, right up to the bands. On the right, they stand side by side, below the bands. Keep everything below the retention bands. A few seconds from you stops units falling as the pod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your pick checklist. Found an item that hasn't been picked yet? That's amnesty. Found one that's already been picked? That's outbound problem solve, not amnesty. And on every bin you touch, handle one item at a time and fix as you go. That keeps our wAPMT accurate, stops units falling, and gets our customers what they ordered.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fixes make a big impact. Thanks for watching, and thanks for looking after every bin, every time. If you have any questions, speak to your Process Guide, your Area Manager, or the ICQA team. And please take a second to rate this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SCENE">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0" y="0"/>
            <a:ext cx="2286000" cy="5143500"/>
          </a:xfrm>
          <a:prstGeom prst="rect">
            <a:avLst/>
          </a:prstGeom>
          <a:solidFill>
            <a:schemeClr val="tx2"/>
          </a:solidFill>
          <a:ln/>
        </p:spPr>
      </p:sp>
      <p:pic>
        <p:nvPicPr>
          <p:cNvPr id="3" name="Image 0" descr="preencoded.png">    </p:cNvPr>
          <p:cNvPicPr>
            <a:picLocks noChangeAspect="1"/>
          </p:cNvPicPr>
          <p:nvPr/>
        </p:nvPicPr>
        <p:blipFill>
          <a:blip r:embed="rId1"/>
          <a:stretch>
            <a:fillRect/>
          </a:stretch>
        </p:blipFill>
        <p:spPr>
          <a:xfrm>
            <a:off x="5166360" y="2606040"/>
            <a:ext cx="1097280" cy="1225296"/>
          </a:xfrm>
          <a:prstGeom prst="rect">
            <a:avLst/>
          </a:prstGeom>
        </p:spPr>
      </p:pic>
      <p:sp>
        <p:nvSpPr>
          <p:cNvPr id="4" name="Text 1"/>
          <p:cNvSpPr/>
          <p:nvPr>
            <p:ph idx="102" type="body" hasCustomPrompt="1"/>
          </p:nvPr>
        </p:nvSpPr>
        <p:spPr>
          <a:xfrm>
            <a:off x="2514600" y="502920"/>
            <a:ext cx="6400800" cy="320040"/>
          </a:xfrm>
          <a:prstGeom prst="rect">
            <a:avLst/>
          </a:prstGeom>
          <a:noFill/>
          <a:ln/>
        </p:spPr>
        <p:txBody>
          <a:bodyPr wrap="square" rtlCol="0"/>
          <a:lstStyle>
            <a:lvl1pPr algn="ctr" indent="0" marL="0">
              <a:buNone/>
              <a:defRPr lang="en-US" sz="1300" b="1" spc="300" kern="0" dirty="0">
                <a:solidFill>
                  <a:schemeClr val="accent6"/>
                </a:solidFill>
              </a:defRPr>
            </a:lvl1pPr>
          </a:lstStyle>
          <a:p>
            <a:pPr algn="ctr" indent="0" marL="0">
              <a:buNone/>
            </a:pPr>
            <a:endParaRPr lang="en-US" sz="1300" dirty="0"/>
          </a:p>
        </p:txBody>
      </p:sp>
      <p:sp>
        <p:nvSpPr>
          <p:cNvPr id="5" name="Text 1"/>
          <p:cNvSpPr/>
          <p:nvPr>
            <p:ph idx="103" type="title" hasCustomPrompt="1"/>
          </p:nvPr>
        </p:nvSpPr>
        <p:spPr>
          <a:xfrm>
            <a:off x="2514600" y="868680"/>
            <a:ext cx="6400800" cy="868680"/>
          </a:xfrm>
          <a:prstGeom prst="rect">
            <a:avLst/>
          </a:prstGeom>
          <a:noFill/>
          <a:ln/>
        </p:spPr>
        <p:txBody>
          <a:bodyPr wrap="square" rtlCol="0"/>
          <a:lstStyle>
            <a:lvl1pPr algn="ctr" indent="0" marL="0">
              <a:buNone/>
              <a:defRPr lang="en-US" sz="3600" b="1" dirty="0">
                <a:solidFill>
                  <a:schemeClr val="tx1"/>
                </a:solidFill>
              </a:defRPr>
            </a:lvl1pPr>
          </a:lstStyle>
          <a:p>
            <a:pPr algn="ctr" indent="0" marL="0">
              <a:buNone/>
            </a:pPr>
            <a:endParaRPr lang="en-US" sz="3600" dirty="0"/>
          </a:p>
        </p:txBody>
      </p:sp>
      <p:sp>
        <p:nvSpPr>
          <p:cNvPr id="6" name="Text 1"/>
          <p:cNvSpPr/>
          <p:nvPr>
            <p:ph idx="104" type="body" hasCustomPrompt="1"/>
          </p:nvPr>
        </p:nvSpPr>
        <p:spPr>
          <a:xfrm>
            <a:off x="2971800" y="1783080"/>
            <a:ext cx="5486400" cy="685800"/>
          </a:xfrm>
          <a:prstGeom prst="rect">
            <a:avLst/>
          </a:prstGeom>
          <a:noFill/>
          <a:ln/>
        </p:spPr>
        <p:txBody>
          <a:bodyPr wrap="square" rtlCol="0"/>
          <a:lstStyle>
            <a:lvl1pPr algn="ctr" indent="0" marL="0">
              <a:buNone/>
              <a:defRPr lang="en-US" sz="1600" dirty="0">
                <a:solidFill>
                  <a:schemeClr val="accent4"/>
                </a:solidFill>
              </a:defRPr>
            </a:lvl1pPr>
          </a:lstStyle>
          <a:p>
            <a:pPr algn="ct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201168" y="109728"/>
            <a:ext cx="1417320" cy="434340"/>
          </a:xfrm>
          <a:prstGeom prst="rect">
            <a:avLst/>
          </a:prstGeom>
        </p:spPr>
      </p:pic>
      <p:sp>
        <p:nvSpPr>
          <p:cNvPr id="3" name="Text 0"/>
          <p:cNvSpPr/>
          <p:nvPr>
            <p:ph idx="101" type="title" hasCustomPrompt="1"/>
          </p:nvPr>
        </p:nvSpPr>
        <p:spPr>
          <a:xfrm>
            <a:off x="457200" y="640080"/>
            <a:ext cx="5394960" cy="54864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bg1"/>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023360" y="1234440"/>
            <a:ext cx="1097280" cy="1225296"/>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4.xml"/><Relationship Id="rId7"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2" type="body" hasCustomPrompt="1"/>
          </p:nvPr>
        </p:nvSpPr>
        <p:spPr>
          <a:xfrm>
            <a:off x="2514600" y="502920"/>
            <a:ext cx="6400800" cy="320040"/>
          </a:xfrm>
          <a:prstGeom prst="rect">
            <a:avLst/>
          </a:prstGeom>
          <a:noFill/>
          <a:ln/>
        </p:spPr>
        <p:txBody>
          <a:bodyPr wrap="square" lIns="0" tIns="0" rIns="0" bIns="0" rtlCol="0"/>
          <a:lstStyle/>
          <a:p>
            <a:pPr algn="ctr" indent="0" marL="0">
              <a:buNone/>
            </a:pPr>
            <a:r>
              <a:rPr lang="en-US" sz="1300" b="1" spc="300" kern="0" dirty="0">
                <a:solidFill>
                  <a:schemeClr val="accent6"/>
                </a:solidFill>
              </a:rPr>
              <a:t>wAPMT COACHING  |  PICK TO REBIN</a:t>
            </a:r>
            <a:endParaRPr lang="en-US" sz="1300" dirty="0"/>
          </a:p>
        </p:txBody>
      </p:sp>
      <p:sp>
        <p:nvSpPr>
          <p:cNvPr id="3" name="Text 1"/>
          <p:cNvSpPr/>
          <p:nvPr>
            <p:ph idx="103" type="title" hasCustomPrompt="1"/>
          </p:nvPr>
        </p:nvSpPr>
        <p:spPr>
          <a:xfrm>
            <a:off x="2514600" y="868680"/>
            <a:ext cx="6400800" cy="868680"/>
          </a:xfrm>
          <a:prstGeom prst="rect">
            <a:avLst/>
          </a:prstGeom>
          <a:noFill/>
          <a:ln/>
        </p:spPr>
        <p:txBody>
          <a:bodyPr wrap="square" lIns="0" tIns="0" rIns="0" bIns="0" rtlCol="0" anchor="ctr"/>
          <a:lstStyle/>
          <a:p>
            <a:pPr algn="ctr" indent="0" marL="0">
              <a:buNone/>
            </a:pPr>
            <a:r>
              <a:rPr lang="en-US" sz="3600" b="1" dirty="0">
                <a:solidFill>
                  <a:schemeClr val="tx1"/>
                </a:solidFill>
              </a:rPr>
              <a:t>Every Bin, Every Time</a:t>
            </a:r>
            <a:endParaRPr lang="en-US" sz="3600" dirty="0"/>
          </a:p>
        </p:txBody>
      </p:sp>
      <p:sp>
        <p:nvSpPr>
          <p:cNvPr id="4" name="Text 1"/>
          <p:cNvSpPr/>
          <p:nvPr>
            <p:ph idx="104" type="body" hasCustomPrompt="1"/>
          </p:nvPr>
        </p:nvSpPr>
        <p:spPr>
          <a:xfrm>
            <a:off x="2971800" y="1783080"/>
            <a:ext cx="5486400" cy="685800"/>
          </a:xfrm>
          <a:prstGeom prst="rect">
            <a:avLst/>
          </a:prstGeom>
          <a:noFill/>
          <a:ln/>
        </p:spPr>
        <p:txBody>
          <a:bodyPr wrap="square" lIns="0" tIns="0" rIns="0" bIns="0" rtlCol="0" anchor="t"/>
          <a:lstStyle/>
          <a:p>
            <a:pPr algn="ctr" indent="0" marL="0">
              <a:buNone/>
            </a:pPr>
            <a:r>
              <a:rPr lang="en-US" sz="1600" dirty="0">
                <a:solidFill>
                  <a:schemeClr val="accent4"/>
                </a:solidFill>
              </a:rPr>
              <a:t>What really counts as amnesty, and how pickers keep bins healthy</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What is amnesty?</a:t>
            </a:r>
            <a:endParaRPr lang="en-US" sz="2800" dirty="0"/>
          </a:p>
        </p:txBody>
      </p:sp>
      <p:sp>
        <p:nvSpPr>
          <p:cNvPr id="3" name="Definition"/>
          <p:cNvSpPr txBox="1"/>
          <p:nvPr/>
        </p:nvSpPr>
        <p:spPr>
          <a:xfrm>
            <a:off x="457200" y="1280160"/>
            <a:ext cx="5394960" cy="548640"/>
          </a:xfrm>
          <a:prstGeom prst="rect">
            <a:avLst/>
          </a:prstGeom>
          <a:noFill/>
          <a:ln/>
        </p:spPr>
        <p:txBody>
          <a:bodyPr wrap="square" lIns="0" tIns="0" rIns="0" bIns="0" rtlCol="0" anchor="ctr"/>
          <a:lstStyle/>
          <a:p>
            <a:pPr indent="0" marL="0">
              <a:buNone/>
            </a:pPr>
            <a:r>
              <a:rPr lang="en-US" sz="1800" i="1" dirty="0">
                <a:solidFill>
                  <a:schemeClr val="accent6"/>
                </a:solidFill>
              </a:rPr>
              <a:t>An item that should be in a stowed pod bin, but is not physically there.</a:t>
            </a:r>
            <a:endParaRPr lang="en-US" sz="1800" dirty="0"/>
          </a:p>
        </p:txBody>
      </p:sp>
      <p:sp>
        <p:nvSpPr>
          <p:cNvPr id="4" name="Icon circle 1"/>
          <p:cNvSpPr/>
          <p:nvPr/>
        </p:nvSpPr>
        <p:spPr>
          <a:xfrm>
            <a:off x="457200" y="2011680"/>
            <a:ext cx="640080" cy="640080"/>
          </a:xfrm>
          <a:prstGeom prst="ellipse">
            <a:avLst/>
          </a:prstGeom>
          <a:solidFill>
            <a:schemeClr val="bg1"/>
          </a:solidFill>
          <a:ln/>
        </p:spPr>
      </p:sp>
      <p:pic>
        <p:nvPicPr>
          <p:cNvPr id="5" name="Icon 1" descr="preencoded.png">    </p:cNvPr>
          <p:cNvPicPr>
            <a:picLocks noChangeAspect="1"/>
          </p:cNvPicPr>
          <p:nvPr/>
        </p:nvPicPr>
        <p:blipFill>
          <a:blip r:embed="rId1"/>
          <a:stretch>
            <a:fillRect/>
          </a:stretch>
        </p:blipFill>
        <p:spPr>
          <a:xfrm>
            <a:off x="621792" y="2176272"/>
            <a:ext cx="310896" cy="310896"/>
          </a:xfrm>
          <a:prstGeom prst="rect">
            <a:avLst/>
          </a:prstGeom>
        </p:spPr>
      </p:pic>
      <p:sp>
        <p:nvSpPr>
          <p:cNvPr id="6" name="Row 1"/>
          <p:cNvSpPr txBox="1"/>
          <p:nvPr/>
        </p:nvSpPr>
        <p:spPr>
          <a:xfrm>
            <a:off x="1325880" y="1993392"/>
            <a:ext cx="4526280" cy="685800"/>
          </a:xfrm>
          <a:prstGeom prst="rect">
            <a:avLst/>
          </a:prstGeom>
          <a:noFill/>
          <a:ln/>
        </p:spPr>
        <p:txBody>
          <a:bodyPr wrap="square" lIns="0" tIns="0" rIns="0" bIns="0" rtlCol="0" anchor="ctr"/>
          <a:lstStyle/>
          <a:p>
            <a:pPr indent="0" marL="0">
              <a:buNone/>
            </a:pPr>
            <a:r>
              <a:rPr lang="en-US" sz="1700" b="1" dirty="0">
                <a:solidFill>
                  <a:schemeClr val="tx1"/>
                </a:solidFill>
              </a:rPr>
              <a:t>It belongs in a stowed bin</a:t>
            </a:r>
            <a:endParaRPr lang="en-US" sz="1700" dirty="0"/>
          </a:p>
          <a:p>
            <a:pPr indent="0" marL="0">
              <a:buNone/>
            </a:pPr>
            <a:r>
              <a:rPr lang="en-US" sz="1400" dirty="0">
                <a:solidFill>
                  <a:schemeClr val="accent4"/>
                </a:solidFill>
              </a:rPr>
              <a:t>Stowed to prime and not picked yet</a:t>
            </a:r>
            <a:endParaRPr lang="en-US" sz="1700" dirty="0"/>
          </a:p>
        </p:txBody>
      </p:sp>
      <p:sp>
        <p:nvSpPr>
          <p:cNvPr id="7" name="Icon circle 2"/>
          <p:cNvSpPr/>
          <p:nvPr/>
        </p:nvSpPr>
        <p:spPr>
          <a:xfrm>
            <a:off x="457200" y="2926080"/>
            <a:ext cx="640080" cy="640080"/>
          </a:xfrm>
          <a:prstGeom prst="ellipse">
            <a:avLst/>
          </a:prstGeom>
          <a:solidFill>
            <a:schemeClr val="bg1"/>
          </a:solidFill>
          <a:ln/>
        </p:spPr>
      </p:sp>
      <p:pic>
        <p:nvPicPr>
          <p:cNvPr id="8" name="Icon 2" descr="preencoded.png">    </p:cNvPr>
          <p:cNvPicPr>
            <a:picLocks noChangeAspect="1"/>
          </p:cNvPicPr>
          <p:nvPr/>
        </p:nvPicPr>
        <p:blipFill>
          <a:blip r:embed="rId2"/>
          <a:stretch>
            <a:fillRect/>
          </a:stretch>
        </p:blipFill>
        <p:spPr>
          <a:xfrm>
            <a:off x="621792" y="3090672"/>
            <a:ext cx="310896" cy="310896"/>
          </a:xfrm>
          <a:prstGeom prst="rect">
            <a:avLst/>
          </a:prstGeom>
        </p:spPr>
      </p:pic>
      <p:sp>
        <p:nvSpPr>
          <p:cNvPr id="9" name="Row 2"/>
          <p:cNvSpPr txBox="1"/>
          <p:nvPr/>
        </p:nvSpPr>
        <p:spPr>
          <a:xfrm>
            <a:off x="1325880" y="2907792"/>
            <a:ext cx="4526280" cy="685800"/>
          </a:xfrm>
          <a:prstGeom prst="rect">
            <a:avLst/>
          </a:prstGeom>
          <a:noFill/>
          <a:ln/>
        </p:spPr>
        <p:txBody>
          <a:bodyPr wrap="square" lIns="0" tIns="0" rIns="0" bIns="0" rtlCol="0" anchor="ctr"/>
          <a:lstStyle/>
          <a:p>
            <a:pPr indent="0" marL="0">
              <a:buNone/>
            </a:pPr>
            <a:r>
              <a:rPr lang="en-US" sz="1700" b="1" dirty="0">
                <a:solidFill>
                  <a:schemeClr val="tx1"/>
                </a:solidFill>
              </a:rPr>
              <a:t>It isn't physically there</a:t>
            </a:r>
            <a:endParaRPr lang="en-US" sz="1700" dirty="0"/>
          </a:p>
          <a:p>
            <a:pPr indent="0" marL="0">
              <a:buNone/>
            </a:pPr>
            <a:r>
              <a:rPr lang="en-US" sz="1400" dirty="0">
                <a:solidFill>
                  <a:schemeClr val="accent4"/>
                </a:solidFill>
              </a:rPr>
              <a:t>It fell, or ended up at the station or on the floor</a:t>
            </a:r>
            <a:endParaRPr lang="en-US" sz="1700" dirty="0"/>
          </a:p>
        </p:txBody>
      </p:sp>
      <p:sp>
        <p:nvSpPr>
          <p:cNvPr id="10" name="Icon circle 3"/>
          <p:cNvSpPr/>
          <p:nvPr/>
        </p:nvSpPr>
        <p:spPr>
          <a:xfrm>
            <a:off x="457200" y="3840480"/>
            <a:ext cx="640080" cy="640080"/>
          </a:xfrm>
          <a:prstGeom prst="ellipse">
            <a:avLst/>
          </a:prstGeom>
          <a:solidFill>
            <a:schemeClr val="bg1"/>
          </a:solidFill>
          <a:ln/>
        </p:spPr>
      </p:sp>
      <p:pic>
        <p:nvPicPr>
          <p:cNvPr id="11" name="Icon 3" descr="preencoded.png">    </p:cNvPr>
          <p:cNvPicPr>
            <a:picLocks noChangeAspect="1"/>
          </p:cNvPicPr>
          <p:nvPr/>
        </p:nvPicPr>
        <p:blipFill>
          <a:blip r:embed="rId3"/>
          <a:stretch>
            <a:fillRect/>
          </a:stretch>
        </p:blipFill>
        <p:spPr>
          <a:xfrm>
            <a:off x="621792" y="4005072"/>
            <a:ext cx="310896" cy="310896"/>
          </a:xfrm>
          <a:prstGeom prst="rect">
            <a:avLst/>
          </a:prstGeom>
        </p:spPr>
      </p:pic>
      <p:sp>
        <p:nvSpPr>
          <p:cNvPr id="12" name="Row 3"/>
          <p:cNvSpPr txBox="1"/>
          <p:nvPr/>
        </p:nvSpPr>
        <p:spPr>
          <a:xfrm>
            <a:off x="1325880" y="3822192"/>
            <a:ext cx="4526280" cy="685800"/>
          </a:xfrm>
          <a:prstGeom prst="rect">
            <a:avLst/>
          </a:prstGeom>
          <a:noFill/>
          <a:ln/>
        </p:spPr>
        <p:txBody>
          <a:bodyPr wrap="square" lIns="0" tIns="0" rIns="0" bIns="0" rtlCol="0" anchor="ctr"/>
          <a:lstStyle/>
          <a:p>
            <a:pPr indent="0" marL="0">
              <a:buNone/>
            </a:pPr>
            <a:r>
              <a:rPr lang="en-US" sz="1700" b="1" dirty="0">
                <a:solidFill>
                  <a:schemeClr val="tx1"/>
                </a:solidFill>
              </a:rPr>
              <a:t>It puts the customer at risk</a:t>
            </a:r>
            <a:endParaRPr lang="en-US" sz="1700" dirty="0"/>
          </a:p>
          <a:p>
            <a:pPr indent="0" marL="0">
              <a:buNone/>
            </a:pPr>
            <a:r>
              <a:rPr lang="en-US" sz="1400" dirty="0">
                <a:solidFill>
                  <a:schemeClr val="accent4"/>
                </a:solidFill>
              </a:rPr>
              <a:t>A virtual overage that can cause a pick short</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Where amnesty comes from</a:t>
            </a:r>
            <a:endParaRPr lang="en-US" sz="2800" dirty="0"/>
          </a:p>
        </p:txBody>
      </p:sp>
      <p:sp>
        <p:nvSpPr>
          <p:cNvPr id="3" name="Card 1"/>
          <p:cNvSpPr/>
          <p:nvPr/>
        </p:nvSpPr>
        <p:spPr>
          <a:xfrm>
            <a:off x="457200" y="1325880"/>
            <a:ext cx="2606040" cy="1783080"/>
          </a:xfrm>
          <a:prstGeom prst="roundRect">
            <a:avLst>
              <a:gd name="adj" fmla="val 5128"/>
            </a:avLst>
          </a:prstGeom>
          <a:solidFill>
            <a:schemeClr val="bg1"/>
          </a:solidFill>
          <a:ln/>
        </p:spPr>
      </p:sp>
      <p:pic>
        <p:nvPicPr>
          <p:cNvPr id="4" name="Card icon 1" descr="preencoded.png">    </p:cNvPr>
          <p:cNvPicPr>
            <a:picLocks noChangeAspect="1"/>
          </p:cNvPicPr>
          <p:nvPr/>
        </p:nvPicPr>
        <p:blipFill>
          <a:blip r:embed="rId1"/>
          <a:stretch>
            <a:fillRect/>
          </a:stretch>
        </p:blipFill>
        <p:spPr>
          <a:xfrm>
            <a:off x="685800" y="1508760"/>
            <a:ext cx="411480" cy="411480"/>
          </a:xfrm>
          <a:prstGeom prst="rect">
            <a:avLst/>
          </a:prstGeom>
        </p:spPr>
      </p:pic>
      <p:sp>
        <p:nvSpPr>
          <p:cNvPr id="5" name="Card text 1"/>
          <p:cNvSpPr txBox="1"/>
          <p:nvPr/>
        </p:nvSpPr>
        <p:spPr>
          <a:xfrm>
            <a:off x="685800" y="2011680"/>
            <a:ext cx="2194560" cy="1005840"/>
          </a:xfrm>
          <a:prstGeom prst="rect">
            <a:avLst/>
          </a:prstGeom>
          <a:noFill/>
          <a:ln/>
        </p:spPr>
        <p:txBody>
          <a:bodyPr wrap="square" lIns="0" tIns="0" rIns="0" bIns="0" rtlCol="0" anchor="t"/>
          <a:lstStyle/>
          <a:p>
            <a:pPr indent="0" marL="0">
              <a:buNone/>
            </a:pPr>
            <a:r>
              <a:rPr lang="en-US" sz="1800" b="1" dirty="0">
                <a:solidFill>
                  <a:schemeClr val="tx1"/>
                </a:solidFill>
              </a:rPr>
              <a:t>Floor amnesty</a:t>
            </a:r>
            <a:endParaRPr lang="en-US" sz="1800" dirty="0"/>
          </a:p>
          <a:p>
            <a:pPr indent="0" marL="0">
              <a:buNone/>
            </a:pPr>
            <a:r>
              <a:rPr lang="en-US" sz="1400" dirty="0">
                <a:solidFill>
                  <a:schemeClr val="accent4"/>
                </a:solidFill>
              </a:rPr>
              <a:t>Items that fall from pods onto the AR floor while pods travel</a:t>
            </a:r>
            <a:endParaRPr lang="en-US" sz="1800" dirty="0"/>
          </a:p>
        </p:txBody>
      </p:sp>
      <p:sp>
        <p:nvSpPr>
          <p:cNvPr id="6" name="Card 2"/>
          <p:cNvSpPr/>
          <p:nvPr/>
        </p:nvSpPr>
        <p:spPr>
          <a:xfrm>
            <a:off x="3246120" y="1325880"/>
            <a:ext cx="2606040" cy="1783080"/>
          </a:xfrm>
          <a:prstGeom prst="roundRect">
            <a:avLst>
              <a:gd name="adj" fmla="val 5128"/>
            </a:avLst>
          </a:prstGeom>
          <a:solidFill>
            <a:schemeClr val="bg1"/>
          </a:solidFill>
          <a:ln/>
        </p:spPr>
      </p:sp>
      <p:pic>
        <p:nvPicPr>
          <p:cNvPr id="7" name="Card icon 2" descr="preencoded.png">    </p:cNvPr>
          <p:cNvPicPr>
            <a:picLocks noChangeAspect="1"/>
          </p:cNvPicPr>
          <p:nvPr/>
        </p:nvPicPr>
        <p:blipFill>
          <a:blip r:embed="rId2"/>
          <a:stretch>
            <a:fillRect/>
          </a:stretch>
        </p:blipFill>
        <p:spPr>
          <a:xfrm>
            <a:off x="3474720" y="1508760"/>
            <a:ext cx="411480" cy="411480"/>
          </a:xfrm>
          <a:prstGeom prst="rect">
            <a:avLst/>
          </a:prstGeom>
        </p:spPr>
      </p:pic>
      <p:sp>
        <p:nvSpPr>
          <p:cNvPr id="8" name="Card text 2"/>
          <p:cNvSpPr txBox="1"/>
          <p:nvPr/>
        </p:nvSpPr>
        <p:spPr>
          <a:xfrm>
            <a:off x="3474720" y="2011680"/>
            <a:ext cx="2194560" cy="1005840"/>
          </a:xfrm>
          <a:prstGeom prst="rect">
            <a:avLst/>
          </a:prstGeom>
          <a:noFill/>
          <a:ln/>
        </p:spPr>
        <p:txBody>
          <a:bodyPr wrap="square" lIns="0" tIns="0" rIns="0" bIns="0" rtlCol="0" anchor="t"/>
          <a:lstStyle/>
          <a:p>
            <a:pPr indent="0" marL="0">
              <a:buNone/>
            </a:pPr>
            <a:r>
              <a:rPr lang="en-US" sz="1800" b="1" dirty="0">
                <a:solidFill>
                  <a:schemeClr val="tx1"/>
                </a:solidFill>
              </a:rPr>
              <a:t>Station amnesty</a:t>
            </a:r>
            <a:endParaRPr lang="en-US" sz="1800" dirty="0"/>
          </a:p>
          <a:p>
            <a:pPr indent="0" marL="0">
              <a:buNone/>
            </a:pPr>
            <a:r>
              <a:rPr lang="en-US" sz="1400" dirty="0">
                <a:solidFill>
                  <a:schemeClr val="accent4"/>
                </a:solidFill>
              </a:rPr>
              <a:t>Items left behind at the station when the pod leaves</a:t>
            </a:r>
            <a:endParaRPr lang="en-US" sz="1800" dirty="0"/>
          </a:p>
        </p:txBody>
      </p:sp>
      <p:sp>
        <p:nvSpPr>
          <p:cNvPr id="9" name="Callout"/>
          <p:cNvSpPr/>
          <p:nvPr/>
        </p:nvSpPr>
        <p:spPr>
          <a:xfrm>
            <a:off x="457200" y="3383280"/>
            <a:ext cx="5394960" cy="1143000"/>
          </a:xfrm>
          <a:prstGeom prst="roundRect">
            <a:avLst>
              <a:gd name="adj" fmla="val 8000"/>
            </a:avLst>
          </a:prstGeom>
          <a:solidFill>
            <a:schemeClr val="tx2"/>
          </a:solidFill>
          <a:ln/>
        </p:spPr>
      </p:sp>
      <p:sp>
        <p:nvSpPr>
          <p:cNvPr id="10" name="Callout text"/>
          <p:cNvSpPr txBox="1"/>
          <p:nvPr/>
        </p:nvSpPr>
        <p:spPr>
          <a:xfrm>
            <a:off x="731520" y="3383280"/>
            <a:ext cx="4846320" cy="1143000"/>
          </a:xfrm>
          <a:prstGeom prst="rect">
            <a:avLst/>
          </a:prstGeom>
          <a:noFill/>
          <a:ln/>
        </p:spPr>
        <p:txBody>
          <a:bodyPr wrap="square" lIns="0" tIns="0" rIns="0" bIns="0" rtlCol="0" anchor="ctr"/>
          <a:lstStyle/>
          <a:p>
            <a:pPr indent="0" marL="0">
              <a:buNone/>
            </a:pPr>
            <a:r>
              <a:rPr lang="en-US" sz="1800" b="1" dirty="0">
                <a:solidFill>
                  <a:schemeClr val="bg1"/>
                </a:solidFill>
              </a:rPr>
              <a:t>Poor bin etiquette is the #1 cause of amnesty.</a:t>
            </a:r>
            <a:endParaRPr lang="en-US" sz="1800" dirty="0"/>
          </a:p>
          <a:p>
            <a:pPr indent="0" marL="0">
              <a:buNone/>
            </a:pPr>
            <a:r>
              <a:rPr lang="en-US" sz="1500" dirty="0">
                <a:solidFill>
                  <a:srgbClr val="9EDFF7"/>
                </a:solidFill>
              </a:rPr>
              <a:t>Good bin etiquette is something every one of us controls.</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Amnesty or problem solve?</a:t>
            </a:r>
            <a:endParaRPr lang="en-US" sz="2800" dirty="0"/>
          </a:p>
        </p:txBody>
      </p:sp>
      <p:sp>
        <p:nvSpPr>
          <p:cNvPr id="3" name="Side card 1"/>
          <p:cNvSpPr/>
          <p:nvPr/>
        </p:nvSpPr>
        <p:spPr>
          <a:xfrm>
            <a:off x="457200" y="1325880"/>
            <a:ext cx="2606040" cy="2514600"/>
          </a:xfrm>
          <a:prstGeom prst="roundRect">
            <a:avLst>
              <a:gd name="adj" fmla="val 3636"/>
            </a:avLst>
          </a:prstGeom>
          <a:solidFill>
            <a:schemeClr val="bg1"/>
          </a:solidFill>
          <a:ln/>
        </p:spPr>
      </p:sp>
      <p:pic>
        <p:nvPicPr>
          <p:cNvPr id="4" name="Side icon 1" descr="preencoded.png">    </p:cNvPr>
          <p:cNvPicPr>
            <a:picLocks noChangeAspect="1"/>
          </p:cNvPicPr>
          <p:nvPr/>
        </p:nvPicPr>
        <p:blipFill>
          <a:blip r:embed="rId1"/>
          <a:stretch>
            <a:fillRect/>
          </a:stretch>
        </p:blipFill>
        <p:spPr>
          <a:xfrm>
            <a:off x="685800" y="1527048"/>
            <a:ext cx="384048" cy="384048"/>
          </a:xfrm>
          <a:prstGeom prst="rect">
            <a:avLst/>
          </a:prstGeom>
        </p:spPr>
      </p:pic>
      <p:sp>
        <p:nvSpPr>
          <p:cNvPr id="5" name="Side tag 1"/>
          <p:cNvSpPr txBox="1"/>
          <p:nvPr/>
        </p:nvSpPr>
        <p:spPr>
          <a:xfrm>
            <a:off x="1188720" y="1527048"/>
            <a:ext cx="1691640" cy="384048"/>
          </a:xfrm>
          <a:prstGeom prst="rect">
            <a:avLst/>
          </a:prstGeom>
          <a:noFill/>
          <a:ln/>
        </p:spPr>
        <p:txBody>
          <a:bodyPr wrap="square" lIns="0" tIns="0" rIns="0" bIns="0" rtlCol="0" anchor="ctr"/>
          <a:lstStyle/>
          <a:p>
            <a:pPr indent="0" marL="0">
              <a:buNone/>
            </a:pPr>
            <a:r>
              <a:rPr lang="en-US" sz="1300" b="1" spc="200" kern="0" dirty="0">
                <a:solidFill>
                  <a:schemeClr val="accent6"/>
                </a:solidFill>
              </a:rPr>
              <a:t>AMNESTY</a:t>
            </a:r>
            <a:endParaRPr lang="en-US" sz="1300" dirty="0"/>
          </a:p>
        </p:txBody>
      </p:sp>
      <p:sp>
        <p:nvSpPr>
          <p:cNvPr id="6" name="Side text 1"/>
          <p:cNvSpPr txBox="1"/>
          <p:nvPr/>
        </p:nvSpPr>
        <p:spPr>
          <a:xfrm>
            <a:off x="685800" y="2057400"/>
            <a:ext cx="2194560" cy="123444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Not picked yet</a:t>
            </a:r>
            <a:endParaRPr lang="en-US" sz="1800" dirty="0"/>
          </a:p>
          <a:p>
            <a:pPr marL="342900" indent="-342900">
              <a:spcAft>
                <a:spcPts val="300"/>
              </a:spcAft>
              <a:buSzPct val="100000"/>
              <a:buChar char="•"/>
            </a:pPr>
            <a:r>
              <a:rPr lang="en-US" sz="1400" dirty="0">
                <a:solidFill>
                  <a:schemeClr val="accent4"/>
                </a:solidFill>
              </a:rPr>
              <a:t>Belongs in a stowed pod bin</a:t>
            </a:r>
            <a:endParaRPr lang="en-US" sz="1800" dirty="0"/>
          </a:p>
          <a:p>
            <a:pPr marL="342900" indent="-342900">
              <a:spcAft>
                <a:spcPts val="300"/>
              </a:spcAft>
              <a:buSzPct val="100000"/>
              <a:buChar char="•"/>
            </a:pPr>
            <a:r>
              <a:rPr lang="en-US" sz="1400" dirty="0">
                <a:solidFill>
                  <a:schemeClr val="accent4"/>
                </a:solidFill>
              </a:rPr>
              <a:t>Fell out or is missing from that bin</a:t>
            </a:r>
            <a:endParaRPr lang="en-US" sz="1800" dirty="0"/>
          </a:p>
        </p:txBody>
      </p:sp>
      <p:sp>
        <p:nvSpPr>
          <p:cNvPr id="7" name="Side action 1"/>
          <p:cNvSpPr txBox="1"/>
          <p:nvPr/>
        </p:nvSpPr>
        <p:spPr>
          <a:xfrm>
            <a:off x="685800" y="3355848"/>
            <a:ext cx="2194560" cy="365760"/>
          </a:xfrm>
          <a:prstGeom prst="rect">
            <a:avLst/>
          </a:prstGeom>
          <a:noFill/>
          <a:ln/>
        </p:spPr>
        <p:txBody>
          <a:bodyPr wrap="square" lIns="0" tIns="0" rIns="0" bIns="0" rtlCol="0" anchor="ctr"/>
          <a:lstStyle/>
          <a:p>
            <a:pPr indent="0" marL="0">
              <a:buNone/>
            </a:pPr>
            <a:r>
              <a:rPr lang="en-US" sz="1500" b="1" dirty="0">
                <a:solidFill>
                  <a:schemeClr val="accent6"/>
                </a:solidFill>
              </a:rPr>
              <a:t>→ </a:t>
            </a:r>
            <a:pPr indent="0" marL="0">
              <a:buNone/>
            </a:pPr>
            <a:r>
              <a:rPr lang="en-US" sz="1500" b="1" dirty="0">
                <a:solidFill>
                  <a:schemeClr val="accent6"/>
                </a:solidFill>
              </a:rPr>
              <a:t>Send to amnesty</a:t>
            </a:r>
            <a:endParaRPr lang="en-US" sz="1500" dirty="0"/>
          </a:p>
        </p:txBody>
      </p:sp>
      <p:sp>
        <p:nvSpPr>
          <p:cNvPr id="8" name="Side card 2"/>
          <p:cNvSpPr/>
          <p:nvPr/>
        </p:nvSpPr>
        <p:spPr>
          <a:xfrm>
            <a:off x="3246120" y="1325880"/>
            <a:ext cx="2606040" cy="2514600"/>
          </a:xfrm>
          <a:prstGeom prst="roundRect">
            <a:avLst>
              <a:gd name="adj" fmla="val 3636"/>
            </a:avLst>
          </a:prstGeom>
          <a:solidFill>
            <a:srgbClr val="FBECEC"/>
          </a:solidFill>
          <a:ln/>
        </p:spPr>
      </p:sp>
      <p:pic>
        <p:nvPicPr>
          <p:cNvPr id="9" name="Side icon 2" descr="preencoded.png">    </p:cNvPr>
          <p:cNvPicPr>
            <a:picLocks noChangeAspect="1"/>
          </p:cNvPicPr>
          <p:nvPr/>
        </p:nvPicPr>
        <p:blipFill>
          <a:blip r:embed="rId2"/>
          <a:stretch>
            <a:fillRect/>
          </a:stretch>
        </p:blipFill>
        <p:spPr>
          <a:xfrm>
            <a:off x="3474720" y="1527048"/>
            <a:ext cx="384048" cy="384048"/>
          </a:xfrm>
          <a:prstGeom prst="rect">
            <a:avLst/>
          </a:prstGeom>
        </p:spPr>
      </p:pic>
      <p:sp>
        <p:nvSpPr>
          <p:cNvPr id="10" name="Side tag 2"/>
          <p:cNvSpPr txBox="1"/>
          <p:nvPr/>
        </p:nvSpPr>
        <p:spPr>
          <a:xfrm>
            <a:off x="3977640" y="1527048"/>
            <a:ext cx="1691640" cy="384048"/>
          </a:xfrm>
          <a:prstGeom prst="rect">
            <a:avLst/>
          </a:prstGeom>
          <a:noFill/>
          <a:ln/>
        </p:spPr>
        <p:txBody>
          <a:bodyPr wrap="square" lIns="0" tIns="0" rIns="0" bIns="0" rtlCol="0" anchor="ctr"/>
          <a:lstStyle/>
          <a:p>
            <a:pPr indent="0" marL="0">
              <a:buNone/>
            </a:pPr>
            <a:r>
              <a:rPr lang="en-US" sz="1300" b="1" spc="200" kern="0" dirty="0">
                <a:solidFill>
                  <a:schemeClr val="accent3"/>
                </a:solidFill>
              </a:rPr>
              <a:t>NOT AMNESTY</a:t>
            </a:r>
            <a:endParaRPr lang="en-US" sz="1300" dirty="0"/>
          </a:p>
        </p:txBody>
      </p:sp>
      <p:sp>
        <p:nvSpPr>
          <p:cNvPr id="11" name="Side text 2"/>
          <p:cNvSpPr txBox="1"/>
          <p:nvPr/>
        </p:nvSpPr>
        <p:spPr>
          <a:xfrm>
            <a:off x="3474720" y="2057400"/>
            <a:ext cx="2194560" cy="123444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Already picked</a:t>
            </a:r>
            <a:endParaRPr lang="en-US" sz="1800" dirty="0"/>
          </a:p>
          <a:p>
            <a:pPr marL="342900" indent="-342900">
              <a:spcAft>
                <a:spcPts val="300"/>
              </a:spcAft>
              <a:buSzPct val="100000"/>
              <a:buChar char="•"/>
            </a:pPr>
            <a:r>
              <a:rPr lang="en-US" sz="1400" dirty="0">
                <a:solidFill>
                  <a:schemeClr val="accent4"/>
                </a:solidFill>
              </a:rPr>
              <a:t>Belongs in a tote, rebin location or chute</a:t>
            </a:r>
            <a:endParaRPr lang="en-US" sz="1800" dirty="0"/>
          </a:p>
          <a:p>
            <a:pPr marL="342900" indent="-342900">
              <a:spcAft>
                <a:spcPts val="300"/>
              </a:spcAft>
              <a:buSzPct val="100000"/>
              <a:buChar char="•"/>
            </a:pPr>
            <a:r>
              <a:rPr lang="en-US" sz="1400" dirty="0">
                <a:solidFill>
                  <a:schemeClr val="accent4"/>
                </a:solidFill>
              </a:rPr>
              <a:t>Fell or was put in the wrong place</a:t>
            </a:r>
            <a:endParaRPr lang="en-US" sz="1800" dirty="0"/>
          </a:p>
        </p:txBody>
      </p:sp>
      <p:sp>
        <p:nvSpPr>
          <p:cNvPr id="12" name="Side action 2"/>
          <p:cNvSpPr txBox="1"/>
          <p:nvPr/>
        </p:nvSpPr>
        <p:spPr>
          <a:xfrm>
            <a:off x="3474720" y="3355848"/>
            <a:ext cx="2194560" cy="365760"/>
          </a:xfrm>
          <a:prstGeom prst="rect">
            <a:avLst/>
          </a:prstGeom>
          <a:noFill/>
          <a:ln/>
        </p:spPr>
        <p:txBody>
          <a:bodyPr wrap="square" lIns="0" tIns="0" rIns="0" bIns="0" rtlCol="0" anchor="ctr"/>
          <a:lstStyle/>
          <a:p>
            <a:pPr indent="0" marL="0">
              <a:buNone/>
            </a:pPr>
            <a:r>
              <a:rPr lang="en-US" sz="1500" b="1" dirty="0">
                <a:solidFill>
                  <a:schemeClr val="accent3"/>
                </a:solidFill>
              </a:rPr>
              <a:t>→ </a:t>
            </a:r>
            <a:pPr indent="0" marL="0">
              <a:buNone/>
            </a:pPr>
            <a:r>
              <a:rPr lang="en-US" sz="1500" b="1" dirty="0">
                <a:solidFill>
                  <a:schemeClr val="accent3"/>
                </a:solidFill>
              </a:rPr>
              <a:t>Outbound problem solve</a:t>
            </a:r>
            <a:endParaRPr lang="en-US" sz="1500" dirty="0"/>
          </a:p>
        </p:txBody>
      </p:sp>
      <p:sp>
        <p:nvSpPr>
          <p:cNvPr id="13" name="Inflate callout"/>
          <p:cNvSpPr/>
          <p:nvPr/>
        </p:nvSpPr>
        <p:spPr>
          <a:xfrm>
            <a:off x="457200" y="3977640"/>
            <a:ext cx="5394960" cy="685800"/>
          </a:xfrm>
          <a:prstGeom prst="roundRect">
            <a:avLst>
              <a:gd name="adj" fmla="val 13333"/>
            </a:avLst>
          </a:prstGeom>
          <a:solidFill>
            <a:schemeClr val="tx2"/>
          </a:solidFill>
          <a:ln/>
        </p:spPr>
      </p:sp>
      <p:sp>
        <p:nvSpPr>
          <p:cNvPr id="14" name="Inflate text"/>
          <p:cNvSpPr txBox="1"/>
          <p:nvPr/>
        </p:nvSpPr>
        <p:spPr>
          <a:xfrm>
            <a:off x="731520" y="3977640"/>
            <a:ext cx="4846320" cy="685800"/>
          </a:xfrm>
          <a:prstGeom prst="rect">
            <a:avLst/>
          </a:prstGeom>
          <a:noFill/>
          <a:ln/>
        </p:spPr>
        <p:txBody>
          <a:bodyPr wrap="square" lIns="0" tIns="0" rIns="0" bIns="0" rtlCol="0" anchor="ctr"/>
          <a:lstStyle/>
          <a:p>
            <a:pPr indent="0" marL="0">
              <a:buNone/>
            </a:pPr>
            <a:r>
              <a:rPr lang="en-US" sz="1500" b="1" dirty="0">
                <a:solidFill>
                  <a:schemeClr val="bg1"/>
                </a:solidFill>
              </a:rPr>
              <a:t>Putting picked items into amnesty over-inflates wAPMT and hides the real outbound problem.</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One question to ask</a:t>
            </a:r>
            <a:endParaRPr lang="en-US" sz="2800" dirty="0"/>
          </a:p>
        </p:txBody>
      </p:sp>
      <p:sp>
        <p:nvSpPr>
          <p:cNvPr id="3" name="Start box"/>
          <p:cNvSpPr/>
          <p:nvPr/>
        </p:nvSpPr>
        <p:spPr>
          <a:xfrm>
            <a:off x="1783080" y="1325880"/>
            <a:ext cx="2743200" cy="548640"/>
          </a:xfrm>
          <a:prstGeom prst="roundRect">
            <a:avLst>
              <a:gd name="adj" fmla="val 16667"/>
            </a:avLst>
          </a:prstGeom>
          <a:solidFill>
            <a:schemeClr val="tx2"/>
          </a:solidFill>
          <a:ln/>
        </p:spPr>
      </p:sp>
      <p:sp>
        <p:nvSpPr>
          <p:cNvPr id="4" name="Start text"/>
          <p:cNvSpPr txBox="1"/>
          <p:nvPr/>
        </p:nvSpPr>
        <p:spPr>
          <a:xfrm>
            <a:off x="1783080" y="1325880"/>
            <a:ext cx="2743200" cy="548640"/>
          </a:xfrm>
          <a:prstGeom prst="rect">
            <a:avLst/>
          </a:prstGeom>
          <a:noFill/>
          <a:ln/>
        </p:spPr>
        <p:txBody>
          <a:bodyPr wrap="square" lIns="0" tIns="0" rIns="0" bIns="0" rtlCol="0" anchor="ctr"/>
          <a:lstStyle/>
          <a:p>
            <a:pPr algn="ctr" indent="0" marL="0">
              <a:buNone/>
            </a:pPr>
            <a:r>
              <a:rPr lang="en-US" sz="1500" dirty="0">
                <a:solidFill>
                  <a:schemeClr val="bg1"/>
                </a:solidFill>
              </a:rPr>
              <a:t>You find an item out of place</a:t>
            </a:r>
            <a:endParaRPr lang="en-US" sz="1500" dirty="0"/>
          </a:p>
        </p:txBody>
      </p:sp>
      <p:sp>
        <p:nvSpPr>
          <p:cNvPr id="5" name="Line 1"/>
          <p:cNvSpPr/>
          <p:nvPr/>
        </p:nvSpPr>
        <p:spPr>
          <a:xfrm>
            <a:off x="3154680" y="1874520"/>
            <a:ext cx="0" cy="228600"/>
          </a:xfrm>
          <a:prstGeom prst="line">
            <a:avLst/>
          </a:prstGeom>
          <a:noFill/>
          <a:ln w="25400">
            <a:solidFill>
              <a:srgbClr val="9AA6B2"/>
            </a:solidFill>
            <a:prstDash val="solid"/>
          </a:ln>
        </p:spPr>
      </p:sp>
      <p:sp>
        <p:nvSpPr>
          <p:cNvPr id="6" name="Question box"/>
          <p:cNvSpPr/>
          <p:nvPr/>
        </p:nvSpPr>
        <p:spPr>
          <a:xfrm>
            <a:off x="1554480" y="2103120"/>
            <a:ext cx="3200400" cy="685800"/>
          </a:xfrm>
          <a:prstGeom prst="roundRect">
            <a:avLst>
              <a:gd name="adj" fmla="val 13333"/>
            </a:avLst>
          </a:prstGeom>
          <a:solidFill>
            <a:schemeClr val="accent1"/>
          </a:solidFill>
          <a:ln/>
        </p:spPr>
      </p:sp>
      <p:sp>
        <p:nvSpPr>
          <p:cNvPr id="7" name="Question text"/>
          <p:cNvSpPr txBox="1"/>
          <p:nvPr/>
        </p:nvSpPr>
        <p:spPr>
          <a:xfrm>
            <a:off x="1554480" y="2103120"/>
            <a:ext cx="3200400" cy="685800"/>
          </a:xfrm>
          <a:prstGeom prst="rect">
            <a:avLst/>
          </a:prstGeom>
          <a:noFill/>
          <a:ln/>
        </p:spPr>
        <p:txBody>
          <a:bodyPr wrap="square" lIns="0" tIns="0" rIns="0" bIns="0" rtlCol="0" anchor="ctr"/>
          <a:lstStyle/>
          <a:p>
            <a:pPr algn="ctr" indent="0" marL="0">
              <a:buNone/>
            </a:pPr>
            <a:r>
              <a:rPr lang="en-US" sz="1800" b="1" dirty="0">
                <a:solidFill>
                  <a:schemeClr val="bg1"/>
                </a:solidFill>
              </a:rPr>
              <a:t>Has it already been picked?</a:t>
            </a:r>
            <a:endParaRPr lang="en-US" sz="1800" dirty="0"/>
          </a:p>
        </p:txBody>
      </p:sp>
      <p:sp>
        <p:nvSpPr>
          <p:cNvPr id="8" name="Line 2"/>
          <p:cNvSpPr/>
          <p:nvPr/>
        </p:nvSpPr>
        <p:spPr>
          <a:xfrm>
            <a:off x="3154680" y="2788920"/>
            <a:ext cx="0" cy="228600"/>
          </a:xfrm>
          <a:prstGeom prst="line">
            <a:avLst/>
          </a:prstGeom>
          <a:noFill/>
          <a:ln w="25400">
            <a:solidFill>
              <a:srgbClr val="9AA6B2"/>
            </a:solidFill>
            <a:prstDash val="solid"/>
          </a:ln>
        </p:spPr>
      </p:sp>
      <p:sp>
        <p:nvSpPr>
          <p:cNvPr id="9" name="Line 3"/>
          <p:cNvSpPr/>
          <p:nvPr/>
        </p:nvSpPr>
        <p:spPr>
          <a:xfrm>
            <a:off x="1783080" y="3017520"/>
            <a:ext cx="2743200" cy="0"/>
          </a:xfrm>
          <a:prstGeom prst="line">
            <a:avLst/>
          </a:prstGeom>
          <a:noFill/>
          <a:ln w="25400">
            <a:solidFill>
              <a:srgbClr val="9AA6B2"/>
            </a:solidFill>
            <a:prstDash val="solid"/>
          </a:ln>
        </p:spPr>
      </p:sp>
      <p:sp>
        <p:nvSpPr>
          <p:cNvPr id="10" name="Line 4"/>
          <p:cNvSpPr/>
          <p:nvPr/>
        </p:nvSpPr>
        <p:spPr>
          <a:xfrm>
            <a:off x="1783080" y="3017520"/>
            <a:ext cx="0" cy="228600"/>
          </a:xfrm>
          <a:prstGeom prst="line">
            <a:avLst/>
          </a:prstGeom>
          <a:noFill/>
          <a:ln w="25400">
            <a:solidFill>
              <a:srgbClr val="9AA6B2"/>
            </a:solidFill>
            <a:prstDash val="solid"/>
          </a:ln>
        </p:spPr>
      </p:sp>
      <p:sp>
        <p:nvSpPr>
          <p:cNvPr id="11" name="Line 5"/>
          <p:cNvSpPr/>
          <p:nvPr/>
        </p:nvSpPr>
        <p:spPr>
          <a:xfrm>
            <a:off x="4526280" y="3017520"/>
            <a:ext cx="0" cy="228600"/>
          </a:xfrm>
          <a:prstGeom prst="line">
            <a:avLst/>
          </a:prstGeom>
          <a:noFill/>
          <a:ln w="25400">
            <a:solidFill>
              <a:srgbClr val="9AA6B2"/>
            </a:solidFill>
            <a:prstDash val="solid"/>
          </a:ln>
        </p:spPr>
      </p:sp>
      <p:sp>
        <p:nvSpPr>
          <p:cNvPr id="12" name="Outcome 1"/>
          <p:cNvSpPr/>
          <p:nvPr/>
        </p:nvSpPr>
        <p:spPr>
          <a:xfrm>
            <a:off x="457200" y="3246120"/>
            <a:ext cx="2651760" cy="1280160"/>
          </a:xfrm>
          <a:prstGeom prst="roundRect">
            <a:avLst>
              <a:gd name="adj" fmla="val 7143"/>
            </a:avLst>
          </a:prstGeom>
          <a:solidFill>
            <a:schemeClr val="bg1"/>
          </a:solidFill>
          <a:ln/>
        </p:spPr>
      </p:sp>
      <p:sp>
        <p:nvSpPr>
          <p:cNvPr id="13" name="Outcome text 1"/>
          <p:cNvSpPr txBox="1"/>
          <p:nvPr/>
        </p:nvSpPr>
        <p:spPr>
          <a:xfrm>
            <a:off x="640080" y="3246120"/>
            <a:ext cx="2286000" cy="1280160"/>
          </a:xfrm>
          <a:prstGeom prst="rect">
            <a:avLst/>
          </a:prstGeom>
          <a:noFill/>
          <a:ln/>
        </p:spPr>
        <p:txBody>
          <a:bodyPr wrap="square" lIns="0" tIns="0" rIns="0" bIns="0" rtlCol="0" anchor="ctr"/>
          <a:lstStyle/>
          <a:p>
            <a:pPr algn="ctr" indent="0" marL="0">
              <a:buNone/>
            </a:pPr>
            <a:r>
              <a:rPr lang="en-US" sz="1300" b="1" spc="200" kern="0" dirty="0">
                <a:solidFill>
                  <a:schemeClr val="accent4"/>
                </a:solidFill>
              </a:rPr>
              <a:t>NO</a:t>
            </a:r>
            <a:endParaRPr lang="en-US" sz="1300" dirty="0"/>
          </a:p>
          <a:p>
            <a:pPr algn="ctr" indent="0" marL="0">
              <a:buNone/>
            </a:pPr>
            <a:r>
              <a:rPr lang="en-US" sz="1800" b="1" dirty="0">
                <a:solidFill>
                  <a:schemeClr val="accent6"/>
                </a:solidFill>
              </a:rPr>
              <a:t>Amnesty</a:t>
            </a:r>
            <a:endParaRPr lang="en-US" sz="1300" dirty="0"/>
          </a:p>
          <a:p>
            <a:pPr algn="ctr" indent="0" marL="0">
              <a:buNone/>
            </a:pPr>
            <a:r>
              <a:rPr lang="en-US" sz="1400" dirty="0">
                <a:solidFill>
                  <a:schemeClr val="tx1"/>
                </a:solidFill>
              </a:rPr>
              <a:t>It belongs in a stowed pod bin</a:t>
            </a:r>
            <a:endParaRPr lang="en-US" sz="1300" dirty="0"/>
          </a:p>
        </p:txBody>
      </p:sp>
      <p:sp>
        <p:nvSpPr>
          <p:cNvPr id="14" name="Outcome 2"/>
          <p:cNvSpPr/>
          <p:nvPr/>
        </p:nvSpPr>
        <p:spPr>
          <a:xfrm>
            <a:off x="3200400" y="3246120"/>
            <a:ext cx="2651760" cy="1280160"/>
          </a:xfrm>
          <a:prstGeom prst="roundRect">
            <a:avLst>
              <a:gd name="adj" fmla="val 7143"/>
            </a:avLst>
          </a:prstGeom>
          <a:solidFill>
            <a:srgbClr val="FBECEC"/>
          </a:solidFill>
          <a:ln/>
        </p:spPr>
      </p:sp>
      <p:sp>
        <p:nvSpPr>
          <p:cNvPr id="15" name="Outcome text 2"/>
          <p:cNvSpPr txBox="1"/>
          <p:nvPr/>
        </p:nvSpPr>
        <p:spPr>
          <a:xfrm>
            <a:off x="3383280" y="3246120"/>
            <a:ext cx="2286000" cy="1280160"/>
          </a:xfrm>
          <a:prstGeom prst="rect">
            <a:avLst/>
          </a:prstGeom>
          <a:noFill/>
          <a:ln/>
        </p:spPr>
        <p:txBody>
          <a:bodyPr wrap="square" lIns="0" tIns="0" rIns="0" bIns="0" rtlCol="0" anchor="ctr"/>
          <a:lstStyle/>
          <a:p>
            <a:pPr algn="ctr" indent="0" marL="0">
              <a:buNone/>
            </a:pPr>
            <a:r>
              <a:rPr lang="en-US" sz="1300" b="1" spc="200" kern="0" dirty="0">
                <a:solidFill>
                  <a:schemeClr val="accent4"/>
                </a:solidFill>
              </a:rPr>
              <a:t>YES</a:t>
            </a:r>
            <a:endParaRPr lang="en-US" sz="1300" dirty="0"/>
          </a:p>
          <a:p>
            <a:pPr algn="ctr" indent="0" marL="0">
              <a:buNone/>
            </a:pPr>
            <a:r>
              <a:rPr lang="en-US" sz="1800" b="1" dirty="0">
                <a:solidFill>
                  <a:schemeClr val="accent3"/>
                </a:solidFill>
              </a:rPr>
              <a:t>Outbound problem solve</a:t>
            </a:r>
            <a:endParaRPr lang="en-US" sz="1300" dirty="0"/>
          </a:p>
          <a:p>
            <a:pPr algn="ctr" indent="0" marL="0">
              <a:buNone/>
            </a:pPr>
            <a:r>
              <a:rPr lang="en-US" sz="1400" dirty="0">
                <a:solidFill>
                  <a:schemeClr val="tx1"/>
                </a:solidFill>
              </a:rPr>
              <a:t>Not amnesty: it belongs in a tote, rebin or chute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2514600" y="502920"/>
            <a:ext cx="6400800" cy="320040"/>
          </a:xfrm>
          <a:prstGeom prst="rect">
            <a:avLst/>
          </a:prstGeom>
          <a:noFill/>
          <a:ln/>
        </p:spPr>
        <p:txBody>
          <a:bodyPr wrap="square" lIns="0" tIns="0" rIns="0" bIns="0" rtlCol="0"/>
          <a:lstStyle/>
          <a:p>
            <a:pPr algn="ctr" indent="0" marL="0">
              <a:buNone/>
            </a:pPr>
            <a:r>
              <a:rPr lang="en-US" sz="1300" b="1" spc="300" kern="0" dirty="0">
                <a:solidFill>
                  <a:schemeClr val="accent6"/>
                </a:solidFill>
              </a:rPr>
              <a:t>NEXT UP</a:t>
            </a:r>
            <a:endParaRPr lang="en-US" sz="1300" dirty="0"/>
          </a:p>
        </p:txBody>
      </p:sp>
      <p:sp>
        <p:nvSpPr>
          <p:cNvPr id="3" name="Text 1"/>
          <p:cNvSpPr/>
          <p:nvPr>
            <p:ph idx="103" type="title" hasCustomPrompt="1"/>
          </p:nvPr>
        </p:nvSpPr>
        <p:spPr>
          <a:xfrm>
            <a:off x="2514600" y="868680"/>
            <a:ext cx="6400800" cy="868680"/>
          </a:xfrm>
          <a:prstGeom prst="rect">
            <a:avLst/>
          </a:prstGeom>
          <a:noFill/>
          <a:ln/>
        </p:spPr>
        <p:txBody>
          <a:bodyPr wrap="square" lIns="0" tIns="0" rIns="0" bIns="0" rtlCol="0" anchor="ctr"/>
          <a:lstStyle/>
          <a:p>
            <a:pPr algn="ctr" indent="0" marL="0">
              <a:buNone/>
            </a:pPr>
            <a:r>
              <a:rPr lang="en-US" sz="3600" b="1" dirty="0">
                <a:solidFill>
                  <a:schemeClr val="tx1"/>
                </a:solidFill>
              </a:rPr>
              <a:t>Bin Etiquette at Pick</a:t>
            </a:r>
            <a:endParaRPr lang="en-US" sz="3600" dirty="0"/>
          </a:p>
        </p:txBody>
      </p:sp>
      <p:sp>
        <p:nvSpPr>
          <p:cNvPr id="4" name="Text 1"/>
          <p:cNvSpPr/>
          <p:nvPr>
            <p:ph idx="104" type="body" hasCustomPrompt="1"/>
          </p:nvPr>
        </p:nvSpPr>
        <p:spPr>
          <a:xfrm>
            <a:off x="2971800" y="1783080"/>
            <a:ext cx="5486400" cy="685800"/>
          </a:xfrm>
          <a:prstGeom prst="rect">
            <a:avLst/>
          </a:prstGeom>
          <a:noFill/>
          <a:ln/>
        </p:spPr>
        <p:txBody>
          <a:bodyPr wrap="square" lIns="0" tIns="0" rIns="0" bIns="0" rtlCol="0" anchor="t"/>
          <a:lstStyle/>
          <a:p>
            <a:pPr algn="ctr" indent="0" marL="0">
              <a:buNone/>
            </a:pPr>
            <a:r>
              <a:rPr lang="en-US" sz="1600" dirty="0">
                <a:solidFill>
                  <a:schemeClr val="accent4"/>
                </a:solidFill>
              </a:rPr>
              <a:t>Your hands are in bins all shift. Leave every one better than you found it.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One item at a time</a:t>
            </a:r>
            <a:endParaRPr lang="en-US" sz="2800" dirty="0"/>
          </a:p>
        </p:txBody>
      </p:sp>
      <p:sp>
        <p:nvSpPr>
          <p:cNvPr id="3" name="Stat card"/>
          <p:cNvSpPr/>
          <p:nvPr/>
        </p:nvSpPr>
        <p:spPr>
          <a:xfrm>
            <a:off x="457200" y="1325880"/>
            <a:ext cx="2011680" cy="3200400"/>
          </a:xfrm>
          <a:prstGeom prst="roundRect">
            <a:avLst>
              <a:gd name="adj" fmla="val 4545"/>
            </a:avLst>
          </a:prstGeom>
          <a:solidFill>
            <a:schemeClr val="tx2"/>
          </a:solidFill>
          <a:ln/>
        </p:spPr>
      </p:sp>
      <p:sp>
        <p:nvSpPr>
          <p:cNvPr id="4" name="Stat"/>
          <p:cNvSpPr txBox="1"/>
          <p:nvPr/>
        </p:nvSpPr>
        <p:spPr>
          <a:xfrm>
            <a:off x="685800" y="1325880"/>
            <a:ext cx="1554480" cy="3200400"/>
          </a:xfrm>
          <a:prstGeom prst="rect">
            <a:avLst/>
          </a:prstGeom>
          <a:noFill/>
          <a:ln/>
        </p:spPr>
        <p:txBody>
          <a:bodyPr wrap="square" lIns="0" tIns="0" rIns="0" bIns="0" rtlCol="0" anchor="ctr"/>
          <a:lstStyle/>
          <a:p>
            <a:pPr indent="0" marL="0">
              <a:buNone/>
            </a:pPr>
            <a:r>
              <a:rPr lang="en-US" sz="7200" b="1" dirty="0">
                <a:solidFill>
                  <a:schemeClr val="accent1"/>
                </a:solidFill>
              </a:rPr>
              <a:t>1</a:t>
            </a:r>
            <a:endParaRPr lang="en-US" sz="7200" dirty="0"/>
          </a:p>
          <a:p>
            <a:pPr indent="0" marL="0">
              <a:buNone/>
            </a:pPr>
            <a:r>
              <a:rPr lang="en-US" sz="1600" dirty="0">
                <a:solidFill>
                  <a:schemeClr val="bg1"/>
                </a:solidFill>
              </a:rPr>
              <a:t>item in your hands at a time</a:t>
            </a:r>
            <a:endParaRPr lang="en-US" sz="7200" dirty="0"/>
          </a:p>
        </p:txBody>
      </p:sp>
      <p:pic>
        <p:nvPicPr>
          <p:cNvPr id="5" name="Flow icon 1" descr="preencoded.png">    </p:cNvPr>
          <p:cNvPicPr>
            <a:picLocks noChangeAspect="1"/>
          </p:cNvPicPr>
          <p:nvPr/>
        </p:nvPicPr>
        <p:blipFill>
          <a:blip r:embed="rId1"/>
          <a:stretch>
            <a:fillRect/>
          </a:stretch>
        </p:blipFill>
        <p:spPr>
          <a:xfrm>
            <a:off x="2743200" y="1444752"/>
            <a:ext cx="347472" cy="347472"/>
          </a:xfrm>
          <a:prstGeom prst="rect">
            <a:avLst/>
          </a:prstGeom>
        </p:spPr>
      </p:pic>
      <p:sp>
        <p:nvSpPr>
          <p:cNvPr id="6" name="Flow 1"/>
          <p:cNvSpPr txBox="1"/>
          <p:nvPr/>
        </p:nvSpPr>
        <p:spPr>
          <a:xfrm>
            <a:off x="3246120" y="1371600"/>
            <a:ext cx="2606040" cy="868680"/>
          </a:xfrm>
          <a:prstGeom prst="rect">
            <a:avLst/>
          </a:prstGeom>
          <a:noFill/>
          <a:ln/>
        </p:spPr>
        <p:txBody>
          <a:bodyPr wrap="square" lIns="0" tIns="0" rIns="0" bIns="0" rtlCol="0" anchor="t"/>
          <a:lstStyle/>
          <a:p>
            <a:pPr indent="0" marL="0">
              <a:buNone/>
            </a:pPr>
            <a:r>
              <a:rPr lang="en-US" sz="1700" b="1" dirty="0">
                <a:solidFill>
                  <a:schemeClr val="tx1"/>
                </a:solidFill>
              </a:rPr>
              <a:t>Take one item</a:t>
            </a:r>
            <a:endParaRPr lang="en-US" sz="1700" dirty="0"/>
          </a:p>
          <a:p>
            <a:pPr indent="0" marL="0">
              <a:buNone/>
            </a:pPr>
            <a:r>
              <a:rPr lang="en-US" sz="1400" dirty="0">
                <a:solidFill>
                  <a:schemeClr val="accent4"/>
                </a:solidFill>
              </a:rPr>
              <a:t>Pick a single item, using both hands</a:t>
            </a:r>
            <a:endParaRPr lang="en-US" sz="1700" dirty="0"/>
          </a:p>
        </p:txBody>
      </p:sp>
      <p:pic>
        <p:nvPicPr>
          <p:cNvPr id="7" name="Flow icon 2" descr="preencoded.png">    </p:cNvPr>
          <p:cNvPicPr>
            <a:picLocks noChangeAspect="1"/>
          </p:cNvPicPr>
          <p:nvPr/>
        </p:nvPicPr>
        <p:blipFill>
          <a:blip r:embed="rId2"/>
          <a:stretch>
            <a:fillRect/>
          </a:stretch>
        </p:blipFill>
        <p:spPr>
          <a:xfrm>
            <a:off x="2743200" y="2514600"/>
            <a:ext cx="347472" cy="347472"/>
          </a:xfrm>
          <a:prstGeom prst="rect">
            <a:avLst/>
          </a:prstGeom>
        </p:spPr>
      </p:pic>
      <p:sp>
        <p:nvSpPr>
          <p:cNvPr id="8" name="Flow 2"/>
          <p:cNvSpPr txBox="1"/>
          <p:nvPr/>
        </p:nvSpPr>
        <p:spPr>
          <a:xfrm>
            <a:off x="3246120" y="2441448"/>
            <a:ext cx="2606040" cy="868680"/>
          </a:xfrm>
          <a:prstGeom prst="rect">
            <a:avLst/>
          </a:prstGeom>
          <a:noFill/>
          <a:ln/>
        </p:spPr>
        <p:txBody>
          <a:bodyPr wrap="square" lIns="0" tIns="0" rIns="0" bIns="0" rtlCol="0" anchor="t"/>
          <a:lstStyle/>
          <a:p>
            <a:pPr indent="0" marL="0">
              <a:buNone/>
            </a:pPr>
            <a:r>
              <a:rPr lang="en-US" sz="1700" b="1" dirty="0">
                <a:solidFill>
                  <a:schemeClr val="tx1"/>
                </a:solidFill>
              </a:rPr>
              <a:t>Scan it once</a:t>
            </a:r>
            <a:endParaRPr lang="en-US" sz="1700" dirty="0"/>
          </a:p>
          <a:p>
            <a:pPr indent="0" marL="0">
              <a:buNone/>
            </a:pPr>
            <a:r>
              <a:rPr lang="en-US" sz="1400" dirty="0">
                <a:solidFill>
                  <a:schemeClr val="accent4"/>
                </a:solidFill>
              </a:rPr>
              <a:t>One item, one scan</a:t>
            </a:r>
            <a:endParaRPr lang="en-US" sz="1700" dirty="0"/>
          </a:p>
        </p:txBody>
      </p:sp>
      <p:pic>
        <p:nvPicPr>
          <p:cNvPr id="9" name="Flow icon 3" descr="preencoded.png">    </p:cNvPr>
          <p:cNvPicPr>
            <a:picLocks noChangeAspect="1"/>
          </p:cNvPicPr>
          <p:nvPr/>
        </p:nvPicPr>
        <p:blipFill>
          <a:blip r:embed="rId3"/>
          <a:stretch>
            <a:fillRect/>
          </a:stretch>
        </p:blipFill>
        <p:spPr>
          <a:xfrm>
            <a:off x="2743200" y="3584448"/>
            <a:ext cx="347472" cy="347472"/>
          </a:xfrm>
          <a:prstGeom prst="rect">
            <a:avLst/>
          </a:prstGeom>
        </p:spPr>
      </p:pic>
      <p:sp>
        <p:nvSpPr>
          <p:cNvPr id="10" name="Flow 3"/>
          <p:cNvSpPr txBox="1"/>
          <p:nvPr/>
        </p:nvSpPr>
        <p:spPr>
          <a:xfrm>
            <a:off x="3246120" y="3511296"/>
            <a:ext cx="2606040" cy="868680"/>
          </a:xfrm>
          <a:prstGeom prst="rect">
            <a:avLst/>
          </a:prstGeom>
          <a:noFill/>
          <a:ln/>
        </p:spPr>
        <p:txBody>
          <a:bodyPr wrap="square" lIns="0" tIns="0" rIns="0" bIns="0" rtlCol="0" anchor="t"/>
          <a:lstStyle/>
          <a:p>
            <a:pPr indent="0" marL="0">
              <a:buNone/>
            </a:pPr>
            <a:r>
              <a:rPr lang="en-US" sz="1700" b="1" dirty="0">
                <a:solidFill>
                  <a:schemeClr val="tx1"/>
                </a:solidFill>
              </a:rPr>
              <a:t>Place it in your tote</a:t>
            </a:r>
            <a:endParaRPr lang="en-US" sz="1700" dirty="0"/>
          </a:p>
          <a:p>
            <a:pPr indent="0" marL="0">
              <a:buNone/>
            </a:pPr>
            <a:r>
              <a:rPr lang="en-US" sz="1400" dirty="0">
                <a:solidFill>
                  <a:schemeClr val="accent4"/>
                </a:solidFill>
              </a:rPr>
              <a:t>Before you reach back into the bin</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O: No overhang</a:t>
            </a:r>
            <a:endParaRPr lang="en-US" sz="2800" dirty="0"/>
          </a:p>
        </p:txBody>
      </p:sp>
      <p:sp>
        <p:nvSpPr>
          <p:cNvPr id="3" name="Wrong panel"/>
          <p:cNvSpPr/>
          <p:nvPr/>
        </p:nvSpPr>
        <p:spPr>
          <a:xfrm>
            <a:off x="457200" y="1325880"/>
            <a:ext cx="2606040" cy="2788920"/>
          </a:xfrm>
          <a:prstGeom prst="roundRect">
            <a:avLst>
              <a:gd name="adj" fmla="val 3509"/>
            </a:avLst>
          </a:prstGeom>
          <a:solidFill>
            <a:schemeClr val="bg1"/>
          </a:solidFill>
          <a:ln w="38100">
            <a:solidFill>
              <a:srgbClr val="D64545"/>
            </a:solidFill>
            <a:prstDash val="solid"/>
          </a:ln>
        </p:spPr>
      </p:sp>
      <p:pic>
        <p:nvPicPr>
          <p:cNvPr id="4" name="Wrong picture" descr="No overhang: wrong example. The box sticks out past the bin edge">    </p:cNvPr>
          <p:cNvPicPr>
            <a:picLocks noChangeAspect="1"/>
          </p:cNvPicPr>
          <p:nvPr/>
        </p:nvPicPr>
        <p:blipFill>
          <a:blip r:embed="rId1"/>
          <a:stretch>
            <a:fillRect/>
          </a:stretch>
        </p:blipFill>
        <p:spPr>
          <a:xfrm>
            <a:off x="700128" y="1417320"/>
            <a:ext cx="2120184" cy="2103120"/>
          </a:xfrm>
          <a:prstGeom prst="rect">
            <a:avLst/>
          </a:prstGeom>
        </p:spPr>
      </p:pic>
      <p:sp>
        <p:nvSpPr>
          <p:cNvPr id="5" name="Wrong caption"/>
          <p:cNvSpPr txBox="1"/>
          <p:nvPr/>
        </p:nvSpPr>
        <p:spPr>
          <a:xfrm>
            <a:off x="594360" y="3547872"/>
            <a:ext cx="2331720" cy="502920"/>
          </a:xfrm>
          <a:prstGeom prst="rect">
            <a:avLst/>
          </a:prstGeom>
          <a:noFill/>
          <a:ln/>
        </p:spPr>
        <p:txBody>
          <a:bodyPr wrap="square" lIns="0" tIns="0" rIns="0" bIns="0" rtlCol="0" anchor="ctr"/>
          <a:lstStyle/>
          <a:p>
            <a:pPr algn="ctr" indent="0" marL="0">
              <a:buNone/>
            </a:pPr>
            <a:r>
              <a:rPr lang="en-US" sz="1300" b="1" dirty="0">
                <a:solidFill>
                  <a:schemeClr val="accent3"/>
                </a:solidFill>
              </a:rPr>
              <a:t>WRONG: </a:t>
            </a:r>
            <a:pPr algn="ctr" indent="0" marL="0">
              <a:buNone/>
            </a:pPr>
            <a:r>
              <a:rPr lang="en-US" sz="1300" dirty="0">
                <a:solidFill>
                  <a:schemeClr val="tx1"/>
                </a:solidFill>
              </a:rPr>
              <a:t>The box sticks out past the bin edge</a:t>
            </a:r>
            <a:endParaRPr lang="en-US" sz="1300" dirty="0"/>
          </a:p>
        </p:txBody>
      </p:sp>
      <p:sp>
        <p:nvSpPr>
          <p:cNvPr id="6" name="Right panel"/>
          <p:cNvSpPr/>
          <p:nvPr/>
        </p:nvSpPr>
        <p:spPr>
          <a:xfrm>
            <a:off x="3246120" y="1325880"/>
            <a:ext cx="2606040" cy="2788920"/>
          </a:xfrm>
          <a:prstGeom prst="roundRect">
            <a:avLst>
              <a:gd name="adj" fmla="val 3509"/>
            </a:avLst>
          </a:prstGeom>
          <a:solidFill>
            <a:schemeClr val="bg1"/>
          </a:solidFill>
          <a:ln w="38100">
            <a:solidFill>
              <a:srgbClr val="2E7D32"/>
            </a:solidFill>
            <a:prstDash val="solid"/>
          </a:ln>
        </p:spPr>
      </p:sp>
      <p:pic>
        <p:nvPicPr>
          <p:cNvPr id="7" name="Right picture" descr="No overhang: right example. Everything sits fully inside the bin">    </p:cNvPr>
          <p:cNvPicPr>
            <a:picLocks noChangeAspect="1"/>
          </p:cNvPicPr>
          <p:nvPr/>
        </p:nvPicPr>
        <p:blipFill>
          <a:blip r:embed="rId2"/>
          <a:stretch>
            <a:fillRect/>
          </a:stretch>
        </p:blipFill>
        <p:spPr>
          <a:xfrm>
            <a:off x="3521332" y="1417320"/>
            <a:ext cx="2055616" cy="2103120"/>
          </a:xfrm>
          <a:prstGeom prst="rect">
            <a:avLst/>
          </a:prstGeom>
        </p:spPr>
      </p:pic>
      <p:sp>
        <p:nvSpPr>
          <p:cNvPr id="8" name="Right caption"/>
          <p:cNvSpPr txBox="1"/>
          <p:nvPr/>
        </p:nvSpPr>
        <p:spPr>
          <a:xfrm>
            <a:off x="3383280" y="3547872"/>
            <a:ext cx="2331720" cy="502920"/>
          </a:xfrm>
          <a:prstGeom prst="rect">
            <a:avLst/>
          </a:prstGeom>
          <a:noFill/>
          <a:ln/>
        </p:spPr>
        <p:txBody>
          <a:bodyPr wrap="square" lIns="0" tIns="0" rIns="0" bIns="0" rtlCol="0" anchor="ctr"/>
          <a:lstStyle/>
          <a:p>
            <a:pPr algn="ctr" indent="0" marL="0">
              <a:buNone/>
            </a:pPr>
            <a:r>
              <a:rPr lang="en-US" sz="1300" b="1" dirty="0">
                <a:solidFill>
                  <a:srgbClr val="2E7D32"/>
                </a:solidFill>
              </a:rPr>
              <a:t>RIGHT: </a:t>
            </a:r>
            <a:pPr algn="ctr" indent="0" marL="0">
              <a:buNone/>
            </a:pPr>
            <a:r>
              <a:rPr lang="en-US" sz="1300" dirty="0">
                <a:solidFill>
                  <a:schemeClr val="tx1"/>
                </a:solidFill>
              </a:rPr>
              <a:t>Everything sits fully inside the bin</a:t>
            </a:r>
            <a:endParaRPr lang="en-US" sz="1300" dirty="0"/>
          </a:p>
        </p:txBody>
      </p:sp>
      <p:sp>
        <p:nvSpPr>
          <p:cNvPr id="9" name="Rule card"/>
          <p:cNvSpPr/>
          <p:nvPr/>
        </p:nvSpPr>
        <p:spPr>
          <a:xfrm>
            <a:off x="457200" y="4251960"/>
            <a:ext cx="5394960" cy="566928"/>
          </a:xfrm>
          <a:prstGeom prst="roundRect">
            <a:avLst>
              <a:gd name="adj" fmla="val 16129"/>
            </a:avLst>
          </a:prstGeom>
          <a:solidFill>
            <a:schemeClr val="tx2"/>
          </a:solidFill>
          <a:ln/>
        </p:spPr>
      </p:sp>
      <p:sp>
        <p:nvSpPr>
          <p:cNvPr id="10" name="Rule text"/>
          <p:cNvSpPr txBox="1"/>
          <p:nvPr/>
        </p:nvSpPr>
        <p:spPr>
          <a:xfrm>
            <a:off x="685800" y="4251960"/>
            <a:ext cx="4937760" cy="566928"/>
          </a:xfrm>
          <a:prstGeom prst="rect">
            <a:avLst/>
          </a:prstGeom>
          <a:noFill/>
          <a:ln/>
        </p:spPr>
        <p:txBody>
          <a:bodyPr wrap="square" lIns="0" tIns="0" rIns="0" bIns="0" rtlCol="0" anchor="ctr"/>
          <a:lstStyle/>
          <a:p>
            <a:pPr indent="0" marL="0">
              <a:buNone/>
            </a:pPr>
            <a:r>
              <a:rPr lang="en-US" sz="1400" b="1" dirty="0">
                <a:solidFill>
                  <a:schemeClr val="bg1"/>
                </a:solidFill>
              </a:rPr>
              <a:t>Spot something sticking out? Push it fully back inside the bin.</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B: Blocking</a:t>
            </a:r>
            <a:endParaRPr lang="en-US" sz="2800" dirty="0"/>
          </a:p>
        </p:txBody>
      </p:sp>
      <p:sp>
        <p:nvSpPr>
          <p:cNvPr id="3" name="Wrong panel"/>
          <p:cNvSpPr/>
          <p:nvPr/>
        </p:nvSpPr>
        <p:spPr>
          <a:xfrm>
            <a:off x="457200" y="1325880"/>
            <a:ext cx="2606040" cy="2788920"/>
          </a:xfrm>
          <a:prstGeom prst="roundRect">
            <a:avLst>
              <a:gd name="adj" fmla="val 3509"/>
            </a:avLst>
          </a:prstGeom>
          <a:solidFill>
            <a:schemeClr val="bg1"/>
          </a:solidFill>
          <a:ln w="38100">
            <a:solidFill>
              <a:srgbClr val="D64545"/>
            </a:solidFill>
            <a:prstDash val="solid"/>
          </a:ln>
        </p:spPr>
      </p:sp>
      <p:pic>
        <p:nvPicPr>
          <p:cNvPr id="4" name="Wrong picture" descr="Blocking: wrong example. A flat item in front hides the items behind it">    </p:cNvPr>
          <p:cNvPicPr>
            <a:picLocks noChangeAspect="1"/>
          </p:cNvPicPr>
          <p:nvPr/>
        </p:nvPicPr>
        <p:blipFill>
          <a:blip r:embed="rId1"/>
          <a:stretch>
            <a:fillRect/>
          </a:stretch>
        </p:blipFill>
        <p:spPr>
          <a:xfrm>
            <a:off x="706557" y="1417320"/>
            <a:ext cx="2107326" cy="2103120"/>
          </a:xfrm>
          <a:prstGeom prst="rect">
            <a:avLst/>
          </a:prstGeom>
        </p:spPr>
      </p:pic>
      <p:sp>
        <p:nvSpPr>
          <p:cNvPr id="5" name="Wrong caption"/>
          <p:cNvSpPr txBox="1"/>
          <p:nvPr/>
        </p:nvSpPr>
        <p:spPr>
          <a:xfrm>
            <a:off x="594360" y="3547872"/>
            <a:ext cx="2331720" cy="502920"/>
          </a:xfrm>
          <a:prstGeom prst="rect">
            <a:avLst/>
          </a:prstGeom>
          <a:noFill/>
          <a:ln/>
        </p:spPr>
        <p:txBody>
          <a:bodyPr wrap="square" lIns="0" tIns="0" rIns="0" bIns="0" rtlCol="0" anchor="ctr"/>
          <a:lstStyle/>
          <a:p>
            <a:pPr algn="ctr" indent="0" marL="0">
              <a:buNone/>
            </a:pPr>
            <a:r>
              <a:rPr lang="en-US" sz="1300" b="1" dirty="0">
                <a:solidFill>
                  <a:schemeClr val="accent3"/>
                </a:solidFill>
              </a:rPr>
              <a:t>WRONG: </a:t>
            </a:r>
            <a:pPr algn="ctr" indent="0" marL="0">
              <a:buNone/>
            </a:pPr>
            <a:r>
              <a:rPr lang="en-US" sz="1300" dirty="0">
                <a:solidFill>
                  <a:schemeClr val="tx1"/>
                </a:solidFill>
              </a:rPr>
              <a:t>A flat item in front hides the items behind it</a:t>
            </a:r>
            <a:endParaRPr lang="en-US" sz="1300" dirty="0"/>
          </a:p>
        </p:txBody>
      </p:sp>
      <p:sp>
        <p:nvSpPr>
          <p:cNvPr id="6" name="Right panel"/>
          <p:cNvSpPr/>
          <p:nvPr/>
        </p:nvSpPr>
        <p:spPr>
          <a:xfrm>
            <a:off x="3246120" y="1325880"/>
            <a:ext cx="2606040" cy="2788920"/>
          </a:xfrm>
          <a:prstGeom prst="roundRect">
            <a:avLst>
              <a:gd name="adj" fmla="val 3509"/>
            </a:avLst>
          </a:prstGeom>
          <a:solidFill>
            <a:schemeClr val="bg1"/>
          </a:solidFill>
          <a:ln w="38100">
            <a:solidFill>
              <a:srgbClr val="2E7D32"/>
            </a:solidFill>
            <a:prstDash val="solid"/>
          </a:ln>
        </p:spPr>
      </p:sp>
      <p:pic>
        <p:nvPicPr>
          <p:cNvPr id="7" name="Right picture" descr="Blocking: right example. Every item is visible from the front">    </p:cNvPr>
          <p:cNvPicPr>
            <a:picLocks noChangeAspect="1"/>
          </p:cNvPicPr>
          <p:nvPr/>
        </p:nvPicPr>
        <p:blipFill>
          <a:blip r:embed="rId2"/>
          <a:stretch>
            <a:fillRect/>
          </a:stretch>
        </p:blipFill>
        <p:spPr>
          <a:xfrm>
            <a:off x="3489168" y="1417320"/>
            <a:ext cx="2119945" cy="2103120"/>
          </a:xfrm>
          <a:prstGeom prst="rect">
            <a:avLst/>
          </a:prstGeom>
        </p:spPr>
      </p:pic>
      <p:sp>
        <p:nvSpPr>
          <p:cNvPr id="8" name="Right caption"/>
          <p:cNvSpPr txBox="1"/>
          <p:nvPr/>
        </p:nvSpPr>
        <p:spPr>
          <a:xfrm>
            <a:off x="3383280" y="3547872"/>
            <a:ext cx="2331720" cy="502920"/>
          </a:xfrm>
          <a:prstGeom prst="rect">
            <a:avLst/>
          </a:prstGeom>
          <a:noFill/>
          <a:ln/>
        </p:spPr>
        <p:txBody>
          <a:bodyPr wrap="square" lIns="0" tIns="0" rIns="0" bIns="0" rtlCol="0" anchor="ctr"/>
          <a:lstStyle/>
          <a:p>
            <a:pPr algn="ctr" indent="0" marL="0">
              <a:buNone/>
            </a:pPr>
            <a:r>
              <a:rPr lang="en-US" sz="1300" b="1" dirty="0">
                <a:solidFill>
                  <a:srgbClr val="2E7D32"/>
                </a:solidFill>
              </a:rPr>
              <a:t>RIGHT: </a:t>
            </a:r>
            <a:pPr algn="ctr" indent="0" marL="0">
              <a:buNone/>
            </a:pPr>
            <a:r>
              <a:rPr lang="en-US" sz="1300" dirty="0">
                <a:solidFill>
                  <a:schemeClr val="tx1"/>
                </a:solidFill>
              </a:rPr>
              <a:t>Every item is visible from the front</a:t>
            </a:r>
            <a:endParaRPr lang="en-US" sz="1300" dirty="0"/>
          </a:p>
        </p:txBody>
      </p:sp>
      <p:sp>
        <p:nvSpPr>
          <p:cNvPr id="9" name="Rule card"/>
          <p:cNvSpPr/>
          <p:nvPr/>
        </p:nvSpPr>
        <p:spPr>
          <a:xfrm>
            <a:off x="457200" y="4251960"/>
            <a:ext cx="5394960" cy="566928"/>
          </a:xfrm>
          <a:prstGeom prst="roundRect">
            <a:avLst>
              <a:gd name="adj" fmla="val 16129"/>
            </a:avLst>
          </a:prstGeom>
          <a:solidFill>
            <a:schemeClr val="tx2"/>
          </a:solidFill>
          <a:ln/>
        </p:spPr>
      </p:sp>
      <p:sp>
        <p:nvSpPr>
          <p:cNvPr id="10" name="Rule text"/>
          <p:cNvSpPr txBox="1"/>
          <p:nvPr/>
        </p:nvSpPr>
        <p:spPr>
          <a:xfrm>
            <a:off x="685800" y="4251960"/>
            <a:ext cx="4937760" cy="566928"/>
          </a:xfrm>
          <a:prstGeom prst="rect">
            <a:avLst/>
          </a:prstGeom>
          <a:noFill/>
          <a:ln/>
        </p:spPr>
        <p:txBody>
          <a:bodyPr wrap="square" lIns="0" tIns="0" rIns="0" bIns="0" rtlCol="0" anchor="ctr"/>
          <a:lstStyle/>
          <a:p>
            <a:pPr indent="0" marL="0">
              <a:buNone/>
            </a:pPr>
            <a:r>
              <a:rPr lang="en-US" sz="1400" b="1" dirty="0">
                <a:solidFill>
                  <a:schemeClr val="bg1"/>
                </a:solidFill>
              </a:rPr>
              <a:t>Don't leave small items hidden behind big ones; stand flat items upright.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O: Overstuffing</a:t>
            </a:r>
            <a:endParaRPr lang="en-US" sz="2800" dirty="0"/>
          </a:p>
        </p:txBody>
      </p:sp>
      <p:sp>
        <p:nvSpPr>
          <p:cNvPr id="3" name="Wrong panel"/>
          <p:cNvSpPr/>
          <p:nvPr/>
        </p:nvSpPr>
        <p:spPr>
          <a:xfrm>
            <a:off x="457200" y="1325880"/>
            <a:ext cx="2606040" cy="2788920"/>
          </a:xfrm>
          <a:prstGeom prst="roundRect">
            <a:avLst>
              <a:gd name="adj" fmla="val 3509"/>
            </a:avLst>
          </a:prstGeom>
          <a:solidFill>
            <a:schemeClr val="bg1"/>
          </a:solidFill>
          <a:ln w="38100">
            <a:solidFill>
              <a:srgbClr val="D64545"/>
            </a:solidFill>
            <a:prstDash val="solid"/>
          </a:ln>
        </p:spPr>
      </p:sp>
      <p:pic>
        <p:nvPicPr>
          <p:cNvPr id="4" name="Wrong picture" descr="Overstuffing: wrong example. Items forced in, the bin is bulging">    </p:cNvPr>
          <p:cNvPicPr>
            <a:picLocks noChangeAspect="1"/>
          </p:cNvPicPr>
          <p:nvPr/>
        </p:nvPicPr>
        <p:blipFill>
          <a:blip r:embed="rId1"/>
          <a:stretch>
            <a:fillRect/>
          </a:stretch>
        </p:blipFill>
        <p:spPr>
          <a:xfrm>
            <a:off x="619733" y="1417320"/>
            <a:ext cx="2280974" cy="2103120"/>
          </a:xfrm>
          <a:prstGeom prst="rect">
            <a:avLst/>
          </a:prstGeom>
        </p:spPr>
      </p:pic>
      <p:sp>
        <p:nvSpPr>
          <p:cNvPr id="5" name="Wrong caption"/>
          <p:cNvSpPr txBox="1"/>
          <p:nvPr/>
        </p:nvSpPr>
        <p:spPr>
          <a:xfrm>
            <a:off x="594360" y="3547872"/>
            <a:ext cx="2331720" cy="502920"/>
          </a:xfrm>
          <a:prstGeom prst="rect">
            <a:avLst/>
          </a:prstGeom>
          <a:noFill/>
          <a:ln/>
        </p:spPr>
        <p:txBody>
          <a:bodyPr wrap="square" lIns="0" tIns="0" rIns="0" bIns="0" rtlCol="0" anchor="ctr"/>
          <a:lstStyle/>
          <a:p>
            <a:pPr algn="ctr" indent="0" marL="0">
              <a:buNone/>
            </a:pPr>
            <a:r>
              <a:rPr lang="en-US" sz="1300" b="1" dirty="0">
                <a:solidFill>
                  <a:schemeClr val="accent3"/>
                </a:solidFill>
              </a:rPr>
              <a:t>WRONG: </a:t>
            </a:r>
            <a:pPr algn="ctr" indent="0" marL="0">
              <a:buNone/>
            </a:pPr>
            <a:r>
              <a:rPr lang="en-US" sz="1300" dirty="0">
                <a:solidFill>
                  <a:schemeClr val="tx1"/>
                </a:solidFill>
              </a:rPr>
              <a:t>Items forced in, the bin is bulging</a:t>
            </a:r>
            <a:endParaRPr lang="en-US" sz="1300" dirty="0"/>
          </a:p>
        </p:txBody>
      </p:sp>
      <p:sp>
        <p:nvSpPr>
          <p:cNvPr id="6" name="Right panel"/>
          <p:cNvSpPr/>
          <p:nvPr/>
        </p:nvSpPr>
        <p:spPr>
          <a:xfrm>
            <a:off x="3246120" y="1325880"/>
            <a:ext cx="2606040" cy="2788920"/>
          </a:xfrm>
          <a:prstGeom prst="roundRect">
            <a:avLst>
              <a:gd name="adj" fmla="val 3509"/>
            </a:avLst>
          </a:prstGeom>
          <a:solidFill>
            <a:schemeClr val="bg1"/>
          </a:solidFill>
          <a:ln w="38100">
            <a:solidFill>
              <a:srgbClr val="2E7D32"/>
            </a:solidFill>
            <a:prstDash val="solid"/>
          </a:ln>
        </p:spPr>
      </p:sp>
      <p:pic>
        <p:nvPicPr>
          <p:cNvPr id="7" name="Right picture" descr="Overstuffing: right example. Items fit with room to pick">    </p:cNvPr>
          <p:cNvPicPr>
            <a:picLocks noChangeAspect="1"/>
          </p:cNvPicPr>
          <p:nvPr/>
        </p:nvPicPr>
        <p:blipFill>
          <a:blip r:embed="rId2"/>
          <a:stretch>
            <a:fillRect/>
          </a:stretch>
        </p:blipFill>
        <p:spPr>
          <a:xfrm>
            <a:off x="3413099" y="1417320"/>
            <a:ext cx="2272081" cy="2103120"/>
          </a:xfrm>
          <a:prstGeom prst="rect">
            <a:avLst/>
          </a:prstGeom>
        </p:spPr>
      </p:pic>
      <p:sp>
        <p:nvSpPr>
          <p:cNvPr id="8" name="Right caption"/>
          <p:cNvSpPr txBox="1"/>
          <p:nvPr/>
        </p:nvSpPr>
        <p:spPr>
          <a:xfrm>
            <a:off x="3383280" y="3547872"/>
            <a:ext cx="2331720" cy="502920"/>
          </a:xfrm>
          <a:prstGeom prst="rect">
            <a:avLst/>
          </a:prstGeom>
          <a:noFill/>
          <a:ln/>
        </p:spPr>
        <p:txBody>
          <a:bodyPr wrap="square" lIns="0" tIns="0" rIns="0" bIns="0" rtlCol="0" anchor="ctr"/>
          <a:lstStyle/>
          <a:p>
            <a:pPr algn="ctr" indent="0" marL="0">
              <a:buNone/>
            </a:pPr>
            <a:r>
              <a:rPr lang="en-US" sz="1300" b="1" dirty="0">
                <a:solidFill>
                  <a:srgbClr val="2E7D32"/>
                </a:solidFill>
              </a:rPr>
              <a:t>RIGHT: </a:t>
            </a:r>
            <a:pPr algn="ctr" indent="0" marL="0">
              <a:buNone/>
            </a:pPr>
            <a:r>
              <a:rPr lang="en-US" sz="1300" dirty="0">
                <a:solidFill>
                  <a:schemeClr val="tx1"/>
                </a:solidFill>
              </a:rPr>
              <a:t>Items fit with room to pick</a:t>
            </a:r>
            <a:endParaRPr lang="en-US" sz="1300" dirty="0"/>
          </a:p>
        </p:txBody>
      </p:sp>
      <p:sp>
        <p:nvSpPr>
          <p:cNvPr id="9" name="Rule card"/>
          <p:cNvSpPr/>
          <p:nvPr/>
        </p:nvSpPr>
        <p:spPr>
          <a:xfrm>
            <a:off x="457200" y="4251960"/>
            <a:ext cx="5394960" cy="566928"/>
          </a:xfrm>
          <a:prstGeom prst="roundRect">
            <a:avLst>
              <a:gd name="adj" fmla="val 16129"/>
            </a:avLst>
          </a:prstGeom>
          <a:solidFill>
            <a:schemeClr val="tx2"/>
          </a:solidFill>
          <a:ln/>
        </p:spPr>
      </p:sp>
      <p:sp>
        <p:nvSpPr>
          <p:cNvPr id="10" name="Rule text"/>
          <p:cNvSpPr txBox="1"/>
          <p:nvPr/>
        </p:nvSpPr>
        <p:spPr>
          <a:xfrm>
            <a:off x="685800" y="4251960"/>
            <a:ext cx="4937760" cy="566928"/>
          </a:xfrm>
          <a:prstGeom prst="rect">
            <a:avLst/>
          </a:prstGeom>
          <a:noFill/>
          <a:ln/>
        </p:spPr>
        <p:txBody>
          <a:bodyPr wrap="square" lIns="0" tIns="0" rIns="0" bIns="0" rtlCol="0" anchor="ctr"/>
          <a:lstStyle/>
          <a:p>
            <a:pPr indent="0" marL="0">
              <a:buNone/>
            </a:pPr>
            <a:r>
              <a:rPr lang="en-US" sz="1400" b="1" dirty="0">
                <a:solidFill>
                  <a:schemeClr val="bg1"/>
                </a:solidFill>
              </a:rPr>
              <a:t>Never force items back into a full bin.</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S: Stacking</a:t>
            </a:r>
            <a:endParaRPr lang="en-US" sz="2800" dirty="0"/>
          </a:p>
        </p:txBody>
      </p:sp>
      <p:sp>
        <p:nvSpPr>
          <p:cNvPr id="3" name="Wrong panel"/>
          <p:cNvSpPr/>
          <p:nvPr/>
        </p:nvSpPr>
        <p:spPr>
          <a:xfrm>
            <a:off x="457200" y="1325880"/>
            <a:ext cx="2606040" cy="2788920"/>
          </a:xfrm>
          <a:prstGeom prst="roundRect">
            <a:avLst>
              <a:gd name="adj" fmla="val 3509"/>
            </a:avLst>
          </a:prstGeom>
          <a:solidFill>
            <a:schemeClr val="bg1"/>
          </a:solidFill>
          <a:ln w="38100">
            <a:solidFill>
              <a:srgbClr val="D64545"/>
            </a:solidFill>
            <a:prstDash val="solid"/>
          </a:ln>
        </p:spPr>
      </p:sp>
      <p:pic>
        <p:nvPicPr>
          <p:cNvPr id="4" name="Wrong picture" descr="Stacking: wrong example. Different items stacked on top of each other">    </p:cNvPr>
          <p:cNvPicPr>
            <a:picLocks noChangeAspect="1"/>
          </p:cNvPicPr>
          <p:nvPr/>
        </p:nvPicPr>
        <p:blipFill>
          <a:blip r:embed="rId1"/>
          <a:stretch>
            <a:fillRect/>
          </a:stretch>
        </p:blipFill>
        <p:spPr>
          <a:xfrm>
            <a:off x="623277" y="1417320"/>
            <a:ext cx="2273886" cy="2103120"/>
          </a:xfrm>
          <a:prstGeom prst="rect">
            <a:avLst/>
          </a:prstGeom>
        </p:spPr>
      </p:pic>
      <p:sp>
        <p:nvSpPr>
          <p:cNvPr id="5" name="Wrong caption"/>
          <p:cNvSpPr txBox="1"/>
          <p:nvPr/>
        </p:nvSpPr>
        <p:spPr>
          <a:xfrm>
            <a:off x="594360" y="3547872"/>
            <a:ext cx="2331720" cy="502920"/>
          </a:xfrm>
          <a:prstGeom prst="rect">
            <a:avLst/>
          </a:prstGeom>
          <a:noFill/>
          <a:ln/>
        </p:spPr>
        <p:txBody>
          <a:bodyPr wrap="square" lIns="0" tIns="0" rIns="0" bIns="0" rtlCol="0" anchor="ctr"/>
          <a:lstStyle/>
          <a:p>
            <a:pPr algn="ctr" indent="0" marL="0">
              <a:buNone/>
            </a:pPr>
            <a:r>
              <a:rPr lang="en-US" sz="1300" b="1" dirty="0">
                <a:solidFill>
                  <a:schemeClr val="accent3"/>
                </a:solidFill>
              </a:rPr>
              <a:t>WRONG: </a:t>
            </a:r>
            <a:pPr algn="ctr" indent="0" marL="0">
              <a:buNone/>
            </a:pPr>
            <a:r>
              <a:rPr lang="en-US" sz="1300" dirty="0">
                <a:solidFill>
                  <a:schemeClr val="tx1"/>
                </a:solidFill>
              </a:rPr>
              <a:t>Different items stacked on top of each other</a:t>
            </a:r>
            <a:endParaRPr lang="en-US" sz="1300" dirty="0"/>
          </a:p>
        </p:txBody>
      </p:sp>
      <p:sp>
        <p:nvSpPr>
          <p:cNvPr id="6" name="Right panel"/>
          <p:cNvSpPr/>
          <p:nvPr/>
        </p:nvSpPr>
        <p:spPr>
          <a:xfrm>
            <a:off x="3246120" y="1325880"/>
            <a:ext cx="2606040" cy="2788920"/>
          </a:xfrm>
          <a:prstGeom prst="roundRect">
            <a:avLst>
              <a:gd name="adj" fmla="val 3509"/>
            </a:avLst>
          </a:prstGeom>
          <a:solidFill>
            <a:schemeClr val="bg1"/>
          </a:solidFill>
          <a:ln w="38100">
            <a:solidFill>
              <a:srgbClr val="2E7D32"/>
            </a:solidFill>
            <a:prstDash val="solid"/>
          </a:ln>
        </p:spPr>
      </p:sp>
      <p:pic>
        <p:nvPicPr>
          <p:cNvPr id="7" name="Right picture" descr="Stacking: right example. Items stand side by side, below the bands">    </p:cNvPr>
          <p:cNvPicPr>
            <a:picLocks noChangeAspect="1"/>
          </p:cNvPicPr>
          <p:nvPr/>
        </p:nvPicPr>
        <p:blipFill>
          <a:blip r:embed="rId2"/>
          <a:stretch>
            <a:fillRect/>
          </a:stretch>
        </p:blipFill>
        <p:spPr>
          <a:xfrm>
            <a:off x="3430172" y="1417320"/>
            <a:ext cx="2237935" cy="2103120"/>
          </a:xfrm>
          <a:prstGeom prst="rect">
            <a:avLst/>
          </a:prstGeom>
        </p:spPr>
      </p:pic>
      <p:sp>
        <p:nvSpPr>
          <p:cNvPr id="8" name="Right caption"/>
          <p:cNvSpPr txBox="1"/>
          <p:nvPr/>
        </p:nvSpPr>
        <p:spPr>
          <a:xfrm>
            <a:off x="3383280" y="3547872"/>
            <a:ext cx="2331720" cy="502920"/>
          </a:xfrm>
          <a:prstGeom prst="rect">
            <a:avLst/>
          </a:prstGeom>
          <a:noFill/>
          <a:ln/>
        </p:spPr>
        <p:txBody>
          <a:bodyPr wrap="square" lIns="0" tIns="0" rIns="0" bIns="0" rtlCol="0" anchor="ctr"/>
          <a:lstStyle/>
          <a:p>
            <a:pPr algn="ctr" indent="0" marL="0">
              <a:buNone/>
            </a:pPr>
            <a:r>
              <a:rPr lang="en-US" sz="1300" b="1" dirty="0">
                <a:solidFill>
                  <a:srgbClr val="2E7D32"/>
                </a:solidFill>
              </a:rPr>
              <a:t>RIGHT: </a:t>
            </a:r>
            <a:pPr algn="ctr" indent="0" marL="0">
              <a:buNone/>
            </a:pPr>
            <a:r>
              <a:rPr lang="en-US" sz="1300" dirty="0">
                <a:solidFill>
                  <a:schemeClr val="tx1"/>
                </a:solidFill>
              </a:rPr>
              <a:t>Items stand side by side, below the bands</a:t>
            </a:r>
            <a:endParaRPr lang="en-US" sz="1300" dirty="0"/>
          </a:p>
        </p:txBody>
      </p:sp>
      <p:sp>
        <p:nvSpPr>
          <p:cNvPr id="9" name="Rule card"/>
          <p:cNvSpPr/>
          <p:nvPr/>
        </p:nvSpPr>
        <p:spPr>
          <a:xfrm>
            <a:off x="457200" y="4251960"/>
            <a:ext cx="5394960" cy="566928"/>
          </a:xfrm>
          <a:prstGeom prst="roundRect">
            <a:avLst>
              <a:gd name="adj" fmla="val 16129"/>
            </a:avLst>
          </a:prstGeom>
          <a:solidFill>
            <a:schemeClr val="tx2"/>
          </a:solidFill>
          <a:ln/>
        </p:spPr>
      </p:sp>
      <p:sp>
        <p:nvSpPr>
          <p:cNvPr id="10" name="Rule text"/>
          <p:cNvSpPr txBox="1"/>
          <p:nvPr/>
        </p:nvSpPr>
        <p:spPr>
          <a:xfrm>
            <a:off x="685800" y="4251960"/>
            <a:ext cx="4937760" cy="566928"/>
          </a:xfrm>
          <a:prstGeom prst="rect">
            <a:avLst/>
          </a:prstGeom>
          <a:noFill/>
          <a:ln/>
        </p:spPr>
        <p:txBody>
          <a:bodyPr wrap="square" lIns="0" tIns="0" rIns="0" bIns="0" rtlCol="0" anchor="ctr"/>
          <a:lstStyle/>
          <a:p>
            <a:pPr indent="0" marL="0">
              <a:buNone/>
            </a:pPr>
            <a:r>
              <a:rPr lang="en-US" sz="1400" b="1" dirty="0">
                <a:solidFill>
                  <a:schemeClr val="bg1"/>
                </a:solidFill>
              </a:rPr>
              <a:t>Keep everything below the retention bands.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Your pick checklist</a:t>
            </a:r>
            <a:endParaRPr lang="en-US" sz="2800" dirty="0"/>
          </a:p>
        </p:txBody>
      </p:sp>
      <p:sp>
        <p:nvSpPr>
          <p:cNvPr id="3" name="Recap circle 1"/>
          <p:cNvSpPr/>
          <p:nvPr/>
        </p:nvSpPr>
        <p:spPr>
          <a:xfrm>
            <a:off x="868680" y="1371600"/>
            <a:ext cx="868680" cy="868680"/>
          </a:xfrm>
          <a:prstGeom prst="ellipse">
            <a:avLst/>
          </a:prstGeom>
          <a:solidFill>
            <a:schemeClr val="accent1"/>
          </a:solidFill>
          <a:ln/>
        </p:spPr>
      </p:sp>
      <p:pic>
        <p:nvPicPr>
          <p:cNvPr id="4" name="Recap icon 1" descr="preencoded.png">    </p:cNvPr>
          <p:cNvPicPr>
            <a:picLocks noChangeAspect="1"/>
          </p:cNvPicPr>
          <p:nvPr/>
        </p:nvPicPr>
        <p:blipFill>
          <a:blip r:embed="rId1"/>
          <a:stretch>
            <a:fillRect/>
          </a:stretch>
        </p:blipFill>
        <p:spPr>
          <a:xfrm>
            <a:off x="1088136" y="1591056"/>
            <a:ext cx="429768" cy="429768"/>
          </a:xfrm>
          <a:prstGeom prst="rect">
            <a:avLst/>
          </a:prstGeom>
        </p:spPr>
      </p:pic>
      <p:sp>
        <p:nvSpPr>
          <p:cNvPr id="5" name="Recap text 1"/>
          <p:cNvSpPr txBox="1"/>
          <p:nvPr/>
        </p:nvSpPr>
        <p:spPr>
          <a:xfrm>
            <a:off x="457200" y="2423160"/>
            <a:ext cx="1691640" cy="1097280"/>
          </a:xfrm>
          <a:prstGeom prst="rect">
            <a:avLst/>
          </a:prstGeom>
          <a:noFill/>
          <a:ln/>
        </p:spPr>
        <p:txBody>
          <a:bodyPr wrap="square" lIns="0" tIns="0" rIns="0" bIns="0" rtlCol="0" anchor="t"/>
          <a:lstStyle/>
          <a:p>
            <a:pPr algn="ctr" indent="0" marL="0">
              <a:buNone/>
            </a:pPr>
            <a:r>
              <a:rPr lang="en-US" sz="1300" dirty="0">
                <a:solidFill>
                  <a:schemeClr val="accent4"/>
                </a:solidFill>
              </a:rPr>
              <a:t>Not picked yet</a:t>
            </a:r>
            <a:endParaRPr lang="en-US" sz="1300" dirty="0"/>
          </a:p>
          <a:p>
            <a:pPr algn="ctr" indent="0" marL="0">
              <a:buNone/>
            </a:pPr>
            <a:r>
              <a:rPr lang="en-US" sz="1700" b="1" dirty="0">
                <a:solidFill>
                  <a:schemeClr val="tx1"/>
                </a:solidFill>
              </a:rPr>
              <a:t>Amnesty</a:t>
            </a:r>
            <a:endParaRPr lang="en-US" sz="1300" dirty="0"/>
          </a:p>
        </p:txBody>
      </p:sp>
      <p:sp>
        <p:nvSpPr>
          <p:cNvPr id="6" name="Recap circle 2"/>
          <p:cNvSpPr/>
          <p:nvPr/>
        </p:nvSpPr>
        <p:spPr>
          <a:xfrm>
            <a:off x="2697480" y="1371600"/>
            <a:ext cx="868680" cy="868680"/>
          </a:xfrm>
          <a:prstGeom prst="ellipse">
            <a:avLst/>
          </a:prstGeom>
          <a:solidFill>
            <a:schemeClr val="accent1"/>
          </a:solidFill>
          <a:ln/>
        </p:spPr>
      </p:sp>
      <p:pic>
        <p:nvPicPr>
          <p:cNvPr id="7" name="Recap icon 2" descr="preencoded.png">    </p:cNvPr>
          <p:cNvPicPr>
            <a:picLocks noChangeAspect="1"/>
          </p:cNvPicPr>
          <p:nvPr/>
        </p:nvPicPr>
        <p:blipFill>
          <a:blip r:embed="rId2"/>
          <a:stretch>
            <a:fillRect/>
          </a:stretch>
        </p:blipFill>
        <p:spPr>
          <a:xfrm>
            <a:off x="2916936" y="1591056"/>
            <a:ext cx="429768" cy="429768"/>
          </a:xfrm>
          <a:prstGeom prst="rect">
            <a:avLst/>
          </a:prstGeom>
        </p:spPr>
      </p:pic>
      <p:sp>
        <p:nvSpPr>
          <p:cNvPr id="8" name="Recap text 2"/>
          <p:cNvSpPr txBox="1"/>
          <p:nvPr/>
        </p:nvSpPr>
        <p:spPr>
          <a:xfrm>
            <a:off x="2286000" y="2423160"/>
            <a:ext cx="1691640" cy="1097280"/>
          </a:xfrm>
          <a:prstGeom prst="rect">
            <a:avLst/>
          </a:prstGeom>
          <a:noFill/>
          <a:ln/>
        </p:spPr>
        <p:txBody>
          <a:bodyPr wrap="square" lIns="0" tIns="0" rIns="0" bIns="0" rtlCol="0" anchor="t"/>
          <a:lstStyle/>
          <a:p>
            <a:pPr algn="ctr" indent="0" marL="0">
              <a:buNone/>
            </a:pPr>
            <a:r>
              <a:rPr lang="en-US" sz="1300" dirty="0">
                <a:solidFill>
                  <a:schemeClr val="accent4"/>
                </a:solidFill>
              </a:rPr>
              <a:t>Already picked</a:t>
            </a:r>
            <a:endParaRPr lang="en-US" sz="1300" dirty="0"/>
          </a:p>
          <a:p>
            <a:pPr algn="ctr" indent="0" marL="0">
              <a:buNone/>
            </a:pPr>
            <a:r>
              <a:rPr lang="en-US" sz="1700" b="1" dirty="0">
                <a:solidFill>
                  <a:schemeClr val="tx1"/>
                </a:solidFill>
              </a:rPr>
              <a:t>Outbound problem solve</a:t>
            </a:r>
            <a:endParaRPr lang="en-US" sz="1300" dirty="0"/>
          </a:p>
        </p:txBody>
      </p:sp>
      <p:sp>
        <p:nvSpPr>
          <p:cNvPr id="9" name="Recap circle 3"/>
          <p:cNvSpPr/>
          <p:nvPr/>
        </p:nvSpPr>
        <p:spPr>
          <a:xfrm>
            <a:off x="4526280" y="1371600"/>
            <a:ext cx="868680" cy="868680"/>
          </a:xfrm>
          <a:prstGeom prst="ellipse">
            <a:avLst/>
          </a:prstGeom>
          <a:solidFill>
            <a:schemeClr val="accent1"/>
          </a:solidFill>
          <a:ln/>
        </p:spPr>
      </p:sp>
      <p:pic>
        <p:nvPicPr>
          <p:cNvPr id="10" name="Recap icon 3" descr="preencoded.png">    </p:cNvPr>
          <p:cNvPicPr>
            <a:picLocks noChangeAspect="1"/>
          </p:cNvPicPr>
          <p:nvPr/>
        </p:nvPicPr>
        <p:blipFill>
          <a:blip r:embed="rId3"/>
          <a:stretch>
            <a:fillRect/>
          </a:stretch>
        </p:blipFill>
        <p:spPr>
          <a:xfrm>
            <a:off x="4745736" y="1591056"/>
            <a:ext cx="429768" cy="429768"/>
          </a:xfrm>
          <a:prstGeom prst="rect">
            <a:avLst/>
          </a:prstGeom>
        </p:spPr>
      </p:pic>
      <p:sp>
        <p:nvSpPr>
          <p:cNvPr id="11" name="Recap text 3"/>
          <p:cNvSpPr txBox="1"/>
          <p:nvPr/>
        </p:nvSpPr>
        <p:spPr>
          <a:xfrm>
            <a:off x="4114800" y="2423160"/>
            <a:ext cx="1691640" cy="1097280"/>
          </a:xfrm>
          <a:prstGeom prst="rect">
            <a:avLst/>
          </a:prstGeom>
          <a:noFill/>
          <a:ln/>
        </p:spPr>
        <p:txBody>
          <a:bodyPr wrap="square" lIns="0" tIns="0" rIns="0" bIns="0" rtlCol="0" anchor="t"/>
          <a:lstStyle/>
          <a:p>
            <a:pPr algn="ctr" indent="0" marL="0">
              <a:buNone/>
            </a:pPr>
            <a:r>
              <a:rPr lang="en-US" sz="1300" dirty="0">
                <a:solidFill>
                  <a:schemeClr val="accent4"/>
                </a:solidFill>
              </a:rPr>
              <a:t>Every bin you touch</a:t>
            </a:r>
            <a:endParaRPr lang="en-US" sz="1300" dirty="0"/>
          </a:p>
          <a:p>
            <a:pPr algn="ctr" indent="0" marL="0">
              <a:buNone/>
            </a:pPr>
            <a:r>
              <a:rPr lang="en-US" sz="1700" b="1" dirty="0">
                <a:solidFill>
                  <a:schemeClr val="tx1"/>
                </a:solidFill>
              </a:rPr>
              <a:t>One at a time, fix as you go</a:t>
            </a:r>
            <a:endParaRPr lang="en-US" sz="1300" dirty="0"/>
          </a:p>
        </p:txBody>
      </p:sp>
      <p:sp>
        <p:nvSpPr>
          <p:cNvPr id="12" name="Goal card"/>
          <p:cNvSpPr/>
          <p:nvPr/>
        </p:nvSpPr>
        <p:spPr>
          <a:xfrm>
            <a:off x="457200" y="3749040"/>
            <a:ext cx="5394960" cy="777240"/>
          </a:xfrm>
          <a:prstGeom prst="roundRect">
            <a:avLst>
              <a:gd name="adj" fmla="val 11765"/>
            </a:avLst>
          </a:prstGeom>
          <a:solidFill>
            <a:schemeClr val="tx2"/>
          </a:solidFill>
          <a:ln/>
        </p:spPr>
      </p:sp>
      <p:sp>
        <p:nvSpPr>
          <p:cNvPr id="13" name="Goal text"/>
          <p:cNvSpPr txBox="1"/>
          <p:nvPr/>
        </p:nvSpPr>
        <p:spPr>
          <a:xfrm>
            <a:off x="731520" y="3749040"/>
            <a:ext cx="4846320" cy="777240"/>
          </a:xfrm>
          <a:prstGeom prst="rect">
            <a:avLst/>
          </a:prstGeom>
          <a:noFill/>
          <a:ln/>
        </p:spPr>
        <p:txBody>
          <a:bodyPr wrap="square" lIns="0" tIns="0" rIns="0" bIns="0" rtlCol="0" anchor="ctr"/>
          <a:lstStyle/>
          <a:p>
            <a:pPr indent="0" marL="0">
              <a:buNone/>
            </a:pPr>
            <a:r>
              <a:rPr lang="en-US" sz="1600" b="1" dirty="0">
                <a:solidFill>
                  <a:srgbClr val="9EDFF7"/>
                </a:solidFill>
              </a:rPr>
              <a:t>Goal: </a:t>
            </a:r>
            <a:pPr indent="0" marL="0">
              <a:buNone/>
            </a:pPr>
            <a:r>
              <a:rPr lang="en-US" sz="1600" dirty="0">
                <a:solidFill>
                  <a:schemeClr val="bg1"/>
                </a:solidFill>
              </a:rPr>
              <a:t>an accurate wAPMT, fewer units falling, happier customers.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Closing title"/>
          <p:cNvSpPr txBox="1"/>
          <p:nvPr/>
        </p:nvSpPr>
        <p:spPr>
          <a:xfrm>
            <a:off x="1371600" y="411480"/>
            <a:ext cx="6400800" cy="640080"/>
          </a:xfrm>
          <a:prstGeom prst="rect">
            <a:avLst/>
          </a:prstGeom>
          <a:noFill/>
          <a:ln/>
        </p:spPr>
        <p:txBody>
          <a:bodyPr wrap="square" lIns="0" tIns="0" rIns="0" bIns="0" rtlCol="0" anchor="ctr"/>
          <a:lstStyle/>
          <a:p>
            <a:pPr algn="ctr" indent="0" marL="0">
              <a:buNone/>
            </a:pPr>
            <a:r>
              <a:rPr lang="en-US" sz="3200" dirty="0">
                <a:solidFill>
                  <a:schemeClr val="accent1"/>
                </a:solidFill>
                <a:latin typeface="Arial" pitchFamily="34" charset="0"/>
                <a:ea typeface="Arial" pitchFamily="34" charset="-122"/>
                <a:cs typeface="Arial" pitchFamily="34" charset="-120"/>
              </a:rPr>
              <a:t>Learn and be curious</a:t>
            </a:r>
            <a:endParaRPr lang="en-US" sz="3200" dirty="0"/>
          </a:p>
        </p:txBody>
      </p:sp>
      <p:sp>
        <p:nvSpPr>
          <p:cNvPr id="3" name="Closing tagline"/>
          <p:cNvSpPr txBox="1"/>
          <p:nvPr/>
        </p:nvSpPr>
        <p:spPr>
          <a:xfrm>
            <a:off x="1371600" y="2651760"/>
            <a:ext cx="6400800" cy="457200"/>
          </a:xfrm>
          <a:prstGeom prst="rect">
            <a:avLst/>
          </a:prstGeom>
          <a:noFill/>
          <a:ln/>
        </p:spPr>
        <p:txBody>
          <a:bodyPr wrap="square" lIns="0" tIns="0" rIns="0" bIns="0" rtlCol="0" anchor="ctr"/>
          <a:lstStyle/>
          <a:p>
            <a:pPr algn="ctr" indent="0" marL="0">
              <a:buNone/>
            </a:pPr>
            <a:r>
              <a:rPr lang="en-US" sz="1800" b="1" dirty="0">
                <a:solidFill>
                  <a:schemeClr val="tx1"/>
                </a:solidFill>
              </a:rPr>
              <a:t>Small fixes. Big impact.</a:t>
            </a:r>
            <a:endParaRPr lang="en-US" sz="1800" dirty="0"/>
          </a:p>
        </p:txBody>
      </p:sp>
      <p:sp>
        <p:nvSpPr>
          <p:cNvPr id="4" name="Rate label"/>
          <p:cNvSpPr txBox="1"/>
          <p:nvPr/>
        </p:nvSpPr>
        <p:spPr>
          <a:xfrm>
            <a:off x="2788920" y="3429000"/>
            <a:ext cx="1600200" cy="365760"/>
          </a:xfrm>
          <a:prstGeom prst="rect">
            <a:avLst/>
          </a:prstGeom>
          <a:noFill/>
          <a:ln/>
        </p:spPr>
        <p:txBody>
          <a:bodyPr wrap="square" lIns="0" tIns="0" rIns="0" bIns="0" rtlCol="0" anchor="ctr"/>
          <a:lstStyle/>
          <a:p>
            <a:pPr algn="r" indent="0" marL="0">
              <a:buNone/>
            </a:pPr>
            <a:r>
              <a:rPr lang="en-US" sz="1600" dirty="0">
                <a:solidFill>
                  <a:schemeClr val="tx1"/>
                </a:solidFill>
              </a:rPr>
              <a:t>Rate this video</a:t>
            </a:r>
            <a:endParaRPr lang="en-US" sz="1600" dirty="0"/>
          </a:p>
        </p:txBody>
      </p:sp>
      <p:pic>
        <p:nvPicPr>
          <p:cNvPr id="5" name="Star 1" descr="preencoded.png">    </p:cNvPr>
          <p:cNvPicPr>
            <a:picLocks noChangeAspect="1"/>
          </p:cNvPicPr>
          <p:nvPr/>
        </p:nvPicPr>
        <p:blipFill>
          <a:blip r:embed="rId1"/>
          <a:stretch>
            <a:fillRect/>
          </a:stretch>
        </p:blipFill>
        <p:spPr>
          <a:xfrm>
            <a:off x="4526280" y="3474720"/>
            <a:ext cx="274320" cy="274320"/>
          </a:xfrm>
          <a:prstGeom prst="rect">
            <a:avLst/>
          </a:prstGeom>
        </p:spPr>
      </p:pic>
      <p:pic>
        <p:nvPicPr>
          <p:cNvPr id="6" name="Star 2" descr="preencoded.png">    </p:cNvPr>
          <p:cNvPicPr>
            <a:picLocks noChangeAspect="1"/>
          </p:cNvPicPr>
          <p:nvPr/>
        </p:nvPicPr>
        <p:blipFill>
          <a:blip r:embed="rId2"/>
          <a:stretch>
            <a:fillRect/>
          </a:stretch>
        </p:blipFill>
        <p:spPr>
          <a:xfrm>
            <a:off x="4873752" y="3474720"/>
            <a:ext cx="274320" cy="274320"/>
          </a:xfrm>
          <a:prstGeom prst="rect">
            <a:avLst/>
          </a:prstGeom>
        </p:spPr>
      </p:pic>
      <p:pic>
        <p:nvPicPr>
          <p:cNvPr id="7" name="Star 3" descr="preencoded.png">    </p:cNvPr>
          <p:cNvPicPr>
            <a:picLocks noChangeAspect="1"/>
          </p:cNvPicPr>
          <p:nvPr/>
        </p:nvPicPr>
        <p:blipFill>
          <a:blip r:embed="rId3"/>
          <a:stretch>
            <a:fillRect/>
          </a:stretch>
        </p:blipFill>
        <p:spPr>
          <a:xfrm>
            <a:off x="5221224" y="3474720"/>
            <a:ext cx="274320" cy="274320"/>
          </a:xfrm>
          <a:prstGeom prst="rect">
            <a:avLst/>
          </a:prstGeom>
        </p:spPr>
      </p:pic>
      <p:pic>
        <p:nvPicPr>
          <p:cNvPr id="8" name="Star 4" descr="preencoded.png">    </p:cNvPr>
          <p:cNvPicPr>
            <a:picLocks noChangeAspect="1"/>
          </p:cNvPicPr>
          <p:nvPr/>
        </p:nvPicPr>
        <p:blipFill>
          <a:blip r:embed="rId4"/>
          <a:stretch>
            <a:fillRect/>
          </a:stretch>
        </p:blipFill>
        <p:spPr>
          <a:xfrm>
            <a:off x="5568696" y="3474720"/>
            <a:ext cx="274320" cy="274320"/>
          </a:xfrm>
          <a:prstGeom prst="rect">
            <a:avLst/>
          </a:prstGeom>
        </p:spPr>
      </p:pic>
      <p:pic>
        <p:nvPicPr>
          <p:cNvPr id="9" name="Star 5" descr="preencoded.png">    </p:cNvPr>
          <p:cNvPicPr>
            <a:picLocks noChangeAspect="1"/>
          </p:cNvPicPr>
          <p:nvPr/>
        </p:nvPicPr>
        <p:blipFill>
          <a:blip r:embed="rId5"/>
          <a:stretch>
            <a:fillRect/>
          </a:stretch>
        </p:blipFill>
        <p:spPr>
          <a:xfrm>
            <a:off x="5916168" y="3474720"/>
            <a:ext cx="274320" cy="274320"/>
          </a:xfrm>
          <a:prstGeom prst="rect">
            <a:avLst/>
          </a:prstGeom>
        </p:spPr>
      </p:pic>
    </p:spTree>
  </p:cSld>
  <p:clrMapOvr>
    <a:masterClrMapping/>
  </p:clrMapOvr>
</p:sld>
</file>

<file path=ppt/theme/theme1.xml><?xml version="1.0" encoding="utf-8"?>
<a:theme xmlns:a="http://schemas.openxmlformats.org/drawingml/2006/main" name="L&amp;D Field Team">
  <a:themeElements>
    <a:clrScheme name="L&amp;D Field Team">
      <a:dk1>
        <a:srgbClr val="121921"/>
      </a:dk1>
      <a:lt1>
        <a:srgbClr val="FFFFFF"/>
      </a:lt1>
      <a:dk2>
        <a:srgbClr val="37475A"/>
      </a:dk2>
      <a:lt2>
        <a:srgbClr val="F5F6FA"/>
      </a:lt2>
      <a:accent1>
        <a:srgbClr val="02A6E1"/>
      </a:accent1>
      <a:accent2>
        <a:srgbClr val="1E8C7E"/>
      </a:accent2>
      <a:accent3>
        <a:srgbClr val="D64545"/>
      </a:accent3>
      <a:accent4>
        <a:srgbClr val="5B6B7B"/>
      </a:accent4>
      <a:accent5>
        <a:srgbClr val="FFB400"/>
      </a:accent5>
      <a:accent6>
        <a:srgbClr val="0B6E99"/>
      </a:accent6>
      <a:hlink>
        <a:srgbClr val="0B6E99"/>
      </a:hlink>
      <a:folHlink>
        <a:srgbClr val="5B6B7B"/>
      </a:folHlink>
    </a:clrScheme>
    <a:fontScheme name="L&amp;D Field Team">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Amnesty Coaching - Pick to Rebin</dc:title>
  <dc:subject>wAPMT coaching campaign</dc:subject>
  <dc:creator>PptxGenJS</dc:creator>
  <cp:lastModifiedBy>PptxGenJS</cp:lastModifiedBy>
  <cp:revision>1</cp:revision>
  <dcterms:created xsi:type="dcterms:W3CDTF">2026-10-12T10:57:28Z</dcterms:created>
  <dcterms:modified xsi:type="dcterms:W3CDTF">2026-10-12T10:57:28Z</dcterms:modified>
</cp:coreProperties>
</file>