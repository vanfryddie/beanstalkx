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4cf69c1-9533-54a4-04bc-ec37e652a8ca}">
          <p14:sldIdLst>
            <p14:sldId id="256"/>
            <p14:sldId id="257"/>
            <p14:sldId id="258"/>
            <p14:sldId id="259"/>
            <p14:sldId id="260"/>
          </p14:sldIdLst>
        </p14:section>
        <p14:section name="Bin etiquette" id="{d9c96acf-ad0b-49b4-743f-b855e9bee4a5}">
          <p14:sldIdLst>
            <p14:sldId id="261"/>
            <p14:sldId id="262"/>
            <p14:sldId id="263"/>
          </p14:sldIdLst>
        </p14:section>
        <p14:section name="Wrap-up" id="{abc51f49-8788-aa96-b46d-f967605300a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and thanks for taking a few minutes with me. This one is for our pick to rebin team. We'll cover two things: what really counts as amnesty, and what doesn't, and how you can keep bins healthy every time your hands are in one.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amnesty? Amnesty is an item that should be in a stowed pod bin, but isn't physically there. It was stowed to prime and hasn't been picked yet, but it fell out, or ended up at the station or on the floor. The system still thinks it's in the bin. That creates a defect in our inventory, and it can lead to a pick short, which puts our customer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shows up in two places. Floor amnesty is when items fall out of pods onto the robotics floor. Station amnesty is when items are left behind at the station. Both have the same root cause. Poor bin etiquette is the number one cause of amnesty, and the good news is that bin etiquette is completely in 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distinction. Amnesty is only for items that haven't been picked yet: they belong in a stowed pod bin, and they're not in it. Those go to amnesty. But if you find an item that has already been picked, one that should be in a tote, at a rebin location or in a chute, and it fell or was put in the wrong place, that is not amnesty. That's an outbound problem solve item. Putting picked items into amnesty over-inflates our wAPMT, and it hides the real outbound problem that needs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you find an item out of place, ask yourself one question: has it already been picked? If the answer is no, and it belongs in a stowed pod bin, it's amnesty. If the answer is yes, and it belongs in a tote, at rebin or in a chute, it's not amnesty. Take it to outbound problem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bin etiquette. As a picker, your hands are in bins all shift long, so you have a big part to play in stopping amnesty before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one piece flow. Handle one item at a time, with both hands. Take one item, scan it once, and place it in your tote before you reach back into the bin. With Pod Release Optimization, the pod can leave while you're still handling items, and anything left behind becomes station amnesty.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fix as you go. Whenever your hands are in a bin, use the ROBOTSS rules to leave it better than you found it. No overhang: push anything sticking out fully back inside. Blocking: don't leave small items hidden behind big ones. Overstuffing: never force items back into a full bin. And stacking: keep everything below the retention bands. A few seconds from you stops units falling as the pod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your pick checklist. Found an item that hasn't been picked yet? That's amnesty. Found one that's already been picked? That's outbound problem solve, not amnesty. And on every bin you touch, handle one item at a time and fix as you go. That keeps our wAPMT accurate, stops units falling, and gets our customers what they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fixes make a big impact. Thanks for watching, and thanks for looking after every bin, every time. If you have any questions, speak to your Process Guide, your Area Manager, or the ICQA team. And please take a second to rate this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PICK TO REBIN</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Every Bin, Every Time</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What really counts as amnesty, and how pickers keep bins healthy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An item that should be in a stowed pod bin, but is not physically there.</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belongs in a stowed bin</a:t>
            </a:r>
            <a:endParaRPr lang="en-US" sz="1700" dirty="0"/>
          </a:p>
          <a:p>
            <a:pPr indent="0" marL="0">
              <a:buNone/>
            </a:pPr>
            <a:r>
              <a:rPr lang="en-US" sz="1400" dirty="0">
                <a:solidFill>
                  <a:schemeClr val="accent4"/>
                </a:solidFill>
              </a:rPr>
              <a:t>Stowed to prime and not picked yet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isn't physically there</a:t>
            </a:r>
            <a:endParaRPr lang="en-US" sz="1700" dirty="0"/>
          </a:p>
          <a:p>
            <a:pPr indent="0" marL="0">
              <a:buNone/>
            </a:pPr>
            <a:r>
              <a:rPr lang="en-US" sz="1400" dirty="0">
                <a:solidFill>
                  <a:schemeClr val="accent4"/>
                </a:solidFill>
              </a:rPr>
              <a:t>It fell, or ended up at the station or on the floor</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puts the customer at risk</a:t>
            </a:r>
            <a:endParaRPr lang="en-US" sz="1700" dirty="0"/>
          </a:p>
          <a:p>
            <a:pPr indent="0" marL="0">
              <a:buNone/>
            </a:pPr>
            <a:r>
              <a:rPr lang="en-US" sz="1400" dirty="0">
                <a:solidFill>
                  <a:schemeClr val="accent4"/>
                </a:solidFill>
              </a:rPr>
              <a:t>A virtual overage that can cause a pick short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Where amnesty comes from</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Items that fall from pods onto the AR floor while pods travel</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Items left behind at the station when the pod leaves</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Poor bin etiquette is the #1 cause of amnesty.</a:t>
            </a:r>
            <a:endParaRPr lang="en-US" sz="1800" dirty="0"/>
          </a:p>
          <a:p>
            <a:pPr indent="0" marL="0">
              <a:buNone/>
            </a:pPr>
            <a:r>
              <a:rPr lang="en-US" sz="1500" dirty="0">
                <a:solidFill>
                  <a:srgbClr val="9EDFF7"/>
                </a:solidFill>
              </a:rPr>
              <a:t>Good bin etiquette is something every one of us controls.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or problem solve?</a:t>
            </a:r>
            <a:endParaRPr lang="en-US" sz="2800" dirty="0"/>
          </a:p>
        </p:txBody>
      </p:sp>
      <p:sp>
        <p:nvSpPr>
          <p:cNvPr id="3" name="Side card 1"/>
          <p:cNvSpPr/>
          <p:nvPr/>
        </p:nvSpPr>
        <p:spPr>
          <a:xfrm>
            <a:off x="45720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685800" y="1527048"/>
            <a:ext cx="384048" cy="384048"/>
          </a:xfrm>
          <a:prstGeom prst="rect">
            <a:avLst/>
          </a:prstGeom>
        </p:spPr>
      </p:pic>
      <p:sp>
        <p:nvSpPr>
          <p:cNvPr id="5" name="Side tag 1"/>
          <p:cNvSpPr txBox="1"/>
          <p:nvPr/>
        </p:nvSpPr>
        <p:spPr>
          <a:xfrm>
            <a:off x="118872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6"/>
                </a:solidFill>
              </a:rPr>
              <a:t>AMNESTY</a:t>
            </a:r>
            <a:endParaRPr lang="en-US" sz="1300" dirty="0"/>
          </a:p>
        </p:txBody>
      </p:sp>
      <p:sp>
        <p:nvSpPr>
          <p:cNvPr id="6" name="Side text 1"/>
          <p:cNvSpPr txBox="1"/>
          <p:nvPr/>
        </p:nvSpPr>
        <p:spPr>
          <a:xfrm>
            <a:off x="68580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Not picked yet</a:t>
            </a:r>
            <a:endParaRPr lang="en-US" sz="1800" dirty="0"/>
          </a:p>
          <a:p>
            <a:pPr marL="342900" indent="-342900">
              <a:spcAft>
                <a:spcPts val="300"/>
              </a:spcAft>
              <a:buSzPct val="100000"/>
              <a:buChar char="•"/>
            </a:pPr>
            <a:r>
              <a:rPr lang="en-US" sz="1400" dirty="0">
                <a:solidFill>
                  <a:schemeClr val="accent4"/>
                </a:solidFill>
              </a:rPr>
              <a:t>Belongs in a stowed pod bin</a:t>
            </a:r>
            <a:endParaRPr lang="en-US" sz="1800" dirty="0"/>
          </a:p>
          <a:p>
            <a:pPr marL="342900" indent="-342900">
              <a:spcAft>
                <a:spcPts val="300"/>
              </a:spcAft>
              <a:buSzPct val="100000"/>
              <a:buChar char="•"/>
            </a:pPr>
            <a:r>
              <a:rPr lang="en-US" sz="1400" dirty="0">
                <a:solidFill>
                  <a:schemeClr val="accent4"/>
                </a:solidFill>
              </a:rPr>
              <a:t>Fell out or is missing from that bin</a:t>
            </a:r>
            <a:endParaRPr lang="en-US" sz="1800" dirty="0"/>
          </a:p>
        </p:txBody>
      </p:sp>
      <p:sp>
        <p:nvSpPr>
          <p:cNvPr id="7" name="Side action 1"/>
          <p:cNvSpPr txBox="1"/>
          <p:nvPr/>
        </p:nvSpPr>
        <p:spPr>
          <a:xfrm>
            <a:off x="685800" y="3355848"/>
            <a:ext cx="2194560" cy="365760"/>
          </a:xfrm>
          <a:prstGeom prst="rect">
            <a:avLst/>
          </a:prstGeom>
          <a:noFill/>
          <a:ln/>
        </p:spPr>
        <p:txBody>
          <a:bodyPr wrap="square" lIns="0" tIns="0" rIns="0" bIns="0" rtlCol="0" anchor="ctr"/>
          <a:lstStyle/>
          <a:p>
            <a:pPr indent="0" marL="0">
              <a:buNone/>
            </a:pPr>
            <a:r>
              <a:rPr lang="en-US" sz="1500" b="1" dirty="0">
                <a:solidFill>
                  <a:schemeClr val="accent6"/>
                </a:solidFill>
              </a:rPr>
              <a:t>→ </a:t>
            </a:r>
            <a:pPr indent="0" marL="0">
              <a:buNone/>
            </a:pPr>
            <a:r>
              <a:rPr lang="en-US" sz="1500" b="1" dirty="0">
                <a:solidFill>
                  <a:schemeClr val="accent6"/>
                </a:solidFill>
              </a:rPr>
              <a:t>Send to amnesty</a:t>
            </a:r>
            <a:endParaRPr lang="en-US" sz="1500" dirty="0"/>
          </a:p>
        </p:txBody>
      </p:sp>
      <p:sp>
        <p:nvSpPr>
          <p:cNvPr id="8" name="Side card 2"/>
          <p:cNvSpPr/>
          <p:nvPr/>
        </p:nvSpPr>
        <p:spPr>
          <a:xfrm>
            <a:off x="324612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3474720" y="1527048"/>
            <a:ext cx="384048" cy="384048"/>
          </a:xfrm>
          <a:prstGeom prst="rect">
            <a:avLst/>
          </a:prstGeom>
        </p:spPr>
      </p:pic>
      <p:sp>
        <p:nvSpPr>
          <p:cNvPr id="10" name="Side tag 2"/>
          <p:cNvSpPr txBox="1"/>
          <p:nvPr/>
        </p:nvSpPr>
        <p:spPr>
          <a:xfrm>
            <a:off x="397764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3"/>
                </a:solidFill>
              </a:rPr>
              <a:t>NOT AMNESTY</a:t>
            </a:r>
            <a:endParaRPr lang="en-US"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Already picked</a:t>
            </a:r>
            <a:endParaRPr lang="en-US" sz="1800" dirty="0"/>
          </a:p>
          <a:p>
            <a:pPr marL="342900" indent="-342900">
              <a:spcAft>
                <a:spcPts val="300"/>
              </a:spcAft>
              <a:buSzPct val="100000"/>
              <a:buChar char="•"/>
            </a:pPr>
            <a:r>
              <a:rPr lang="en-US" sz="1400" dirty="0">
                <a:solidFill>
                  <a:schemeClr val="accent4"/>
                </a:solidFill>
              </a:rPr>
              <a:t>Belongs in a tote, rebin location or chute</a:t>
            </a:r>
            <a:endParaRPr lang="en-US" sz="1800" dirty="0"/>
          </a:p>
          <a:p>
            <a:pPr marL="342900" indent="-342900">
              <a:spcAft>
                <a:spcPts val="300"/>
              </a:spcAft>
              <a:buSzPct val="100000"/>
              <a:buChar char="•"/>
            </a:pPr>
            <a:r>
              <a:rPr lang="en-US" sz="1400" dirty="0">
                <a:solidFill>
                  <a:schemeClr val="accent4"/>
                </a:solidFill>
              </a:rPr>
              <a:t>Fell or was put in the wrong place</a:t>
            </a:r>
            <a:endParaRPr lang="en-US"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indent="0" marL="0">
              <a:buNone/>
            </a:pPr>
            <a:r>
              <a:rPr lang="en-US" sz="1500" b="1" dirty="0">
                <a:solidFill>
                  <a:schemeClr val="accent3"/>
                </a:solidFill>
              </a:rPr>
              <a:t>→ </a:t>
            </a:r>
            <a:pPr indent="0" marL="0">
              <a:buNone/>
            </a:pPr>
            <a:r>
              <a:rPr lang="en-US" sz="1500" b="1" dirty="0">
                <a:solidFill>
                  <a:schemeClr val="accent3"/>
                </a:solidFill>
              </a:rPr>
              <a:t>Outbound problem solve</a:t>
            </a:r>
            <a:endParaRPr lang="en-US" sz="1500" dirty="0"/>
          </a:p>
        </p:txBody>
      </p:sp>
      <p:sp>
        <p:nvSpPr>
          <p:cNvPr id="13" name="Inflate callout"/>
          <p:cNvSpPr/>
          <p:nvPr/>
        </p:nvSpPr>
        <p:spPr>
          <a:xfrm>
            <a:off x="457200" y="3977640"/>
            <a:ext cx="5394960" cy="685800"/>
          </a:xfrm>
          <a:prstGeom prst="roundRect">
            <a:avLst>
              <a:gd name="adj" fmla="val 13333"/>
            </a:avLst>
          </a:prstGeom>
          <a:solidFill>
            <a:schemeClr val="tx2"/>
          </a:solidFill>
          <a:ln/>
        </p:spPr>
      </p:sp>
      <p:sp>
        <p:nvSpPr>
          <p:cNvPr id="14" name="Inflate text"/>
          <p:cNvSpPr txBox="1"/>
          <p:nvPr/>
        </p:nvSpPr>
        <p:spPr>
          <a:xfrm>
            <a:off x="731520" y="3977640"/>
            <a:ext cx="4846320" cy="685800"/>
          </a:xfrm>
          <a:prstGeom prst="rect">
            <a:avLst/>
          </a:prstGeom>
          <a:noFill/>
          <a:ln/>
        </p:spPr>
        <p:txBody>
          <a:bodyPr wrap="square" lIns="0" tIns="0" rIns="0" bIns="0" rtlCol="0" anchor="ctr"/>
          <a:lstStyle/>
          <a:p>
            <a:pPr indent="0" marL="0">
              <a:buNone/>
            </a:pPr>
            <a:r>
              <a:rPr lang="en-US" sz="1500" b="1" dirty="0">
                <a:solidFill>
                  <a:schemeClr val="bg1"/>
                </a:solidFill>
              </a:rPr>
              <a:t>Putting picked items into amnesty over-inflates wAPMT and hides the real outbound problem.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One question to ask</a:t>
            </a:r>
            <a:endParaRPr lang="en-US" sz="2800" dirty="0"/>
          </a:p>
        </p:txBody>
      </p:sp>
      <p:sp>
        <p:nvSpPr>
          <p:cNvPr id="3" name="Start box"/>
          <p:cNvSpPr/>
          <p:nvPr/>
        </p:nvSpPr>
        <p:spPr>
          <a:xfrm>
            <a:off x="1783080" y="1325880"/>
            <a:ext cx="2743200" cy="548640"/>
          </a:xfrm>
          <a:prstGeom prst="roundRect">
            <a:avLst>
              <a:gd name="adj" fmla="val 16667"/>
            </a:avLst>
          </a:prstGeom>
          <a:solidFill>
            <a:schemeClr val="tx2"/>
          </a:solidFill>
          <a:ln/>
        </p:spPr>
      </p:sp>
      <p:sp>
        <p:nvSpPr>
          <p:cNvPr id="4" name="Start text"/>
          <p:cNvSpPr txBox="1"/>
          <p:nvPr/>
        </p:nvSpPr>
        <p:spPr>
          <a:xfrm>
            <a:off x="1783080" y="1325880"/>
            <a:ext cx="2743200" cy="548640"/>
          </a:xfrm>
          <a:prstGeom prst="rect">
            <a:avLst/>
          </a:prstGeom>
          <a:noFill/>
          <a:ln/>
        </p:spPr>
        <p:txBody>
          <a:bodyPr wrap="square" lIns="0" tIns="0" rIns="0" bIns="0" rtlCol="0" anchor="ctr"/>
          <a:lstStyle/>
          <a:p>
            <a:pPr algn="ctr" indent="0" marL="0">
              <a:buNone/>
            </a:pPr>
            <a:r>
              <a:rPr lang="en-US" sz="1500" dirty="0">
                <a:solidFill>
                  <a:schemeClr val="bg1"/>
                </a:solidFill>
              </a:rPr>
              <a:t>You find an item out of place</a:t>
            </a:r>
            <a:endParaRPr lang="en-US" sz="1500" dirty="0"/>
          </a:p>
        </p:txBody>
      </p:sp>
      <p:sp>
        <p:nvSpPr>
          <p:cNvPr id="5" name="Line 1"/>
          <p:cNvSpPr/>
          <p:nvPr/>
        </p:nvSpPr>
        <p:spPr>
          <a:xfrm>
            <a:off x="3154680" y="1874520"/>
            <a:ext cx="0" cy="228600"/>
          </a:xfrm>
          <a:prstGeom prst="line">
            <a:avLst/>
          </a:prstGeom>
          <a:noFill/>
          <a:ln w="25400">
            <a:solidFill>
              <a:srgbClr val="9AA6B2"/>
            </a:solidFill>
            <a:prstDash val="solid"/>
          </a:ln>
        </p:spPr>
      </p:sp>
      <p:sp>
        <p:nvSpPr>
          <p:cNvPr id="6" name="Question box"/>
          <p:cNvSpPr/>
          <p:nvPr/>
        </p:nvSpPr>
        <p:spPr>
          <a:xfrm>
            <a:off x="1554480" y="2103120"/>
            <a:ext cx="3200400" cy="685800"/>
          </a:xfrm>
          <a:prstGeom prst="roundRect">
            <a:avLst>
              <a:gd name="adj" fmla="val 13333"/>
            </a:avLst>
          </a:prstGeom>
          <a:solidFill>
            <a:schemeClr val="accent1"/>
          </a:solidFill>
          <a:ln/>
        </p:spPr>
      </p:sp>
      <p:sp>
        <p:nvSpPr>
          <p:cNvPr id="7" name="Question text"/>
          <p:cNvSpPr txBox="1"/>
          <p:nvPr/>
        </p:nvSpPr>
        <p:spPr>
          <a:xfrm>
            <a:off x="1554480" y="2103120"/>
            <a:ext cx="3200400" cy="685800"/>
          </a:xfrm>
          <a:prstGeom prst="rect">
            <a:avLst/>
          </a:prstGeom>
          <a:noFill/>
          <a:ln/>
        </p:spPr>
        <p:txBody>
          <a:bodyPr wrap="square" lIns="0" tIns="0" rIns="0" bIns="0" rtlCol="0" anchor="ctr"/>
          <a:lstStyle/>
          <a:p>
            <a:pPr algn="ctr" indent="0" marL="0">
              <a:buNone/>
            </a:pPr>
            <a:r>
              <a:rPr lang="en-US" sz="1800" b="1" dirty="0">
                <a:solidFill>
                  <a:schemeClr val="bg1"/>
                </a:solidFill>
              </a:rPr>
              <a:t>Has it already been picked?</a:t>
            </a:r>
            <a:endParaRPr lang="en-US" sz="1800" dirty="0"/>
          </a:p>
        </p:txBody>
      </p:sp>
      <p:sp>
        <p:nvSpPr>
          <p:cNvPr id="8" name="Line 2"/>
          <p:cNvSpPr/>
          <p:nvPr/>
        </p:nvSpPr>
        <p:spPr>
          <a:xfrm>
            <a:off x="3154680" y="2788920"/>
            <a:ext cx="0" cy="228600"/>
          </a:xfrm>
          <a:prstGeom prst="line">
            <a:avLst/>
          </a:prstGeom>
          <a:noFill/>
          <a:ln w="25400">
            <a:solidFill>
              <a:srgbClr val="9AA6B2"/>
            </a:solidFill>
            <a:prstDash val="solid"/>
          </a:ln>
        </p:spPr>
      </p:sp>
      <p:sp>
        <p:nvSpPr>
          <p:cNvPr id="9" name="Line 3"/>
          <p:cNvSpPr/>
          <p:nvPr/>
        </p:nvSpPr>
        <p:spPr>
          <a:xfrm>
            <a:off x="1783080" y="3017520"/>
            <a:ext cx="2743200" cy="0"/>
          </a:xfrm>
          <a:prstGeom prst="line">
            <a:avLst/>
          </a:prstGeom>
          <a:noFill/>
          <a:ln w="25400">
            <a:solidFill>
              <a:srgbClr val="9AA6B2"/>
            </a:solidFill>
            <a:prstDash val="solid"/>
          </a:ln>
        </p:spPr>
      </p:sp>
      <p:sp>
        <p:nvSpPr>
          <p:cNvPr id="10" name="Line 4"/>
          <p:cNvSpPr/>
          <p:nvPr/>
        </p:nvSpPr>
        <p:spPr>
          <a:xfrm>
            <a:off x="1783080" y="3017520"/>
            <a:ext cx="0" cy="228600"/>
          </a:xfrm>
          <a:prstGeom prst="line">
            <a:avLst/>
          </a:prstGeom>
          <a:noFill/>
          <a:ln w="25400">
            <a:solidFill>
              <a:srgbClr val="9AA6B2"/>
            </a:solidFill>
            <a:prstDash val="solid"/>
          </a:ln>
        </p:spPr>
      </p:sp>
      <p:sp>
        <p:nvSpPr>
          <p:cNvPr id="11" name="Line 5"/>
          <p:cNvSpPr/>
          <p:nvPr/>
        </p:nvSpPr>
        <p:spPr>
          <a:xfrm>
            <a:off x="4526280" y="3017520"/>
            <a:ext cx="0" cy="228600"/>
          </a:xfrm>
          <a:prstGeom prst="line">
            <a:avLst/>
          </a:prstGeom>
          <a:noFill/>
          <a:ln w="25400">
            <a:solidFill>
              <a:srgbClr val="9AA6B2"/>
            </a:solidFill>
            <a:prstDash val="solid"/>
          </a:ln>
        </p:spPr>
      </p:sp>
      <p:sp>
        <p:nvSpPr>
          <p:cNvPr id="12" name="Outcome 1"/>
          <p:cNvSpPr/>
          <p:nvPr/>
        </p:nvSpPr>
        <p:spPr>
          <a:xfrm>
            <a:off x="457200" y="3246120"/>
            <a:ext cx="2651760" cy="1280160"/>
          </a:xfrm>
          <a:prstGeom prst="roundRect">
            <a:avLst>
              <a:gd name="adj" fmla="val 7143"/>
            </a:avLst>
          </a:prstGeom>
          <a:solidFill>
            <a:schemeClr val="bg1"/>
          </a:solidFill>
          <a:ln/>
        </p:spPr>
      </p:sp>
      <p:sp>
        <p:nvSpPr>
          <p:cNvPr id="13" name="Outcome text 1"/>
          <p:cNvSpPr txBox="1"/>
          <p:nvPr/>
        </p:nvSpPr>
        <p:spPr>
          <a:xfrm>
            <a:off x="6400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NO</a:t>
            </a:r>
            <a:endParaRPr lang="en-US" sz="1300" dirty="0"/>
          </a:p>
          <a:p>
            <a:pPr algn="ctr" indent="0" marL="0">
              <a:buNone/>
            </a:pPr>
            <a:r>
              <a:rPr lang="en-US" sz="1800" b="1" dirty="0">
                <a:solidFill>
                  <a:schemeClr val="accent6"/>
                </a:solidFill>
              </a:rPr>
              <a:t>Amnesty</a:t>
            </a:r>
            <a:endParaRPr lang="en-US" sz="1300" dirty="0"/>
          </a:p>
          <a:p>
            <a:pPr algn="ctr" indent="0" marL="0">
              <a:buNone/>
            </a:pPr>
            <a:r>
              <a:rPr lang="en-US" sz="1400" dirty="0">
                <a:solidFill>
                  <a:schemeClr val="tx1"/>
                </a:solidFill>
              </a:rPr>
              <a:t>It belongs in a stowed pod bin</a:t>
            </a:r>
            <a:endParaRPr lang="en-US" sz="1300" dirty="0"/>
          </a:p>
        </p:txBody>
      </p:sp>
      <p:sp>
        <p:nvSpPr>
          <p:cNvPr id="14" name="Outcome 2"/>
          <p:cNvSpPr/>
          <p:nvPr/>
        </p:nvSpPr>
        <p:spPr>
          <a:xfrm>
            <a:off x="3200400" y="3246120"/>
            <a:ext cx="2651760" cy="1280160"/>
          </a:xfrm>
          <a:prstGeom prst="roundRect">
            <a:avLst>
              <a:gd name="adj" fmla="val 7143"/>
            </a:avLst>
          </a:prstGeom>
          <a:solidFill>
            <a:srgbClr val="FBECEC"/>
          </a:solidFill>
          <a:ln/>
        </p:spPr>
      </p:sp>
      <p:sp>
        <p:nvSpPr>
          <p:cNvPr id="15" name="Outcome text 2"/>
          <p:cNvSpPr txBox="1"/>
          <p:nvPr/>
        </p:nvSpPr>
        <p:spPr>
          <a:xfrm>
            <a:off x="33832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YES</a:t>
            </a:r>
            <a:endParaRPr lang="en-US" sz="1300" dirty="0"/>
          </a:p>
          <a:p>
            <a:pPr algn="ctr" indent="0" marL="0">
              <a:buNone/>
            </a:pPr>
            <a:r>
              <a:rPr lang="en-US" sz="1800" b="1" dirty="0">
                <a:solidFill>
                  <a:schemeClr val="accent3"/>
                </a:solidFill>
              </a:rPr>
              <a:t>Outbound problem solve</a:t>
            </a:r>
            <a:endParaRPr lang="en-US" sz="1300" dirty="0"/>
          </a:p>
          <a:p>
            <a:pPr algn="ctr" indent="0" marL="0">
              <a:buNone/>
            </a:pPr>
            <a:r>
              <a:rPr lang="en-US" sz="1400" dirty="0">
                <a:solidFill>
                  <a:schemeClr val="tx1"/>
                </a:solidFill>
              </a:rPr>
              <a:t>Not amnesty: it belongs in a tote, rebin or chute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NEXT UP</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 Etiquette at Pick</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Your hands are in bins all shift. Leave every one better than you found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One item at a time</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item in your hands at a time</a:t>
            </a:r>
            <a:endParaRPr lang="en-US" sz="7200" dirty="0"/>
          </a:p>
        </p:txBody>
      </p:sp>
      <p:pic>
        <p:nvPicPr>
          <p:cNvPr id="5" name="Flow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low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Take one item</a:t>
            </a:r>
            <a:endParaRPr lang="en-US" sz="1700" dirty="0"/>
          </a:p>
          <a:p>
            <a:pPr indent="0" marL="0">
              <a:buNone/>
            </a:pPr>
            <a:r>
              <a:rPr lang="en-US" sz="1400" dirty="0">
                <a:solidFill>
                  <a:schemeClr val="accent4"/>
                </a:solidFill>
              </a:rPr>
              <a:t>Pick a single item, using both hands</a:t>
            </a:r>
            <a:endParaRPr lang="en-US" sz="1700" dirty="0"/>
          </a:p>
        </p:txBody>
      </p:sp>
      <p:pic>
        <p:nvPicPr>
          <p:cNvPr id="7" name="Flow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low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Scan it once</a:t>
            </a:r>
            <a:endParaRPr lang="en-US" sz="1700" dirty="0"/>
          </a:p>
          <a:p>
            <a:pPr indent="0" marL="0">
              <a:buNone/>
            </a:pPr>
            <a:r>
              <a:rPr lang="en-US" sz="1400" dirty="0">
                <a:solidFill>
                  <a:schemeClr val="accent4"/>
                </a:solidFill>
              </a:rPr>
              <a:t>One item, one scan</a:t>
            </a:r>
            <a:endParaRPr lang="en-US" sz="1700" dirty="0"/>
          </a:p>
        </p:txBody>
      </p:sp>
      <p:pic>
        <p:nvPicPr>
          <p:cNvPr id="9" name="Flow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low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Place it in your tote</a:t>
            </a:r>
            <a:endParaRPr lang="en-US" sz="1700" dirty="0"/>
          </a:p>
          <a:p>
            <a:pPr indent="0" marL="0">
              <a:buNone/>
            </a:pPr>
            <a:r>
              <a:rPr lang="en-US" sz="1400" dirty="0">
                <a:solidFill>
                  <a:schemeClr val="accent4"/>
                </a:solidFill>
              </a:rPr>
              <a:t>Before you reach back into the bin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Fix as you go while you pick</a:t>
            </a:r>
            <a:endParaRPr lang="en-US" sz="2800" dirty="0"/>
          </a:p>
        </p:txBody>
      </p:sp>
      <p:sp>
        <p:nvSpPr>
          <p:cNvPr id="3" name="Pick rule 1"/>
          <p:cNvSpPr/>
          <p:nvPr/>
        </p:nvSpPr>
        <p:spPr>
          <a:xfrm>
            <a:off x="457200" y="1325880"/>
            <a:ext cx="2606040" cy="1463040"/>
          </a:xfrm>
          <a:prstGeom prst="roundRect">
            <a:avLst>
              <a:gd name="adj" fmla="val 6250"/>
            </a:avLst>
          </a:prstGeom>
          <a:solidFill>
            <a:schemeClr val="bg1"/>
          </a:solidFill>
          <a:ln/>
        </p:spPr>
      </p:sp>
      <p:sp>
        <p:nvSpPr>
          <p:cNvPr id="4" name="Pick badge 1"/>
          <p:cNvSpPr/>
          <p:nvPr/>
        </p:nvSpPr>
        <p:spPr>
          <a:xfrm>
            <a:off x="658368" y="1527048"/>
            <a:ext cx="566928" cy="566928"/>
          </a:xfrm>
          <a:prstGeom prst="ellipse">
            <a:avLst/>
          </a:prstGeom>
          <a:solidFill>
            <a:schemeClr val="tx2"/>
          </a:solidFill>
          <a:ln/>
        </p:spPr>
      </p:sp>
      <p:sp>
        <p:nvSpPr>
          <p:cNvPr id="5" name="Pick letter 1"/>
          <p:cNvSpPr txBox="1"/>
          <p:nvPr/>
        </p:nvSpPr>
        <p:spPr>
          <a:xfrm>
            <a:off x="658368" y="1527048"/>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Arial" pitchFamily="34" charset="0"/>
                <a:ea typeface="Arial" pitchFamily="34" charset="-122"/>
                <a:cs typeface="Arial" pitchFamily="34" charset="-120"/>
              </a:rPr>
              <a:t>O</a:t>
            </a:r>
            <a:endParaRPr lang="en-US" sz="2400" dirty="0"/>
          </a:p>
        </p:txBody>
      </p:sp>
      <p:sp>
        <p:nvSpPr>
          <p:cNvPr id="6" name="Pick rule name 1"/>
          <p:cNvSpPr txBox="1"/>
          <p:nvPr/>
        </p:nvSpPr>
        <p:spPr>
          <a:xfrm>
            <a:off x="1371600" y="1527048"/>
            <a:ext cx="1554480" cy="566928"/>
          </a:xfrm>
          <a:prstGeom prst="rect">
            <a:avLst/>
          </a:prstGeom>
          <a:noFill/>
          <a:ln/>
        </p:spPr>
        <p:txBody>
          <a:bodyPr wrap="square" lIns="0" tIns="0" rIns="0" bIns="0" rtlCol="0" anchor="ctr"/>
          <a:lstStyle/>
          <a:p>
            <a:pPr indent="0" marL="0">
              <a:buNone/>
            </a:pPr>
            <a:r>
              <a:rPr lang="en-US" sz="1700" b="1" dirty="0">
                <a:solidFill>
                  <a:schemeClr val="tx1"/>
                </a:solidFill>
              </a:rPr>
              <a:t>No overhang</a:t>
            </a:r>
            <a:endParaRPr lang="en-US" sz="1700" dirty="0"/>
          </a:p>
        </p:txBody>
      </p:sp>
      <p:sp>
        <p:nvSpPr>
          <p:cNvPr id="7" name="Pick rule text 1"/>
          <p:cNvSpPr txBox="1"/>
          <p:nvPr/>
        </p:nvSpPr>
        <p:spPr>
          <a:xfrm>
            <a:off x="658368" y="2194560"/>
            <a:ext cx="2240280" cy="502920"/>
          </a:xfrm>
          <a:prstGeom prst="rect">
            <a:avLst/>
          </a:prstGeom>
          <a:noFill/>
          <a:ln/>
        </p:spPr>
        <p:txBody>
          <a:bodyPr wrap="square" lIns="0" tIns="0" rIns="0" bIns="0" rtlCol="0" anchor="t"/>
          <a:lstStyle/>
          <a:p>
            <a:pPr indent="0" marL="0">
              <a:buNone/>
            </a:pPr>
            <a:r>
              <a:rPr lang="en-US" sz="1400" dirty="0">
                <a:solidFill>
                  <a:schemeClr val="accent4"/>
                </a:solidFill>
              </a:rPr>
              <a:t>Push anything sticking out fully back inside</a:t>
            </a:r>
            <a:endParaRPr lang="en-US" sz="1400" dirty="0"/>
          </a:p>
        </p:txBody>
      </p:sp>
      <p:sp>
        <p:nvSpPr>
          <p:cNvPr id="8" name="Pick rule 2"/>
          <p:cNvSpPr/>
          <p:nvPr/>
        </p:nvSpPr>
        <p:spPr>
          <a:xfrm>
            <a:off x="3246120" y="1325880"/>
            <a:ext cx="2606040" cy="1463040"/>
          </a:xfrm>
          <a:prstGeom prst="roundRect">
            <a:avLst>
              <a:gd name="adj" fmla="val 6250"/>
            </a:avLst>
          </a:prstGeom>
          <a:solidFill>
            <a:schemeClr val="bg1"/>
          </a:solidFill>
          <a:ln/>
        </p:spPr>
      </p:sp>
      <p:sp>
        <p:nvSpPr>
          <p:cNvPr id="9" name="Pick badge 2"/>
          <p:cNvSpPr/>
          <p:nvPr/>
        </p:nvSpPr>
        <p:spPr>
          <a:xfrm>
            <a:off x="3447288" y="1527048"/>
            <a:ext cx="566928" cy="566928"/>
          </a:xfrm>
          <a:prstGeom prst="ellipse">
            <a:avLst/>
          </a:prstGeom>
          <a:solidFill>
            <a:schemeClr val="tx2"/>
          </a:solidFill>
          <a:ln/>
        </p:spPr>
      </p:sp>
      <p:sp>
        <p:nvSpPr>
          <p:cNvPr id="10" name="Pick letter 2"/>
          <p:cNvSpPr txBox="1"/>
          <p:nvPr/>
        </p:nvSpPr>
        <p:spPr>
          <a:xfrm>
            <a:off x="3447288" y="1527048"/>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Arial" pitchFamily="34" charset="0"/>
                <a:ea typeface="Arial" pitchFamily="34" charset="-122"/>
                <a:cs typeface="Arial" pitchFamily="34" charset="-120"/>
              </a:rPr>
              <a:t>B</a:t>
            </a:r>
            <a:endParaRPr lang="en-US" sz="2400" dirty="0"/>
          </a:p>
        </p:txBody>
      </p:sp>
      <p:sp>
        <p:nvSpPr>
          <p:cNvPr id="11" name="Pick rule name 2"/>
          <p:cNvSpPr txBox="1"/>
          <p:nvPr/>
        </p:nvSpPr>
        <p:spPr>
          <a:xfrm>
            <a:off x="4160520" y="1527048"/>
            <a:ext cx="1554480" cy="566928"/>
          </a:xfrm>
          <a:prstGeom prst="rect">
            <a:avLst/>
          </a:prstGeom>
          <a:noFill/>
          <a:ln/>
        </p:spPr>
        <p:txBody>
          <a:bodyPr wrap="square" lIns="0" tIns="0" rIns="0" bIns="0" rtlCol="0" anchor="ctr"/>
          <a:lstStyle/>
          <a:p>
            <a:pPr indent="0" marL="0">
              <a:buNone/>
            </a:pPr>
            <a:r>
              <a:rPr lang="en-US" sz="1700" b="1" dirty="0">
                <a:solidFill>
                  <a:schemeClr val="tx1"/>
                </a:solidFill>
              </a:rPr>
              <a:t>Blocking</a:t>
            </a:r>
            <a:endParaRPr lang="en-US" sz="1700" dirty="0"/>
          </a:p>
        </p:txBody>
      </p:sp>
      <p:sp>
        <p:nvSpPr>
          <p:cNvPr id="12" name="Pick rule text 2"/>
          <p:cNvSpPr txBox="1"/>
          <p:nvPr/>
        </p:nvSpPr>
        <p:spPr>
          <a:xfrm>
            <a:off x="3447288" y="2194560"/>
            <a:ext cx="2240280" cy="502920"/>
          </a:xfrm>
          <a:prstGeom prst="rect">
            <a:avLst/>
          </a:prstGeom>
          <a:noFill/>
          <a:ln/>
        </p:spPr>
        <p:txBody>
          <a:bodyPr wrap="square" lIns="0" tIns="0" rIns="0" bIns="0" rtlCol="0" anchor="t"/>
          <a:lstStyle/>
          <a:p>
            <a:pPr indent="0" marL="0">
              <a:buNone/>
            </a:pPr>
            <a:r>
              <a:rPr lang="en-US" sz="1400" dirty="0">
                <a:solidFill>
                  <a:schemeClr val="accent4"/>
                </a:solidFill>
              </a:rPr>
              <a:t>Don't leave small items hidden behind big ones</a:t>
            </a:r>
            <a:endParaRPr lang="en-US" sz="1400" dirty="0"/>
          </a:p>
        </p:txBody>
      </p:sp>
      <p:sp>
        <p:nvSpPr>
          <p:cNvPr id="13" name="Pick rule 3"/>
          <p:cNvSpPr/>
          <p:nvPr/>
        </p:nvSpPr>
        <p:spPr>
          <a:xfrm>
            <a:off x="457200" y="2926080"/>
            <a:ext cx="2606040" cy="1463040"/>
          </a:xfrm>
          <a:prstGeom prst="roundRect">
            <a:avLst>
              <a:gd name="adj" fmla="val 6250"/>
            </a:avLst>
          </a:prstGeom>
          <a:solidFill>
            <a:schemeClr val="bg1"/>
          </a:solidFill>
          <a:ln/>
        </p:spPr>
      </p:sp>
      <p:sp>
        <p:nvSpPr>
          <p:cNvPr id="14" name="Pick badge 3"/>
          <p:cNvSpPr/>
          <p:nvPr/>
        </p:nvSpPr>
        <p:spPr>
          <a:xfrm>
            <a:off x="658368" y="3127248"/>
            <a:ext cx="566928" cy="566928"/>
          </a:xfrm>
          <a:prstGeom prst="ellipse">
            <a:avLst/>
          </a:prstGeom>
          <a:solidFill>
            <a:schemeClr val="tx2"/>
          </a:solidFill>
          <a:ln/>
        </p:spPr>
      </p:sp>
      <p:sp>
        <p:nvSpPr>
          <p:cNvPr id="15" name="Pick letter 3"/>
          <p:cNvSpPr txBox="1"/>
          <p:nvPr/>
        </p:nvSpPr>
        <p:spPr>
          <a:xfrm>
            <a:off x="658368" y="3127248"/>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Arial" pitchFamily="34" charset="0"/>
                <a:ea typeface="Arial" pitchFamily="34" charset="-122"/>
                <a:cs typeface="Arial" pitchFamily="34" charset="-120"/>
              </a:rPr>
              <a:t>O</a:t>
            </a:r>
            <a:endParaRPr lang="en-US" sz="2400" dirty="0"/>
          </a:p>
        </p:txBody>
      </p:sp>
      <p:sp>
        <p:nvSpPr>
          <p:cNvPr id="16" name="Pick rule name 3"/>
          <p:cNvSpPr txBox="1"/>
          <p:nvPr/>
        </p:nvSpPr>
        <p:spPr>
          <a:xfrm>
            <a:off x="1371600" y="3127248"/>
            <a:ext cx="1554480" cy="566928"/>
          </a:xfrm>
          <a:prstGeom prst="rect">
            <a:avLst/>
          </a:prstGeom>
          <a:noFill/>
          <a:ln/>
        </p:spPr>
        <p:txBody>
          <a:bodyPr wrap="square" lIns="0" tIns="0" rIns="0" bIns="0" rtlCol="0" anchor="ctr"/>
          <a:lstStyle/>
          <a:p>
            <a:pPr indent="0" marL="0">
              <a:buNone/>
            </a:pPr>
            <a:r>
              <a:rPr lang="en-US" sz="1700" b="1" dirty="0">
                <a:solidFill>
                  <a:schemeClr val="tx1"/>
                </a:solidFill>
              </a:rPr>
              <a:t>Overstuffing</a:t>
            </a:r>
            <a:endParaRPr lang="en-US" sz="1700" dirty="0"/>
          </a:p>
        </p:txBody>
      </p:sp>
      <p:sp>
        <p:nvSpPr>
          <p:cNvPr id="17" name="Pick rule text 3"/>
          <p:cNvSpPr txBox="1"/>
          <p:nvPr/>
        </p:nvSpPr>
        <p:spPr>
          <a:xfrm>
            <a:off x="658368" y="3794760"/>
            <a:ext cx="2240280" cy="502920"/>
          </a:xfrm>
          <a:prstGeom prst="rect">
            <a:avLst/>
          </a:prstGeom>
          <a:noFill/>
          <a:ln/>
        </p:spPr>
        <p:txBody>
          <a:bodyPr wrap="square" lIns="0" tIns="0" rIns="0" bIns="0" rtlCol="0" anchor="t"/>
          <a:lstStyle/>
          <a:p>
            <a:pPr indent="0" marL="0">
              <a:buNone/>
            </a:pPr>
            <a:r>
              <a:rPr lang="en-US" sz="1400" dirty="0">
                <a:solidFill>
                  <a:schemeClr val="accent4"/>
                </a:solidFill>
              </a:rPr>
              <a:t>Never force items back into a full bin</a:t>
            </a:r>
            <a:endParaRPr lang="en-US" sz="1400" dirty="0"/>
          </a:p>
        </p:txBody>
      </p:sp>
      <p:sp>
        <p:nvSpPr>
          <p:cNvPr id="18" name="Pick rule 4"/>
          <p:cNvSpPr/>
          <p:nvPr/>
        </p:nvSpPr>
        <p:spPr>
          <a:xfrm>
            <a:off x="3246120" y="2926080"/>
            <a:ext cx="2606040" cy="1463040"/>
          </a:xfrm>
          <a:prstGeom prst="roundRect">
            <a:avLst>
              <a:gd name="adj" fmla="val 6250"/>
            </a:avLst>
          </a:prstGeom>
          <a:solidFill>
            <a:schemeClr val="bg1"/>
          </a:solidFill>
          <a:ln/>
        </p:spPr>
      </p:sp>
      <p:sp>
        <p:nvSpPr>
          <p:cNvPr id="19" name="Pick badge 4"/>
          <p:cNvSpPr/>
          <p:nvPr/>
        </p:nvSpPr>
        <p:spPr>
          <a:xfrm>
            <a:off x="3447288" y="3127248"/>
            <a:ext cx="566928" cy="566928"/>
          </a:xfrm>
          <a:prstGeom prst="ellipse">
            <a:avLst/>
          </a:prstGeom>
          <a:solidFill>
            <a:schemeClr val="tx2"/>
          </a:solidFill>
          <a:ln/>
        </p:spPr>
      </p:sp>
      <p:sp>
        <p:nvSpPr>
          <p:cNvPr id="20" name="Pick letter 4"/>
          <p:cNvSpPr txBox="1"/>
          <p:nvPr/>
        </p:nvSpPr>
        <p:spPr>
          <a:xfrm>
            <a:off x="3447288" y="3127248"/>
            <a:ext cx="566928" cy="566928"/>
          </a:xfrm>
          <a:prstGeom prst="rect">
            <a:avLst/>
          </a:prstGeom>
          <a:noFill/>
          <a:ln/>
        </p:spPr>
        <p:txBody>
          <a:bodyPr wrap="square" lIns="0" tIns="0" rIns="0" bIns="0" rtlCol="0" anchor="ctr"/>
          <a:lstStyle/>
          <a:p>
            <a:pPr algn="ctr" indent="0" marL="0">
              <a:buNone/>
            </a:pPr>
            <a:r>
              <a:rPr lang="en-US" sz="2400" b="1" dirty="0">
                <a:solidFill>
                  <a:schemeClr val="accent1"/>
                </a:solidFill>
                <a:latin typeface="Arial" pitchFamily="34" charset="0"/>
                <a:ea typeface="Arial" pitchFamily="34" charset="-122"/>
                <a:cs typeface="Arial" pitchFamily="34" charset="-120"/>
              </a:rPr>
              <a:t>S</a:t>
            </a:r>
            <a:endParaRPr lang="en-US" sz="2400" dirty="0"/>
          </a:p>
        </p:txBody>
      </p:sp>
      <p:sp>
        <p:nvSpPr>
          <p:cNvPr id="21" name="Pick rule name 4"/>
          <p:cNvSpPr txBox="1"/>
          <p:nvPr/>
        </p:nvSpPr>
        <p:spPr>
          <a:xfrm>
            <a:off x="4160520" y="3127248"/>
            <a:ext cx="1554480" cy="566928"/>
          </a:xfrm>
          <a:prstGeom prst="rect">
            <a:avLst/>
          </a:prstGeom>
          <a:noFill/>
          <a:ln/>
        </p:spPr>
        <p:txBody>
          <a:bodyPr wrap="square" lIns="0" tIns="0" rIns="0" bIns="0" rtlCol="0" anchor="ctr"/>
          <a:lstStyle/>
          <a:p>
            <a:pPr indent="0" marL="0">
              <a:buNone/>
            </a:pPr>
            <a:r>
              <a:rPr lang="en-US" sz="1700" b="1" dirty="0">
                <a:solidFill>
                  <a:schemeClr val="tx1"/>
                </a:solidFill>
              </a:rPr>
              <a:t>Stacking</a:t>
            </a:r>
            <a:endParaRPr lang="en-US" sz="1700" dirty="0"/>
          </a:p>
        </p:txBody>
      </p:sp>
      <p:sp>
        <p:nvSpPr>
          <p:cNvPr id="22" name="Pick rule text 4"/>
          <p:cNvSpPr txBox="1"/>
          <p:nvPr/>
        </p:nvSpPr>
        <p:spPr>
          <a:xfrm>
            <a:off x="3447288" y="3794760"/>
            <a:ext cx="2240280" cy="502920"/>
          </a:xfrm>
          <a:prstGeom prst="rect">
            <a:avLst/>
          </a:prstGeom>
          <a:noFill/>
          <a:ln/>
        </p:spPr>
        <p:txBody>
          <a:bodyPr wrap="square" lIns="0" tIns="0" rIns="0" bIns="0" rtlCol="0" anchor="t"/>
          <a:lstStyle/>
          <a:p>
            <a:pPr indent="0" marL="0">
              <a:buNone/>
            </a:pPr>
            <a:r>
              <a:rPr lang="en-US" sz="1400" dirty="0">
                <a:solidFill>
                  <a:schemeClr val="accent4"/>
                </a:solidFill>
              </a:rPr>
              <a:t>Keep everything below the retention bands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Your pick checklist</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Not picked yet</a:t>
            </a:r>
            <a:endParaRPr lang="en-US" sz="1300" dirty="0"/>
          </a:p>
          <a:p>
            <a:pPr algn="ctr" indent="0" marL="0">
              <a:buNone/>
            </a:pPr>
            <a:r>
              <a:rPr lang="en-US" sz="1700" b="1" dirty="0">
                <a:solidFill>
                  <a:schemeClr val="tx1"/>
                </a:solidFill>
              </a:rPr>
              <a:t>Amnesty</a:t>
            </a:r>
            <a:endParaRPr lang="en-US" sz="1300" dirty="0"/>
          </a:p>
        </p:txBody>
      </p:sp>
      <p:sp>
        <p:nvSpPr>
          <p:cNvPr id="6" name="Recap circle 2"/>
          <p:cNvSpPr/>
          <p:nvPr/>
        </p:nvSpPr>
        <p:spPr>
          <a:xfrm>
            <a:off x="2697480" y="1371600"/>
            <a:ext cx="868680" cy="868680"/>
          </a:xfrm>
          <a:prstGeom prst="ellipse">
            <a:avLst/>
          </a:prstGeom>
          <a:solidFill>
            <a:schemeClr val="accent1"/>
          </a:solidFill>
          <a:ln/>
        </p:spPr>
      </p:sp>
      <p:pic>
        <p:nvPicPr>
          <p:cNvPr id="7" name="Recap icon 2" descr="preencoded.png">    </p:cNvPr>
          <p:cNvPicPr>
            <a:picLocks noChangeAspect="1"/>
          </p:cNvPicPr>
          <p:nvPr/>
        </p:nvPicPr>
        <p:blipFill>
          <a:blip r:embed="rId2"/>
          <a:stretch>
            <a:fillRect/>
          </a:stretch>
        </p:blipFill>
        <p:spPr>
          <a:xfrm>
            <a:off x="2916936" y="1591056"/>
            <a:ext cx="429768" cy="429768"/>
          </a:xfrm>
          <a:prstGeom prst="rect">
            <a:avLst/>
          </a:prstGeom>
        </p:spPr>
      </p:pic>
      <p:sp>
        <p:nvSpPr>
          <p:cNvPr id="8"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Already picked</a:t>
            </a:r>
            <a:endParaRPr lang="en-US" sz="1300" dirty="0"/>
          </a:p>
          <a:p>
            <a:pPr algn="ctr" indent="0" marL="0">
              <a:buNone/>
            </a:pPr>
            <a:r>
              <a:rPr lang="en-US" sz="1700" b="1" dirty="0">
                <a:solidFill>
                  <a:schemeClr val="tx1"/>
                </a:solidFill>
              </a:rPr>
              <a:t>Outbound problem solve</a:t>
            </a:r>
            <a:endParaRPr lang="en-US" sz="1300" dirty="0"/>
          </a:p>
        </p:txBody>
      </p:sp>
      <p:sp>
        <p:nvSpPr>
          <p:cNvPr id="9" name="Recap circle 3"/>
          <p:cNvSpPr/>
          <p:nvPr/>
        </p:nvSpPr>
        <p:spPr>
          <a:xfrm>
            <a:off x="4526280" y="1371600"/>
            <a:ext cx="868680" cy="868680"/>
          </a:xfrm>
          <a:prstGeom prst="ellipse">
            <a:avLst/>
          </a:prstGeom>
          <a:solidFill>
            <a:schemeClr val="accent1"/>
          </a:solidFill>
          <a:ln/>
        </p:spPr>
      </p:sp>
      <p:pic>
        <p:nvPicPr>
          <p:cNvPr id="10" name="Recap icon 3" descr="preencoded.png">    </p:cNvPr>
          <p:cNvPicPr>
            <a:picLocks noChangeAspect="1"/>
          </p:cNvPicPr>
          <p:nvPr/>
        </p:nvPicPr>
        <p:blipFill>
          <a:blip r:embed="rId3"/>
          <a:stretch>
            <a:fillRect/>
          </a:stretch>
        </p:blipFill>
        <p:spPr>
          <a:xfrm>
            <a:off x="4745736" y="1591056"/>
            <a:ext cx="429768" cy="429768"/>
          </a:xfrm>
          <a:prstGeom prst="rect">
            <a:avLst/>
          </a:prstGeom>
        </p:spPr>
      </p:pic>
      <p:sp>
        <p:nvSpPr>
          <p:cNvPr id="11"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Every bin you touch</a:t>
            </a:r>
            <a:endParaRPr lang="en-US" sz="1300" dirty="0"/>
          </a:p>
          <a:p>
            <a:pPr algn="ctr" indent="0" marL="0">
              <a:buNone/>
            </a:pPr>
            <a:r>
              <a:rPr lang="en-US" sz="1700" b="1" dirty="0">
                <a:solidFill>
                  <a:schemeClr val="tx1"/>
                </a:solidFill>
              </a:rPr>
              <a:t>One at a time, fix as you go</a:t>
            </a:r>
            <a:endParaRPr lang="en-US" sz="1300" dirty="0"/>
          </a:p>
        </p:txBody>
      </p:sp>
      <p:sp>
        <p:nvSpPr>
          <p:cNvPr id="12" name="Goal card"/>
          <p:cNvSpPr/>
          <p:nvPr/>
        </p:nvSpPr>
        <p:spPr>
          <a:xfrm>
            <a:off x="457200" y="3749040"/>
            <a:ext cx="5394960" cy="777240"/>
          </a:xfrm>
          <a:prstGeom prst="roundRect">
            <a:avLst>
              <a:gd name="adj" fmla="val 11765"/>
            </a:avLst>
          </a:prstGeom>
          <a:solidFill>
            <a:schemeClr val="tx2"/>
          </a:solidFill>
          <a:ln/>
        </p:spPr>
      </p:sp>
      <p:sp>
        <p:nvSpPr>
          <p:cNvPr id="13"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Goal: </a:t>
            </a:r>
            <a:pPr indent="0" marL="0">
              <a:buNone/>
            </a:pPr>
            <a:r>
              <a:rPr lang="en-US" sz="1600" dirty="0">
                <a:solidFill>
                  <a:schemeClr val="bg1"/>
                </a:solidFill>
              </a:rPr>
              <a:t>an accurate wAPMT, fewer units falling, happier customers.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Small fixes. Big impact.</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Rate this video</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Pick to Rebin</dc:title>
  <dc:subject>wAPMT coaching campaign</dc:subject>
  <dc:creator>PptxGenJS</dc:creator>
  <cp:lastModifiedBy>PptxGenJS</cp:lastModifiedBy>
  <cp:revision>1</cp:revision>
  <dcterms:created xsi:type="dcterms:W3CDTF">2026-10-12T09:41:03Z</dcterms:created>
  <dcterms:modified xsi:type="dcterms:W3CDTF">2026-10-12T09:41:03Z</dcterms:modified>
</cp:coreProperties>
</file>