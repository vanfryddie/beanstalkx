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b41efca-03fa-eae0-0946-bfdaa6dfaae8}">
          <p14:sldIdLst>
            <p14:sldId id="256"/>
            <p14:sldId id="257"/>
            <p14:sldId id="258"/>
          </p14:sldIdLst>
        </p14:section>
        <p14:section name="First Face Fix" id="{631087e7-78ba-cbfe-56b8-2023815c5670}">
          <p14:sldIdLst>
            <p14:sldId id="259"/>
            <p14:sldId id="260"/>
            <p14:sldId id="261"/>
            <p14:sldId id="262"/>
            <p14:sldId id="263"/>
          </p14:sldIdLst>
        </p14:section>
        <p14:section name="ROBOTSS" id="{26385f28-e183-e6db-a865-5085531b691a}">
          <p14:sldIdLst>
            <p14:sldId id="264"/>
            <p14:sldId id="265"/>
            <p14:sldId id="266"/>
            <p14:sldId id="267"/>
            <p14:sldId id="268"/>
          </p14:sldIdLst>
        </p14:section>
        <p14:section name="Wrap-up" id="{3aa10d09-f237-2a6f-18be-0c14784b818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and thanks for taking a few minutes with me. Today we're focusing on amnesty, and on two simple habits that make a real difference to it: First Face Fix, and the ROBOTSS bin etiquette rules.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amnesty? Amnesty is any product that is physically not in its assigned virtual location. When an item falls out of its bin, the system still thinks it's there. That creates a defect in our inventory, and it can lead to a true pick short, which means a re-pick and a risk to our customer. Every unit that falls is a problem we created, and a problem we can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shows up in two places. Floor amnesty is when items fall out of pods onto the robotics floor. Station amnesty is when items are left behind at the station. Both have the same root cause. Poor bin etiquette is the number one cause of amnesty, and the good news is that bin etiquette is completely in 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part one: First Face Fix, or F F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is a standard process to fix the bin etiquette of the very first pod face that arrives at your station. It takes just one minute. You do it at the start of your shift, and again after every break. It applies to all Stow and ICQA associates.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to do it in four steps. One: enter your station, log in, choose your process path, and make sure your station is ready. Two: when the first pod face arrives, work from the top to the bottom, just like the stow snake. Three: fix every bin so it meets the ROBOTSS rules, which we'll cover in a moment. Four: start your assigned process after one minute, or as soon as the face meets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things you must not do before or during First Face Fix. Don't scan any articles in totes or bins. Don't move articles to a different bin. And don't remove any articles from bins. First Face Fix is only about organizing what's already in each bin, so the inventory stays exactly where the system expects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gets your shift off to a clean start, but it doesn't stop there. Whenever your hands are in a bin, fix its etiquette as you go. If every one of us leaves each bin a little better than we found it, units won't fall out as the pod moves. We check First Face Fix with at least fifteen audits per shift, and our target is ninety percent compliance or better, with feedback given to you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part two: the rules you use during First Face Fix and every time you touch a bin. They're called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ROBOTSS stands for seven rules. R, right bin size. O, no overhang. B, blocking. O, overstuffing. T, titles out. S, stacking. And S, similar items. Follow them and pickers find items faster, bins hold more, and nothing falls out when the pod moves. Let's go through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for right bin size. Always stow into the smallest bin the item fits in, and place it by its length first. The first O is no overhang. Every item must fit completely inside the bin. Anything hanging out can catch, causing drive obstructions and even pod crashes, and that's how items end up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for blocking. Never put a large item in front of a small one, because the picker won't see it. Stand flat items upright so they can't slide out between the retention bands. The second O is overstuffing. Don't overfill a bin. Forcing items in damages customer products, and an overstuffed bin is the one most likely to spill.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for titles out. Books and DVDs go in with the spine facing outward, so pickers can find them straight away. The first S is stacking. Only stack items of the same ASIN, only when they have at least two flat surfaces, and always keep them below the retention bands. The last S is similar items. Never put items that look alike or have similar names in the same bin. Use the cross method instead, because the system won't always warn you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your shift, bin by bin. At shift start and after every break, do your one-minute First Face Fix. On every bin you touch, apply ROBOTSS. And all shift long, fix as you go. Do these three things consistently and fewer units will fall, our wAPMT will come down, and our customers get what they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fixes make a big impact. Thanks for watching, and thanks for looking after every bin, every time. If you have any questions, speak to your Process Guide, your Area Manager, or the ICQA team. And please take a second to rate this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CAMPAIGN</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Every Bin, Every Time</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First Face Fix and the ROBOTSS rules: two habits that stop amnesty at the source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Any product that is physically not in its assigned virtual location.</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falls from the bin</a:t>
            </a:r>
            <a:endParaRPr lang="en-US" sz="1700" dirty="0"/>
          </a:p>
          <a:p>
            <a:pPr indent="0" marL="0">
              <a:buNone/>
            </a:pPr>
            <a:r>
              <a:rPr lang="en-US" sz="1400" dirty="0">
                <a:solidFill>
                  <a:schemeClr val="accent4"/>
                </a:solidFill>
              </a:rPr>
              <a:t>The unit is no longer where the system thinks it is</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creates a defect</a:t>
            </a:r>
            <a:endParaRPr lang="en-US" sz="1700" dirty="0"/>
          </a:p>
          <a:p>
            <a:pPr indent="0" marL="0">
              <a:buNone/>
            </a:pPr>
            <a:r>
              <a:rPr lang="en-US" sz="1400" dirty="0">
                <a:solidFill>
                  <a:schemeClr val="accent4"/>
                </a:solidFill>
              </a:rPr>
              <a:t>A virtual overage in that bin hurts inventory health</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puts the customer at risk</a:t>
            </a:r>
            <a:endParaRPr lang="en-US" sz="1700" dirty="0"/>
          </a:p>
          <a:p>
            <a:pPr indent="0" marL="0">
              <a:buNone/>
            </a:pPr>
            <a:r>
              <a:rPr lang="en-US" sz="1400" dirty="0">
                <a:solidFill>
                  <a:schemeClr val="accent4"/>
                </a:solidFill>
              </a:rPr>
              <a:t>It can cause a true pick short and a re-pick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Where amnesty comes from</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Items that fall from pods onto the AR floor while pods travel</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Items left behind at the station when the pod leaves</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Poor bin etiquette is the #1 cause of amnesty.</a:t>
            </a:r>
            <a:endParaRPr lang="en-US" sz="1800" dirty="0"/>
          </a:p>
          <a:p>
            <a:pPr indent="0" marL="0">
              <a:buNone/>
            </a:pPr>
            <a:r>
              <a:rPr lang="en-US" sz="1500" dirty="0">
                <a:solidFill>
                  <a:srgbClr val="9EDFF7"/>
                </a:solidFill>
              </a:rPr>
              <a:t>Good bin etiquette is something every one of us controls.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1</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First Face Fix</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One minute. The first pod face. Every shift start and after every break.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First Face Fix?</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minute to fix the first pod face</a:t>
            </a:r>
            <a:endParaRPr lang="en-US" sz="7200" dirty="0"/>
          </a:p>
        </p:txBody>
      </p:sp>
      <p:pic>
        <p:nvPicPr>
          <p:cNvPr id="5" name="Fact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act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When</a:t>
            </a:r>
            <a:endParaRPr lang="en-US" sz="1700" dirty="0"/>
          </a:p>
          <a:p>
            <a:pPr indent="0" marL="0">
              <a:buNone/>
            </a:pPr>
            <a:r>
              <a:rPr lang="en-US" sz="1400" dirty="0">
                <a:solidFill>
                  <a:schemeClr val="accent4"/>
                </a:solidFill>
              </a:rPr>
              <a:t>At shift start and after every break</a:t>
            </a:r>
            <a:endParaRPr lang="en-US" sz="1700" dirty="0"/>
          </a:p>
        </p:txBody>
      </p:sp>
      <p:pic>
        <p:nvPicPr>
          <p:cNvPr id="7" name="Fact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act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What</a:t>
            </a:r>
            <a:endParaRPr lang="en-US" sz="1700" dirty="0"/>
          </a:p>
          <a:p>
            <a:pPr indent="0" marL="0">
              <a:buNone/>
            </a:pPr>
            <a:r>
              <a:rPr lang="en-US" sz="1400" dirty="0">
                <a:solidFill>
                  <a:schemeClr val="accent4"/>
                </a:solidFill>
              </a:rPr>
              <a:t>The first pod face that arrives at your station</a:t>
            </a:r>
            <a:endParaRPr lang="en-US" sz="1700" dirty="0"/>
          </a:p>
        </p:txBody>
      </p:sp>
      <p:pic>
        <p:nvPicPr>
          <p:cNvPr id="9" name="Fact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act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Who</a:t>
            </a:r>
            <a:endParaRPr lang="en-US" sz="1700" dirty="0"/>
          </a:p>
          <a:p>
            <a:pPr indent="0" marL="0">
              <a:buNone/>
            </a:pPr>
            <a:r>
              <a:rPr lang="en-US" sz="1400" dirty="0">
                <a:solidFill>
                  <a:schemeClr val="accent4"/>
                </a:solidFill>
              </a:rPr>
              <a:t>All Stow and ICQA associates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How to do FFF in 4 steps</a:t>
            </a:r>
            <a:endParaRPr lang="en-US" sz="2800" dirty="0"/>
          </a:p>
        </p:txBody>
      </p:sp>
      <p:sp>
        <p:nvSpPr>
          <p:cNvPr id="3" name="Step badge 1"/>
          <p:cNvSpPr/>
          <p:nvPr/>
        </p:nvSpPr>
        <p:spPr>
          <a:xfrm>
            <a:off x="457200" y="1325880"/>
            <a:ext cx="548640" cy="548640"/>
          </a:xfrm>
          <a:prstGeom prst="ellipse">
            <a:avLst/>
          </a:prstGeom>
          <a:solidFill>
            <a:schemeClr val="accent1"/>
          </a:solidFill>
          <a:ln/>
        </p:spPr>
      </p:sp>
      <p:sp>
        <p:nvSpPr>
          <p:cNvPr id="4" name="Step number 1"/>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tep 1"/>
          <p:cNvSpPr txBox="1"/>
          <p:nvPr/>
        </p:nvSpPr>
        <p:spPr>
          <a:xfrm>
            <a:off x="1280160" y="126187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Get ready</a:t>
            </a:r>
            <a:endParaRPr lang="en-US" sz="1700" dirty="0"/>
          </a:p>
          <a:p>
            <a:pPr indent="0" marL="0">
              <a:buNone/>
            </a:pPr>
            <a:r>
              <a:rPr lang="en-US" sz="1400" dirty="0">
                <a:solidFill>
                  <a:schemeClr val="accent4"/>
                </a:solidFill>
              </a:rPr>
              <a:t>Log in, choose your process path, check your station</a:t>
            </a:r>
            <a:endParaRPr lang="en-US" sz="1700" dirty="0"/>
          </a:p>
        </p:txBody>
      </p:sp>
      <p:sp>
        <p:nvSpPr>
          <p:cNvPr id="6" name="Step badge 2"/>
          <p:cNvSpPr/>
          <p:nvPr/>
        </p:nvSpPr>
        <p:spPr>
          <a:xfrm>
            <a:off x="457200" y="2148840"/>
            <a:ext cx="548640" cy="548640"/>
          </a:xfrm>
          <a:prstGeom prst="ellipse">
            <a:avLst/>
          </a:prstGeom>
          <a:solidFill>
            <a:schemeClr val="accent1"/>
          </a:solidFill>
          <a:ln/>
        </p:spPr>
      </p:sp>
      <p:sp>
        <p:nvSpPr>
          <p:cNvPr id="7" name="Step number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tep 2"/>
          <p:cNvSpPr txBox="1"/>
          <p:nvPr/>
        </p:nvSpPr>
        <p:spPr>
          <a:xfrm>
            <a:off x="1280160" y="208483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Work top to bottom</a:t>
            </a:r>
            <a:endParaRPr lang="en-US" sz="1700" dirty="0"/>
          </a:p>
          <a:p>
            <a:pPr indent="0" marL="0">
              <a:buNone/>
            </a:pPr>
            <a:r>
              <a:rPr lang="en-US" sz="1400" dirty="0">
                <a:solidFill>
                  <a:schemeClr val="accent4"/>
                </a:solidFill>
              </a:rPr>
              <a:t>Start at the top of the face and follow the stow snake</a:t>
            </a:r>
            <a:endParaRPr lang="en-US" sz="1700" dirty="0"/>
          </a:p>
        </p:txBody>
      </p:sp>
      <p:sp>
        <p:nvSpPr>
          <p:cNvPr id="9" name="Step badge 3"/>
          <p:cNvSpPr/>
          <p:nvPr/>
        </p:nvSpPr>
        <p:spPr>
          <a:xfrm>
            <a:off x="457200" y="2971800"/>
            <a:ext cx="548640" cy="548640"/>
          </a:xfrm>
          <a:prstGeom prst="ellipse">
            <a:avLst/>
          </a:prstGeom>
          <a:solidFill>
            <a:schemeClr val="accent1"/>
          </a:solidFill>
          <a:ln/>
        </p:spPr>
      </p:sp>
      <p:sp>
        <p:nvSpPr>
          <p:cNvPr id="10" name="Step number 3"/>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Step 3"/>
          <p:cNvSpPr txBox="1"/>
          <p:nvPr/>
        </p:nvSpPr>
        <p:spPr>
          <a:xfrm>
            <a:off x="1280160" y="290779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Fix every bin</a:t>
            </a:r>
            <a:endParaRPr lang="en-US" sz="1700" dirty="0"/>
          </a:p>
          <a:p>
            <a:pPr indent="0" marL="0">
              <a:buNone/>
            </a:pPr>
            <a:r>
              <a:rPr lang="en-US" sz="1400" dirty="0">
                <a:solidFill>
                  <a:schemeClr val="accent4"/>
                </a:solidFill>
              </a:rPr>
              <a:t>Bring each bin up to the ROBOTSS rules</a:t>
            </a:r>
            <a:endParaRPr lang="en-US" sz="1700" dirty="0"/>
          </a:p>
        </p:txBody>
      </p:sp>
      <p:sp>
        <p:nvSpPr>
          <p:cNvPr id="12" name="Step badge 4"/>
          <p:cNvSpPr/>
          <p:nvPr/>
        </p:nvSpPr>
        <p:spPr>
          <a:xfrm>
            <a:off x="457200" y="3794760"/>
            <a:ext cx="548640" cy="548640"/>
          </a:xfrm>
          <a:prstGeom prst="ellipse">
            <a:avLst/>
          </a:prstGeom>
          <a:solidFill>
            <a:schemeClr val="accent1"/>
          </a:solidFill>
          <a:ln/>
        </p:spPr>
      </p:sp>
      <p:sp>
        <p:nvSpPr>
          <p:cNvPr id="13" name="Step number 4"/>
          <p:cNvSpPr txBox="1"/>
          <p:nvPr/>
        </p:nvSpPr>
        <p:spPr>
          <a:xfrm>
            <a:off x="4572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Step 4"/>
          <p:cNvSpPr txBox="1"/>
          <p:nvPr/>
        </p:nvSpPr>
        <p:spPr>
          <a:xfrm>
            <a:off x="1280160" y="373075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Start your process</a:t>
            </a:r>
            <a:endParaRPr lang="en-US" sz="1700" dirty="0"/>
          </a:p>
          <a:p>
            <a:pPr indent="0" marL="0">
              <a:buNone/>
            </a:pPr>
            <a:r>
              <a:rPr lang="en-US" sz="1400" dirty="0">
                <a:solidFill>
                  <a:schemeClr val="accent4"/>
                </a:solidFill>
              </a:rPr>
              <a:t>After 1 minute, or once the face meets ROBOTSS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During FFF, do NOT</a:t>
            </a:r>
            <a:endParaRPr lang="en-US" sz="2800" dirty="0"/>
          </a:p>
        </p:txBody>
      </p:sp>
      <p:sp>
        <p:nvSpPr>
          <p:cNvPr id="3" name="Dont card 1"/>
          <p:cNvSpPr/>
          <p:nvPr/>
        </p:nvSpPr>
        <p:spPr>
          <a:xfrm>
            <a:off x="45720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6858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1554480" y="1554480"/>
            <a:ext cx="365760" cy="365760"/>
          </a:xfrm>
          <a:prstGeom prst="rect">
            <a:avLst/>
          </a:prstGeom>
        </p:spPr>
      </p:pic>
      <p:sp>
        <p:nvSpPr>
          <p:cNvPr id="6" name="Dont text 1"/>
          <p:cNvSpPr txBox="1"/>
          <p:nvPr/>
        </p:nvSpPr>
        <p:spPr>
          <a:xfrm>
            <a:off x="6858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Scan</a:t>
            </a:r>
            <a:endParaRPr lang="en-US" sz="2000" dirty="0"/>
          </a:p>
          <a:p>
            <a:pPr indent="0" marL="0">
              <a:buNone/>
            </a:pPr>
            <a:r>
              <a:rPr lang="en-US" sz="1400" dirty="0">
                <a:solidFill>
                  <a:schemeClr val="tx1"/>
                </a:solidFill>
              </a:rPr>
              <a:t>any articles in totes or bins</a:t>
            </a:r>
            <a:endParaRPr lang="en-US" sz="2000" dirty="0"/>
          </a:p>
        </p:txBody>
      </p:sp>
      <p:sp>
        <p:nvSpPr>
          <p:cNvPr id="7" name="Dont card 2"/>
          <p:cNvSpPr/>
          <p:nvPr/>
        </p:nvSpPr>
        <p:spPr>
          <a:xfrm>
            <a:off x="228600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25146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3383280" y="1554480"/>
            <a:ext cx="365760" cy="365760"/>
          </a:xfrm>
          <a:prstGeom prst="rect">
            <a:avLst/>
          </a:prstGeom>
        </p:spPr>
      </p:pic>
      <p:sp>
        <p:nvSpPr>
          <p:cNvPr id="10" name="Dont text 2"/>
          <p:cNvSpPr txBox="1"/>
          <p:nvPr/>
        </p:nvSpPr>
        <p:spPr>
          <a:xfrm>
            <a:off x="25146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Move</a:t>
            </a:r>
            <a:endParaRPr lang="en-US" sz="2000" dirty="0"/>
          </a:p>
          <a:p>
            <a:pPr indent="0" marL="0">
              <a:buNone/>
            </a:pPr>
            <a:r>
              <a:rPr lang="en-US" sz="1400" dirty="0">
                <a:solidFill>
                  <a:schemeClr val="tx1"/>
                </a:solidFill>
              </a:rPr>
              <a:t>articles to a different bin</a:t>
            </a:r>
            <a:endParaRPr lang="en-US" sz="2000" dirty="0"/>
          </a:p>
        </p:txBody>
      </p:sp>
      <p:sp>
        <p:nvSpPr>
          <p:cNvPr id="11" name="Dont card 3"/>
          <p:cNvSpPr/>
          <p:nvPr/>
        </p:nvSpPr>
        <p:spPr>
          <a:xfrm>
            <a:off x="411480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5212080" y="1554480"/>
            <a:ext cx="365760" cy="365760"/>
          </a:xfrm>
          <a:prstGeom prst="rect">
            <a:avLst/>
          </a:prstGeom>
        </p:spPr>
      </p:pic>
      <p:sp>
        <p:nvSpPr>
          <p:cNvPr id="14" name="Dont text 3"/>
          <p:cNvSpPr txBox="1"/>
          <p:nvPr/>
        </p:nvSpPr>
        <p:spPr>
          <a:xfrm>
            <a:off x="43434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Remove</a:t>
            </a:r>
            <a:endParaRPr lang="en-US" sz="2000" dirty="0"/>
          </a:p>
          <a:p>
            <a:pPr indent="0" marL="0">
              <a:buNone/>
            </a:pPr>
            <a:r>
              <a:rPr lang="en-US" sz="1400" dirty="0">
                <a:solidFill>
                  <a:schemeClr val="tx1"/>
                </a:solidFill>
              </a:rPr>
              <a:t>any articles from bins</a:t>
            </a:r>
            <a:endParaRPr lang="en-US" sz="2000" dirty="0"/>
          </a:p>
        </p:txBody>
      </p:sp>
      <p:pic>
        <p:nvPicPr>
          <p:cNvPr id="15" name="Check icon" descr="preencoded.png">    </p:cNvPr>
          <p:cNvPicPr>
            <a:picLocks noChangeAspect="1"/>
          </p:cNvPicPr>
          <p:nvPr/>
        </p:nvPicPr>
        <p:blipFill>
          <a:blip r:embed="rId7"/>
          <a:stretch>
            <a:fillRect/>
          </a:stretch>
        </p:blipFill>
        <p:spPr>
          <a:xfrm>
            <a:off x="457200" y="3886200"/>
            <a:ext cx="365760" cy="365760"/>
          </a:xfrm>
          <a:prstGeom prst="rect">
            <a:avLst/>
          </a:prstGeom>
        </p:spPr>
      </p:pic>
      <p:sp>
        <p:nvSpPr>
          <p:cNvPr id="16" name="Do text"/>
          <p:cNvSpPr txBox="1"/>
          <p:nvPr/>
        </p:nvSpPr>
        <p:spPr>
          <a:xfrm>
            <a:off x="1005840" y="3776472"/>
            <a:ext cx="4846320" cy="594360"/>
          </a:xfrm>
          <a:prstGeom prst="rect">
            <a:avLst/>
          </a:prstGeom>
          <a:noFill/>
          <a:ln/>
        </p:spPr>
        <p:txBody>
          <a:bodyPr wrap="square" lIns="0" tIns="0" rIns="0" bIns="0" rtlCol="0" anchor="ctr"/>
          <a:lstStyle/>
          <a:p>
            <a:pPr indent="0" marL="0">
              <a:buNone/>
            </a:pPr>
            <a:r>
              <a:rPr lang="en-US" sz="1600" b="1" dirty="0">
                <a:solidFill>
                  <a:schemeClr val="accent2"/>
                </a:solidFill>
              </a:rPr>
              <a:t>FFF is only about organizing what is already in each bin.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Then keep fixing as you go</a:t>
            </a:r>
            <a:endParaRPr lang="en-US" sz="2800" dirty="0"/>
          </a:p>
        </p:txBody>
      </p:sp>
      <p:sp>
        <p:nvSpPr>
          <p:cNvPr id="3" name="Quote card"/>
          <p:cNvSpPr/>
          <p:nvPr/>
        </p:nvSpPr>
        <p:spPr>
          <a:xfrm>
            <a:off x="45720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731520" y="1709928"/>
            <a:ext cx="411480" cy="411480"/>
          </a:xfrm>
          <a:prstGeom prst="rect">
            <a:avLst/>
          </a:prstGeom>
        </p:spPr>
      </p:pic>
      <p:sp>
        <p:nvSpPr>
          <p:cNvPr id="5" name="Quote"/>
          <p:cNvSpPr txBox="1"/>
          <p:nvPr/>
        </p:nvSpPr>
        <p:spPr>
          <a:xfrm>
            <a:off x="1371600" y="1325880"/>
            <a:ext cx="4297680" cy="1188720"/>
          </a:xfrm>
          <a:prstGeom prst="rect">
            <a:avLst/>
          </a:prstGeom>
          <a:noFill/>
          <a:ln/>
        </p:spPr>
        <p:txBody>
          <a:bodyPr wrap="square" lIns="0" tIns="0" rIns="0" bIns="0" rtlCol="0" anchor="ctr"/>
          <a:lstStyle/>
          <a:p>
            <a:pPr indent="0" marL="0">
              <a:buNone/>
            </a:pPr>
            <a:r>
              <a:rPr lang="en-US" sz="1800" b="1" dirty="0">
                <a:solidFill>
                  <a:schemeClr val="tx1"/>
                </a:solidFill>
              </a:rPr>
              <a:t>Leave every bin better than you found it.</a:t>
            </a:r>
            <a:endParaRPr lang="en-US" sz="1800" dirty="0"/>
          </a:p>
          <a:p>
            <a:pPr indent="0" marL="0">
              <a:buNone/>
            </a:pPr>
            <a:r>
              <a:rPr lang="en-US" sz="1400" dirty="0">
                <a:solidFill>
                  <a:schemeClr val="accent4"/>
                </a:solidFill>
              </a:rPr>
              <a:t>Whenever your hands are in a bin, fix its etiquette.</a:t>
            </a:r>
            <a:endParaRPr lang="en-US" sz="1800" dirty="0"/>
          </a:p>
        </p:txBody>
      </p:sp>
      <p:sp>
        <p:nvSpPr>
          <p:cNvPr id="6" name="Stat 1"/>
          <p:cNvSpPr txBox="1"/>
          <p:nvPr/>
        </p:nvSpPr>
        <p:spPr>
          <a:xfrm>
            <a:off x="45720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15</a:t>
            </a:r>
            <a:endParaRPr lang="en-US" sz="5400" dirty="0"/>
          </a:p>
          <a:p>
            <a:pPr indent="0" marL="0">
              <a:buNone/>
            </a:pPr>
            <a:r>
              <a:rPr lang="en-US" sz="1500" dirty="0">
                <a:solidFill>
                  <a:schemeClr val="accent4"/>
                </a:solidFill>
              </a:rPr>
              <a:t>FFF audits per shift</a:t>
            </a:r>
            <a:endParaRPr lang="en-US" sz="5400" dirty="0"/>
          </a:p>
        </p:txBody>
      </p:sp>
      <p:sp>
        <p:nvSpPr>
          <p:cNvPr id="7" name="Stat 2"/>
          <p:cNvSpPr txBox="1"/>
          <p:nvPr/>
        </p:nvSpPr>
        <p:spPr>
          <a:xfrm>
            <a:off x="324612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90%+</a:t>
            </a:r>
            <a:endParaRPr lang="en-US" sz="5400" dirty="0"/>
          </a:p>
          <a:p>
            <a:pPr indent="0" marL="0">
              <a:buNone/>
            </a:pPr>
            <a:r>
              <a:rPr lang="en-US" sz="1500" dirty="0">
                <a:solidFill>
                  <a:schemeClr val="accent4"/>
                </a:solidFill>
              </a:rPr>
              <a:t>daily compliance target</a:t>
            </a:r>
            <a:endParaRPr lang="en-US" sz="5400" dirty="0"/>
          </a:p>
        </p:txBody>
      </p:sp>
      <p:sp>
        <p:nvSpPr>
          <p:cNvPr id="8" name="Caption"/>
          <p:cNvSpPr txBox="1"/>
          <p:nvPr/>
        </p:nvSpPr>
        <p:spPr>
          <a:xfrm>
            <a:off x="457200" y="4343400"/>
            <a:ext cx="5394960" cy="320040"/>
          </a:xfrm>
          <a:prstGeom prst="rect">
            <a:avLst/>
          </a:prstGeom>
          <a:noFill/>
          <a:ln/>
        </p:spPr>
        <p:txBody>
          <a:bodyPr wrap="square" lIns="0" tIns="0" rIns="0" bIns="0" rtlCol="0" anchor="ctr"/>
          <a:lstStyle/>
          <a:p>
            <a:pPr indent="0" marL="0">
              <a:buNone/>
            </a:pPr>
            <a:r>
              <a:rPr lang="en-US" sz="1200" dirty="0">
                <a:solidFill>
                  <a:srgbClr val="7A8795"/>
                </a:solidFill>
              </a:rPr>
              <a:t>Audited by ICQA, Ops and L&amp;D, with feedback on the spot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2</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 Etiquette: ROBOTSS</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Seven rules for every bin you touch, in Stow, Pick and ICQA.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Seven rules, one word</a:t>
            </a:r>
            <a:endParaRPr lang="en-US" sz="2800" dirty="0"/>
          </a:p>
        </p:txBody>
      </p:sp>
      <p:sp>
        <p:nvSpPr>
          <p:cNvPr id="3" name="Tile 1"/>
          <p:cNvSpPr/>
          <p:nvPr/>
        </p:nvSpPr>
        <p:spPr>
          <a:xfrm>
            <a:off x="457200" y="1417320"/>
            <a:ext cx="676656" cy="868680"/>
          </a:xfrm>
          <a:prstGeom prst="roundRect">
            <a:avLst>
              <a:gd name="adj" fmla="val 13514"/>
            </a:avLst>
          </a:prstGeom>
          <a:solidFill>
            <a:schemeClr val="tx2"/>
          </a:solidFill>
          <a:ln/>
        </p:spPr>
      </p:sp>
      <p:sp>
        <p:nvSpPr>
          <p:cNvPr id="4" name="Letter 1"/>
          <p:cNvSpPr txBox="1"/>
          <p:nvPr/>
        </p:nvSpPr>
        <p:spPr>
          <a:xfrm>
            <a:off x="45720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R</a:t>
            </a:r>
            <a:endParaRPr lang="en-US" sz="3600" dirty="0"/>
          </a:p>
        </p:txBody>
      </p:sp>
      <p:sp>
        <p:nvSpPr>
          <p:cNvPr id="5" name="Label 1"/>
          <p:cNvSpPr txBox="1"/>
          <p:nvPr/>
        </p:nvSpPr>
        <p:spPr>
          <a:xfrm>
            <a:off x="42062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Right bin size</a:t>
            </a:r>
            <a:endParaRPr lang="en-US" sz="1200" dirty="0"/>
          </a:p>
        </p:txBody>
      </p:sp>
      <p:sp>
        <p:nvSpPr>
          <p:cNvPr id="6" name="Tile 2"/>
          <p:cNvSpPr/>
          <p:nvPr/>
        </p:nvSpPr>
        <p:spPr>
          <a:xfrm>
            <a:off x="1243584" y="1417320"/>
            <a:ext cx="676656" cy="868680"/>
          </a:xfrm>
          <a:prstGeom prst="roundRect">
            <a:avLst>
              <a:gd name="adj" fmla="val 13514"/>
            </a:avLst>
          </a:prstGeom>
          <a:solidFill>
            <a:schemeClr val="tx2"/>
          </a:solidFill>
          <a:ln/>
        </p:spPr>
      </p:sp>
      <p:sp>
        <p:nvSpPr>
          <p:cNvPr id="7" name="Letter 2"/>
          <p:cNvSpPr txBox="1"/>
          <p:nvPr/>
        </p:nvSpPr>
        <p:spPr>
          <a:xfrm>
            <a:off x="124358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8" name="Label 2"/>
          <p:cNvSpPr txBox="1"/>
          <p:nvPr/>
        </p:nvSpPr>
        <p:spPr>
          <a:xfrm>
            <a:off x="120700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No overhang</a:t>
            </a:r>
            <a:endParaRPr lang="en-US" sz="1200" dirty="0"/>
          </a:p>
        </p:txBody>
      </p:sp>
      <p:sp>
        <p:nvSpPr>
          <p:cNvPr id="9" name="Tile 3"/>
          <p:cNvSpPr/>
          <p:nvPr/>
        </p:nvSpPr>
        <p:spPr>
          <a:xfrm>
            <a:off x="2029968" y="1417320"/>
            <a:ext cx="676656" cy="868680"/>
          </a:xfrm>
          <a:prstGeom prst="roundRect">
            <a:avLst>
              <a:gd name="adj" fmla="val 13514"/>
            </a:avLst>
          </a:prstGeom>
          <a:solidFill>
            <a:schemeClr val="tx2"/>
          </a:solidFill>
          <a:ln/>
        </p:spPr>
      </p:sp>
      <p:sp>
        <p:nvSpPr>
          <p:cNvPr id="10" name="Letter 3"/>
          <p:cNvSpPr txBox="1"/>
          <p:nvPr/>
        </p:nvSpPr>
        <p:spPr>
          <a:xfrm>
            <a:off x="2029968"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B</a:t>
            </a:r>
            <a:endParaRPr lang="en-US" sz="3600" dirty="0"/>
          </a:p>
        </p:txBody>
      </p:sp>
      <p:sp>
        <p:nvSpPr>
          <p:cNvPr id="11" name="Label 3"/>
          <p:cNvSpPr txBox="1"/>
          <p:nvPr/>
        </p:nvSpPr>
        <p:spPr>
          <a:xfrm>
            <a:off x="1993392"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Blocking</a:t>
            </a:r>
            <a:endParaRPr lang="en-US" sz="1200" dirty="0"/>
          </a:p>
        </p:txBody>
      </p:sp>
      <p:sp>
        <p:nvSpPr>
          <p:cNvPr id="12" name="Tile 4"/>
          <p:cNvSpPr/>
          <p:nvPr/>
        </p:nvSpPr>
        <p:spPr>
          <a:xfrm>
            <a:off x="2816352" y="1417320"/>
            <a:ext cx="676656" cy="868680"/>
          </a:xfrm>
          <a:prstGeom prst="roundRect">
            <a:avLst>
              <a:gd name="adj" fmla="val 13514"/>
            </a:avLst>
          </a:prstGeom>
          <a:solidFill>
            <a:schemeClr val="tx2"/>
          </a:solidFill>
          <a:ln/>
        </p:spPr>
      </p:sp>
      <p:sp>
        <p:nvSpPr>
          <p:cNvPr id="13" name="Letter 4"/>
          <p:cNvSpPr txBox="1"/>
          <p:nvPr/>
        </p:nvSpPr>
        <p:spPr>
          <a:xfrm>
            <a:off x="2816352"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14" name="Label 4"/>
          <p:cNvSpPr txBox="1"/>
          <p:nvPr/>
        </p:nvSpPr>
        <p:spPr>
          <a:xfrm>
            <a:off x="2779776"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Over-stuffing</a:t>
            </a:r>
            <a:endParaRPr lang="en-US" sz="1200" dirty="0"/>
          </a:p>
        </p:txBody>
      </p:sp>
      <p:sp>
        <p:nvSpPr>
          <p:cNvPr id="15" name="Tile 5"/>
          <p:cNvSpPr/>
          <p:nvPr/>
        </p:nvSpPr>
        <p:spPr>
          <a:xfrm>
            <a:off x="3602736" y="1417320"/>
            <a:ext cx="676656" cy="868680"/>
          </a:xfrm>
          <a:prstGeom prst="roundRect">
            <a:avLst>
              <a:gd name="adj" fmla="val 13514"/>
            </a:avLst>
          </a:prstGeom>
          <a:solidFill>
            <a:schemeClr val="tx2"/>
          </a:solidFill>
          <a:ln/>
        </p:spPr>
      </p:sp>
      <p:sp>
        <p:nvSpPr>
          <p:cNvPr id="16" name="Letter 5"/>
          <p:cNvSpPr txBox="1"/>
          <p:nvPr/>
        </p:nvSpPr>
        <p:spPr>
          <a:xfrm>
            <a:off x="3602736"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T</a:t>
            </a:r>
            <a:endParaRPr lang="en-US" sz="3600" dirty="0"/>
          </a:p>
        </p:txBody>
      </p:sp>
      <p:sp>
        <p:nvSpPr>
          <p:cNvPr id="17" name="Label 5"/>
          <p:cNvSpPr txBox="1"/>
          <p:nvPr/>
        </p:nvSpPr>
        <p:spPr>
          <a:xfrm>
            <a:off x="3566160"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Titles out</a:t>
            </a:r>
            <a:endParaRPr lang="en-US" sz="1200" dirty="0"/>
          </a:p>
        </p:txBody>
      </p:sp>
      <p:sp>
        <p:nvSpPr>
          <p:cNvPr id="18" name="Tile 6"/>
          <p:cNvSpPr/>
          <p:nvPr/>
        </p:nvSpPr>
        <p:spPr>
          <a:xfrm>
            <a:off x="4389120" y="1417320"/>
            <a:ext cx="676656" cy="868680"/>
          </a:xfrm>
          <a:prstGeom prst="roundRect">
            <a:avLst>
              <a:gd name="adj" fmla="val 13514"/>
            </a:avLst>
          </a:prstGeom>
          <a:solidFill>
            <a:schemeClr val="tx2"/>
          </a:solidFill>
          <a:ln/>
        </p:spPr>
      </p:sp>
      <p:sp>
        <p:nvSpPr>
          <p:cNvPr id="19" name="Letter 6"/>
          <p:cNvSpPr txBox="1"/>
          <p:nvPr/>
        </p:nvSpPr>
        <p:spPr>
          <a:xfrm>
            <a:off x="438912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0" name="Label 6"/>
          <p:cNvSpPr txBox="1"/>
          <p:nvPr/>
        </p:nvSpPr>
        <p:spPr>
          <a:xfrm>
            <a:off x="435254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Stacking</a:t>
            </a:r>
            <a:endParaRPr lang="en-US" sz="1200" dirty="0"/>
          </a:p>
        </p:txBody>
      </p:sp>
      <p:sp>
        <p:nvSpPr>
          <p:cNvPr id="21" name="Tile 7"/>
          <p:cNvSpPr/>
          <p:nvPr/>
        </p:nvSpPr>
        <p:spPr>
          <a:xfrm>
            <a:off x="5175504" y="1417320"/>
            <a:ext cx="676656" cy="868680"/>
          </a:xfrm>
          <a:prstGeom prst="roundRect">
            <a:avLst>
              <a:gd name="adj" fmla="val 13514"/>
            </a:avLst>
          </a:prstGeom>
          <a:solidFill>
            <a:schemeClr val="tx2"/>
          </a:solidFill>
          <a:ln/>
        </p:spPr>
      </p:sp>
      <p:sp>
        <p:nvSpPr>
          <p:cNvPr id="22" name="Letter 7"/>
          <p:cNvSpPr txBox="1"/>
          <p:nvPr/>
        </p:nvSpPr>
        <p:spPr>
          <a:xfrm>
            <a:off x="517550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3" name="Label 7"/>
          <p:cNvSpPr txBox="1"/>
          <p:nvPr/>
        </p:nvSpPr>
        <p:spPr>
          <a:xfrm>
            <a:off x="513892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Similar items</a:t>
            </a:r>
            <a:endParaRPr lang="en-US" sz="1200" dirty="0"/>
          </a:p>
        </p:txBody>
      </p:sp>
      <p:sp>
        <p:nvSpPr>
          <p:cNvPr id="24" name="Why card"/>
          <p:cNvSpPr/>
          <p:nvPr/>
        </p:nvSpPr>
        <p:spPr>
          <a:xfrm>
            <a:off x="457200" y="3429000"/>
            <a:ext cx="5394960" cy="1097280"/>
          </a:xfrm>
          <a:prstGeom prst="roundRect">
            <a:avLst>
              <a:gd name="adj" fmla="val 8333"/>
            </a:avLst>
          </a:prstGeom>
          <a:solidFill>
            <a:schemeClr val="bg1"/>
          </a:solidFill>
          <a:ln/>
        </p:spPr>
      </p:sp>
      <p:sp>
        <p:nvSpPr>
          <p:cNvPr id="25" name="Why text"/>
          <p:cNvSpPr txBox="1"/>
          <p:nvPr/>
        </p:nvSpPr>
        <p:spPr>
          <a:xfrm>
            <a:off x="731520" y="342900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Why it matters: </a:t>
            </a:r>
            <a:pPr indent="0" marL="0">
              <a:buNone/>
            </a:pPr>
            <a:r>
              <a:rPr lang="en-US" sz="1500" dirty="0">
                <a:solidFill>
                  <a:schemeClr val="accent4"/>
                </a:solidFill>
              </a:rPr>
              <a:t>pickers find items faster, bins hold more, and nothing falls out when the pod moves.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R + O: size it right</a:t>
            </a:r>
            <a:endParaRPr lang="en-US" sz="2800" dirty="0"/>
          </a:p>
        </p:txBody>
      </p:sp>
      <p:sp>
        <p:nvSpPr>
          <p:cNvPr id="3" name="Rule card 1"/>
          <p:cNvSpPr/>
          <p:nvPr/>
        </p:nvSpPr>
        <p:spPr>
          <a:xfrm>
            <a:off x="457200" y="1325880"/>
            <a:ext cx="2606040" cy="3200400"/>
          </a:xfrm>
          <a:prstGeom prst="roundRect">
            <a:avLst>
              <a:gd name="adj" fmla="val 3509"/>
            </a:avLst>
          </a:prstGeom>
          <a:solidFill>
            <a:schemeClr val="bg1"/>
          </a:solidFill>
          <a:ln/>
        </p:spPr>
      </p:sp>
      <p:sp>
        <p:nvSpPr>
          <p:cNvPr id="4" name="Rule badge 1"/>
          <p:cNvSpPr/>
          <p:nvPr/>
        </p:nvSpPr>
        <p:spPr>
          <a:xfrm>
            <a:off x="685800" y="1554480"/>
            <a:ext cx="731520" cy="731520"/>
          </a:xfrm>
          <a:prstGeom prst="ellipse">
            <a:avLst/>
          </a:prstGeom>
          <a:solidFill>
            <a:schemeClr val="tx2"/>
          </a:solidFill>
          <a:ln/>
        </p:spPr>
      </p:sp>
      <p:sp>
        <p:nvSpPr>
          <p:cNvPr id="5" name="Rule letter 1"/>
          <p:cNvSpPr txBox="1"/>
          <p:nvPr/>
        </p:nvSpPr>
        <p:spPr>
          <a:xfrm>
            <a:off x="685800" y="1554480"/>
            <a:ext cx="73152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R</a:t>
            </a:r>
            <a:endParaRPr lang="en-US" sz="3000" dirty="0"/>
          </a:p>
        </p:txBody>
      </p:sp>
      <p:sp>
        <p:nvSpPr>
          <p:cNvPr id="6" name="Rule name 1"/>
          <p:cNvSpPr txBox="1"/>
          <p:nvPr/>
        </p:nvSpPr>
        <p:spPr>
          <a:xfrm>
            <a:off x="685800" y="2423160"/>
            <a:ext cx="2194560" cy="411480"/>
          </a:xfrm>
          <a:prstGeom prst="rect">
            <a:avLst/>
          </a:prstGeom>
          <a:noFill/>
          <a:ln/>
        </p:spPr>
        <p:txBody>
          <a:bodyPr wrap="square" lIns="0" tIns="0" rIns="0" bIns="0" rtlCol="0" anchor="ctr"/>
          <a:lstStyle/>
          <a:p>
            <a:pPr indent="0" marL="0">
              <a:buNone/>
            </a:pPr>
            <a:r>
              <a:rPr lang="en-US" sz="1900" b="1" dirty="0">
                <a:solidFill>
                  <a:schemeClr val="tx1"/>
                </a:solidFill>
              </a:rPr>
              <a:t>Right bin size</a:t>
            </a:r>
            <a:endParaRPr lang="en-US" sz="1900" dirty="0"/>
          </a:p>
        </p:txBody>
      </p:sp>
      <p:sp>
        <p:nvSpPr>
          <p:cNvPr id="7" name="Rule detail 1"/>
          <p:cNvSpPr txBox="1"/>
          <p:nvPr/>
        </p:nvSpPr>
        <p:spPr>
          <a:xfrm>
            <a:off x="685800" y="2926080"/>
            <a:ext cx="224028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Use the smallest bin that fits</a:t>
            </a:r>
            <a:endParaRPr lang="en-US" sz="1400" dirty="0"/>
          </a:p>
          <a:p>
            <a:pPr marL="342900" indent="-342900">
              <a:spcAft>
                <a:spcPts val="600"/>
              </a:spcAft>
              <a:buSzPct val="100000"/>
              <a:buChar char="•"/>
            </a:pPr>
            <a:r>
              <a:rPr lang="en-US" sz="1400" dirty="0">
                <a:solidFill>
                  <a:schemeClr val="accent4"/>
                </a:solidFill>
              </a:rPr>
              <a:t>Place items by length first</a:t>
            </a:r>
            <a:endParaRPr lang="en-US" sz="1400" dirty="0"/>
          </a:p>
        </p:txBody>
      </p:sp>
      <p:sp>
        <p:nvSpPr>
          <p:cNvPr id="8" name="Rule card 2"/>
          <p:cNvSpPr/>
          <p:nvPr/>
        </p:nvSpPr>
        <p:spPr>
          <a:xfrm>
            <a:off x="3246120" y="1325880"/>
            <a:ext cx="2606040" cy="3200400"/>
          </a:xfrm>
          <a:prstGeom prst="roundRect">
            <a:avLst>
              <a:gd name="adj" fmla="val 3509"/>
            </a:avLst>
          </a:prstGeom>
          <a:solidFill>
            <a:schemeClr val="bg1"/>
          </a:solidFill>
          <a:ln/>
        </p:spPr>
      </p:sp>
      <p:sp>
        <p:nvSpPr>
          <p:cNvPr id="9" name="Rule badge 2"/>
          <p:cNvSpPr/>
          <p:nvPr/>
        </p:nvSpPr>
        <p:spPr>
          <a:xfrm>
            <a:off x="3474720" y="1554480"/>
            <a:ext cx="731520" cy="731520"/>
          </a:xfrm>
          <a:prstGeom prst="ellipse">
            <a:avLst/>
          </a:prstGeom>
          <a:solidFill>
            <a:schemeClr val="tx2"/>
          </a:solidFill>
          <a:ln/>
        </p:spPr>
      </p:sp>
      <p:sp>
        <p:nvSpPr>
          <p:cNvPr id="10" name="Rule letter 2"/>
          <p:cNvSpPr txBox="1"/>
          <p:nvPr/>
        </p:nvSpPr>
        <p:spPr>
          <a:xfrm>
            <a:off x="3474720" y="1554480"/>
            <a:ext cx="73152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O</a:t>
            </a:r>
            <a:endParaRPr lang="en-US" sz="3000" dirty="0"/>
          </a:p>
        </p:txBody>
      </p:sp>
      <p:sp>
        <p:nvSpPr>
          <p:cNvPr id="11" name="Rule name 2"/>
          <p:cNvSpPr txBox="1"/>
          <p:nvPr/>
        </p:nvSpPr>
        <p:spPr>
          <a:xfrm>
            <a:off x="3474720" y="2423160"/>
            <a:ext cx="2194560" cy="411480"/>
          </a:xfrm>
          <a:prstGeom prst="rect">
            <a:avLst/>
          </a:prstGeom>
          <a:noFill/>
          <a:ln/>
        </p:spPr>
        <p:txBody>
          <a:bodyPr wrap="square" lIns="0" tIns="0" rIns="0" bIns="0" rtlCol="0" anchor="ctr"/>
          <a:lstStyle/>
          <a:p>
            <a:pPr indent="0" marL="0">
              <a:buNone/>
            </a:pPr>
            <a:r>
              <a:rPr lang="en-US" sz="1900" b="1" dirty="0">
                <a:solidFill>
                  <a:schemeClr val="tx1"/>
                </a:solidFill>
              </a:rPr>
              <a:t>No overhang</a:t>
            </a:r>
            <a:endParaRPr lang="en-US" sz="1900" dirty="0"/>
          </a:p>
        </p:txBody>
      </p:sp>
      <p:sp>
        <p:nvSpPr>
          <p:cNvPr id="12" name="Rule detail 2"/>
          <p:cNvSpPr txBox="1"/>
          <p:nvPr/>
        </p:nvSpPr>
        <p:spPr>
          <a:xfrm>
            <a:off x="3474720" y="2926080"/>
            <a:ext cx="224028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Every item must fit fully inside the bin</a:t>
            </a:r>
            <a:endParaRPr lang="en-US" sz="1400" dirty="0"/>
          </a:p>
          <a:p>
            <a:pPr marL="342900" indent="-342900">
              <a:spcAft>
                <a:spcPts val="600"/>
              </a:spcAft>
              <a:buSzPct val="100000"/>
              <a:buChar char="•"/>
            </a:pPr>
            <a:r>
              <a:rPr lang="en-US" sz="1400" dirty="0">
                <a:solidFill>
                  <a:schemeClr val="accent4"/>
                </a:solidFill>
              </a:rPr>
              <a:t>Overhang causes drive obstructions and pod crashes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 O: keep items safe</a:t>
            </a:r>
            <a:endParaRPr lang="en-US" sz="2800" dirty="0"/>
          </a:p>
        </p:txBody>
      </p:sp>
      <p:sp>
        <p:nvSpPr>
          <p:cNvPr id="3" name="Rule card 1"/>
          <p:cNvSpPr/>
          <p:nvPr/>
        </p:nvSpPr>
        <p:spPr>
          <a:xfrm>
            <a:off x="457200" y="1325880"/>
            <a:ext cx="2606040" cy="3200400"/>
          </a:xfrm>
          <a:prstGeom prst="roundRect">
            <a:avLst>
              <a:gd name="adj" fmla="val 3509"/>
            </a:avLst>
          </a:prstGeom>
          <a:solidFill>
            <a:schemeClr val="bg1"/>
          </a:solidFill>
          <a:ln/>
        </p:spPr>
      </p:sp>
      <p:sp>
        <p:nvSpPr>
          <p:cNvPr id="4" name="Rule badge 1"/>
          <p:cNvSpPr/>
          <p:nvPr/>
        </p:nvSpPr>
        <p:spPr>
          <a:xfrm>
            <a:off x="685800" y="1554480"/>
            <a:ext cx="731520" cy="731520"/>
          </a:xfrm>
          <a:prstGeom prst="ellipse">
            <a:avLst/>
          </a:prstGeom>
          <a:solidFill>
            <a:schemeClr val="tx2"/>
          </a:solidFill>
          <a:ln/>
        </p:spPr>
      </p:sp>
      <p:sp>
        <p:nvSpPr>
          <p:cNvPr id="5" name="Rule letter 1"/>
          <p:cNvSpPr txBox="1"/>
          <p:nvPr/>
        </p:nvSpPr>
        <p:spPr>
          <a:xfrm>
            <a:off x="685800" y="1554480"/>
            <a:ext cx="73152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B</a:t>
            </a:r>
            <a:endParaRPr lang="en-US" sz="3000" dirty="0"/>
          </a:p>
        </p:txBody>
      </p:sp>
      <p:sp>
        <p:nvSpPr>
          <p:cNvPr id="6" name="Rule name 1"/>
          <p:cNvSpPr txBox="1"/>
          <p:nvPr/>
        </p:nvSpPr>
        <p:spPr>
          <a:xfrm>
            <a:off x="685800" y="2423160"/>
            <a:ext cx="2194560" cy="411480"/>
          </a:xfrm>
          <a:prstGeom prst="rect">
            <a:avLst/>
          </a:prstGeom>
          <a:noFill/>
          <a:ln/>
        </p:spPr>
        <p:txBody>
          <a:bodyPr wrap="square" lIns="0" tIns="0" rIns="0" bIns="0" rtlCol="0" anchor="ctr"/>
          <a:lstStyle/>
          <a:p>
            <a:pPr indent="0" marL="0">
              <a:buNone/>
            </a:pPr>
            <a:r>
              <a:rPr lang="en-US" sz="1900" b="1" dirty="0">
                <a:solidFill>
                  <a:schemeClr val="tx1"/>
                </a:solidFill>
              </a:rPr>
              <a:t>Blocking</a:t>
            </a:r>
            <a:endParaRPr lang="en-US" sz="1900" dirty="0"/>
          </a:p>
        </p:txBody>
      </p:sp>
      <p:sp>
        <p:nvSpPr>
          <p:cNvPr id="7" name="Rule detail 1"/>
          <p:cNvSpPr txBox="1"/>
          <p:nvPr/>
        </p:nvSpPr>
        <p:spPr>
          <a:xfrm>
            <a:off x="685800" y="2926080"/>
            <a:ext cx="224028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Never hide small items behind larger ones</a:t>
            </a:r>
            <a:endParaRPr lang="en-US" sz="1400" dirty="0"/>
          </a:p>
          <a:p>
            <a:pPr marL="342900" indent="-342900">
              <a:spcAft>
                <a:spcPts val="600"/>
              </a:spcAft>
              <a:buSzPct val="100000"/>
              <a:buChar char="•"/>
            </a:pPr>
            <a:r>
              <a:rPr lang="en-US" sz="1400" dirty="0">
                <a:solidFill>
                  <a:schemeClr val="accent4"/>
                </a:solidFill>
              </a:rPr>
              <a:t>Stand flat items upright so they can't slip between the bands</a:t>
            </a:r>
            <a:endParaRPr lang="en-US" sz="1400" dirty="0"/>
          </a:p>
        </p:txBody>
      </p:sp>
      <p:sp>
        <p:nvSpPr>
          <p:cNvPr id="8" name="Rule card 2"/>
          <p:cNvSpPr/>
          <p:nvPr/>
        </p:nvSpPr>
        <p:spPr>
          <a:xfrm>
            <a:off x="3246120" y="1325880"/>
            <a:ext cx="2606040" cy="3200400"/>
          </a:xfrm>
          <a:prstGeom prst="roundRect">
            <a:avLst>
              <a:gd name="adj" fmla="val 3509"/>
            </a:avLst>
          </a:prstGeom>
          <a:solidFill>
            <a:schemeClr val="bg1"/>
          </a:solidFill>
          <a:ln/>
        </p:spPr>
      </p:sp>
      <p:sp>
        <p:nvSpPr>
          <p:cNvPr id="9" name="Rule badge 2"/>
          <p:cNvSpPr/>
          <p:nvPr/>
        </p:nvSpPr>
        <p:spPr>
          <a:xfrm>
            <a:off x="3474720" y="1554480"/>
            <a:ext cx="731520" cy="731520"/>
          </a:xfrm>
          <a:prstGeom prst="ellipse">
            <a:avLst/>
          </a:prstGeom>
          <a:solidFill>
            <a:schemeClr val="tx2"/>
          </a:solidFill>
          <a:ln/>
        </p:spPr>
      </p:sp>
      <p:sp>
        <p:nvSpPr>
          <p:cNvPr id="10" name="Rule letter 2"/>
          <p:cNvSpPr txBox="1"/>
          <p:nvPr/>
        </p:nvSpPr>
        <p:spPr>
          <a:xfrm>
            <a:off x="3474720" y="1554480"/>
            <a:ext cx="731520" cy="73152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O</a:t>
            </a:r>
            <a:endParaRPr lang="en-US" sz="3000" dirty="0"/>
          </a:p>
        </p:txBody>
      </p:sp>
      <p:sp>
        <p:nvSpPr>
          <p:cNvPr id="11" name="Rule name 2"/>
          <p:cNvSpPr txBox="1"/>
          <p:nvPr/>
        </p:nvSpPr>
        <p:spPr>
          <a:xfrm>
            <a:off x="3474720" y="2423160"/>
            <a:ext cx="2194560" cy="411480"/>
          </a:xfrm>
          <a:prstGeom prst="rect">
            <a:avLst/>
          </a:prstGeom>
          <a:noFill/>
          <a:ln/>
        </p:spPr>
        <p:txBody>
          <a:bodyPr wrap="square" lIns="0" tIns="0" rIns="0" bIns="0" rtlCol="0" anchor="ctr"/>
          <a:lstStyle/>
          <a:p>
            <a:pPr indent="0" marL="0">
              <a:buNone/>
            </a:pPr>
            <a:r>
              <a:rPr lang="en-US" sz="1900" b="1" dirty="0">
                <a:solidFill>
                  <a:schemeClr val="tx1"/>
                </a:solidFill>
              </a:rPr>
              <a:t>Overstuffing</a:t>
            </a:r>
            <a:endParaRPr lang="en-US" sz="1900" dirty="0"/>
          </a:p>
        </p:txBody>
      </p:sp>
      <p:sp>
        <p:nvSpPr>
          <p:cNvPr id="12" name="Rule detail 2"/>
          <p:cNvSpPr txBox="1"/>
          <p:nvPr/>
        </p:nvSpPr>
        <p:spPr>
          <a:xfrm>
            <a:off x="3474720" y="2926080"/>
            <a:ext cx="224028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Don't overfill the bin</a:t>
            </a:r>
            <a:endParaRPr lang="en-US" sz="1400" dirty="0"/>
          </a:p>
          <a:p>
            <a:pPr marL="342900" indent="-342900">
              <a:spcAft>
                <a:spcPts val="600"/>
              </a:spcAft>
              <a:buSzPct val="100000"/>
              <a:buChar char="•"/>
            </a:pPr>
            <a:r>
              <a:rPr lang="en-US" sz="1400" dirty="0">
                <a:solidFill>
                  <a:schemeClr val="accent4"/>
                </a:solidFill>
              </a:rPr>
              <a:t>Forcing items in damages customer products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 + S + S: easy to pick</a:t>
            </a:r>
            <a:endParaRPr lang="en-US" sz="2800" dirty="0"/>
          </a:p>
        </p:txBody>
      </p:sp>
      <p:sp>
        <p:nvSpPr>
          <p:cNvPr id="3" name="TSS row 1"/>
          <p:cNvSpPr/>
          <p:nvPr/>
        </p:nvSpPr>
        <p:spPr>
          <a:xfrm>
            <a:off x="457200" y="1325880"/>
            <a:ext cx="5394960" cy="960120"/>
          </a:xfrm>
          <a:prstGeom prst="roundRect">
            <a:avLst>
              <a:gd name="adj" fmla="val 9524"/>
            </a:avLst>
          </a:prstGeom>
          <a:solidFill>
            <a:schemeClr val="bg1"/>
          </a:solidFill>
          <a:ln/>
        </p:spPr>
      </p:sp>
      <p:sp>
        <p:nvSpPr>
          <p:cNvPr id="4" name="TSS badge 1"/>
          <p:cNvSpPr/>
          <p:nvPr/>
        </p:nvSpPr>
        <p:spPr>
          <a:xfrm>
            <a:off x="640080" y="1472184"/>
            <a:ext cx="658368" cy="658368"/>
          </a:xfrm>
          <a:prstGeom prst="ellipse">
            <a:avLst/>
          </a:prstGeom>
          <a:solidFill>
            <a:schemeClr val="tx2"/>
          </a:solidFill>
          <a:ln/>
        </p:spPr>
      </p:sp>
      <p:sp>
        <p:nvSpPr>
          <p:cNvPr id="5" name="TSS letter 1"/>
          <p:cNvSpPr txBox="1"/>
          <p:nvPr/>
        </p:nvSpPr>
        <p:spPr>
          <a:xfrm>
            <a:off x="640080" y="1472184"/>
            <a:ext cx="658368" cy="658368"/>
          </a:xfrm>
          <a:prstGeom prst="rect">
            <a:avLst/>
          </a:prstGeom>
          <a:noFill/>
          <a:ln/>
        </p:spPr>
        <p:txBody>
          <a:bodyPr wrap="square" lIns="0" tIns="0" rIns="0" bIns="0" rtlCol="0" anchor="ctr"/>
          <a:lstStyle/>
          <a:p>
            <a:pPr algn="ctr" indent="0" marL="0">
              <a:buNone/>
            </a:pPr>
            <a:r>
              <a:rPr lang="en-US" sz="2800" b="1" dirty="0">
                <a:solidFill>
                  <a:schemeClr val="accent1"/>
                </a:solidFill>
                <a:latin typeface="Arial" pitchFamily="34" charset="0"/>
                <a:ea typeface="Arial" pitchFamily="34" charset="-122"/>
                <a:cs typeface="Arial" pitchFamily="34" charset="-120"/>
              </a:rPr>
              <a:t>T</a:t>
            </a:r>
            <a:endParaRPr lang="en-US" sz="2800" dirty="0"/>
          </a:p>
        </p:txBody>
      </p:sp>
      <p:sp>
        <p:nvSpPr>
          <p:cNvPr id="6" name="TSS text 1"/>
          <p:cNvSpPr txBox="1"/>
          <p:nvPr/>
        </p:nvSpPr>
        <p:spPr>
          <a:xfrm>
            <a:off x="1554480" y="1325880"/>
            <a:ext cx="4114800" cy="960120"/>
          </a:xfrm>
          <a:prstGeom prst="rect">
            <a:avLst/>
          </a:prstGeom>
          <a:noFill/>
          <a:ln/>
        </p:spPr>
        <p:txBody>
          <a:bodyPr wrap="square" lIns="0" tIns="0" rIns="0" bIns="0" rtlCol="0" anchor="ctr"/>
          <a:lstStyle/>
          <a:p>
            <a:pPr indent="0" marL="0">
              <a:buNone/>
            </a:pPr>
            <a:r>
              <a:rPr lang="en-US" sz="1700" b="1" dirty="0">
                <a:solidFill>
                  <a:schemeClr val="tx1"/>
                </a:solidFill>
              </a:rPr>
              <a:t>Titles out</a:t>
            </a:r>
            <a:endParaRPr lang="en-US" sz="1700" dirty="0"/>
          </a:p>
          <a:p>
            <a:pPr indent="0" marL="0">
              <a:buNone/>
            </a:pPr>
            <a:r>
              <a:rPr lang="en-US" sz="1400" dirty="0">
                <a:solidFill>
                  <a:schemeClr val="accent4"/>
                </a:solidFill>
              </a:rPr>
              <a:t>Book and DVD spines face outward so pickers can find them</a:t>
            </a:r>
            <a:endParaRPr lang="en-US" sz="1700" dirty="0"/>
          </a:p>
        </p:txBody>
      </p:sp>
      <p:sp>
        <p:nvSpPr>
          <p:cNvPr id="7" name="TSS row 2"/>
          <p:cNvSpPr/>
          <p:nvPr/>
        </p:nvSpPr>
        <p:spPr>
          <a:xfrm>
            <a:off x="457200" y="2423160"/>
            <a:ext cx="5394960" cy="960120"/>
          </a:xfrm>
          <a:prstGeom prst="roundRect">
            <a:avLst>
              <a:gd name="adj" fmla="val 9524"/>
            </a:avLst>
          </a:prstGeom>
          <a:solidFill>
            <a:schemeClr val="bg1"/>
          </a:solidFill>
          <a:ln/>
        </p:spPr>
      </p:sp>
      <p:sp>
        <p:nvSpPr>
          <p:cNvPr id="8" name="TSS badge 2"/>
          <p:cNvSpPr/>
          <p:nvPr/>
        </p:nvSpPr>
        <p:spPr>
          <a:xfrm>
            <a:off x="640080" y="2569464"/>
            <a:ext cx="658368" cy="658368"/>
          </a:xfrm>
          <a:prstGeom prst="ellipse">
            <a:avLst/>
          </a:prstGeom>
          <a:solidFill>
            <a:schemeClr val="tx2"/>
          </a:solidFill>
          <a:ln/>
        </p:spPr>
      </p:sp>
      <p:sp>
        <p:nvSpPr>
          <p:cNvPr id="9" name="TSS letter 2"/>
          <p:cNvSpPr txBox="1"/>
          <p:nvPr/>
        </p:nvSpPr>
        <p:spPr>
          <a:xfrm>
            <a:off x="640080" y="2569464"/>
            <a:ext cx="658368" cy="658368"/>
          </a:xfrm>
          <a:prstGeom prst="rect">
            <a:avLst/>
          </a:prstGeom>
          <a:noFill/>
          <a:ln/>
        </p:spPr>
        <p:txBody>
          <a:bodyPr wrap="square" lIns="0" tIns="0" rIns="0" bIns="0" rtlCol="0" anchor="ctr"/>
          <a:lstStyle/>
          <a:p>
            <a:pPr algn="ctr" indent="0" marL="0">
              <a:buNone/>
            </a:pPr>
            <a:r>
              <a:rPr lang="en-US" sz="2800" b="1" dirty="0">
                <a:solidFill>
                  <a:schemeClr val="accent1"/>
                </a:solidFill>
                <a:latin typeface="Arial" pitchFamily="34" charset="0"/>
                <a:ea typeface="Arial" pitchFamily="34" charset="-122"/>
                <a:cs typeface="Arial" pitchFamily="34" charset="-120"/>
              </a:rPr>
              <a:t>S</a:t>
            </a:r>
            <a:endParaRPr lang="en-US" sz="2800" dirty="0"/>
          </a:p>
        </p:txBody>
      </p:sp>
      <p:sp>
        <p:nvSpPr>
          <p:cNvPr id="10" name="TSS text 2"/>
          <p:cNvSpPr txBox="1"/>
          <p:nvPr/>
        </p:nvSpPr>
        <p:spPr>
          <a:xfrm>
            <a:off x="1554480" y="2423160"/>
            <a:ext cx="4114800" cy="960120"/>
          </a:xfrm>
          <a:prstGeom prst="rect">
            <a:avLst/>
          </a:prstGeom>
          <a:noFill/>
          <a:ln/>
        </p:spPr>
        <p:txBody>
          <a:bodyPr wrap="square" lIns="0" tIns="0" rIns="0" bIns="0" rtlCol="0" anchor="ctr"/>
          <a:lstStyle/>
          <a:p>
            <a:pPr indent="0" marL="0">
              <a:buNone/>
            </a:pPr>
            <a:r>
              <a:rPr lang="en-US" sz="1700" b="1" dirty="0">
                <a:solidFill>
                  <a:schemeClr val="tx1"/>
                </a:solidFill>
              </a:rPr>
              <a:t>Stacking</a:t>
            </a:r>
            <a:endParaRPr lang="en-US" sz="1700" dirty="0"/>
          </a:p>
          <a:p>
            <a:pPr indent="0" marL="0">
              <a:buNone/>
            </a:pPr>
            <a:r>
              <a:rPr lang="en-US" sz="1400" dirty="0">
                <a:solidFill>
                  <a:schemeClr val="accent4"/>
                </a:solidFill>
              </a:rPr>
              <a:t>Stack the same ASIN only with two flat sides, and stay below the bands</a:t>
            </a:r>
            <a:endParaRPr lang="en-US" sz="1700" dirty="0"/>
          </a:p>
        </p:txBody>
      </p:sp>
      <p:sp>
        <p:nvSpPr>
          <p:cNvPr id="11" name="TSS row 3"/>
          <p:cNvSpPr/>
          <p:nvPr/>
        </p:nvSpPr>
        <p:spPr>
          <a:xfrm>
            <a:off x="457200" y="3520440"/>
            <a:ext cx="5394960" cy="960120"/>
          </a:xfrm>
          <a:prstGeom prst="roundRect">
            <a:avLst>
              <a:gd name="adj" fmla="val 9524"/>
            </a:avLst>
          </a:prstGeom>
          <a:solidFill>
            <a:schemeClr val="bg1"/>
          </a:solidFill>
          <a:ln/>
        </p:spPr>
      </p:sp>
      <p:sp>
        <p:nvSpPr>
          <p:cNvPr id="12" name="TSS badge 3"/>
          <p:cNvSpPr/>
          <p:nvPr/>
        </p:nvSpPr>
        <p:spPr>
          <a:xfrm>
            <a:off x="640080" y="3666744"/>
            <a:ext cx="658368" cy="658368"/>
          </a:xfrm>
          <a:prstGeom prst="ellipse">
            <a:avLst/>
          </a:prstGeom>
          <a:solidFill>
            <a:schemeClr val="tx2"/>
          </a:solidFill>
          <a:ln/>
        </p:spPr>
      </p:sp>
      <p:sp>
        <p:nvSpPr>
          <p:cNvPr id="13" name="TSS letter 3"/>
          <p:cNvSpPr txBox="1"/>
          <p:nvPr/>
        </p:nvSpPr>
        <p:spPr>
          <a:xfrm>
            <a:off x="640080" y="3666744"/>
            <a:ext cx="658368" cy="658368"/>
          </a:xfrm>
          <a:prstGeom prst="rect">
            <a:avLst/>
          </a:prstGeom>
          <a:noFill/>
          <a:ln/>
        </p:spPr>
        <p:txBody>
          <a:bodyPr wrap="square" lIns="0" tIns="0" rIns="0" bIns="0" rtlCol="0" anchor="ctr"/>
          <a:lstStyle/>
          <a:p>
            <a:pPr algn="ctr" indent="0" marL="0">
              <a:buNone/>
            </a:pPr>
            <a:r>
              <a:rPr lang="en-US" sz="2800" b="1" dirty="0">
                <a:solidFill>
                  <a:schemeClr val="accent1"/>
                </a:solidFill>
                <a:latin typeface="Arial" pitchFamily="34" charset="0"/>
                <a:ea typeface="Arial" pitchFamily="34" charset="-122"/>
                <a:cs typeface="Arial" pitchFamily="34" charset="-120"/>
              </a:rPr>
              <a:t>S</a:t>
            </a:r>
            <a:endParaRPr lang="en-US" sz="2800" dirty="0"/>
          </a:p>
        </p:txBody>
      </p:sp>
      <p:sp>
        <p:nvSpPr>
          <p:cNvPr id="14" name="TSS text 3"/>
          <p:cNvSpPr txBox="1"/>
          <p:nvPr/>
        </p:nvSpPr>
        <p:spPr>
          <a:xfrm>
            <a:off x="1554480" y="3520440"/>
            <a:ext cx="4114800" cy="960120"/>
          </a:xfrm>
          <a:prstGeom prst="rect">
            <a:avLst/>
          </a:prstGeom>
          <a:noFill/>
          <a:ln/>
        </p:spPr>
        <p:txBody>
          <a:bodyPr wrap="square" lIns="0" tIns="0" rIns="0" bIns="0" rtlCol="0" anchor="ctr"/>
          <a:lstStyle/>
          <a:p>
            <a:pPr indent="0" marL="0">
              <a:buNone/>
            </a:pPr>
            <a:r>
              <a:rPr lang="en-US" sz="1700" b="1" dirty="0">
                <a:solidFill>
                  <a:schemeClr val="tx1"/>
                </a:solidFill>
              </a:rPr>
              <a:t>Similar items</a:t>
            </a:r>
            <a:endParaRPr lang="en-US" sz="1700" dirty="0"/>
          </a:p>
          <a:p>
            <a:pPr indent="0" marL="0">
              <a:buNone/>
            </a:pPr>
            <a:r>
              <a:rPr lang="en-US" sz="1400" dirty="0">
                <a:solidFill>
                  <a:schemeClr val="accent4"/>
                </a:solidFill>
              </a:rPr>
              <a:t>Never put look-alike items in one bin; use the cross method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Your shift, bin by bin</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Shift start and after breaks</a:t>
            </a:r>
            <a:endParaRPr lang="en-US" sz="1300" dirty="0"/>
          </a:p>
          <a:p>
            <a:pPr algn="ctr" indent="0" marL="0">
              <a:buNone/>
            </a:pPr>
            <a:r>
              <a:rPr lang="en-US" sz="1700" b="1" dirty="0">
                <a:solidFill>
                  <a:schemeClr val="tx1"/>
                </a:solidFill>
              </a:rPr>
              <a:t>1-minute First Face Fix</a:t>
            </a:r>
            <a:endParaRPr lang="en-US" sz="1300" dirty="0"/>
          </a:p>
        </p:txBody>
      </p:sp>
      <p:pic>
        <p:nvPicPr>
          <p:cNvPr id="6" name="Arrow 1" descr="preencoded.png">    </p:cNvPr>
          <p:cNvPicPr>
            <a:picLocks noChangeAspect="1"/>
          </p:cNvPicPr>
          <p:nvPr/>
        </p:nvPicPr>
        <p:blipFill>
          <a:blip r:embed="rId2"/>
          <a:stretch>
            <a:fillRect/>
          </a:stretch>
        </p:blipFill>
        <p:spPr>
          <a:xfrm>
            <a:off x="2121408" y="1664208"/>
            <a:ext cx="274320" cy="274320"/>
          </a:xfrm>
          <a:prstGeom prst="rect">
            <a:avLst/>
          </a:prstGeom>
        </p:spPr>
      </p:pic>
      <p:sp>
        <p:nvSpPr>
          <p:cNvPr id="7" name="Recap circle 2"/>
          <p:cNvSpPr/>
          <p:nvPr/>
        </p:nvSpPr>
        <p:spPr>
          <a:xfrm>
            <a:off x="269748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2916936" y="1591056"/>
            <a:ext cx="429768" cy="429768"/>
          </a:xfrm>
          <a:prstGeom prst="rect">
            <a:avLst/>
          </a:prstGeom>
        </p:spPr>
      </p:pic>
      <p:sp>
        <p:nvSpPr>
          <p:cNvPr id="9"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Every bin you touch</a:t>
            </a:r>
            <a:endParaRPr lang="en-US" sz="1300" dirty="0"/>
          </a:p>
          <a:p>
            <a:pPr algn="ctr" indent="0" marL="0">
              <a:buNone/>
            </a:pPr>
            <a:r>
              <a:rPr lang="en-US" sz="1700" b="1" dirty="0">
                <a:solidFill>
                  <a:schemeClr val="tx1"/>
                </a:solidFill>
              </a:rPr>
              <a:t>Apply ROBOTSS</a:t>
            </a:r>
            <a:endParaRPr lang="en-US" sz="1300" dirty="0"/>
          </a:p>
        </p:txBody>
      </p:sp>
      <p:pic>
        <p:nvPicPr>
          <p:cNvPr id="10" name="Arrow 2" descr="preencoded.png">    </p:cNvPr>
          <p:cNvPicPr>
            <a:picLocks noChangeAspect="1"/>
          </p:cNvPicPr>
          <p:nvPr/>
        </p:nvPicPr>
        <p:blipFill>
          <a:blip r:embed="rId4"/>
          <a:stretch>
            <a:fillRect/>
          </a:stretch>
        </p:blipFill>
        <p:spPr>
          <a:xfrm>
            <a:off x="3950208" y="1664208"/>
            <a:ext cx="274320" cy="274320"/>
          </a:xfrm>
          <a:prstGeom prst="rect">
            <a:avLst/>
          </a:prstGeom>
        </p:spPr>
      </p:pic>
      <p:sp>
        <p:nvSpPr>
          <p:cNvPr id="11" name="Recap circle 3"/>
          <p:cNvSpPr/>
          <p:nvPr/>
        </p:nvSpPr>
        <p:spPr>
          <a:xfrm>
            <a:off x="452628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4745736" y="1591056"/>
            <a:ext cx="429768" cy="429768"/>
          </a:xfrm>
          <a:prstGeom prst="rect">
            <a:avLst/>
          </a:prstGeom>
        </p:spPr>
      </p:pic>
      <p:sp>
        <p:nvSpPr>
          <p:cNvPr id="13"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All shift long</a:t>
            </a:r>
            <a:endParaRPr lang="en-US" sz="1300" dirty="0"/>
          </a:p>
          <a:p>
            <a:pPr algn="ctr" indent="0" marL="0">
              <a:buNone/>
            </a:pPr>
            <a:r>
              <a:rPr lang="en-US" sz="1700" b="1" dirty="0">
                <a:solidFill>
                  <a:schemeClr val="tx1"/>
                </a:solidFill>
              </a:rPr>
              <a:t>Fix as you go</a:t>
            </a:r>
            <a:endParaRPr lang="en-US" sz="1300" dirty="0"/>
          </a:p>
        </p:txBody>
      </p:sp>
      <p:sp>
        <p:nvSpPr>
          <p:cNvPr id="14" name="Goal card"/>
          <p:cNvSpPr/>
          <p:nvPr/>
        </p:nvSpPr>
        <p:spPr>
          <a:xfrm>
            <a:off x="457200" y="3749040"/>
            <a:ext cx="5394960" cy="777240"/>
          </a:xfrm>
          <a:prstGeom prst="roundRect">
            <a:avLst>
              <a:gd name="adj" fmla="val 11765"/>
            </a:avLst>
          </a:prstGeom>
          <a:solidFill>
            <a:schemeClr val="tx2"/>
          </a:solidFill>
          <a:ln/>
        </p:spPr>
      </p:sp>
      <p:sp>
        <p:nvSpPr>
          <p:cNvPr id="15"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Goal: </a:t>
            </a:r>
            <a:pPr indent="0" marL="0">
              <a:buNone/>
            </a:pPr>
            <a:r>
              <a:rPr lang="en-US" sz="1600" dirty="0">
                <a:solidFill>
                  <a:schemeClr val="bg1"/>
                </a:solidFill>
              </a:rPr>
              <a:t>fewer units falling, lower wAPMT, happier customers.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Small fixes. Big impact.</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Rate this video</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Face Fix and ROBOTSS - Amnesty Coaching</dc:title>
  <dc:subject>wAPMT coaching campaign</dc:subject>
  <dc:creator>PptxGenJS</dc:creator>
  <cp:lastModifiedBy>PptxGenJS</cp:lastModifiedBy>
  <cp:revision>1</cp:revision>
  <dcterms:created xsi:type="dcterms:W3CDTF">2026-10-12T09:36:15Z</dcterms:created>
  <dcterms:modified xsi:type="dcterms:W3CDTF">2026-10-12T09:36:15Z</dcterms:modified>
</cp:coreProperties>
</file>