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1051d10-ed7e-1b01-4742-893c9fb559e9}">
          <p14:sldIdLst>
            <p14:sldId id="256"/>
            <p14:sldId id="257"/>
            <p14:sldId id="258"/>
            <p14:sldId id="259"/>
            <p14:sldId id="260"/>
          </p14:sldIdLst>
        </p14:section>
        <p14:section name="Bin etiquette" id="{68139957-1bb5-94a6-ff04-70e9f6e424c3}">
          <p14:sldIdLst>
            <p14:sldId id="261"/>
            <p14:sldId id="262"/>
            <p14:sldId id="263"/>
            <p14:sldId id="264"/>
            <p14:sldId id="265"/>
            <p14:sldId id="266"/>
          </p14:sldIdLst>
        </p14:section>
        <p14:section name="Wrap-up" id="{7af1fc12-3650-d8d9-f964-5b7073fec828}">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und danke, dass ihr euch ein paar Minuten Zeit nehmt. Dieses Video ist für unser Pick-to-Rebin-Team. Es geht um zwei Dinge: was wirklich als Amnesty zählt und was nicht, und wie du Bins in Ordnung hältst, jedes Mal, wenn deine Hände drin sind. Los geht's.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was ist Amnesty? Amnesty ist ein Artikel, der in einem gestowten Pod-Bin sein sollte, aber physisch nicht da ist. Er wurde nach Prime gestowt und noch nicht gepickt, ist aber rausgefallen oder an der Station oder auf dem Boden gelandet. Das System denkt, er liegt noch im Bin. Das erzeugt einen Fehler in unserem Bestand und kann zu einem Pick Short führen. Und das gefährdet unseren 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Amnesty taucht an zwei Stellen auf. Floor Amnesty heißt, Artikel fallen aus den Pods auf den Robotics-Boden. Station Amnesty heißt, Artikel bleiben an der Station liegen. Beides hat dieselbe Ursache. Schlechte Bin-Etikette ist die Nummer eins bei Amnesty, und die gute Nachricht ist: Bin-Etikette haben wir komplett selbst in der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kommt der wichtige Unterschied. Amnesty ist nur für Artikel, die noch nicht gepickt wurden: Sie gehören in einen gestowten Pod-Bin und sind nicht drin. Die kommen in die Amnesty. Wenn du aber einen Artikel findest, der schon gepickt wurde, also in eine Tote, an einen Rebin-Platz oder in eine Chute gehört, und runtergefallen oder falsch abgelegt wurde, dann ist das kein Amnesty. Das ist ein Fall für Outbound Problem Solve. Wenn wir gepickte Artikel in die Amnesty legen, blähen wir unseren wAPMT auf und verstecken das echte Outbound-Problem, das gelöst werden muss.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also einen Artikel findest, der nicht an seinem Platz ist, stell dir eine Frage: Wurde er schon gepickt? Wenn nein, und er gehört in einen gestowten Pod-Bin, dann ist es Amnesty. Wenn ja, und er gehört in eine Tote, ans Rebin oder in eine Chute, dann ist es kein Amnesty. Bring ihn zu Outbound Problem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sprechen wir über Bin-Etikette. Als Picker sind deine Hände die ganze Schicht in Bins. Du spielst also eine große Rolle dabei, Amnesty zu verhindern, bevor sie entsteht.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Erstens: One Piece Flow. Bearbeite immer nur einen Artikel, mit beiden Händen. Nimm einen Artikel, scanne ihn einmal und leg ihn in deine Tote, bevor du wieder in den Bin greifst. Mit Pod Release Optimization kann der Pod wegfahren, während du noch Artikel in der Hand hast, und alles, was liegen bleibt, wird zu Station Amnesty.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Zweitens: nebenbei aufräumen. Immer wenn deine Hände in einem Bin sind, nutze die ROBOTSS-Regeln und hinterlass ihn besser, als du ihn vorgefunden hast. Schau dir das erste Beispiel an. Links steht der Karton über den Rand des Bins. Das ist Überstand, und der kann beim Fahren hängen bleiben. Rechts ist alles komplett drin. Wenn du siehst, dass etwas übersteht, schieb es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Nächstes: nichts verdecken. Links liegt ein flacher Artikel quer vorne und verdeckt alles dahinter. Rechts ist jeder Artikel von vorne sichtbar. Lass kleine Artikel nicht hinter großen verschwinden, und stell flache Artikel aufrecht, damit sie nicht zwischen den Bändern durchrutschen.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Überfüllen. Links wurden Artikel reingequetscht, und der Bin beult aus. Das beschädigt Ware, und aus so einem Bin fällt am ehesten etwas raus. Rechts passt alles, mit Platz zum Picken. Quetsch nie Artikel zurück in einen vollen 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Stapeln. Links sind verschiedene Artikel bis hoch zu den Bändern übereinander gestapelt. Rechts stehen sie nebeneinander, unter den Bändern. Halte alles unter den Haltebändern. Ein paar Sekunden von dir verhindern, dass Artikel rausfallen, wenn der Pod fährt.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ist deine Pick-Checkliste. Du findest einen Artikel, der noch nicht gepickt wurde? Das ist Amnesty. Du findest einen, der schon gepickt wurde? Das ist Outbound Problem Solve, kein Amnesty. Und bei jedem Bin, den du anfasst: immer nur ein Artikel, und nebenbei aufräumen. So bleibt unser wAPMT genau, es fallen weniger Artikel raus, und unsere Kunden bekommen, was sie bestellt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Kleine Handgriffe, große Wirkung. Danke fürs Zuschauen, und danke, dass du dich um jeden Bin kümmerst, jedes Mal. Wenn du Fragen hast, sprich deinen Process Guide, deinen Area Manager oder das ICQA-Team an. Und nimm dir bitte kurz Zeit, dieses Video zu bewerten.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CENE">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2286000" cy="5143500"/>
          </a:xfrm>
          <a:prstGeom prst="rect">
            <a:avLst/>
          </a:prstGeom>
          <a:solidFill>
            <a:schemeClr val="tx2"/>
          </a:solidFill>
          <a:ln/>
        </p:spPr>
      </p:sp>
      <p:pic>
        <p:nvPicPr>
          <p:cNvPr id="3" name="Image 0" descr="preencoded.png">    </p:cNvPr>
          <p:cNvPicPr>
            <a:picLocks noChangeAspect="1"/>
          </p:cNvPicPr>
          <p:nvPr/>
        </p:nvPicPr>
        <p:blipFill>
          <a:blip r:embed="rId1"/>
          <a:stretch>
            <a:fillRect/>
          </a:stretch>
        </p:blipFill>
        <p:spPr>
          <a:xfrm>
            <a:off x="5166360" y="2606040"/>
            <a:ext cx="1097280" cy="1225296"/>
          </a:xfrm>
          <a:prstGeom prst="rect">
            <a:avLst/>
          </a:prstGeom>
        </p:spPr>
      </p:pic>
      <p:sp>
        <p:nvSpPr>
          <p:cNvPr id="4" name="Text 1"/>
          <p:cNvSpPr/>
          <p:nvPr>
            <p:ph idx="102" type="body" hasCustomPrompt="1"/>
          </p:nvPr>
        </p:nvSpPr>
        <p:spPr>
          <a:xfrm>
            <a:off x="2514600" y="502920"/>
            <a:ext cx="6400800" cy="320040"/>
          </a:xfrm>
          <a:prstGeom prst="rect">
            <a:avLst/>
          </a:prstGeom>
          <a:noFill/>
          <a:ln/>
        </p:spPr>
        <p:txBody>
          <a:bodyPr wrap="square" rtlCol="0"/>
          <a:lstStyle>
            <a:lvl1pPr algn="ctr" indent="0" marL="0">
              <a:buNone/>
              <a:defRPr lang="en-US" sz="1300" b="1" spc="300" kern="0" dirty="0">
                <a:solidFill>
                  <a:schemeClr val="accent6"/>
                </a:solidFill>
              </a:defRPr>
            </a:lvl1pPr>
          </a:lstStyle>
          <a:p>
            <a:pPr algn="ctr" indent="0" marL="0">
              <a:buNone/>
            </a:pPr>
            <a:endParaRPr lang="en-US" sz="1300" dirty="0"/>
          </a:p>
        </p:txBody>
      </p:sp>
      <p:sp>
        <p:nvSpPr>
          <p:cNvPr id="5" name="Text 1"/>
          <p:cNvSpPr/>
          <p:nvPr>
            <p:ph idx="103" type="title" hasCustomPrompt="1"/>
          </p:nvPr>
        </p:nvSpPr>
        <p:spPr>
          <a:xfrm>
            <a:off x="2514600" y="868680"/>
            <a:ext cx="6400800" cy="868680"/>
          </a:xfrm>
          <a:prstGeom prst="rect">
            <a:avLst/>
          </a:prstGeom>
          <a:noFill/>
          <a:ln/>
        </p:spPr>
        <p:txBody>
          <a:bodyPr wrap="square" rtlCol="0"/>
          <a:lstStyle>
            <a:lvl1pPr algn="ctr" indent="0" marL="0">
              <a:buNone/>
              <a:defRPr lang="en-US" sz="3600" b="1" dirty="0">
                <a:solidFill>
                  <a:schemeClr val="tx1"/>
                </a:solidFill>
              </a:defRPr>
            </a:lvl1pPr>
          </a:lstStyle>
          <a:p>
            <a:pPr algn="ctr" indent="0" marL="0">
              <a:buNone/>
            </a:pPr>
            <a:endParaRPr lang="en-US" sz="3600" dirty="0"/>
          </a:p>
        </p:txBody>
      </p:sp>
      <p:sp>
        <p:nvSpPr>
          <p:cNvPr id="6" name="Text 1"/>
          <p:cNvSpPr/>
          <p:nvPr>
            <p:ph idx="104" type="body" hasCustomPrompt="1"/>
          </p:nvPr>
        </p:nvSpPr>
        <p:spPr>
          <a:xfrm>
            <a:off x="2971800" y="1783080"/>
            <a:ext cx="5486400" cy="685800"/>
          </a:xfrm>
          <a:prstGeom prst="rect">
            <a:avLst/>
          </a:prstGeom>
          <a:noFill/>
          <a:ln/>
        </p:spPr>
        <p:txBody>
          <a:bodyPr wrap="square" rtlCol="0"/>
          <a:lstStyle>
            <a:lvl1pPr algn="ctr" indent="0" marL="0">
              <a:buNone/>
              <a:defRPr lang="en-US" sz="1600" dirty="0">
                <a:solidFill>
                  <a:schemeClr val="accent4"/>
                </a:solidFill>
              </a:defRPr>
            </a:lvl1pPr>
          </a:lstStyle>
          <a:p>
            <a:pPr algn="ct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01168" y="109728"/>
            <a:ext cx="1417320" cy="434340"/>
          </a:xfrm>
          <a:prstGeom prst="rect">
            <a:avLst/>
          </a:prstGeom>
        </p:spPr>
      </p:pic>
      <p:sp>
        <p:nvSpPr>
          <p:cNvPr id="3" name="Text 0"/>
          <p:cNvSpPr/>
          <p:nvPr>
            <p:ph idx="101" type="title" hasCustomPrompt="1"/>
          </p:nvPr>
        </p:nvSpPr>
        <p:spPr>
          <a:xfrm>
            <a:off x="457200" y="640080"/>
            <a:ext cx="5394960" cy="5486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234440"/>
            <a:ext cx="1097280" cy="12252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wAPMT COACHING  |  PICK TO REBIN</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Jeder Bin, jedes Mal</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Was wirklich als Amnesty zählt, und wie Picker Bins in Ordnung halten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Was ist Amnesty?</a:t>
            </a:r>
            <a:endParaRPr lang="en-US" sz="2800" dirty="0"/>
          </a:p>
        </p:txBody>
      </p:sp>
      <p:sp>
        <p:nvSpPr>
          <p:cNvPr id="3" name="Definition"/>
          <p:cNvSpPr txBox="1"/>
          <p:nvPr/>
        </p:nvSpPr>
        <p:spPr>
          <a:xfrm>
            <a:off x="457200" y="1280160"/>
            <a:ext cx="5394960" cy="548640"/>
          </a:xfrm>
          <a:prstGeom prst="rect">
            <a:avLst/>
          </a:prstGeom>
          <a:noFill/>
          <a:ln/>
        </p:spPr>
        <p:txBody>
          <a:bodyPr wrap="square" lIns="0" tIns="0" rIns="0" bIns="0" rtlCol="0" anchor="ctr"/>
          <a:lstStyle/>
          <a:p>
            <a:pPr indent="0" marL="0">
              <a:buNone/>
            </a:pPr>
            <a:r>
              <a:rPr lang="en-US" sz="1800" i="1" dirty="0">
                <a:solidFill>
                  <a:schemeClr val="accent6"/>
                </a:solidFill>
              </a:rPr>
              <a:t>Ein Artikel, der in einem gestowten Pod-Bin sein sollte, aber physisch nicht da ist.</a:t>
            </a:r>
            <a:endParaRPr lang="en-US" sz="1800" dirty="0"/>
          </a:p>
        </p:txBody>
      </p:sp>
      <p:sp>
        <p:nvSpPr>
          <p:cNvPr id="4" name="Icon circle 1"/>
          <p:cNvSpPr/>
          <p:nvPr/>
        </p:nvSpPr>
        <p:spPr>
          <a:xfrm>
            <a:off x="457200" y="2011680"/>
            <a:ext cx="640080" cy="640080"/>
          </a:xfrm>
          <a:prstGeom prst="ellipse">
            <a:avLst/>
          </a:prstGeom>
          <a:solidFill>
            <a:schemeClr val="bg1"/>
          </a:solidFill>
          <a:ln/>
        </p:spPr>
      </p:sp>
      <p:pic>
        <p:nvPicPr>
          <p:cNvPr id="5" name="Icon 1" descr="preencoded.png">    </p:cNvPr>
          <p:cNvPicPr>
            <a:picLocks noChangeAspect="1"/>
          </p:cNvPicPr>
          <p:nvPr/>
        </p:nvPicPr>
        <p:blipFill>
          <a:blip r:embed="rId1"/>
          <a:stretch>
            <a:fillRect/>
          </a:stretch>
        </p:blipFill>
        <p:spPr>
          <a:xfrm>
            <a:off x="621792" y="2176272"/>
            <a:ext cx="310896" cy="310896"/>
          </a:xfrm>
          <a:prstGeom prst="rect">
            <a:avLst/>
          </a:prstGeom>
        </p:spPr>
      </p:pic>
      <p:sp>
        <p:nvSpPr>
          <p:cNvPr id="6" name="Row 1"/>
          <p:cNvSpPr txBox="1"/>
          <p:nvPr/>
        </p:nvSpPr>
        <p:spPr>
          <a:xfrm>
            <a:off x="1325880" y="19933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gehört in einen gestowten Bin</a:t>
            </a:r>
            <a:endParaRPr lang="en-US" sz="1700" dirty="0"/>
          </a:p>
          <a:p>
            <a:pPr indent="0" marL="0">
              <a:buNone/>
            </a:pPr>
            <a:r>
              <a:rPr lang="en-US" sz="1400" dirty="0">
                <a:solidFill>
                  <a:schemeClr val="accent4"/>
                </a:solidFill>
              </a:rPr>
              <a:t>Nach Prime gestowt und noch nicht gepickt</a:t>
            </a:r>
            <a:endParaRPr lang="en-US" sz="1700" dirty="0"/>
          </a:p>
        </p:txBody>
      </p:sp>
      <p:sp>
        <p:nvSpPr>
          <p:cNvPr id="7" name="Icon circle 2"/>
          <p:cNvSpPr/>
          <p:nvPr/>
        </p:nvSpPr>
        <p:spPr>
          <a:xfrm>
            <a:off x="457200" y="2926080"/>
            <a:ext cx="640080" cy="640080"/>
          </a:xfrm>
          <a:prstGeom prst="ellipse">
            <a:avLst/>
          </a:prstGeom>
          <a:solidFill>
            <a:schemeClr val="bg1"/>
          </a:solidFill>
          <a:ln/>
        </p:spPr>
      </p:sp>
      <p:pic>
        <p:nvPicPr>
          <p:cNvPr id="8" name="Icon 2" descr="preencoded.png">    </p:cNvPr>
          <p:cNvPicPr>
            <a:picLocks noChangeAspect="1"/>
          </p:cNvPicPr>
          <p:nvPr/>
        </p:nvPicPr>
        <p:blipFill>
          <a:blip r:embed="rId2"/>
          <a:stretch>
            <a:fillRect/>
          </a:stretch>
        </p:blipFill>
        <p:spPr>
          <a:xfrm>
            <a:off x="621792" y="3090672"/>
            <a:ext cx="310896" cy="310896"/>
          </a:xfrm>
          <a:prstGeom prst="rect">
            <a:avLst/>
          </a:prstGeom>
        </p:spPr>
      </p:pic>
      <p:sp>
        <p:nvSpPr>
          <p:cNvPr id="9" name="Row 2"/>
          <p:cNvSpPr txBox="1"/>
          <p:nvPr/>
        </p:nvSpPr>
        <p:spPr>
          <a:xfrm>
            <a:off x="1325880" y="29077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ist physisch nicht da</a:t>
            </a:r>
            <a:endParaRPr lang="en-US" sz="1700" dirty="0"/>
          </a:p>
          <a:p>
            <a:pPr indent="0" marL="0">
              <a:buNone/>
            </a:pPr>
            <a:r>
              <a:rPr lang="en-US" sz="1400" dirty="0">
                <a:solidFill>
                  <a:schemeClr val="accent4"/>
                </a:solidFill>
              </a:rPr>
              <a:t>Er ist rausgefallen oder an der Station oder auf dem Boden gelandet</a:t>
            </a:r>
            <a:endParaRPr lang="en-US" sz="1700" dirty="0"/>
          </a:p>
        </p:txBody>
      </p:sp>
      <p:sp>
        <p:nvSpPr>
          <p:cNvPr id="10" name="Icon circle 3"/>
          <p:cNvSpPr/>
          <p:nvPr/>
        </p:nvSpPr>
        <p:spPr>
          <a:xfrm>
            <a:off x="457200" y="3840480"/>
            <a:ext cx="640080" cy="640080"/>
          </a:xfrm>
          <a:prstGeom prst="ellipse">
            <a:avLst/>
          </a:prstGeom>
          <a:solidFill>
            <a:schemeClr val="bg1"/>
          </a:solidFill>
          <a:ln/>
        </p:spPr>
      </p:sp>
      <p:pic>
        <p:nvPicPr>
          <p:cNvPr id="11" name="Icon 3" descr="preencoded.png">    </p:cNvPr>
          <p:cNvPicPr>
            <a:picLocks noChangeAspect="1"/>
          </p:cNvPicPr>
          <p:nvPr/>
        </p:nvPicPr>
        <p:blipFill>
          <a:blip r:embed="rId3"/>
          <a:stretch>
            <a:fillRect/>
          </a:stretch>
        </p:blipFill>
        <p:spPr>
          <a:xfrm>
            <a:off x="621792" y="4005072"/>
            <a:ext cx="310896" cy="310896"/>
          </a:xfrm>
          <a:prstGeom prst="rect">
            <a:avLst/>
          </a:prstGeom>
        </p:spPr>
      </p:pic>
      <p:sp>
        <p:nvSpPr>
          <p:cNvPr id="12" name="Row 3"/>
          <p:cNvSpPr txBox="1"/>
          <p:nvPr/>
        </p:nvSpPr>
        <p:spPr>
          <a:xfrm>
            <a:off x="1325880" y="3822192"/>
            <a:ext cx="4526280" cy="685800"/>
          </a:xfrm>
          <a:prstGeom prst="rect">
            <a:avLst/>
          </a:prstGeom>
          <a:noFill/>
          <a:ln/>
        </p:spPr>
        <p:txBody>
          <a:bodyPr wrap="square" lIns="0" tIns="0" rIns="0" bIns="0" rtlCol="0" anchor="ctr"/>
          <a:lstStyle/>
          <a:p>
            <a:pPr indent="0" marL="0">
              <a:buNone/>
            </a:pPr>
            <a:r>
              <a:rPr lang="en-US" sz="1700" b="1" dirty="0">
                <a:solidFill>
                  <a:schemeClr val="tx1"/>
                </a:solidFill>
              </a:rPr>
              <a:t>Er gefährdet den Kunden</a:t>
            </a:r>
            <a:endParaRPr lang="en-US" sz="1700" dirty="0"/>
          </a:p>
          <a:p>
            <a:pPr indent="0" marL="0">
              <a:buNone/>
            </a:pPr>
            <a:r>
              <a:rPr lang="en-US" sz="1400" dirty="0">
                <a:solidFill>
                  <a:schemeClr val="accent4"/>
                </a:solidFill>
              </a:rPr>
              <a:t>Ein virtueller Überbestand, der zu einem Pick Short führen kann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Woher Amnesty kommt</a:t>
            </a:r>
            <a:endParaRPr lang="en-US" sz="2800" dirty="0"/>
          </a:p>
        </p:txBody>
      </p:sp>
      <p:sp>
        <p:nvSpPr>
          <p:cNvPr id="3" name="Card 1"/>
          <p:cNvSpPr/>
          <p:nvPr/>
        </p:nvSpPr>
        <p:spPr>
          <a:xfrm>
            <a:off x="457200" y="1325880"/>
            <a:ext cx="2606040" cy="1783080"/>
          </a:xfrm>
          <a:prstGeom prst="roundRect">
            <a:avLst>
              <a:gd name="adj" fmla="val 5128"/>
            </a:avLst>
          </a:prstGeom>
          <a:solidFill>
            <a:schemeClr val="bg1"/>
          </a:solidFill>
          <a:ln/>
        </p:spPr>
      </p:sp>
      <p:pic>
        <p:nvPicPr>
          <p:cNvPr id="4" name="Card icon 1" descr="preencoded.png">    </p:cNvPr>
          <p:cNvPicPr>
            <a:picLocks noChangeAspect="1"/>
          </p:cNvPicPr>
          <p:nvPr/>
        </p:nvPicPr>
        <p:blipFill>
          <a:blip r:embed="rId1"/>
          <a:stretch>
            <a:fillRect/>
          </a:stretch>
        </p:blipFill>
        <p:spPr>
          <a:xfrm>
            <a:off x="685800" y="1508760"/>
            <a:ext cx="411480" cy="411480"/>
          </a:xfrm>
          <a:prstGeom prst="rect">
            <a:avLst/>
          </a:prstGeom>
        </p:spPr>
      </p:pic>
      <p:sp>
        <p:nvSpPr>
          <p:cNvPr id="5" name="Card text 1"/>
          <p:cNvSpPr txBox="1"/>
          <p:nvPr/>
        </p:nvSpPr>
        <p:spPr>
          <a:xfrm>
            <a:off x="68580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Floor Amnesty</a:t>
            </a:r>
            <a:endParaRPr lang="en-US" sz="1800" dirty="0"/>
          </a:p>
          <a:p>
            <a:pPr indent="0" marL="0">
              <a:buNone/>
            </a:pPr>
            <a:r>
              <a:rPr lang="en-US" sz="1400" dirty="0">
                <a:solidFill>
                  <a:schemeClr val="accent4"/>
                </a:solidFill>
              </a:rPr>
              <a:t>Artikel, die beim Fahren aus den Pods auf den AR-Boden fallen</a:t>
            </a:r>
            <a:endParaRPr lang="en-US" sz="1800" dirty="0"/>
          </a:p>
        </p:txBody>
      </p:sp>
      <p:sp>
        <p:nvSpPr>
          <p:cNvPr id="6" name="Card 2"/>
          <p:cNvSpPr/>
          <p:nvPr/>
        </p:nvSpPr>
        <p:spPr>
          <a:xfrm>
            <a:off x="3246120" y="1325880"/>
            <a:ext cx="2606040" cy="1783080"/>
          </a:xfrm>
          <a:prstGeom prst="roundRect">
            <a:avLst>
              <a:gd name="adj" fmla="val 5128"/>
            </a:avLst>
          </a:prstGeom>
          <a:solidFill>
            <a:schemeClr val="bg1"/>
          </a:solidFill>
          <a:ln/>
        </p:spPr>
      </p:sp>
      <p:pic>
        <p:nvPicPr>
          <p:cNvPr id="7" name="Card icon 2" descr="preencoded.png">    </p:cNvPr>
          <p:cNvPicPr>
            <a:picLocks noChangeAspect="1"/>
          </p:cNvPicPr>
          <p:nvPr/>
        </p:nvPicPr>
        <p:blipFill>
          <a:blip r:embed="rId2"/>
          <a:stretch>
            <a:fillRect/>
          </a:stretch>
        </p:blipFill>
        <p:spPr>
          <a:xfrm>
            <a:off x="3474720" y="1508760"/>
            <a:ext cx="411480" cy="411480"/>
          </a:xfrm>
          <a:prstGeom prst="rect">
            <a:avLst/>
          </a:prstGeom>
        </p:spPr>
      </p:pic>
      <p:sp>
        <p:nvSpPr>
          <p:cNvPr id="8" name="Card text 2"/>
          <p:cNvSpPr txBox="1"/>
          <p:nvPr/>
        </p:nvSpPr>
        <p:spPr>
          <a:xfrm>
            <a:off x="3474720" y="2011680"/>
            <a:ext cx="2194560" cy="1005840"/>
          </a:xfrm>
          <a:prstGeom prst="rect">
            <a:avLst/>
          </a:prstGeom>
          <a:noFill/>
          <a:ln/>
        </p:spPr>
        <p:txBody>
          <a:bodyPr wrap="square" lIns="0" tIns="0" rIns="0" bIns="0" rtlCol="0" anchor="t"/>
          <a:lstStyle/>
          <a:p>
            <a:pPr indent="0" marL="0">
              <a:buNone/>
            </a:pPr>
            <a:r>
              <a:rPr lang="en-US" sz="1800" b="1" dirty="0">
                <a:solidFill>
                  <a:schemeClr val="tx1"/>
                </a:solidFill>
              </a:rPr>
              <a:t>Station Amnesty</a:t>
            </a:r>
            <a:endParaRPr lang="en-US" sz="1800" dirty="0"/>
          </a:p>
          <a:p>
            <a:pPr indent="0" marL="0">
              <a:buNone/>
            </a:pPr>
            <a:r>
              <a:rPr lang="en-US" sz="1400" dirty="0">
                <a:solidFill>
                  <a:schemeClr val="accent4"/>
                </a:solidFill>
              </a:rPr>
              <a:t>Artikel, die an der Station liegen bleiben, wenn der Pod wegfährt</a:t>
            </a:r>
            <a:endParaRPr lang="en-US" sz="1800" dirty="0"/>
          </a:p>
        </p:txBody>
      </p:sp>
      <p:sp>
        <p:nvSpPr>
          <p:cNvPr id="9" name="Callout"/>
          <p:cNvSpPr/>
          <p:nvPr/>
        </p:nvSpPr>
        <p:spPr>
          <a:xfrm>
            <a:off x="457200" y="3383280"/>
            <a:ext cx="5394960" cy="1143000"/>
          </a:xfrm>
          <a:prstGeom prst="roundRect">
            <a:avLst>
              <a:gd name="adj" fmla="val 8000"/>
            </a:avLst>
          </a:prstGeom>
          <a:solidFill>
            <a:schemeClr val="tx2"/>
          </a:solidFill>
          <a:ln/>
        </p:spPr>
      </p:sp>
      <p:sp>
        <p:nvSpPr>
          <p:cNvPr id="10" name="Callout text"/>
          <p:cNvSpPr txBox="1"/>
          <p:nvPr/>
        </p:nvSpPr>
        <p:spPr>
          <a:xfrm>
            <a:off x="731520" y="3383280"/>
            <a:ext cx="4846320" cy="1143000"/>
          </a:xfrm>
          <a:prstGeom prst="rect">
            <a:avLst/>
          </a:prstGeom>
          <a:noFill/>
          <a:ln/>
        </p:spPr>
        <p:txBody>
          <a:bodyPr wrap="square" lIns="0" tIns="0" rIns="0" bIns="0" rtlCol="0" anchor="ctr"/>
          <a:lstStyle/>
          <a:p>
            <a:pPr indent="0" marL="0">
              <a:buNone/>
            </a:pPr>
            <a:r>
              <a:rPr lang="en-US" sz="1800" b="1" dirty="0">
                <a:solidFill>
                  <a:schemeClr val="bg1"/>
                </a:solidFill>
              </a:rPr>
              <a:t>Schlechte Bin-Etikette ist die Ursache Nr. 1 für Amnesty.</a:t>
            </a:r>
            <a:endParaRPr lang="en-US" sz="1800" dirty="0"/>
          </a:p>
          <a:p>
            <a:pPr indent="0" marL="0">
              <a:buNone/>
            </a:pPr>
            <a:r>
              <a:rPr lang="en-US" sz="1500" dirty="0">
                <a:solidFill>
                  <a:srgbClr val="9EDFF7"/>
                </a:solidFill>
              </a:rPr>
              <a:t>Gute Bin-Etikette hat jeder von uns selbst in der Hand.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Amnesty oder Problem Solve?</a:t>
            </a:r>
            <a:endParaRPr lang="en-US" sz="2800" dirty="0"/>
          </a:p>
        </p:txBody>
      </p:sp>
      <p:sp>
        <p:nvSpPr>
          <p:cNvPr id="3" name="Side card 1"/>
          <p:cNvSpPr/>
          <p:nvPr/>
        </p:nvSpPr>
        <p:spPr>
          <a:xfrm>
            <a:off x="457200" y="1325880"/>
            <a:ext cx="2606040" cy="2514600"/>
          </a:xfrm>
          <a:prstGeom prst="roundRect">
            <a:avLst>
              <a:gd name="adj" fmla="val 3636"/>
            </a:avLst>
          </a:prstGeom>
          <a:solidFill>
            <a:schemeClr val="bg1"/>
          </a:solidFill>
          <a:ln/>
        </p:spPr>
      </p:sp>
      <p:pic>
        <p:nvPicPr>
          <p:cNvPr id="4" name="Side icon 1" descr="preencoded.png">    </p:cNvPr>
          <p:cNvPicPr>
            <a:picLocks noChangeAspect="1"/>
          </p:cNvPicPr>
          <p:nvPr/>
        </p:nvPicPr>
        <p:blipFill>
          <a:blip r:embed="rId1"/>
          <a:stretch>
            <a:fillRect/>
          </a:stretch>
        </p:blipFill>
        <p:spPr>
          <a:xfrm>
            <a:off x="685800" y="1527048"/>
            <a:ext cx="384048" cy="384048"/>
          </a:xfrm>
          <a:prstGeom prst="rect">
            <a:avLst/>
          </a:prstGeom>
        </p:spPr>
      </p:pic>
      <p:sp>
        <p:nvSpPr>
          <p:cNvPr id="5" name="Side tag 1"/>
          <p:cNvSpPr txBox="1"/>
          <p:nvPr/>
        </p:nvSpPr>
        <p:spPr>
          <a:xfrm>
            <a:off x="118872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6"/>
                </a:solidFill>
              </a:rPr>
              <a:t>AMNESTY</a:t>
            </a:r>
            <a:endParaRPr lang="en-US" sz="1300" dirty="0"/>
          </a:p>
        </p:txBody>
      </p:sp>
      <p:sp>
        <p:nvSpPr>
          <p:cNvPr id="6" name="Side text 1"/>
          <p:cNvSpPr txBox="1"/>
          <p:nvPr/>
        </p:nvSpPr>
        <p:spPr>
          <a:xfrm>
            <a:off x="68580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Gestowt, nicht gepickt</a:t>
            </a:r>
            <a:endParaRPr lang="en-US" sz="1800" dirty="0"/>
          </a:p>
          <a:p>
            <a:pPr marL="342900" indent="-342900">
              <a:spcAft>
                <a:spcPts val="300"/>
              </a:spcAft>
              <a:buSzPct val="100000"/>
              <a:buChar char="•"/>
            </a:pPr>
            <a:r>
              <a:rPr lang="en-US" sz="1400" dirty="0">
                <a:solidFill>
                  <a:schemeClr val="accent4"/>
                </a:solidFill>
              </a:rPr>
              <a:t>Gehört in einen Pod-Bin</a:t>
            </a:r>
            <a:endParaRPr lang="en-US" sz="1800" dirty="0"/>
          </a:p>
          <a:p>
            <a:pPr marL="342900" indent="-342900">
              <a:spcAft>
                <a:spcPts val="300"/>
              </a:spcAft>
              <a:buSzPct val="100000"/>
              <a:buChar char="•"/>
            </a:pPr>
            <a:r>
              <a:rPr lang="en-US" sz="1400" dirty="0">
                <a:solidFill>
                  <a:schemeClr val="accent4"/>
                </a:solidFill>
              </a:rPr>
              <a:t>Rausgefallen oder fehlt</a:t>
            </a:r>
            <a:endParaRPr lang="en-US" sz="1800" dirty="0"/>
          </a:p>
        </p:txBody>
      </p:sp>
      <p:sp>
        <p:nvSpPr>
          <p:cNvPr id="7" name="Side action 1"/>
          <p:cNvSpPr txBox="1"/>
          <p:nvPr/>
        </p:nvSpPr>
        <p:spPr>
          <a:xfrm>
            <a:off x="685800" y="3355848"/>
            <a:ext cx="2194560" cy="365760"/>
          </a:xfrm>
          <a:prstGeom prst="rect">
            <a:avLst/>
          </a:prstGeom>
          <a:noFill/>
          <a:ln/>
        </p:spPr>
        <p:txBody>
          <a:bodyPr wrap="square" lIns="0" tIns="0" rIns="0" bIns="0" rtlCol="0" anchor="ctr"/>
          <a:lstStyle/>
          <a:p>
            <a:pPr indent="0" marL="0">
              <a:buNone/>
            </a:pPr>
            <a:r>
              <a:rPr lang="en-US" sz="1300" b="1" dirty="0">
                <a:solidFill>
                  <a:schemeClr val="accent6"/>
                </a:solidFill>
              </a:rPr>
              <a:t>→ </a:t>
            </a:r>
            <a:pPr indent="0" marL="0">
              <a:buNone/>
            </a:pPr>
            <a:r>
              <a:rPr lang="en-US" sz="1300" b="1" dirty="0">
                <a:solidFill>
                  <a:schemeClr val="accent6"/>
                </a:solidFill>
              </a:rPr>
              <a:t>Ab in die Amnesty</a:t>
            </a:r>
            <a:endParaRPr lang="en-US" sz="1300" dirty="0"/>
          </a:p>
        </p:txBody>
      </p:sp>
      <p:sp>
        <p:nvSpPr>
          <p:cNvPr id="8" name="Side card 2"/>
          <p:cNvSpPr/>
          <p:nvPr/>
        </p:nvSpPr>
        <p:spPr>
          <a:xfrm>
            <a:off x="3246120" y="1325880"/>
            <a:ext cx="2606040" cy="2514600"/>
          </a:xfrm>
          <a:prstGeom prst="roundRect">
            <a:avLst>
              <a:gd name="adj" fmla="val 3636"/>
            </a:avLst>
          </a:prstGeom>
          <a:solidFill>
            <a:srgbClr val="FBECEC"/>
          </a:solidFill>
          <a:ln/>
        </p:spPr>
      </p:sp>
      <p:pic>
        <p:nvPicPr>
          <p:cNvPr id="9" name="Side icon 2" descr="preencoded.png">    </p:cNvPr>
          <p:cNvPicPr>
            <a:picLocks noChangeAspect="1"/>
          </p:cNvPicPr>
          <p:nvPr/>
        </p:nvPicPr>
        <p:blipFill>
          <a:blip r:embed="rId2"/>
          <a:stretch>
            <a:fillRect/>
          </a:stretch>
        </p:blipFill>
        <p:spPr>
          <a:xfrm>
            <a:off x="3474720" y="1527048"/>
            <a:ext cx="384048" cy="384048"/>
          </a:xfrm>
          <a:prstGeom prst="rect">
            <a:avLst/>
          </a:prstGeom>
        </p:spPr>
      </p:pic>
      <p:sp>
        <p:nvSpPr>
          <p:cNvPr id="10" name="Side tag 2"/>
          <p:cNvSpPr txBox="1"/>
          <p:nvPr/>
        </p:nvSpPr>
        <p:spPr>
          <a:xfrm>
            <a:off x="3977640" y="1527048"/>
            <a:ext cx="1691640" cy="384048"/>
          </a:xfrm>
          <a:prstGeom prst="rect">
            <a:avLst/>
          </a:prstGeom>
          <a:noFill/>
          <a:ln/>
        </p:spPr>
        <p:txBody>
          <a:bodyPr wrap="square" lIns="0" tIns="0" rIns="0" bIns="0" rtlCol="0" anchor="ctr"/>
          <a:lstStyle/>
          <a:p>
            <a:pPr indent="0" marL="0">
              <a:buNone/>
            </a:pPr>
            <a:r>
              <a:rPr lang="en-US" sz="1300" b="1" spc="200" kern="0" dirty="0">
                <a:solidFill>
                  <a:schemeClr val="accent3"/>
                </a:solidFill>
              </a:rPr>
              <a:t>KEIN AMNESTY</a:t>
            </a:r>
            <a:endParaRPr lang="en-US" sz="1300" dirty="0"/>
          </a:p>
        </p:txBody>
      </p:sp>
      <p:sp>
        <p:nvSpPr>
          <p:cNvPr id="11" name="Side text 2"/>
          <p:cNvSpPr txBox="1"/>
          <p:nvPr/>
        </p:nvSpPr>
        <p:spPr>
          <a:xfrm>
            <a:off x="3474720" y="2057400"/>
            <a:ext cx="2194560" cy="123444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Schon gepickt</a:t>
            </a:r>
            <a:endParaRPr lang="en-US" sz="1800" dirty="0"/>
          </a:p>
          <a:p>
            <a:pPr marL="342900" indent="-342900">
              <a:spcAft>
                <a:spcPts val="300"/>
              </a:spcAft>
              <a:buSzPct val="100000"/>
              <a:buChar char="•"/>
            </a:pPr>
            <a:r>
              <a:rPr lang="en-US" sz="1400" dirty="0">
                <a:solidFill>
                  <a:schemeClr val="accent4"/>
                </a:solidFill>
              </a:rPr>
              <a:t>Gehört in Tote, Rebin oder Chute</a:t>
            </a:r>
            <a:endParaRPr lang="en-US" sz="1800" dirty="0"/>
          </a:p>
          <a:p>
            <a:pPr marL="342900" indent="-342900">
              <a:spcAft>
                <a:spcPts val="300"/>
              </a:spcAft>
              <a:buSzPct val="100000"/>
              <a:buChar char="•"/>
            </a:pPr>
            <a:r>
              <a:rPr lang="en-US" sz="1400" dirty="0">
                <a:solidFill>
                  <a:schemeClr val="accent4"/>
                </a:solidFill>
              </a:rPr>
              <a:t>Runtergefallen oder falsch abgelegt</a:t>
            </a:r>
            <a:endParaRPr lang="en-US" sz="1800" dirty="0"/>
          </a:p>
        </p:txBody>
      </p:sp>
      <p:sp>
        <p:nvSpPr>
          <p:cNvPr id="12" name="Side action 2"/>
          <p:cNvSpPr txBox="1"/>
          <p:nvPr/>
        </p:nvSpPr>
        <p:spPr>
          <a:xfrm>
            <a:off x="3474720" y="3355848"/>
            <a:ext cx="2194560" cy="365760"/>
          </a:xfrm>
          <a:prstGeom prst="rect">
            <a:avLst/>
          </a:prstGeom>
          <a:noFill/>
          <a:ln/>
        </p:spPr>
        <p:txBody>
          <a:bodyPr wrap="square" lIns="0" tIns="0" rIns="0" bIns="0" rtlCol="0" anchor="ctr"/>
          <a:lstStyle/>
          <a:p>
            <a:pPr indent="0" marL="0">
              <a:buNone/>
            </a:pPr>
            <a:r>
              <a:rPr lang="en-US" sz="1300" b="1" dirty="0">
                <a:solidFill>
                  <a:schemeClr val="accent3"/>
                </a:solidFill>
              </a:rPr>
              <a:t>→ </a:t>
            </a:r>
            <a:pPr indent="0" marL="0">
              <a:buNone/>
            </a:pPr>
            <a:r>
              <a:rPr lang="en-US" sz="1300" b="1" dirty="0">
                <a:solidFill>
                  <a:schemeClr val="accent3"/>
                </a:solidFill>
              </a:rPr>
              <a:t>Outbound Problem Solve</a:t>
            </a:r>
            <a:endParaRPr lang="en-US" sz="1300" dirty="0"/>
          </a:p>
        </p:txBody>
      </p:sp>
      <p:sp>
        <p:nvSpPr>
          <p:cNvPr id="13" name="Inflate callout"/>
          <p:cNvSpPr/>
          <p:nvPr/>
        </p:nvSpPr>
        <p:spPr>
          <a:xfrm>
            <a:off x="457200" y="3977640"/>
            <a:ext cx="5394960" cy="685800"/>
          </a:xfrm>
          <a:prstGeom prst="roundRect">
            <a:avLst>
              <a:gd name="adj" fmla="val 13333"/>
            </a:avLst>
          </a:prstGeom>
          <a:solidFill>
            <a:schemeClr val="tx2"/>
          </a:solidFill>
          <a:ln/>
        </p:spPr>
      </p:sp>
      <p:sp>
        <p:nvSpPr>
          <p:cNvPr id="14" name="Inflate text"/>
          <p:cNvSpPr txBox="1"/>
          <p:nvPr/>
        </p:nvSpPr>
        <p:spPr>
          <a:xfrm>
            <a:off x="731520" y="3977640"/>
            <a:ext cx="4846320" cy="685800"/>
          </a:xfrm>
          <a:prstGeom prst="rect">
            <a:avLst/>
          </a:prstGeom>
          <a:noFill/>
          <a:ln/>
        </p:spPr>
        <p:txBody>
          <a:bodyPr wrap="square" lIns="0" tIns="0" rIns="0" bIns="0" rtlCol="0" anchor="ctr"/>
          <a:lstStyle/>
          <a:p>
            <a:pPr indent="0" marL="0">
              <a:buNone/>
            </a:pPr>
            <a:r>
              <a:rPr lang="en-US" sz="1500" b="1" dirty="0">
                <a:solidFill>
                  <a:schemeClr val="bg1"/>
                </a:solidFill>
              </a:rPr>
              <a:t>Gepickte Artikel in die Amnesty zu legen, bläht wAPMT auf und versteckt das echte Outbound-Problem.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Eine Frage reicht</a:t>
            </a:r>
            <a:endParaRPr lang="en-US" sz="2800" dirty="0"/>
          </a:p>
        </p:txBody>
      </p:sp>
      <p:sp>
        <p:nvSpPr>
          <p:cNvPr id="3" name="Start box"/>
          <p:cNvSpPr/>
          <p:nvPr/>
        </p:nvSpPr>
        <p:spPr>
          <a:xfrm>
            <a:off x="1783080" y="1325880"/>
            <a:ext cx="2743200" cy="548640"/>
          </a:xfrm>
          <a:prstGeom prst="roundRect">
            <a:avLst>
              <a:gd name="adj" fmla="val 16667"/>
            </a:avLst>
          </a:prstGeom>
          <a:solidFill>
            <a:schemeClr val="tx2"/>
          </a:solidFill>
          <a:ln/>
        </p:spPr>
      </p:sp>
      <p:sp>
        <p:nvSpPr>
          <p:cNvPr id="4" name="Start text"/>
          <p:cNvSpPr txBox="1"/>
          <p:nvPr/>
        </p:nvSpPr>
        <p:spPr>
          <a:xfrm>
            <a:off x="1783080" y="1325880"/>
            <a:ext cx="2743200" cy="548640"/>
          </a:xfrm>
          <a:prstGeom prst="rect">
            <a:avLst/>
          </a:prstGeom>
          <a:noFill/>
          <a:ln/>
        </p:spPr>
        <p:txBody>
          <a:bodyPr wrap="square" lIns="0" tIns="0" rIns="0" bIns="0" rtlCol="0" anchor="ctr"/>
          <a:lstStyle/>
          <a:p>
            <a:pPr algn="ctr" indent="0" marL="0">
              <a:buNone/>
            </a:pPr>
            <a:r>
              <a:rPr lang="en-US" sz="1500" dirty="0">
                <a:solidFill>
                  <a:schemeClr val="bg1"/>
                </a:solidFill>
              </a:rPr>
              <a:t>Du findest einen Artikel, der nicht an seinem Platz ist</a:t>
            </a:r>
            <a:endParaRPr lang="en-US" sz="1500" dirty="0"/>
          </a:p>
        </p:txBody>
      </p:sp>
      <p:sp>
        <p:nvSpPr>
          <p:cNvPr id="5" name="Line 1"/>
          <p:cNvSpPr/>
          <p:nvPr/>
        </p:nvSpPr>
        <p:spPr>
          <a:xfrm>
            <a:off x="3154680" y="1874520"/>
            <a:ext cx="0" cy="228600"/>
          </a:xfrm>
          <a:prstGeom prst="line">
            <a:avLst/>
          </a:prstGeom>
          <a:noFill/>
          <a:ln w="25400">
            <a:solidFill>
              <a:srgbClr val="9AA6B2"/>
            </a:solidFill>
            <a:prstDash val="solid"/>
          </a:ln>
        </p:spPr>
      </p:sp>
      <p:sp>
        <p:nvSpPr>
          <p:cNvPr id="6" name="Question box"/>
          <p:cNvSpPr/>
          <p:nvPr/>
        </p:nvSpPr>
        <p:spPr>
          <a:xfrm>
            <a:off x="1554480" y="2103120"/>
            <a:ext cx="3200400" cy="685800"/>
          </a:xfrm>
          <a:prstGeom prst="roundRect">
            <a:avLst>
              <a:gd name="adj" fmla="val 13333"/>
            </a:avLst>
          </a:prstGeom>
          <a:solidFill>
            <a:schemeClr val="accent1"/>
          </a:solidFill>
          <a:ln/>
        </p:spPr>
      </p:sp>
      <p:sp>
        <p:nvSpPr>
          <p:cNvPr id="7" name="Question text"/>
          <p:cNvSpPr txBox="1"/>
          <p:nvPr/>
        </p:nvSpPr>
        <p:spPr>
          <a:xfrm>
            <a:off x="1554480" y="2103120"/>
            <a:ext cx="3200400" cy="685800"/>
          </a:xfrm>
          <a:prstGeom prst="rect">
            <a:avLst/>
          </a:prstGeom>
          <a:noFill/>
          <a:ln/>
        </p:spPr>
        <p:txBody>
          <a:bodyPr wrap="square" lIns="0" tIns="0" rIns="0" bIns="0" rtlCol="0" anchor="ctr"/>
          <a:lstStyle/>
          <a:p>
            <a:pPr algn="ctr" indent="0" marL="0">
              <a:buNone/>
            </a:pPr>
            <a:r>
              <a:rPr lang="en-US" sz="1800" b="1" dirty="0">
                <a:solidFill>
                  <a:schemeClr val="bg1"/>
                </a:solidFill>
              </a:rPr>
              <a:t>Wurde er schon gepickt?</a:t>
            </a:r>
            <a:endParaRPr lang="en-US" sz="1800" dirty="0"/>
          </a:p>
        </p:txBody>
      </p:sp>
      <p:sp>
        <p:nvSpPr>
          <p:cNvPr id="8" name="Line 2"/>
          <p:cNvSpPr/>
          <p:nvPr/>
        </p:nvSpPr>
        <p:spPr>
          <a:xfrm>
            <a:off x="3154680" y="2788920"/>
            <a:ext cx="0" cy="228600"/>
          </a:xfrm>
          <a:prstGeom prst="line">
            <a:avLst/>
          </a:prstGeom>
          <a:noFill/>
          <a:ln w="25400">
            <a:solidFill>
              <a:srgbClr val="9AA6B2"/>
            </a:solidFill>
            <a:prstDash val="solid"/>
          </a:ln>
        </p:spPr>
      </p:sp>
      <p:sp>
        <p:nvSpPr>
          <p:cNvPr id="9" name="Line 3"/>
          <p:cNvSpPr/>
          <p:nvPr/>
        </p:nvSpPr>
        <p:spPr>
          <a:xfrm>
            <a:off x="1783080" y="3017520"/>
            <a:ext cx="2743200" cy="0"/>
          </a:xfrm>
          <a:prstGeom prst="line">
            <a:avLst/>
          </a:prstGeom>
          <a:noFill/>
          <a:ln w="25400">
            <a:solidFill>
              <a:srgbClr val="9AA6B2"/>
            </a:solidFill>
            <a:prstDash val="solid"/>
          </a:ln>
        </p:spPr>
      </p:sp>
      <p:sp>
        <p:nvSpPr>
          <p:cNvPr id="10" name="Line 4"/>
          <p:cNvSpPr/>
          <p:nvPr/>
        </p:nvSpPr>
        <p:spPr>
          <a:xfrm>
            <a:off x="1783080" y="3017520"/>
            <a:ext cx="0" cy="228600"/>
          </a:xfrm>
          <a:prstGeom prst="line">
            <a:avLst/>
          </a:prstGeom>
          <a:noFill/>
          <a:ln w="25400">
            <a:solidFill>
              <a:srgbClr val="9AA6B2"/>
            </a:solidFill>
            <a:prstDash val="solid"/>
          </a:ln>
        </p:spPr>
      </p:sp>
      <p:sp>
        <p:nvSpPr>
          <p:cNvPr id="11" name="Line 5"/>
          <p:cNvSpPr/>
          <p:nvPr/>
        </p:nvSpPr>
        <p:spPr>
          <a:xfrm>
            <a:off x="4526280" y="3017520"/>
            <a:ext cx="0" cy="228600"/>
          </a:xfrm>
          <a:prstGeom prst="line">
            <a:avLst/>
          </a:prstGeom>
          <a:noFill/>
          <a:ln w="25400">
            <a:solidFill>
              <a:srgbClr val="9AA6B2"/>
            </a:solidFill>
            <a:prstDash val="solid"/>
          </a:ln>
        </p:spPr>
      </p:sp>
      <p:sp>
        <p:nvSpPr>
          <p:cNvPr id="12" name="Outcome 1"/>
          <p:cNvSpPr/>
          <p:nvPr/>
        </p:nvSpPr>
        <p:spPr>
          <a:xfrm>
            <a:off x="457200" y="3246120"/>
            <a:ext cx="2651760" cy="1280160"/>
          </a:xfrm>
          <a:prstGeom prst="roundRect">
            <a:avLst>
              <a:gd name="adj" fmla="val 7143"/>
            </a:avLst>
          </a:prstGeom>
          <a:solidFill>
            <a:schemeClr val="bg1"/>
          </a:solidFill>
          <a:ln/>
        </p:spPr>
      </p:sp>
      <p:sp>
        <p:nvSpPr>
          <p:cNvPr id="13" name="Outcome text 1"/>
          <p:cNvSpPr txBox="1"/>
          <p:nvPr/>
        </p:nvSpPr>
        <p:spPr>
          <a:xfrm>
            <a:off x="6400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NEIN</a:t>
            </a:r>
            <a:endParaRPr lang="en-US" sz="1300" dirty="0"/>
          </a:p>
          <a:p>
            <a:pPr algn="ctr" indent="0" marL="0">
              <a:buNone/>
            </a:pPr>
            <a:r>
              <a:rPr lang="en-US" sz="1800" b="1" dirty="0">
                <a:solidFill>
                  <a:schemeClr val="accent6"/>
                </a:solidFill>
              </a:rPr>
              <a:t>Amnesty</a:t>
            </a:r>
            <a:endParaRPr lang="en-US" sz="1300" dirty="0"/>
          </a:p>
          <a:p>
            <a:pPr algn="ctr" indent="0" marL="0">
              <a:buNone/>
            </a:pPr>
            <a:r>
              <a:rPr lang="en-US" sz="1400" dirty="0">
                <a:solidFill>
                  <a:schemeClr val="tx1"/>
                </a:solidFill>
              </a:rPr>
              <a:t>Er gehört in einen gestowten Pod-Bin</a:t>
            </a:r>
            <a:endParaRPr lang="en-US" sz="1300" dirty="0"/>
          </a:p>
        </p:txBody>
      </p:sp>
      <p:sp>
        <p:nvSpPr>
          <p:cNvPr id="14" name="Outcome 2"/>
          <p:cNvSpPr/>
          <p:nvPr/>
        </p:nvSpPr>
        <p:spPr>
          <a:xfrm>
            <a:off x="3200400" y="3246120"/>
            <a:ext cx="2651760" cy="1280160"/>
          </a:xfrm>
          <a:prstGeom prst="roundRect">
            <a:avLst>
              <a:gd name="adj" fmla="val 7143"/>
            </a:avLst>
          </a:prstGeom>
          <a:solidFill>
            <a:srgbClr val="FBECEC"/>
          </a:solidFill>
          <a:ln/>
        </p:spPr>
      </p:sp>
      <p:sp>
        <p:nvSpPr>
          <p:cNvPr id="15" name="Outcome text 2"/>
          <p:cNvSpPr txBox="1"/>
          <p:nvPr/>
        </p:nvSpPr>
        <p:spPr>
          <a:xfrm>
            <a:off x="3383280" y="3246120"/>
            <a:ext cx="2286000" cy="1280160"/>
          </a:xfrm>
          <a:prstGeom prst="rect">
            <a:avLst/>
          </a:prstGeom>
          <a:noFill/>
          <a:ln/>
        </p:spPr>
        <p:txBody>
          <a:bodyPr wrap="square" lIns="0" tIns="0" rIns="0" bIns="0" rtlCol="0" anchor="ctr"/>
          <a:lstStyle/>
          <a:p>
            <a:pPr algn="ctr" indent="0" marL="0">
              <a:buNone/>
            </a:pPr>
            <a:r>
              <a:rPr lang="en-US" sz="1300" b="1" spc="200" kern="0" dirty="0">
                <a:solidFill>
                  <a:schemeClr val="accent4"/>
                </a:solidFill>
              </a:rPr>
              <a:t>JA</a:t>
            </a:r>
            <a:endParaRPr lang="en-US" sz="1300" dirty="0"/>
          </a:p>
          <a:p>
            <a:pPr algn="ctr" indent="0" marL="0">
              <a:buNone/>
            </a:pPr>
            <a:r>
              <a:rPr lang="en-US" sz="1800" b="1" dirty="0">
                <a:solidFill>
                  <a:schemeClr val="accent3"/>
                </a:solidFill>
              </a:rPr>
              <a:t>Outbound Problem Solve</a:t>
            </a:r>
            <a:endParaRPr lang="en-US" sz="1300" dirty="0"/>
          </a:p>
          <a:p>
            <a:pPr algn="ctr" indent="0" marL="0">
              <a:buNone/>
            </a:pPr>
            <a:r>
              <a:rPr lang="en-US" sz="1400" dirty="0">
                <a:solidFill>
                  <a:schemeClr val="tx1"/>
                </a:solidFill>
              </a:rPr>
              <a:t>Kein Amnesty: Er gehört in Tote, Rebin oder Chute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2514600" y="502920"/>
            <a:ext cx="6400800" cy="320040"/>
          </a:xfrm>
          <a:prstGeom prst="rect">
            <a:avLst/>
          </a:prstGeom>
          <a:noFill/>
          <a:ln/>
        </p:spPr>
        <p:txBody>
          <a:bodyPr wrap="square" lIns="0" tIns="0" rIns="0" bIns="0" rtlCol="0"/>
          <a:lstStyle/>
          <a:p>
            <a:pPr algn="ctr" indent="0" marL="0">
              <a:buNone/>
            </a:pPr>
            <a:r>
              <a:rPr lang="en-US" sz="1300" b="1" spc="300" kern="0" dirty="0">
                <a:solidFill>
                  <a:schemeClr val="accent6"/>
                </a:solidFill>
              </a:rPr>
              <a:t>ALS NÄCHSTES</a:t>
            </a:r>
            <a:endParaRPr lang="en-US" sz="1300" dirty="0"/>
          </a:p>
        </p:txBody>
      </p:sp>
      <p:sp>
        <p:nvSpPr>
          <p:cNvPr id="3" name="Text 1"/>
          <p:cNvSpPr/>
          <p:nvPr>
            <p:ph idx="103" type="title" hasCustomPrompt="1"/>
          </p:nvPr>
        </p:nvSpPr>
        <p:spPr>
          <a:xfrm>
            <a:off x="2514600" y="868680"/>
            <a:ext cx="6400800" cy="868680"/>
          </a:xfrm>
          <a:prstGeom prst="rect">
            <a:avLst/>
          </a:prstGeom>
          <a:noFill/>
          <a:ln/>
        </p:spPr>
        <p:txBody>
          <a:bodyPr wrap="square" lIns="0" tIns="0" rIns="0" bIns="0" rtlCol="0" anchor="ctr"/>
          <a:lstStyle/>
          <a:p>
            <a:pPr algn="ctr" indent="0" marL="0">
              <a:buNone/>
            </a:pPr>
            <a:r>
              <a:rPr lang="en-US" sz="3600" b="1" dirty="0">
                <a:solidFill>
                  <a:schemeClr val="tx1"/>
                </a:solidFill>
              </a:rPr>
              <a:t>Bin-Etikette beim Pick</a:t>
            </a:r>
            <a:endParaRPr lang="en-US" sz="3600" dirty="0"/>
          </a:p>
        </p:txBody>
      </p:sp>
      <p:sp>
        <p:nvSpPr>
          <p:cNvPr id="4" name="Text 1"/>
          <p:cNvSpPr/>
          <p:nvPr>
            <p:ph idx="104" type="body" hasCustomPrompt="1"/>
          </p:nvPr>
        </p:nvSpPr>
        <p:spPr>
          <a:xfrm>
            <a:off x="2971800" y="1783080"/>
            <a:ext cx="5486400" cy="685800"/>
          </a:xfrm>
          <a:prstGeom prst="rect">
            <a:avLst/>
          </a:prstGeom>
          <a:noFill/>
          <a:ln/>
        </p:spPr>
        <p:txBody>
          <a:bodyPr wrap="square" lIns="0" tIns="0" rIns="0" bIns="0" rtlCol="0" anchor="t"/>
          <a:lstStyle/>
          <a:p>
            <a:pPr algn="ctr" indent="0" marL="0">
              <a:buNone/>
            </a:pPr>
            <a:r>
              <a:rPr lang="en-US" sz="1600" dirty="0">
                <a:solidFill>
                  <a:schemeClr val="accent4"/>
                </a:solidFill>
              </a:rPr>
              <a:t>Deine Hände sind die ganze Schicht in Bins. Hinterlass jeden besser, als du ihn vorgefunden hast.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Ein Artikel nach dem anderen</a:t>
            </a:r>
            <a:endParaRPr lang="en-US" sz="2800" dirty="0"/>
          </a:p>
        </p:txBody>
      </p:sp>
      <p:sp>
        <p:nvSpPr>
          <p:cNvPr id="3" name="Stat card"/>
          <p:cNvSpPr/>
          <p:nvPr/>
        </p:nvSpPr>
        <p:spPr>
          <a:xfrm>
            <a:off x="457200" y="1325880"/>
            <a:ext cx="2011680" cy="3200400"/>
          </a:xfrm>
          <a:prstGeom prst="roundRect">
            <a:avLst>
              <a:gd name="adj" fmla="val 4545"/>
            </a:avLst>
          </a:prstGeom>
          <a:solidFill>
            <a:schemeClr val="tx2"/>
          </a:solidFill>
          <a:ln/>
        </p:spPr>
      </p:sp>
      <p:sp>
        <p:nvSpPr>
          <p:cNvPr id="4" name="Stat"/>
          <p:cNvSpPr txBox="1"/>
          <p:nvPr/>
        </p:nvSpPr>
        <p:spPr>
          <a:xfrm>
            <a:off x="685800" y="1325880"/>
            <a:ext cx="1554480" cy="3200400"/>
          </a:xfrm>
          <a:prstGeom prst="rect">
            <a:avLst/>
          </a:prstGeom>
          <a:noFill/>
          <a:ln/>
        </p:spPr>
        <p:txBody>
          <a:bodyPr wrap="square" lIns="0" tIns="0" rIns="0" bIns="0" rtlCol="0" anchor="ctr"/>
          <a:lstStyle/>
          <a:p>
            <a:pPr indent="0" marL="0">
              <a:buNone/>
            </a:pPr>
            <a:r>
              <a:rPr lang="en-US" sz="7200" b="1" dirty="0">
                <a:solidFill>
                  <a:schemeClr val="accent1"/>
                </a:solidFill>
              </a:rPr>
              <a:t>1</a:t>
            </a:r>
            <a:endParaRPr lang="en-US" sz="7200" dirty="0"/>
          </a:p>
          <a:p>
            <a:pPr indent="0" marL="0">
              <a:buNone/>
            </a:pPr>
            <a:r>
              <a:rPr lang="en-US" sz="1600" dirty="0">
                <a:solidFill>
                  <a:schemeClr val="bg1"/>
                </a:solidFill>
              </a:rPr>
              <a:t>Artikel gleichzeitig in deinen Händen</a:t>
            </a:r>
            <a:endParaRPr lang="en-US" sz="7200" dirty="0"/>
          </a:p>
        </p:txBody>
      </p:sp>
      <p:pic>
        <p:nvPicPr>
          <p:cNvPr id="5" name="Flow icon 1" descr="preencoded.png">    </p:cNvPr>
          <p:cNvPicPr>
            <a:picLocks noChangeAspect="1"/>
          </p:cNvPicPr>
          <p:nvPr/>
        </p:nvPicPr>
        <p:blipFill>
          <a:blip r:embed="rId1"/>
          <a:stretch>
            <a:fillRect/>
          </a:stretch>
        </p:blipFill>
        <p:spPr>
          <a:xfrm>
            <a:off x="2743200" y="1444752"/>
            <a:ext cx="347472" cy="347472"/>
          </a:xfrm>
          <a:prstGeom prst="rect">
            <a:avLst/>
          </a:prstGeom>
        </p:spPr>
      </p:pic>
      <p:sp>
        <p:nvSpPr>
          <p:cNvPr id="6" name="Flow 1"/>
          <p:cNvSpPr txBox="1"/>
          <p:nvPr/>
        </p:nvSpPr>
        <p:spPr>
          <a:xfrm>
            <a:off x="3246120" y="1371600"/>
            <a:ext cx="2606040" cy="868680"/>
          </a:xfrm>
          <a:prstGeom prst="rect">
            <a:avLst/>
          </a:prstGeom>
          <a:noFill/>
          <a:ln/>
        </p:spPr>
        <p:txBody>
          <a:bodyPr wrap="square" lIns="0" tIns="0" rIns="0" bIns="0" rtlCol="0" anchor="t"/>
          <a:lstStyle/>
          <a:p>
            <a:pPr indent="0" marL="0">
              <a:buNone/>
            </a:pPr>
            <a:r>
              <a:rPr lang="en-US" sz="1700" b="1" dirty="0">
                <a:solidFill>
                  <a:schemeClr val="tx1"/>
                </a:solidFill>
              </a:rPr>
              <a:t>Einen Artikel nehmen</a:t>
            </a:r>
            <a:endParaRPr lang="en-US" sz="1700" dirty="0"/>
          </a:p>
          <a:p>
            <a:pPr indent="0" marL="0">
              <a:buNone/>
            </a:pPr>
            <a:r>
              <a:rPr lang="en-US" sz="1400" dirty="0">
                <a:solidFill>
                  <a:schemeClr val="accent4"/>
                </a:solidFill>
              </a:rPr>
              <a:t>Einen einzelnen Artikel picken, mit beiden Händen</a:t>
            </a:r>
            <a:endParaRPr lang="en-US" sz="1700" dirty="0"/>
          </a:p>
        </p:txBody>
      </p:sp>
      <p:pic>
        <p:nvPicPr>
          <p:cNvPr id="7" name="Flow icon 2" descr="preencoded.png">    </p:cNvPr>
          <p:cNvPicPr>
            <a:picLocks noChangeAspect="1"/>
          </p:cNvPicPr>
          <p:nvPr/>
        </p:nvPicPr>
        <p:blipFill>
          <a:blip r:embed="rId2"/>
          <a:stretch>
            <a:fillRect/>
          </a:stretch>
        </p:blipFill>
        <p:spPr>
          <a:xfrm>
            <a:off x="2743200" y="2514600"/>
            <a:ext cx="347472" cy="347472"/>
          </a:xfrm>
          <a:prstGeom prst="rect">
            <a:avLst/>
          </a:prstGeom>
        </p:spPr>
      </p:pic>
      <p:sp>
        <p:nvSpPr>
          <p:cNvPr id="8" name="Flow 2"/>
          <p:cNvSpPr txBox="1"/>
          <p:nvPr/>
        </p:nvSpPr>
        <p:spPr>
          <a:xfrm>
            <a:off x="3246120" y="2441448"/>
            <a:ext cx="2606040" cy="868680"/>
          </a:xfrm>
          <a:prstGeom prst="rect">
            <a:avLst/>
          </a:prstGeom>
          <a:noFill/>
          <a:ln/>
        </p:spPr>
        <p:txBody>
          <a:bodyPr wrap="square" lIns="0" tIns="0" rIns="0" bIns="0" rtlCol="0" anchor="t"/>
          <a:lstStyle/>
          <a:p>
            <a:pPr indent="0" marL="0">
              <a:buNone/>
            </a:pPr>
            <a:r>
              <a:rPr lang="en-US" sz="1700" b="1" dirty="0">
                <a:solidFill>
                  <a:schemeClr val="tx1"/>
                </a:solidFill>
              </a:rPr>
              <a:t>Einmal scannen</a:t>
            </a:r>
            <a:endParaRPr lang="en-US" sz="1700" dirty="0"/>
          </a:p>
          <a:p>
            <a:pPr indent="0" marL="0">
              <a:buNone/>
            </a:pPr>
            <a:r>
              <a:rPr lang="en-US" sz="1400" dirty="0">
                <a:solidFill>
                  <a:schemeClr val="accent4"/>
                </a:solidFill>
              </a:rPr>
              <a:t>Ein Artikel, ein Scan</a:t>
            </a:r>
            <a:endParaRPr lang="en-US" sz="1700" dirty="0"/>
          </a:p>
        </p:txBody>
      </p:sp>
      <p:pic>
        <p:nvPicPr>
          <p:cNvPr id="9" name="Flow icon 3" descr="preencoded.png">    </p:cNvPr>
          <p:cNvPicPr>
            <a:picLocks noChangeAspect="1"/>
          </p:cNvPicPr>
          <p:nvPr/>
        </p:nvPicPr>
        <p:blipFill>
          <a:blip r:embed="rId3"/>
          <a:stretch>
            <a:fillRect/>
          </a:stretch>
        </p:blipFill>
        <p:spPr>
          <a:xfrm>
            <a:off x="2743200" y="3584448"/>
            <a:ext cx="347472" cy="347472"/>
          </a:xfrm>
          <a:prstGeom prst="rect">
            <a:avLst/>
          </a:prstGeom>
        </p:spPr>
      </p:pic>
      <p:sp>
        <p:nvSpPr>
          <p:cNvPr id="10" name="Flow 3"/>
          <p:cNvSpPr txBox="1"/>
          <p:nvPr/>
        </p:nvSpPr>
        <p:spPr>
          <a:xfrm>
            <a:off x="3246120" y="3511296"/>
            <a:ext cx="2606040" cy="868680"/>
          </a:xfrm>
          <a:prstGeom prst="rect">
            <a:avLst/>
          </a:prstGeom>
          <a:noFill/>
          <a:ln/>
        </p:spPr>
        <p:txBody>
          <a:bodyPr wrap="square" lIns="0" tIns="0" rIns="0" bIns="0" rtlCol="0" anchor="t"/>
          <a:lstStyle/>
          <a:p>
            <a:pPr indent="0" marL="0">
              <a:buNone/>
            </a:pPr>
            <a:r>
              <a:rPr lang="en-US" sz="1700" b="1" dirty="0">
                <a:solidFill>
                  <a:schemeClr val="tx1"/>
                </a:solidFill>
              </a:rPr>
              <a:t>In deine Tote legen</a:t>
            </a:r>
            <a:endParaRPr lang="en-US" sz="1700" dirty="0"/>
          </a:p>
          <a:p>
            <a:pPr indent="0" marL="0">
              <a:buNone/>
            </a:pPr>
            <a:r>
              <a:rPr lang="en-US" sz="1400" dirty="0">
                <a:solidFill>
                  <a:schemeClr val="accent4"/>
                </a:solidFill>
              </a:rPr>
              <a:t>Bevor du wieder in den Bin greifst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Nichts steht über</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No overhang: wrong example. The box sticks out past the bin edge">    </p:cNvPr>
          <p:cNvPicPr>
            <a:picLocks noChangeAspect="1"/>
          </p:cNvPicPr>
          <p:nvPr/>
        </p:nvPicPr>
        <p:blipFill>
          <a:blip r:embed="rId1"/>
          <a:stretch>
            <a:fillRect/>
          </a:stretch>
        </p:blipFill>
        <p:spPr>
          <a:xfrm>
            <a:off x="700128" y="1417320"/>
            <a:ext cx="212018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Der Karton steht über den Bin-Rand</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No overhang: right example. Everything sits fully inside the bin">    </p:cNvPr>
          <p:cNvPicPr>
            <a:picLocks noChangeAspect="1"/>
          </p:cNvPicPr>
          <p:nvPr/>
        </p:nvPicPr>
        <p:blipFill>
          <a:blip r:embed="rId2"/>
          <a:stretch>
            <a:fillRect/>
          </a:stretch>
        </p:blipFill>
        <p:spPr>
          <a:xfrm>
            <a:off x="3521332" y="1417320"/>
            <a:ext cx="2055616"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Alles ist komplett im Bin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Steht etwas über? Schieb es komplett zurück in den Bin.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B: Nichts verdecken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Blocking: wrong example. A flat item in front hides the items behind it">    </p:cNvPr>
          <p:cNvPicPr>
            <a:picLocks noChangeAspect="1"/>
          </p:cNvPicPr>
          <p:nvPr/>
        </p:nvPicPr>
        <p:blipFill>
          <a:blip r:embed="rId1"/>
          <a:stretch>
            <a:fillRect/>
          </a:stretch>
        </p:blipFill>
        <p:spPr>
          <a:xfrm>
            <a:off x="706557" y="1417320"/>
            <a:ext cx="210732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Flacher Artikel vorne verdeckt alles dahinter</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Blocking: right example. Every item is visible from the front">    </p:cNvPr>
          <p:cNvPicPr>
            <a:picLocks noChangeAspect="1"/>
          </p:cNvPicPr>
          <p:nvPr/>
        </p:nvPicPr>
        <p:blipFill>
          <a:blip r:embed="rId2"/>
          <a:stretch>
            <a:fillRect/>
          </a:stretch>
        </p:blipFill>
        <p:spPr>
          <a:xfrm>
            <a:off x="3489168" y="1417320"/>
            <a:ext cx="211994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Jeder Artikel ist von vorne sichtbar</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Lass kleine Artikel nicht hinter großen verschwinden; stell flache Artikel aufrecht.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O: Nicht überfüllen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Overstuffing: wrong example. Items forced in, the bin is bulging">    </p:cNvPr>
          <p:cNvPicPr>
            <a:picLocks noChangeAspect="1"/>
          </p:cNvPicPr>
          <p:nvPr/>
        </p:nvPicPr>
        <p:blipFill>
          <a:blip r:embed="rId1"/>
          <a:stretch>
            <a:fillRect/>
          </a:stretch>
        </p:blipFill>
        <p:spPr>
          <a:xfrm>
            <a:off x="619733" y="1417320"/>
            <a:ext cx="2280974"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Artikel reingequetscht, der Bin beult aus</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Overstuffing: right example. Items fit with room to pick">    </p:cNvPr>
          <p:cNvPicPr>
            <a:picLocks noChangeAspect="1"/>
          </p:cNvPicPr>
          <p:nvPr/>
        </p:nvPicPr>
        <p:blipFill>
          <a:blip r:embed="rId2"/>
          <a:stretch>
            <a:fillRect/>
          </a:stretch>
        </p:blipFill>
        <p:spPr>
          <a:xfrm>
            <a:off x="3413099" y="1417320"/>
            <a:ext cx="2272081"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Artikel passen, mit Platz zum Picken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Quetsch nie Artikel zurück in einen vollen Bin.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S: Stapeln</a:t>
            </a:r>
            <a:endParaRPr lang="en-US" sz="2800" dirty="0"/>
          </a:p>
        </p:txBody>
      </p:sp>
      <p:sp>
        <p:nvSpPr>
          <p:cNvPr id="3" name="Wrong panel"/>
          <p:cNvSpPr/>
          <p:nvPr/>
        </p:nvSpPr>
        <p:spPr>
          <a:xfrm>
            <a:off x="457200" y="1325880"/>
            <a:ext cx="2606040" cy="2788920"/>
          </a:xfrm>
          <a:prstGeom prst="roundRect">
            <a:avLst>
              <a:gd name="adj" fmla="val 3509"/>
            </a:avLst>
          </a:prstGeom>
          <a:solidFill>
            <a:schemeClr val="bg1"/>
          </a:solidFill>
          <a:ln w="38100">
            <a:solidFill>
              <a:srgbClr val="D64545"/>
            </a:solidFill>
            <a:prstDash val="solid"/>
          </a:ln>
        </p:spPr>
      </p:sp>
      <p:pic>
        <p:nvPicPr>
          <p:cNvPr id="4" name="Wrong picture" descr="Stacking: wrong example. Different items stacked on top of each other">    </p:cNvPr>
          <p:cNvPicPr>
            <a:picLocks noChangeAspect="1"/>
          </p:cNvPicPr>
          <p:nvPr/>
        </p:nvPicPr>
        <p:blipFill>
          <a:blip r:embed="rId1"/>
          <a:stretch>
            <a:fillRect/>
          </a:stretch>
        </p:blipFill>
        <p:spPr>
          <a:xfrm>
            <a:off x="623277" y="1417320"/>
            <a:ext cx="2273886" cy="2103120"/>
          </a:xfrm>
          <a:prstGeom prst="rect">
            <a:avLst/>
          </a:prstGeom>
        </p:spPr>
      </p:pic>
      <p:sp>
        <p:nvSpPr>
          <p:cNvPr id="5" name="Wrong caption"/>
          <p:cNvSpPr txBox="1"/>
          <p:nvPr/>
        </p:nvSpPr>
        <p:spPr>
          <a:xfrm>
            <a:off x="594360" y="3547872"/>
            <a:ext cx="2331720" cy="502920"/>
          </a:xfrm>
          <a:prstGeom prst="rect">
            <a:avLst/>
          </a:prstGeom>
          <a:noFill/>
          <a:ln/>
        </p:spPr>
        <p:txBody>
          <a:bodyPr wrap="square" lIns="0" tIns="0" rIns="0" bIns="0" rtlCol="0" anchor="ctr"/>
          <a:lstStyle/>
          <a:p>
            <a:pPr algn="ctr" indent="0" marL="0">
              <a:buNone/>
            </a:pPr>
            <a:r>
              <a:rPr lang="en-US" sz="1300" b="1" dirty="0">
                <a:solidFill>
                  <a:schemeClr val="accent3"/>
                </a:solidFill>
              </a:rPr>
              <a:t>FALSCH: </a:t>
            </a:r>
            <a:pPr algn="ctr" indent="0" marL="0">
              <a:buNone/>
            </a:pPr>
            <a:r>
              <a:rPr lang="en-US" sz="1300" dirty="0">
                <a:solidFill>
                  <a:schemeClr val="tx1"/>
                </a:solidFill>
              </a:rPr>
              <a:t>Verschiedene Artikel übereinander gestapelt</a:t>
            </a:r>
            <a:endParaRPr lang="en-US" sz="1300" dirty="0"/>
          </a:p>
        </p:txBody>
      </p:sp>
      <p:sp>
        <p:nvSpPr>
          <p:cNvPr id="6" name="Right panel"/>
          <p:cNvSpPr/>
          <p:nvPr/>
        </p:nvSpPr>
        <p:spPr>
          <a:xfrm>
            <a:off x="3246120" y="1325880"/>
            <a:ext cx="2606040" cy="2788920"/>
          </a:xfrm>
          <a:prstGeom prst="roundRect">
            <a:avLst>
              <a:gd name="adj" fmla="val 3509"/>
            </a:avLst>
          </a:prstGeom>
          <a:solidFill>
            <a:schemeClr val="bg1"/>
          </a:solidFill>
          <a:ln w="38100">
            <a:solidFill>
              <a:srgbClr val="2E7D32"/>
            </a:solidFill>
            <a:prstDash val="solid"/>
          </a:ln>
        </p:spPr>
      </p:sp>
      <p:pic>
        <p:nvPicPr>
          <p:cNvPr id="7" name="Right picture" descr="Stacking: right example. Items stand side by side, below the bands">    </p:cNvPr>
          <p:cNvPicPr>
            <a:picLocks noChangeAspect="1"/>
          </p:cNvPicPr>
          <p:nvPr/>
        </p:nvPicPr>
        <p:blipFill>
          <a:blip r:embed="rId2"/>
          <a:stretch>
            <a:fillRect/>
          </a:stretch>
        </p:blipFill>
        <p:spPr>
          <a:xfrm>
            <a:off x="3430172" y="1417320"/>
            <a:ext cx="2237935" cy="2103120"/>
          </a:xfrm>
          <a:prstGeom prst="rect">
            <a:avLst/>
          </a:prstGeom>
        </p:spPr>
      </p:pic>
      <p:sp>
        <p:nvSpPr>
          <p:cNvPr id="8" name="Right caption"/>
          <p:cNvSpPr txBox="1"/>
          <p:nvPr/>
        </p:nvSpPr>
        <p:spPr>
          <a:xfrm>
            <a:off x="3383280" y="3547872"/>
            <a:ext cx="2331720" cy="502920"/>
          </a:xfrm>
          <a:prstGeom prst="rect">
            <a:avLst/>
          </a:prstGeom>
          <a:noFill/>
          <a:ln/>
        </p:spPr>
        <p:txBody>
          <a:bodyPr wrap="square" lIns="0" tIns="0" rIns="0" bIns="0" rtlCol="0" anchor="ctr"/>
          <a:lstStyle/>
          <a:p>
            <a:pPr algn="ctr" indent="0" marL="0">
              <a:buNone/>
            </a:pPr>
            <a:r>
              <a:rPr lang="en-US" sz="1300" b="1" dirty="0">
                <a:solidFill>
                  <a:srgbClr val="2E7D32"/>
                </a:solidFill>
              </a:rPr>
              <a:t>RICHTIG: </a:t>
            </a:r>
            <a:pPr algn="ctr" indent="0" marL="0">
              <a:buNone/>
            </a:pPr>
            <a:r>
              <a:rPr lang="en-US" sz="1300" dirty="0">
                <a:solidFill>
                  <a:schemeClr val="tx1"/>
                </a:solidFill>
              </a:rPr>
              <a:t>Nebeneinander, unter den Bändern</a:t>
            </a:r>
            <a:endParaRPr lang="en-US" sz="1300" dirty="0"/>
          </a:p>
        </p:txBody>
      </p:sp>
      <p:sp>
        <p:nvSpPr>
          <p:cNvPr id="9" name="Rule card"/>
          <p:cNvSpPr/>
          <p:nvPr/>
        </p:nvSpPr>
        <p:spPr>
          <a:xfrm>
            <a:off x="457200" y="4251960"/>
            <a:ext cx="5394960" cy="566928"/>
          </a:xfrm>
          <a:prstGeom prst="roundRect">
            <a:avLst>
              <a:gd name="adj" fmla="val 16129"/>
            </a:avLst>
          </a:prstGeom>
          <a:solidFill>
            <a:schemeClr val="tx2"/>
          </a:solidFill>
          <a:ln/>
        </p:spPr>
      </p:sp>
      <p:sp>
        <p:nvSpPr>
          <p:cNvPr id="10" name="Rule text"/>
          <p:cNvSpPr txBox="1"/>
          <p:nvPr/>
        </p:nvSpPr>
        <p:spPr>
          <a:xfrm>
            <a:off x="685800" y="4251960"/>
            <a:ext cx="4937760" cy="566928"/>
          </a:xfrm>
          <a:prstGeom prst="rect">
            <a:avLst/>
          </a:prstGeom>
          <a:noFill/>
          <a:ln/>
        </p:spPr>
        <p:txBody>
          <a:bodyPr wrap="square" lIns="0" tIns="0" rIns="0" bIns="0" rtlCol="0" anchor="ctr"/>
          <a:lstStyle/>
          <a:p>
            <a:pPr indent="0" marL="0">
              <a:buNone/>
            </a:pPr>
            <a:r>
              <a:rPr lang="en-US" sz="1400" b="1" dirty="0">
                <a:solidFill>
                  <a:schemeClr val="bg1"/>
                </a:solidFill>
              </a:rPr>
              <a:t>Alles bleibt unter den Haltebändern.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640080"/>
            <a:ext cx="5394960" cy="548640"/>
          </a:xfrm>
          <a:prstGeom prst="rect">
            <a:avLst/>
          </a:prstGeom>
          <a:noFill/>
          <a:ln/>
        </p:spPr>
        <p:txBody>
          <a:bodyPr wrap="square" lIns="0" tIns="0" rIns="0" bIns="0" rtlCol="0" anchor="ctr"/>
          <a:lstStyle/>
          <a:p>
            <a:pPr algn="l" indent="0" marL="0">
              <a:buNone/>
            </a:pPr>
            <a:r>
              <a:rPr lang="en-US" sz="2800" b="1" dirty="0">
                <a:solidFill>
                  <a:schemeClr val="tx1"/>
                </a:solidFill>
              </a:rPr>
              <a:t>Deine Pick-Checkliste</a:t>
            </a:r>
            <a:endParaRPr lang="en-US" sz="2800" dirty="0"/>
          </a:p>
        </p:txBody>
      </p:sp>
      <p:sp>
        <p:nvSpPr>
          <p:cNvPr id="3" name="Recap circle 1"/>
          <p:cNvSpPr/>
          <p:nvPr/>
        </p:nvSpPr>
        <p:spPr>
          <a:xfrm>
            <a:off x="868680" y="1371600"/>
            <a:ext cx="868680" cy="868680"/>
          </a:xfrm>
          <a:prstGeom prst="ellipse">
            <a:avLst/>
          </a:prstGeom>
          <a:solidFill>
            <a:schemeClr val="accent1"/>
          </a:solidFill>
          <a:ln/>
        </p:spPr>
      </p:sp>
      <p:pic>
        <p:nvPicPr>
          <p:cNvPr id="4" name="Recap icon 1" descr="preencoded.png">    </p:cNvPr>
          <p:cNvPicPr>
            <a:picLocks noChangeAspect="1"/>
          </p:cNvPicPr>
          <p:nvPr/>
        </p:nvPicPr>
        <p:blipFill>
          <a:blip r:embed="rId1"/>
          <a:stretch>
            <a:fillRect/>
          </a:stretch>
        </p:blipFill>
        <p:spPr>
          <a:xfrm>
            <a:off x="1088136" y="1591056"/>
            <a:ext cx="429768" cy="429768"/>
          </a:xfrm>
          <a:prstGeom prst="rect">
            <a:avLst/>
          </a:prstGeom>
        </p:spPr>
      </p:pic>
      <p:sp>
        <p:nvSpPr>
          <p:cNvPr id="5" name="Recap text 1"/>
          <p:cNvSpPr txBox="1"/>
          <p:nvPr/>
        </p:nvSpPr>
        <p:spPr>
          <a:xfrm>
            <a:off x="4572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Noch nicht gepickt</a:t>
            </a:r>
            <a:endParaRPr lang="en-US" sz="1300" dirty="0"/>
          </a:p>
          <a:p>
            <a:pPr algn="ctr" indent="0" marL="0">
              <a:buNone/>
            </a:pPr>
            <a:r>
              <a:rPr lang="en-US" sz="1700" b="1" dirty="0">
                <a:solidFill>
                  <a:schemeClr val="tx1"/>
                </a:solidFill>
              </a:rPr>
              <a:t>Amnesty</a:t>
            </a:r>
            <a:endParaRPr lang="en-US" sz="1300" dirty="0"/>
          </a:p>
        </p:txBody>
      </p:sp>
      <p:sp>
        <p:nvSpPr>
          <p:cNvPr id="6" name="Recap circle 2"/>
          <p:cNvSpPr/>
          <p:nvPr/>
        </p:nvSpPr>
        <p:spPr>
          <a:xfrm>
            <a:off x="2697480" y="1371600"/>
            <a:ext cx="868680" cy="868680"/>
          </a:xfrm>
          <a:prstGeom prst="ellipse">
            <a:avLst/>
          </a:prstGeom>
          <a:solidFill>
            <a:schemeClr val="accent1"/>
          </a:solidFill>
          <a:ln/>
        </p:spPr>
      </p:sp>
      <p:pic>
        <p:nvPicPr>
          <p:cNvPr id="7" name="Recap icon 2" descr="preencoded.png">    </p:cNvPr>
          <p:cNvPicPr>
            <a:picLocks noChangeAspect="1"/>
          </p:cNvPicPr>
          <p:nvPr/>
        </p:nvPicPr>
        <p:blipFill>
          <a:blip r:embed="rId2"/>
          <a:stretch>
            <a:fillRect/>
          </a:stretch>
        </p:blipFill>
        <p:spPr>
          <a:xfrm>
            <a:off x="2916936" y="1591056"/>
            <a:ext cx="429768" cy="429768"/>
          </a:xfrm>
          <a:prstGeom prst="rect">
            <a:avLst/>
          </a:prstGeom>
        </p:spPr>
      </p:pic>
      <p:sp>
        <p:nvSpPr>
          <p:cNvPr id="8" name="Recap text 2"/>
          <p:cNvSpPr txBox="1"/>
          <p:nvPr/>
        </p:nvSpPr>
        <p:spPr>
          <a:xfrm>
            <a:off x="22860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Schon gepickt</a:t>
            </a:r>
            <a:endParaRPr lang="en-US" sz="1300" dirty="0"/>
          </a:p>
          <a:p>
            <a:pPr algn="ctr" indent="0" marL="0">
              <a:buNone/>
            </a:pPr>
            <a:r>
              <a:rPr lang="en-US" sz="1700" b="1" dirty="0">
                <a:solidFill>
                  <a:schemeClr val="tx1"/>
                </a:solidFill>
              </a:rPr>
              <a:t>Outbound Problem Solve</a:t>
            </a:r>
            <a:endParaRPr lang="en-US" sz="1300" dirty="0"/>
          </a:p>
        </p:txBody>
      </p:sp>
      <p:sp>
        <p:nvSpPr>
          <p:cNvPr id="9" name="Recap circle 3"/>
          <p:cNvSpPr/>
          <p:nvPr/>
        </p:nvSpPr>
        <p:spPr>
          <a:xfrm>
            <a:off x="4526280" y="1371600"/>
            <a:ext cx="868680" cy="868680"/>
          </a:xfrm>
          <a:prstGeom prst="ellipse">
            <a:avLst/>
          </a:prstGeom>
          <a:solidFill>
            <a:schemeClr val="accent1"/>
          </a:solidFill>
          <a:ln/>
        </p:spPr>
      </p:sp>
      <p:pic>
        <p:nvPicPr>
          <p:cNvPr id="10" name="Recap icon 3" descr="preencoded.png">    </p:cNvPr>
          <p:cNvPicPr>
            <a:picLocks noChangeAspect="1"/>
          </p:cNvPicPr>
          <p:nvPr/>
        </p:nvPicPr>
        <p:blipFill>
          <a:blip r:embed="rId3"/>
          <a:stretch>
            <a:fillRect/>
          </a:stretch>
        </p:blipFill>
        <p:spPr>
          <a:xfrm>
            <a:off x="4745736" y="1591056"/>
            <a:ext cx="429768" cy="429768"/>
          </a:xfrm>
          <a:prstGeom prst="rect">
            <a:avLst/>
          </a:prstGeom>
        </p:spPr>
      </p:pic>
      <p:sp>
        <p:nvSpPr>
          <p:cNvPr id="11" name="Recap text 3"/>
          <p:cNvSpPr txBox="1"/>
          <p:nvPr/>
        </p:nvSpPr>
        <p:spPr>
          <a:xfrm>
            <a:off x="4114800" y="2423160"/>
            <a:ext cx="1691640" cy="1097280"/>
          </a:xfrm>
          <a:prstGeom prst="rect">
            <a:avLst/>
          </a:prstGeom>
          <a:noFill/>
          <a:ln/>
        </p:spPr>
        <p:txBody>
          <a:bodyPr wrap="square" lIns="0" tIns="0" rIns="0" bIns="0" rtlCol="0" anchor="t"/>
          <a:lstStyle/>
          <a:p>
            <a:pPr algn="ctr" indent="0" marL="0">
              <a:buNone/>
            </a:pPr>
            <a:r>
              <a:rPr lang="en-US" sz="1300" dirty="0">
                <a:solidFill>
                  <a:schemeClr val="accent4"/>
                </a:solidFill>
              </a:rPr>
              <a:t>Jeder Bin, den du anfasst</a:t>
            </a:r>
            <a:endParaRPr lang="en-US" sz="1300" dirty="0"/>
          </a:p>
          <a:p>
            <a:pPr algn="ctr" indent="0" marL="0">
              <a:buNone/>
            </a:pPr>
            <a:r>
              <a:rPr lang="en-US" sz="1700" b="1" dirty="0">
                <a:solidFill>
                  <a:schemeClr val="tx1"/>
                </a:solidFill>
              </a:rPr>
              <a:t>Einzeln und nebenbei aufräumen</a:t>
            </a:r>
            <a:endParaRPr lang="en-US" sz="1300" dirty="0"/>
          </a:p>
        </p:txBody>
      </p:sp>
      <p:sp>
        <p:nvSpPr>
          <p:cNvPr id="12" name="Goal card"/>
          <p:cNvSpPr/>
          <p:nvPr/>
        </p:nvSpPr>
        <p:spPr>
          <a:xfrm>
            <a:off x="457200" y="3749040"/>
            <a:ext cx="5394960" cy="777240"/>
          </a:xfrm>
          <a:prstGeom prst="roundRect">
            <a:avLst>
              <a:gd name="adj" fmla="val 11765"/>
            </a:avLst>
          </a:prstGeom>
          <a:solidFill>
            <a:schemeClr val="tx2"/>
          </a:solidFill>
          <a:ln/>
        </p:spPr>
      </p:sp>
      <p:sp>
        <p:nvSpPr>
          <p:cNvPr id="13" name="Goal text"/>
          <p:cNvSpPr txBox="1"/>
          <p:nvPr/>
        </p:nvSpPr>
        <p:spPr>
          <a:xfrm>
            <a:off x="731520" y="3749040"/>
            <a:ext cx="4846320" cy="777240"/>
          </a:xfrm>
          <a:prstGeom prst="rect">
            <a:avLst/>
          </a:prstGeom>
          <a:noFill/>
          <a:ln/>
        </p:spPr>
        <p:txBody>
          <a:bodyPr wrap="square" lIns="0" tIns="0" rIns="0" bIns="0" rtlCol="0" anchor="ctr"/>
          <a:lstStyle/>
          <a:p>
            <a:pPr indent="0" marL="0">
              <a:buNone/>
            </a:pPr>
            <a:r>
              <a:rPr lang="en-US" sz="1600" b="1" dirty="0">
                <a:solidFill>
                  <a:srgbClr val="9EDFF7"/>
                </a:solidFill>
              </a:rPr>
              <a:t>Ziel: </a:t>
            </a:r>
            <a:pPr indent="0" marL="0">
              <a:buNone/>
            </a:pPr>
            <a:r>
              <a:rPr lang="en-US" sz="1600" dirty="0">
                <a:solidFill>
                  <a:schemeClr val="bg1"/>
                </a:solidFill>
              </a:rPr>
              <a:t>ein genauer wAPMT, weniger runterfallende Artikel, zufriedenere Kunden.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losing title"/>
          <p:cNvSpPr txBox="1"/>
          <p:nvPr/>
        </p:nvSpPr>
        <p:spPr>
          <a:xfrm>
            <a:off x="1371600" y="411480"/>
            <a:ext cx="6400800" cy="640080"/>
          </a:xfrm>
          <a:prstGeom prst="rect">
            <a:avLst/>
          </a:prstGeom>
          <a:noFill/>
          <a:ln/>
        </p:spPr>
        <p:txBody>
          <a:bodyPr wrap="square" lIns="0" tIns="0" rIns="0" bIns="0" rtlCol="0" anchor="ctr"/>
          <a:lstStyle/>
          <a:p>
            <a:pPr algn="ctr" indent="0" marL="0">
              <a:buNone/>
            </a:pPr>
            <a:r>
              <a:rPr lang="en-US" sz="3200" dirty="0">
                <a:solidFill>
                  <a:schemeClr val="accent1"/>
                </a:solidFill>
                <a:latin typeface="Arial" pitchFamily="34" charset="0"/>
                <a:ea typeface="Arial" pitchFamily="34" charset="-122"/>
                <a:cs typeface="Arial" pitchFamily="34" charset="-120"/>
              </a:rPr>
              <a:t>Learn and be curious</a:t>
            </a:r>
            <a:endParaRPr lang="en-US" sz="3200" dirty="0"/>
          </a:p>
        </p:txBody>
      </p:sp>
      <p:sp>
        <p:nvSpPr>
          <p:cNvPr id="3" name="Closing tagline"/>
          <p:cNvSpPr txBox="1"/>
          <p:nvPr/>
        </p:nvSpPr>
        <p:spPr>
          <a:xfrm>
            <a:off x="1371600" y="2651760"/>
            <a:ext cx="6400800" cy="457200"/>
          </a:xfrm>
          <a:prstGeom prst="rect">
            <a:avLst/>
          </a:prstGeom>
          <a:noFill/>
          <a:ln/>
        </p:spPr>
        <p:txBody>
          <a:bodyPr wrap="square" lIns="0" tIns="0" rIns="0" bIns="0" rtlCol="0" anchor="ctr"/>
          <a:lstStyle/>
          <a:p>
            <a:pPr algn="ctr" indent="0" marL="0">
              <a:buNone/>
            </a:pPr>
            <a:r>
              <a:rPr lang="en-US" sz="1800" b="1" dirty="0">
                <a:solidFill>
                  <a:schemeClr val="tx1"/>
                </a:solidFill>
              </a:rPr>
              <a:t>Kleine Handgriffe. Große Wirkung.</a:t>
            </a:r>
            <a:endParaRPr lang="en-US" sz="1800" dirty="0"/>
          </a:p>
        </p:txBody>
      </p:sp>
      <p:sp>
        <p:nvSpPr>
          <p:cNvPr id="4" name="Rate label"/>
          <p:cNvSpPr txBox="1"/>
          <p:nvPr/>
        </p:nvSpPr>
        <p:spPr>
          <a:xfrm>
            <a:off x="2788920" y="3429000"/>
            <a:ext cx="1600200" cy="365760"/>
          </a:xfrm>
          <a:prstGeom prst="rect">
            <a:avLst/>
          </a:prstGeom>
          <a:noFill/>
          <a:ln/>
        </p:spPr>
        <p:txBody>
          <a:bodyPr wrap="square" lIns="0" tIns="0" rIns="0" bIns="0" rtlCol="0" anchor="ctr"/>
          <a:lstStyle/>
          <a:p>
            <a:pPr algn="r" indent="0" marL="0">
              <a:buNone/>
            </a:pPr>
            <a:r>
              <a:rPr lang="en-US" sz="1600" dirty="0">
                <a:solidFill>
                  <a:schemeClr val="tx1"/>
                </a:solidFill>
              </a:rPr>
              <a:t>Video bewerten</a:t>
            </a:r>
            <a:endParaRPr lang="en-US" sz="1600" dirty="0"/>
          </a:p>
        </p:txBody>
      </p:sp>
      <p:pic>
        <p:nvPicPr>
          <p:cNvPr id="5" name="Star 1" descr="preencoded.png">    </p:cNvPr>
          <p:cNvPicPr>
            <a:picLocks noChangeAspect="1"/>
          </p:cNvPicPr>
          <p:nvPr/>
        </p:nvPicPr>
        <p:blipFill>
          <a:blip r:embed="rId1"/>
          <a:stretch>
            <a:fillRect/>
          </a:stretch>
        </p:blipFill>
        <p:spPr>
          <a:xfrm>
            <a:off x="4526280" y="3474720"/>
            <a:ext cx="274320" cy="274320"/>
          </a:xfrm>
          <a:prstGeom prst="rect">
            <a:avLst/>
          </a:prstGeom>
        </p:spPr>
      </p:pic>
      <p:pic>
        <p:nvPicPr>
          <p:cNvPr id="6" name="Star 2" descr="preencoded.png">    </p:cNvPr>
          <p:cNvPicPr>
            <a:picLocks noChangeAspect="1"/>
          </p:cNvPicPr>
          <p:nvPr/>
        </p:nvPicPr>
        <p:blipFill>
          <a:blip r:embed="rId2"/>
          <a:stretch>
            <a:fillRect/>
          </a:stretch>
        </p:blipFill>
        <p:spPr>
          <a:xfrm>
            <a:off x="4873752" y="3474720"/>
            <a:ext cx="274320" cy="274320"/>
          </a:xfrm>
          <a:prstGeom prst="rect">
            <a:avLst/>
          </a:prstGeom>
        </p:spPr>
      </p:pic>
      <p:pic>
        <p:nvPicPr>
          <p:cNvPr id="7" name="Star 3" descr="preencoded.png">    </p:cNvPr>
          <p:cNvPicPr>
            <a:picLocks noChangeAspect="1"/>
          </p:cNvPicPr>
          <p:nvPr/>
        </p:nvPicPr>
        <p:blipFill>
          <a:blip r:embed="rId3"/>
          <a:stretch>
            <a:fillRect/>
          </a:stretch>
        </p:blipFill>
        <p:spPr>
          <a:xfrm>
            <a:off x="5221224" y="3474720"/>
            <a:ext cx="274320" cy="274320"/>
          </a:xfrm>
          <a:prstGeom prst="rect">
            <a:avLst/>
          </a:prstGeom>
        </p:spPr>
      </p:pic>
      <p:pic>
        <p:nvPicPr>
          <p:cNvPr id="8" name="Star 4" descr="preencoded.png">    </p:cNvPr>
          <p:cNvPicPr>
            <a:picLocks noChangeAspect="1"/>
          </p:cNvPicPr>
          <p:nvPr/>
        </p:nvPicPr>
        <p:blipFill>
          <a:blip r:embed="rId4"/>
          <a:stretch>
            <a:fillRect/>
          </a:stretch>
        </p:blipFill>
        <p:spPr>
          <a:xfrm>
            <a:off x="5568696" y="3474720"/>
            <a:ext cx="274320" cy="274320"/>
          </a:xfrm>
          <a:prstGeom prst="rect">
            <a:avLst/>
          </a:prstGeom>
        </p:spPr>
      </p:pic>
      <p:pic>
        <p:nvPicPr>
          <p:cNvPr id="9" name="Star 5" descr="preencoded.png">    </p:cNvPr>
          <p:cNvPicPr>
            <a:picLocks noChangeAspect="1"/>
          </p:cNvPicPr>
          <p:nvPr/>
        </p:nvPicPr>
        <p:blipFill>
          <a:blip r:embed="rId5"/>
          <a:stretch>
            <a:fillRect/>
          </a:stretch>
        </p:blipFill>
        <p:spPr>
          <a:xfrm>
            <a:off x="5916168" y="3474720"/>
            <a:ext cx="274320" cy="274320"/>
          </a:xfrm>
          <a:prstGeom prst="rect">
            <a:avLst/>
          </a:prstGeom>
        </p:spPr>
      </p:pic>
    </p:spTree>
  </p:cSld>
  <p:clrMapOvr>
    <a:masterClrMapping/>
  </p:clrMapOvr>
</p:sld>
</file>

<file path=ppt/theme/theme1.xml><?xml version="1.0" encoding="utf-8"?>
<a:theme xmlns:a="http://schemas.openxmlformats.org/drawingml/2006/main" name="L&amp;D Field Team">
  <a:themeElements>
    <a:clrScheme name="L&amp;D Field Team">
      <a:dk1>
        <a:srgbClr val="121921"/>
      </a:dk1>
      <a:lt1>
        <a:srgbClr val="FFFFFF"/>
      </a:lt1>
      <a:dk2>
        <a:srgbClr val="37475A"/>
      </a:dk2>
      <a:lt2>
        <a:srgbClr val="F5F6FA"/>
      </a:lt2>
      <a:accent1>
        <a:srgbClr val="02A6E1"/>
      </a:accent1>
      <a:accent2>
        <a:srgbClr val="1E8C7E"/>
      </a:accent2>
      <a:accent3>
        <a:srgbClr val="D64545"/>
      </a:accent3>
      <a:accent4>
        <a:srgbClr val="5B6B7B"/>
      </a:accent4>
      <a:accent5>
        <a:srgbClr val="FFB400"/>
      </a:accent5>
      <a:accent6>
        <a:srgbClr val="0B6E99"/>
      </a:accent6>
      <a:hlink>
        <a:srgbClr val="0B6E99"/>
      </a:hlink>
      <a:folHlink>
        <a:srgbClr val="5B6B7B"/>
      </a:folHlink>
    </a:clrScheme>
    <a:fontScheme name="L&amp;D Field Team">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Amnesty Coaching - Pick to Rebin</dc:title>
  <dc:subject>wAPMT coaching campaign</dc:subject>
  <dc:creator>PptxGenJS</dc:creator>
  <cp:lastModifiedBy>PptxGenJS</cp:lastModifiedBy>
  <cp:revision>1</cp:revision>
  <dcterms:created xsi:type="dcterms:W3CDTF">2026-10-12T14:48:23Z</dcterms:created>
  <dcterms:modified xsi:type="dcterms:W3CDTF">2026-10-12T14:48:23Z</dcterms:modified>
</cp:coreProperties>
</file>