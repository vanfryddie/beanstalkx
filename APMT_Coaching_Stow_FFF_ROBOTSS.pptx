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03c4c055-ca39-53e4-7d6c-df39c4d04d3c}">
          <p14:sldIdLst>
            <p14:sldId id="256"/>
            <p14:sldId id="257"/>
            <p14:sldId id="258"/>
            <p14:sldId id="259"/>
          </p14:sldIdLst>
        </p14:section>
        <p14:section name="First Face Fix" id="{398b268b-a1f4-d2e1-6a58-06c2c9fba9d0}">
          <p14:sldIdLst>
            <p14:sldId id="260"/>
            <p14:sldId id="261"/>
            <p14:sldId id="262"/>
            <p14:sldId id="263"/>
            <p14:sldId id="264"/>
          </p14:sldIdLst>
        </p14:section>
        <p14:section name="ROBOTSS" id="{0880c127-9b57-7776-301c-3b59e99bcf91}">
          <p14:sldIdLst>
            <p14:sldId id="265"/>
            <p14:sldId id="266"/>
            <p14:sldId id="267"/>
            <p14:sldId id="268"/>
            <p14:sldId id="269"/>
            <p14:sldId id="270"/>
          </p14:sldIdLst>
        </p14:section>
        <p14:section name="Wrap-up" id="{79e0f144-1d4e-da57-8644-416b2b078c8d}">
          <p14:sldIdLst>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everyone, and thanks for taking a few minutes with me. This one is for our stow team. Today we're focusing on amnesty, and on two simple habits that make a real difference to it: First Face Fix, and the ROBOTSS bin etiquette rules. Let's get into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is amnesty? Amnesty is an item that should be in a stowed pod bin, but isn't physically there. It was stowed to prime and hasn't been picked yet, but it fell out, or ended up at the station or on the floor. The system still thinks it's in the bin. That creates a defect in our inventory, and it can lead to a pick short, which puts our customer at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Amnesty shows up in two places. Floor amnesty is when items fall out of pods onto the robotics floor. Station amnesty is when items are left behind at the station. Both have the same root cause. Poor bin etiquette is the number one cause of amnesty, and the good news is that bin etiquette is completely in our hands.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key distinction. Amnesty is only for items that haven't been picked yet: they belong in a stowed pod bin, and they're not in it. Those go to amnesty. But if you find an item that has already been picked, one that should be in a tote, at a rebin location or in a chute, and it fell or was put in the wrong place, that is not amnesty. That's an outbound problem solve item. Putting picked items into amnesty over-inflates our wAPMT, and it hides the real outbound problem that needs fixing.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part one: First Face Fix, or F F 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Face Fix is a standard process to fix the bin etiquette of the very first pod face that arrives at your station. It takes just one minute. You do it at the start of your shift, and again after every break. It applies to all Stow and ICQA associates.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how to do it in four steps. One: enter your station, log in, choose your process path, and make sure your station is ready. Two: when the first pod face arrives, work from the top to the bottom, just like the stow snake. Three: fix every bin so it meets the ROBOTSS rules, which we'll cover in a moment. Four: start your assigned process after one minute, or as soon as the face meets ROBOTSS.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three things you must not do before or during First Face Fix. Don't scan any articles in totes or bins. Don't move articles to a different bin. And don't remove any articles from bins. First Face Fix is only about organizing what's already in each bin, so the inventory stays exactly where the system expects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Face Fix gets your shift off to a clean start, but it doesn't stop there. Whenever your hands are in a bin, fix its etiquette as you go. If every one of us leaves each bin a little better than we found it, units won't fall out as the pod moves. We check First Face Fix with at least fifteen audits per shift, and our target is ninety percent compliance or better, with feedback given to you right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for part two: the rules you use during First Face Fix and every time you touch a bin. They're called ROBOTSS.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ROBOTSS stands for seven rules. R, right bin size. O, no overhang. B, blocking. O, overstuffing. T, titles out. S, stacking. And S, similar items. Follow them and pickers find items faster, bins hold more, and nothing falls out when the pod moves. Let's go through them one by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 is for right bin size. Always stow into the smallest bin the item fits in, and place it by its length first. The first O is no overhang. Every item must fit completely inside the bin. Anything hanging out can catch, causing drive obstructions and even pod crashes, and that's how items end up on the floor.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 is for blocking. Never put a large item in front of a small one, because the picker won't see it. Stand flat items upright so they can't slide out between the retention bands. The second O is overstuffing. Don't overfill a bin. Forcing items in damages customer products, and an overstuffed bin is the one most likely to spill.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 is for titles out. Books and DVDs go in with the spine facing outward, so pickers can find them straight away. The first S is stacking. Only stack items of the same ASIN, only when they have at least two flat surfaces, and always keep them below the retention bands.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S is similar items. Never put items that look alike, or have similar names, in the same bin, like these two cables that only differ by length. Use the cross method for similar items instead, because the system won't always warn you on screen, and the picker could grab the wrong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here's your shift, bin by bin. At shift start and after every break, do your one-minute First Face Fix. On every bin you touch, apply ROBOTSS. And all shift long, fix as you go. Do these three things consistently and fewer units will fall, our wAPMT will come down, and our customers get what they ordered.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Small fixes make a big impact. Thanks for watching, and thanks for looking after every bin, every time. If you have any questions, speak to your Process Guide, your Area Manager, or the ICQA team. And please take a second to rate this video.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SCENE">
    <p:bg>
      <p:bgPr>
        <a:solidFill>
          <a:schemeClr val="bg2"/>
        </a:solidFill>
      </p:bgPr>
    </p:bg>
    <p:spTree>
      <p:nvGrpSpPr>
        <p:cNvPr id="1" name=""/>
        <p:cNvGrpSpPr/>
        <p:nvPr/>
      </p:nvGrpSpPr>
      <p:grpSpPr>
        <a:xfrm>
          <a:off x="0" y="0"/>
          <a:ext cx="0" cy="0"/>
          <a:chOff x="0" y="0"/>
          <a:chExt cx="0" cy="0"/>
        </a:xfrm>
      </p:grpSpPr>
      <p:sp>
        <p:nvSpPr>
          <p:cNvPr id="2" name="Shape 0"/>
          <p:cNvSpPr/>
          <p:nvPr/>
        </p:nvSpPr>
        <p:spPr>
          <a:xfrm>
            <a:off x="0" y="0"/>
            <a:ext cx="2286000" cy="5143500"/>
          </a:xfrm>
          <a:prstGeom prst="rect">
            <a:avLst/>
          </a:prstGeom>
          <a:solidFill>
            <a:schemeClr val="tx2"/>
          </a:solidFill>
          <a:ln/>
        </p:spPr>
      </p:sp>
      <p:pic>
        <p:nvPicPr>
          <p:cNvPr id="3" name="Image 0" descr="preencoded.png">    </p:cNvPr>
          <p:cNvPicPr>
            <a:picLocks noChangeAspect="1"/>
          </p:cNvPicPr>
          <p:nvPr/>
        </p:nvPicPr>
        <p:blipFill>
          <a:blip r:embed="rId1"/>
          <a:stretch>
            <a:fillRect/>
          </a:stretch>
        </p:blipFill>
        <p:spPr>
          <a:xfrm>
            <a:off x="5166360" y="2606040"/>
            <a:ext cx="1097280" cy="1225296"/>
          </a:xfrm>
          <a:prstGeom prst="rect">
            <a:avLst/>
          </a:prstGeom>
        </p:spPr>
      </p:pic>
      <p:sp>
        <p:nvSpPr>
          <p:cNvPr id="4" name="Text 1"/>
          <p:cNvSpPr/>
          <p:nvPr>
            <p:ph idx="102" type="body" hasCustomPrompt="1"/>
          </p:nvPr>
        </p:nvSpPr>
        <p:spPr>
          <a:xfrm>
            <a:off x="2514600" y="502920"/>
            <a:ext cx="6400800" cy="320040"/>
          </a:xfrm>
          <a:prstGeom prst="rect">
            <a:avLst/>
          </a:prstGeom>
          <a:noFill/>
          <a:ln/>
        </p:spPr>
        <p:txBody>
          <a:bodyPr wrap="square" rtlCol="0"/>
          <a:lstStyle>
            <a:lvl1pPr algn="ctr" indent="0" marL="0">
              <a:buNone/>
              <a:defRPr lang="en-US" sz="1300" b="1" spc="300" kern="0" dirty="0">
                <a:solidFill>
                  <a:schemeClr val="accent6"/>
                </a:solidFill>
              </a:defRPr>
            </a:lvl1pPr>
          </a:lstStyle>
          <a:p>
            <a:pPr algn="ctr" indent="0" marL="0">
              <a:buNone/>
            </a:pPr>
            <a:endParaRPr lang="en-US" sz="1300" dirty="0"/>
          </a:p>
        </p:txBody>
      </p:sp>
      <p:sp>
        <p:nvSpPr>
          <p:cNvPr id="5" name="Text 1"/>
          <p:cNvSpPr/>
          <p:nvPr>
            <p:ph idx="103" type="title" hasCustomPrompt="1"/>
          </p:nvPr>
        </p:nvSpPr>
        <p:spPr>
          <a:xfrm>
            <a:off x="2514600" y="868680"/>
            <a:ext cx="6400800" cy="868680"/>
          </a:xfrm>
          <a:prstGeom prst="rect">
            <a:avLst/>
          </a:prstGeom>
          <a:noFill/>
          <a:ln/>
        </p:spPr>
        <p:txBody>
          <a:bodyPr wrap="square" rtlCol="0"/>
          <a:lstStyle>
            <a:lvl1pPr algn="ctr" indent="0" marL="0">
              <a:buNone/>
              <a:defRPr lang="en-US" sz="3600" b="1" dirty="0">
                <a:solidFill>
                  <a:schemeClr val="tx1"/>
                </a:solidFill>
              </a:defRPr>
            </a:lvl1pPr>
          </a:lstStyle>
          <a:p>
            <a:pPr algn="ctr" indent="0" marL="0">
              <a:buNone/>
            </a:pPr>
            <a:endParaRPr lang="en-US" sz="3600" dirty="0"/>
          </a:p>
        </p:txBody>
      </p:sp>
      <p:sp>
        <p:nvSpPr>
          <p:cNvPr id="6" name="Text 1"/>
          <p:cNvSpPr/>
          <p:nvPr>
            <p:ph idx="104" type="body" hasCustomPrompt="1"/>
          </p:nvPr>
        </p:nvSpPr>
        <p:spPr>
          <a:xfrm>
            <a:off x="2971800" y="1783080"/>
            <a:ext cx="5486400" cy="685800"/>
          </a:xfrm>
          <a:prstGeom prst="rect">
            <a:avLst/>
          </a:prstGeom>
          <a:noFill/>
          <a:ln/>
        </p:spPr>
        <p:txBody>
          <a:bodyPr wrap="square" rtlCol="0"/>
          <a:lstStyle>
            <a:lvl1pPr algn="ctr" indent="0" marL="0">
              <a:buNone/>
              <a:defRPr lang="en-US" sz="1600" dirty="0">
                <a:solidFill>
                  <a:schemeClr val="accent4"/>
                </a:solidFill>
              </a:defRPr>
            </a:lvl1pPr>
          </a:lstStyle>
          <a:p>
            <a:pPr algn="ctr"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2"/>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01168" y="109728"/>
            <a:ext cx="1417320" cy="434340"/>
          </a:xfrm>
          <a:prstGeom prst="rect">
            <a:avLst/>
          </a:prstGeom>
        </p:spPr>
      </p:pic>
      <p:sp>
        <p:nvSpPr>
          <p:cNvPr id="3" name="Text 0"/>
          <p:cNvSpPr/>
          <p:nvPr>
            <p:ph idx="101" type="title" hasCustomPrompt="1"/>
          </p:nvPr>
        </p:nvSpPr>
        <p:spPr>
          <a:xfrm>
            <a:off x="457200" y="640080"/>
            <a:ext cx="5394960" cy="54864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bg>
      <p:bgPr>
        <a:solidFill>
          <a:schemeClr val="bg1"/>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023360" y="1234440"/>
            <a:ext cx="1097280" cy="1225296"/>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slideLayout" Target="../slideLayouts/slideLayout3.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3.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3.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slideLayout" Target="../slideLayouts/slideLayout3.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slideLayout" Target="../slideLayouts/slideLayout4.xml"/><Relationship Id="rId7"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2" type="body" hasCustomPrompt="1"/>
          </p:nvPr>
        </p:nvSpPr>
        <p:spPr>
          <a:xfrm>
            <a:off x="2514600" y="502920"/>
            <a:ext cx="6400800" cy="320040"/>
          </a:xfrm>
          <a:prstGeom prst="rect">
            <a:avLst/>
          </a:prstGeom>
          <a:noFill/>
          <a:ln/>
        </p:spPr>
        <p:txBody>
          <a:bodyPr wrap="square" lIns="0" tIns="0" rIns="0" bIns="0" rtlCol="0"/>
          <a:lstStyle/>
          <a:p>
            <a:pPr algn="ctr" indent="0" marL="0">
              <a:buNone/>
            </a:pPr>
            <a:r>
              <a:rPr lang="en-US" sz="1300" b="1" spc="300" kern="0" dirty="0">
                <a:solidFill>
                  <a:schemeClr val="accent6"/>
                </a:solidFill>
              </a:rPr>
              <a:t>wAPMT COACHING  |  STOW</a:t>
            </a:r>
            <a:endParaRPr lang="en-US" sz="1300" dirty="0"/>
          </a:p>
        </p:txBody>
      </p:sp>
      <p:sp>
        <p:nvSpPr>
          <p:cNvPr id="3" name="Text 1"/>
          <p:cNvSpPr/>
          <p:nvPr>
            <p:ph idx="103" type="title" hasCustomPrompt="1"/>
          </p:nvPr>
        </p:nvSpPr>
        <p:spPr>
          <a:xfrm>
            <a:off x="2514600" y="868680"/>
            <a:ext cx="6400800" cy="868680"/>
          </a:xfrm>
          <a:prstGeom prst="rect">
            <a:avLst/>
          </a:prstGeom>
          <a:noFill/>
          <a:ln/>
        </p:spPr>
        <p:txBody>
          <a:bodyPr wrap="square" lIns="0" tIns="0" rIns="0" bIns="0" rtlCol="0" anchor="ctr"/>
          <a:lstStyle/>
          <a:p>
            <a:pPr algn="ctr" indent="0" marL="0">
              <a:buNone/>
            </a:pPr>
            <a:r>
              <a:rPr lang="en-US" sz="3600" b="1" dirty="0">
                <a:solidFill>
                  <a:schemeClr val="tx1"/>
                </a:solidFill>
              </a:rPr>
              <a:t>Every Bin, Every Time</a:t>
            </a:r>
            <a:endParaRPr lang="en-US" sz="3600" dirty="0"/>
          </a:p>
        </p:txBody>
      </p:sp>
      <p:sp>
        <p:nvSpPr>
          <p:cNvPr id="4" name="Text 1"/>
          <p:cNvSpPr/>
          <p:nvPr>
            <p:ph idx="104" type="body" hasCustomPrompt="1"/>
          </p:nvPr>
        </p:nvSpPr>
        <p:spPr>
          <a:xfrm>
            <a:off x="2971800" y="1783080"/>
            <a:ext cx="5486400" cy="685800"/>
          </a:xfrm>
          <a:prstGeom prst="rect">
            <a:avLst/>
          </a:prstGeom>
          <a:noFill/>
          <a:ln/>
        </p:spPr>
        <p:txBody>
          <a:bodyPr wrap="square" lIns="0" tIns="0" rIns="0" bIns="0" rtlCol="0" anchor="t"/>
          <a:lstStyle/>
          <a:p>
            <a:pPr algn="ctr" indent="0" marL="0">
              <a:buNone/>
            </a:pPr>
            <a:r>
              <a:rPr lang="en-US" sz="1600" dirty="0">
                <a:solidFill>
                  <a:schemeClr val="accent4"/>
                </a:solidFill>
              </a:rPr>
              <a:t>First Face Fix and the ROBOTSS rules: two habits that stop amnesty at the source</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title" hasCustomPrompt="1"/>
          </p:nvPr>
        </p:nvSpPr>
        <p:spPr>
          <a:xfrm>
            <a:off x="457200" y="640080"/>
            <a:ext cx="5394960" cy="548640"/>
          </a:xfrm>
          <a:prstGeom prst="rect">
            <a:avLst/>
          </a:prstGeom>
          <a:noFill/>
          <a:ln/>
        </p:spPr>
        <p:txBody>
          <a:bodyPr wrap="square" lIns="0" tIns="0" rIns="0" bIns="0" rtlCol="0" anchor="ctr"/>
          <a:lstStyle/>
          <a:p>
            <a:pPr algn="l" indent="0" marL="0">
              <a:buNone/>
            </a:pPr>
            <a:r>
              <a:rPr lang="en-US" sz="2800" b="1" dirty="0">
                <a:solidFill>
                  <a:schemeClr val="tx1"/>
                </a:solidFill>
              </a:rPr>
              <a:t>What is amnesty?</a:t>
            </a:r>
            <a:endParaRPr lang="en-US" sz="2800" dirty="0"/>
          </a:p>
        </p:txBody>
      </p:sp>
      <p:sp>
        <p:nvSpPr>
          <p:cNvPr id="3" name="Definition"/>
          <p:cNvSpPr txBox="1"/>
          <p:nvPr/>
        </p:nvSpPr>
        <p:spPr>
          <a:xfrm>
            <a:off x="457200" y="1280160"/>
            <a:ext cx="5394960" cy="548640"/>
          </a:xfrm>
          <a:prstGeom prst="rect">
            <a:avLst/>
          </a:prstGeom>
          <a:noFill/>
          <a:ln/>
        </p:spPr>
        <p:txBody>
          <a:bodyPr wrap="square" lIns="0" tIns="0" rIns="0" bIns="0" rtlCol="0" anchor="ctr"/>
          <a:lstStyle/>
          <a:p>
            <a:pPr indent="0" marL="0">
              <a:buNone/>
            </a:pPr>
            <a:r>
              <a:rPr lang="en-US" sz="1800" i="1" dirty="0">
                <a:solidFill>
                  <a:schemeClr val="accent6"/>
                </a:solidFill>
              </a:rPr>
              <a:t>An item that should be in a stowed pod bin, but is not physically there.</a:t>
            </a:r>
            <a:endParaRPr lang="en-US" sz="1800" dirty="0"/>
          </a:p>
        </p:txBody>
      </p:sp>
      <p:sp>
        <p:nvSpPr>
          <p:cNvPr id="4" name="Icon circle 1"/>
          <p:cNvSpPr/>
          <p:nvPr/>
        </p:nvSpPr>
        <p:spPr>
          <a:xfrm>
            <a:off x="457200" y="2011680"/>
            <a:ext cx="640080" cy="640080"/>
          </a:xfrm>
          <a:prstGeom prst="ellipse">
            <a:avLst/>
          </a:prstGeom>
          <a:solidFill>
            <a:schemeClr val="bg1"/>
          </a:solidFill>
          <a:ln/>
        </p:spPr>
      </p:sp>
      <p:pic>
        <p:nvPicPr>
          <p:cNvPr id="5" name="Icon 1" descr="preencoded.png">    </p:cNvPr>
          <p:cNvPicPr>
            <a:picLocks noChangeAspect="1"/>
          </p:cNvPicPr>
          <p:nvPr/>
        </p:nvPicPr>
        <p:blipFill>
          <a:blip r:embed="rId1"/>
          <a:stretch>
            <a:fillRect/>
          </a:stretch>
        </p:blipFill>
        <p:spPr>
          <a:xfrm>
            <a:off x="621792" y="2176272"/>
            <a:ext cx="310896" cy="310896"/>
          </a:xfrm>
          <a:prstGeom prst="rect">
            <a:avLst/>
          </a:prstGeom>
        </p:spPr>
      </p:pic>
      <p:sp>
        <p:nvSpPr>
          <p:cNvPr id="6" name="Row 1"/>
          <p:cNvSpPr txBox="1"/>
          <p:nvPr/>
        </p:nvSpPr>
        <p:spPr>
          <a:xfrm>
            <a:off x="1325880" y="1993392"/>
            <a:ext cx="4526280" cy="685800"/>
          </a:xfrm>
          <a:prstGeom prst="rect">
            <a:avLst/>
          </a:prstGeom>
          <a:noFill/>
          <a:ln/>
        </p:spPr>
        <p:txBody>
          <a:bodyPr wrap="square" lIns="0" tIns="0" rIns="0" bIns="0" rtlCol="0" anchor="ctr"/>
          <a:lstStyle/>
          <a:p>
            <a:pPr indent="0" marL="0">
              <a:buNone/>
            </a:pPr>
            <a:r>
              <a:rPr lang="en-US" sz="1700" b="1" dirty="0">
                <a:solidFill>
                  <a:schemeClr val="tx1"/>
                </a:solidFill>
              </a:rPr>
              <a:t>It belongs in a stowed bin</a:t>
            </a:r>
            <a:endParaRPr lang="en-US" sz="1700" dirty="0"/>
          </a:p>
          <a:p>
            <a:pPr indent="0" marL="0">
              <a:buNone/>
            </a:pPr>
            <a:r>
              <a:rPr lang="en-US" sz="1400" dirty="0">
                <a:solidFill>
                  <a:schemeClr val="accent4"/>
                </a:solidFill>
              </a:rPr>
              <a:t>Stowed to prime and not picked yet</a:t>
            </a:r>
            <a:endParaRPr lang="en-US" sz="1700" dirty="0"/>
          </a:p>
        </p:txBody>
      </p:sp>
      <p:sp>
        <p:nvSpPr>
          <p:cNvPr id="7" name="Icon circle 2"/>
          <p:cNvSpPr/>
          <p:nvPr/>
        </p:nvSpPr>
        <p:spPr>
          <a:xfrm>
            <a:off x="457200" y="2926080"/>
            <a:ext cx="640080" cy="640080"/>
          </a:xfrm>
          <a:prstGeom prst="ellipse">
            <a:avLst/>
          </a:prstGeom>
          <a:solidFill>
            <a:schemeClr val="bg1"/>
          </a:solidFill>
          <a:ln/>
        </p:spPr>
      </p:sp>
      <p:pic>
        <p:nvPicPr>
          <p:cNvPr id="8" name="Icon 2" descr="preencoded.png">    </p:cNvPr>
          <p:cNvPicPr>
            <a:picLocks noChangeAspect="1"/>
          </p:cNvPicPr>
          <p:nvPr/>
        </p:nvPicPr>
        <p:blipFill>
          <a:blip r:embed="rId2"/>
          <a:stretch>
            <a:fillRect/>
          </a:stretch>
        </p:blipFill>
        <p:spPr>
          <a:xfrm>
            <a:off x="621792" y="3090672"/>
            <a:ext cx="310896" cy="310896"/>
          </a:xfrm>
          <a:prstGeom prst="rect">
            <a:avLst/>
          </a:prstGeom>
        </p:spPr>
      </p:pic>
      <p:sp>
        <p:nvSpPr>
          <p:cNvPr id="9" name="Row 2"/>
          <p:cNvSpPr txBox="1"/>
          <p:nvPr/>
        </p:nvSpPr>
        <p:spPr>
          <a:xfrm>
            <a:off x="1325880" y="2907792"/>
            <a:ext cx="4526280" cy="685800"/>
          </a:xfrm>
          <a:prstGeom prst="rect">
            <a:avLst/>
          </a:prstGeom>
          <a:noFill/>
          <a:ln/>
        </p:spPr>
        <p:txBody>
          <a:bodyPr wrap="square" lIns="0" tIns="0" rIns="0" bIns="0" rtlCol="0" anchor="ctr"/>
          <a:lstStyle/>
          <a:p>
            <a:pPr indent="0" marL="0">
              <a:buNone/>
            </a:pPr>
            <a:r>
              <a:rPr lang="en-US" sz="1700" b="1" dirty="0">
                <a:solidFill>
                  <a:schemeClr val="tx1"/>
                </a:solidFill>
              </a:rPr>
              <a:t>It isn't physically there</a:t>
            </a:r>
            <a:endParaRPr lang="en-US" sz="1700" dirty="0"/>
          </a:p>
          <a:p>
            <a:pPr indent="0" marL="0">
              <a:buNone/>
            </a:pPr>
            <a:r>
              <a:rPr lang="en-US" sz="1400" dirty="0">
                <a:solidFill>
                  <a:schemeClr val="accent4"/>
                </a:solidFill>
              </a:rPr>
              <a:t>It fell, or ended up at the station or on the floor</a:t>
            </a:r>
            <a:endParaRPr lang="en-US" sz="1700" dirty="0"/>
          </a:p>
        </p:txBody>
      </p:sp>
      <p:sp>
        <p:nvSpPr>
          <p:cNvPr id="10" name="Icon circle 3"/>
          <p:cNvSpPr/>
          <p:nvPr/>
        </p:nvSpPr>
        <p:spPr>
          <a:xfrm>
            <a:off x="457200" y="3840480"/>
            <a:ext cx="640080" cy="640080"/>
          </a:xfrm>
          <a:prstGeom prst="ellipse">
            <a:avLst/>
          </a:prstGeom>
          <a:solidFill>
            <a:schemeClr val="bg1"/>
          </a:solidFill>
          <a:ln/>
        </p:spPr>
      </p:sp>
      <p:pic>
        <p:nvPicPr>
          <p:cNvPr id="11" name="Icon 3" descr="preencoded.png">    </p:cNvPr>
          <p:cNvPicPr>
            <a:picLocks noChangeAspect="1"/>
          </p:cNvPicPr>
          <p:nvPr/>
        </p:nvPicPr>
        <p:blipFill>
          <a:blip r:embed="rId3"/>
          <a:stretch>
            <a:fillRect/>
          </a:stretch>
        </p:blipFill>
        <p:spPr>
          <a:xfrm>
            <a:off x="621792" y="4005072"/>
            <a:ext cx="310896" cy="310896"/>
          </a:xfrm>
          <a:prstGeom prst="rect">
            <a:avLst/>
          </a:prstGeom>
        </p:spPr>
      </p:pic>
      <p:sp>
        <p:nvSpPr>
          <p:cNvPr id="12" name="Row 3"/>
          <p:cNvSpPr txBox="1"/>
          <p:nvPr/>
        </p:nvSpPr>
        <p:spPr>
          <a:xfrm>
            <a:off x="1325880" y="3822192"/>
            <a:ext cx="4526280" cy="685800"/>
          </a:xfrm>
          <a:prstGeom prst="rect">
            <a:avLst/>
          </a:prstGeom>
          <a:noFill/>
          <a:ln/>
        </p:spPr>
        <p:txBody>
          <a:bodyPr wrap="square" lIns="0" tIns="0" rIns="0" bIns="0" rtlCol="0" anchor="ctr"/>
          <a:lstStyle/>
          <a:p>
            <a:pPr indent="0" marL="0">
              <a:buNone/>
            </a:pPr>
            <a:r>
              <a:rPr lang="en-US" sz="1700" b="1" dirty="0">
                <a:solidFill>
                  <a:schemeClr val="tx1"/>
                </a:solidFill>
              </a:rPr>
              <a:t>It puts the customer at risk</a:t>
            </a:r>
            <a:endParaRPr lang="en-US" sz="1700" dirty="0"/>
          </a:p>
          <a:p>
            <a:pPr indent="0" marL="0">
              <a:buNone/>
            </a:pPr>
            <a:r>
              <a:rPr lang="en-US" sz="1400" dirty="0">
                <a:solidFill>
                  <a:schemeClr val="accent4"/>
                </a:solidFill>
              </a:rPr>
              <a:t>A virtual overage that can cause a pick short</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title" hasCustomPrompt="1"/>
          </p:nvPr>
        </p:nvSpPr>
        <p:spPr>
          <a:xfrm>
            <a:off x="457200" y="640080"/>
            <a:ext cx="5394960" cy="548640"/>
          </a:xfrm>
          <a:prstGeom prst="rect">
            <a:avLst/>
          </a:prstGeom>
          <a:noFill/>
          <a:ln/>
        </p:spPr>
        <p:txBody>
          <a:bodyPr wrap="square" lIns="0" tIns="0" rIns="0" bIns="0" rtlCol="0" anchor="ctr"/>
          <a:lstStyle/>
          <a:p>
            <a:pPr algn="l" indent="0" marL="0">
              <a:buNone/>
            </a:pPr>
            <a:r>
              <a:rPr lang="en-US" sz="2800" b="1" dirty="0">
                <a:solidFill>
                  <a:schemeClr val="tx1"/>
                </a:solidFill>
              </a:rPr>
              <a:t>Where amnesty comes from</a:t>
            </a:r>
            <a:endParaRPr lang="en-US" sz="2800" dirty="0"/>
          </a:p>
        </p:txBody>
      </p:sp>
      <p:sp>
        <p:nvSpPr>
          <p:cNvPr id="3" name="Card 1"/>
          <p:cNvSpPr/>
          <p:nvPr/>
        </p:nvSpPr>
        <p:spPr>
          <a:xfrm>
            <a:off x="457200" y="1325880"/>
            <a:ext cx="2606040" cy="1783080"/>
          </a:xfrm>
          <a:prstGeom prst="roundRect">
            <a:avLst>
              <a:gd name="adj" fmla="val 5128"/>
            </a:avLst>
          </a:prstGeom>
          <a:solidFill>
            <a:schemeClr val="bg1"/>
          </a:solidFill>
          <a:ln/>
        </p:spPr>
      </p:sp>
      <p:pic>
        <p:nvPicPr>
          <p:cNvPr id="4" name="Card icon 1" descr="preencoded.png">    </p:cNvPr>
          <p:cNvPicPr>
            <a:picLocks noChangeAspect="1"/>
          </p:cNvPicPr>
          <p:nvPr/>
        </p:nvPicPr>
        <p:blipFill>
          <a:blip r:embed="rId1"/>
          <a:stretch>
            <a:fillRect/>
          </a:stretch>
        </p:blipFill>
        <p:spPr>
          <a:xfrm>
            <a:off x="685800" y="1508760"/>
            <a:ext cx="411480" cy="411480"/>
          </a:xfrm>
          <a:prstGeom prst="rect">
            <a:avLst/>
          </a:prstGeom>
        </p:spPr>
      </p:pic>
      <p:sp>
        <p:nvSpPr>
          <p:cNvPr id="5" name="Card text 1"/>
          <p:cNvSpPr txBox="1"/>
          <p:nvPr/>
        </p:nvSpPr>
        <p:spPr>
          <a:xfrm>
            <a:off x="685800" y="2011680"/>
            <a:ext cx="2194560" cy="1005840"/>
          </a:xfrm>
          <a:prstGeom prst="rect">
            <a:avLst/>
          </a:prstGeom>
          <a:noFill/>
          <a:ln/>
        </p:spPr>
        <p:txBody>
          <a:bodyPr wrap="square" lIns="0" tIns="0" rIns="0" bIns="0" rtlCol="0" anchor="t"/>
          <a:lstStyle/>
          <a:p>
            <a:pPr indent="0" marL="0">
              <a:buNone/>
            </a:pPr>
            <a:r>
              <a:rPr lang="en-US" sz="1800" b="1" dirty="0">
                <a:solidFill>
                  <a:schemeClr val="tx1"/>
                </a:solidFill>
              </a:rPr>
              <a:t>Floor amnesty</a:t>
            </a:r>
            <a:endParaRPr lang="en-US" sz="1800" dirty="0"/>
          </a:p>
          <a:p>
            <a:pPr indent="0" marL="0">
              <a:buNone/>
            </a:pPr>
            <a:r>
              <a:rPr lang="en-US" sz="1400" dirty="0">
                <a:solidFill>
                  <a:schemeClr val="accent4"/>
                </a:solidFill>
              </a:rPr>
              <a:t>Items that fall from pods onto the AR floor while pods travel</a:t>
            </a:r>
            <a:endParaRPr lang="en-US" sz="1800" dirty="0"/>
          </a:p>
        </p:txBody>
      </p:sp>
      <p:sp>
        <p:nvSpPr>
          <p:cNvPr id="6" name="Card 2"/>
          <p:cNvSpPr/>
          <p:nvPr/>
        </p:nvSpPr>
        <p:spPr>
          <a:xfrm>
            <a:off x="3246120" y="1325880"/>
            <a:ext cx="2606040" cy="1783080"/>
          </a:xfrm>
          <a:prstGeom prst="roundRect">
            <a:avLst>
              <a:gd name="adj" fmla="val 5128"/>
            </a:avLst>
          </a:prstGeom>
          <a:solidFill>
            <a:schemeClr val="bg1"/>
          </a:solidFill>
          <a:ln/>
        </p:spPr>
      </p:sp>
      <p:pic>
        <p:nvPicPr>
          <p:cNvPr id="7" name="Card icon 2" descr="preencoded.png">    </p:cNvPr>
          <p:cNvPicPr>
            <a:picLocks noChangeAspect="1"/>
          </p:cNvPicPr>
          <p:nvPr/>
        </p:nvPicPr>
        <p:blipFill>
          <a:blip r:embed="rId2"/>
          <a:stretch>
            <a:fillRect/>
          </a:stretch>
        </p:blipFill>
        <p:spPr>
          <a:xfrm>
            <a:off x="3474720" y="1508760"/>
            <a:ext cx="411480" cy="411480"/>
          </a:xfrm>
          <a:prstGeom prst="rect">
            <a:avLst/>
          </a:prstGeom>
        </p:spPr>
      </p:pic>
      <p:sp>
        <p:nvSpPr>
          <p:cNvPr id="8" name="Card text 2"/>
          <p:cNvSpPr txBox="1"/>
          <p:nvPr/>
        </p:nvSpPr>
        <p:spPr>
          <a:xfrm>
            <a:off x="3474720" y="2011680"/>
            <a:ext cx="2194560" cy="1005840"/>
          </a:xfrm>
          <a:prstGeom prst="rect">
            <a:avLst/>
          </a:prstGeom>
          <a:noFill/>
          <a:ln/>
        </p:spPr>
        <p:txBody>
          <a:bodyPr wrap="square" lIns="0" tIns="0" rIns="0" bIns="0" rtlCol="0" anchor="t"/>
          <a:lstStyle/>
          <a:p>
            <a:pPr indent="0" marL="0">
              <a:buNone/>
            </a:pPr>
            <a:r>
              <a:rPr lang="en-US" sz="1800" b="1" dirty="0">
                <a:solidFill>
                  <a:schemeClr val="tx1"/>
                </a:solidFill>
              </a:rPr>
              <a:t>Station amnesty</a:t>
            </a:r>
            <a:endParaRPr lang="en-US" sz="1800" dirty="0"/>
          </a:p>
          <a:p>
            <a:pPr indent="0" marL="0">
              <a:buNone/>
            </a:pPr>
            <a:r>
              <a:rPr lang="en-US" sz="1400" dirty="0">
                <a:solidFill>
                  <a:schemeClr val="accent4"/>
                </a:solidFill>
              </a:rPr>
              <a:t>Items left behind at the station when the pod leaves</a:t>
            </a:r>
            <a:endParaRPr lang="en-US" sz="1800" dirty="0"/>
          </a:p>
        </p:txBody>
      </p:sp>
      <p:sp>
        <p:nvSpPr>
          <p:cNvPr id="9" name="Callout"/>
          <p:cNvSpPr/>
          <p:nvPr/>
        </p:nvSpPr>
        <p:spPr>
          <a:xfrm>
            <a:off x="457200" y="3383280"/>
            <a:ext cx="5394960" cy="1143000"/>
          </a:xfrm>
          <a:prstGeom prst="roundRect">
            <a:avLst>
              <a:gd name="adj" fmla="val 8000"/>
            </a:avLst>
          </a:prstGeom>
          <a:solidFill>
            <a:schemeClr val="tx2"/>
          </a:solidFill>
          <a:ln/>
        </p:spPr>
      </p:sp>
      <p:sp>
        <p:nvSpPr>
          <p:cNvPr id="10" name="Callout text"/>
          <p:cNvSpPr txBox="1"/>
          <p:nvPr/>
        </p:nvSpPr>
        <p:spPr>
          <a:xfrm>
            <a:off x="731520" y="3383280"/>
            <a:ext cx="4846320" cy="1143000"/>
          </a:xfrm>
          <a:prstGeom prst="rect">
            <a:avLst/>
          </a:prstGeom>
          <a:noFill/>
          <a:ln/>
        </p:spPr>
        <p:txBody>
          <a:bodyPr wrap="square" lIns="0" tIns="0" rIns="0" bIns="0" rtlCol="0" anchor="ctr"/>
          <a:lstStyle/>
          <a:p>
            <a:pPr indent="0" marL="0">
              <a:buNone/>
            </a:pPr>
            <a:r>
              <a:rPr lang="en-US" sz="1800" b="1" dirty="0">
                <a:solidFill>
                  <a:schemeClr val="bg1"/>
                </a:solidFill>
              </a:rPr>
              <a:t>Poor bin etiquette is the #1 cause of amnesty.</a:t>
            </a:r>
            <a:endParaRPr lang="en-US" sz="1800" dirty="0"/>
          </a:p>
          <a:p>
            <a:pPr indent="0" marL="0">
              <a:buNone/>
            </a:pPr>
            <a:r>
              <a:rPr lang="en-US" sz="1500" dirty="0">
                <a:solidFill>
                  <a:srgbClr val="9EDFF7"/>
                </a:solidFill>
              </a:rPr>
              <a:t>Good bin etiquette is something every one of us controls.</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1" type="title" hasCustomPrompt="1"/>
          </p:nvPr>
        </p:nvSpPr>
        <p:spPr>
          <a:xfrm>
            <a:off x="457200" y="640080"/>
            <a:ext cx="5394960" cy="548640"/>
          </a:xfrm>
          <a:prstGeom prst="rect">
            <a:avLst/>
          </a:prstGeom>
          <a:noFill/>
          <a:ln/>
        </p:spPr>
        <p:txBody>
          <a:bodyPr wrap="square" lIns="0" tIns="0" rIns="0" bIns="0" rtlCol="0" anchor="ctr"/>
          <a:lstStyle/>
          <a:p>
            <a:pPr algn="l" indent="0" marL="0">
              <a:buNone/>
            </a:pPr>
            <a:r>
              <a:rPr lang="en-US" sz="2800" b="1" dirty="0">
                <a:solidFill>
                  <a:schemeClr val="tx1"/>
                </a:solidFill>
              </a:rPr>
              <a:t>Amnesty or problem solve?</a:t>
            </a:r>
            <a:endParaRPr lang="en-US" sz="2800" dirty="0"/>
          </a:p>
        </p:txBody>
      </p:sp>
      <p:sp>
        <p:nvSpPr>
          <p:cNvPr id="3" name="Side card 1"/>
          <p:cNvSpPr/>
          <p:nvPr/>
        </p:nvSpPr>
        <p:spPr>
          <a:xfrm>
            <a:off x="457200" y="1325880"/>
            <a:ext cx="2606040" cy="2514600"/>
          </a:xfrm>
          <a:prstGeom prst="roundRect">
            <a:avLst>
              <a:gd name="adj" fmla="val 3636"/>
            </a:avLst>
          </a:prstGeom>
          <a:solidFill>
            <a:schemeClr val="bg1"/>
          </a:solidFill>
          <a:ln/>
        </p:spPr>
      </p:sp>
      <p:pic>
        <p:nvPicPr>
          <p:cNvPr id="4" name="Side icon 1" descr="preencoded.png">    </p:cNvPr>
          <p:cNvPicPr>
            <a:picLocks noChangeAspect="1"/>
          </p:cNvPicPr>
          <p:nvPr/>
        </p:nvPicPr>
        <p:blipFill>
          <a:blip r:embed="rId1"/>
          <a:stretch>
            <a:fillRect/>
          </a:stretch>
        </p:blipFill>
        <p:spPr>
          <a:xfrm>
            <a:off x="685800" y="1527048"/>
            <a:ext cx="384048" cy="384048"/>
          </a:xfrm>
          <a:prstGeom prst="rect">
            <a:avLst/>
          </a:prstGeom>
        </p:spPr>
      </p:pic>
      <p:sp>
        <p:nvSpPr>
          <p:cNvPr id="5" name="Side tag 1"/>
          <p:cNvSpPr txBox="1"/>
          <p:nvPr/>
        </p:nvSpPr>
        <p:spPr>
          <a:xfrm>
            <a:off x="1188720" y="1527048"/>
            <a:ext cx="1691640" cy="384048"/>
          </a:xfrm>
          <a:prstGeom prst="rect">
            <a:avLst/>
          </a:prstGeom>
          <a:noFill/>
          <a:ln/>
        </p:spPr>
        <p:txBody>
          <a:bodyPr wrap="square" lIns="0" tIns="0" rIns="0" bIns="0" rtlCol="0" anchor="ctr"/>
          <a:lstStyle/>
          <a:p>
            <a:pPr indent="0" marL="0">
              <a:buNone/>
            </a:pPr>
            <a:r>
              <a:rPr lang="en-US" sz="1300" b="1" spc="200" kern="0" dirty="0">
                <a:solidFill>
                  <a:schemeClr val="accent6"/>
                </a:solidFill>
              </a:rPr>
              <a:t>AMNESTY</a:t>
            </a:r>
            <a:endParaRPr lang="en-US" sz="1300" dirty="0"/>
          </a:p>
        </p:txBody>
      </p:sp>
      <p:sp>
        <p:nvSpPr>
          <p:cNvPr id="6" name="Side text 1"/>
          <p:cNvSpPr txBox="1"/>
          <p:nvPr/>
        </p:nvSpPr>
        <p:spPr>
          <a:xfrm>
            <a:off x="685800" y="2057400"/>
            <a:ext cx="2194560" cy="1234440"/>
          </a:xfrm>
          <a:prstGeom prst="rect">
            <a:avLst/>
          </a:prstGeom>
          <a:noFill/>
          <a:ln/>
        </p:spPr>
        <p:txBody>
          <a:bodyPr wrap="square" lIns="0" tIns="0" rIns="0" bIns="0" rtlCol="0" anchor="t"/>
          <a:lstStyle/>
          <a:p>
            <a:pPr indent="0" marL="0">
              <a:spcAft>
                <a:spcPts val="300"/>
              </a:spcAft>
              <a:buNone/>
            </a:pPr>
            <a:r>
              <a:rPr lang="en-US" sz="1800" b="1" dirty="0">
                <a:solidFill>
                  <a:schemeClr val="tx1"/>
                </a:solidFill>
              </a:rPr>
              <a:t>Not picked yet</a:t>
            </a:r>
            <a:endParaRPr lang="en-US" sz="1800" dirty="0"/>
          </a:p>
          <a:p>
            <a:pPr marL="342900" indent="-342900">
              <a:spcAft>
                <a:spcPts val="300"/>
              </a:spcAft>
              <a:buSzPct val="100000"/>
              <a:buChar char="•"/>
            </a:pPr>
            <a:r>
              <a:rPr lang="en-US" sz="1400" dirty="0">
                <a:solidFill>
                  <a:schemeClr val="accent4"/>
                </a:solidFill>
              </a:rPr>
              <a:t>Belongs in a stowed pod bin</a:t>
            </a:r>
            <a:endParaRPr lang="en-US" sz="1800" dirty="0"/>
          </a:p>
          <a:p>
            <a:pPr marL="342900" indent="-342900">
              <a:spcAft>
                <a:spcPts val="300"/>
              </a:spcAft>
              <a:buSzPct val="100000"/>
              <a:buChar char="•"/>
            </a:pPr>
            <a:r>
              <a:rPr lang="en-US" sz="1400" dirty="0">
                <a:solidFill>
                  <a:schemeClr val="accent4"/>
                </a:solidFill>
              </a:rPr>
              <a:t>Fell out or is missing from that bin</a:t>
            </a:r>
            <a:endParaRPr lang="en-US" sz="1800" dirty="0"/>
          </a:p>
        </p:txBody>
      </p:sp>
      <p:sp>
        <p:nvSpPr>
          <p:cNvPr id="7" name="Side action 1"/>
          <p:cNvSpPr txBox="1"/>
          <p:nvPr/>
        </p:nvSpPr>
        <p:spPr>
          <a:xfrm>
            <a:off x="685800" y="3355848"/>
            <a:ext cx="2194560" cy="365760"/>
          </a:xfrm>
          <a:prstGeom prst="rect">
            <a:avLst/>
          </a:prstGeom>
          <a:noFill/>
          <a:ln/>
        </p:spPr>
        <p:txBody>
          <a:bodyPr wrap="square" lIns="0" tIns="0" rIns="0" bIns="0" rtlCol="0" anchor="ctr"/>
          <a:lstStyle/>
          <a:p>
            <a:pPr indent="0" marL="0">
              <a:buNone/>
            </a:pPr>
            <a:r>
              <a:rPr lang="en-US" sz="1500" b="1" dirty="0">
                <a:solidFill>
                  <a:schemeClr val="accent6"/>
                </a:solidFill>
              </a:rPr>
              <a:t>→ </a:t>
            </a:r>
            <a:pPr indent="0" marL="0">
              <a:buNone/>
            </a:pPr>
            <a:r>
              <a:rPr lang="en-US" sz="1500" b="1" dirty="0">
                <a:solidFill>
                  <a:schemeClr val="accent6"/>
                </a:solidFill>
              </a:rPr>
              <a:t>Send to amnesty</a:t>
            </a:r>
            <a:endParaRPr lang="en-US" sz="1500" dirty="0"/>
          </a:p>
        </p:txBody>
      </p:sp>
      <p:sp>
        <p:nvSpPr>
          <p:cNvPr id="8" name="Side card 2"/>
          <p:cNvSpPr/>
          <p:nvPr/>
        </p:nvSpPr>
        <p:spPr>
          <a:xfrm>
            <a:off x="3246120" y="1325880"/>
            <a:ext cx="2606040" cy="2514600"/>
          </a:xfrm>
          <a:prstGeom prst="roundRect">
            <a:avLst>
              <a:gd name="adj" fmla="val 3636"/>
            </a:avLst>
          </a:prstGeom>
          <a:solidFill>
            <a:srgbClr val="FBECEC"/>
          </a:solidFill>
          <a:ln/>
        </p:spPr>
      </p:sp>
      <p:pic>
        <p:nvPicPr>
          <p:cNvPr id="9" name="Side icon 2" descr="preencoded.png">    </p:cNvPr>
          <p:cNvPicPr>
            <a:picLocks noChangeAspect="1"/>
          </p:cNvPicPr>
          <p:nvPr/>
        </p:nvPicPr>
        <p:blipFill>
          <a:blip r:embed="rId2"/>
          <a:stretch>
            <a:fillRect/>
          </a:stretch>
        </p:blipFill>
        <p:spPr>
          <a:xfrm>
            <a:off x="3474720" y="1527048"/>
            <a:ext cx="384048" cy="384048"/>
          </a:xfrm>
          <a:prstGeom prst="rect">
            <a:avLst/>
          </a:prstGeom>
        </p:spPr>
      </p:pic>
      <p:sp>
        <p:nvSpPr>
          <p:cNvPr id="10" name="Side tag 2"/>
          <p:cNvSpPr txBox="1"/>
          <p:nvPr/>
        </p:nvSpPr>
        <p:spPr>
          <a:xfrm>
            <a:off x="3977640" y="1527048"/>
            <a:ext cx="1691640" cy="384048"/>
          </a:xfrm>
          <a:prstGeom prst="rect">
            <a:avLst/>
          </a:prstGeom>
          <a:noFill/>
          <a:ln/>
        </p:spPr>
        <p:txBody>
          <a:bodyPr wrap="square" lIns="0" tIns="0" rIns="0" bIns="0" rtlCol="0" anchor="ctr"/>
          <a:lstStyle/>
          <a:p>
            <a:pPr indent="0" marL="0">
              <a:buNone/>
            </a:pPr>
            <a:r>
              <a:rPr lang="en-US" sz="1300" b="1" spc="200" kern="0" dirty="0">
                <a:solidFill>
                  <a:schemeClr val="accent3"/>
                </a:solidFill>
              </a:rPr>
              <a:t>NOT AMNESTY</a:t>
            </a:r>
            <a:endParaRPr lang="en-US" sz="1300" dirty="0"/>
          </a:p>
        </p:txBody>
      </p:sp>
      <p:sp>
        <p:nvSpPr>
          <p:cNvPr id="11" name="Side text 2"/>
          <p:cNvSpPr txBox="1"/>
          <p:nvPr/>
        </p:nvSpPr>
        <p:spPr>
          <a:xfrm>
            <a:off x="3474720" y="2057400"/>
            <a:ext cx="2194560" cy="1234440"/>
          </a:xfrm>
          <a:prstGeom prst="rect">
            <a:avLst/>
          </a:prstGeom>
          <a:noFill/>
          <a:ln/>
        </p:spPr>
        <p:txBody>
          <a:bodyPr wrap="square" lIns="0" tIns="0" rIns="0" bIns="0" rtlCol="0" anchor="t"/>
          <a:lstStyle/>
          <a:p>
            <a:pPr indent="0" marL="0">
              <a:spcAft>
                <a:spcPts val="300"/>
              </a:spcAft>
              <a:buNone/>
            </a:pPr>
            <a:r>
              <a:rPr lang="en-US" sz="1800" b="1" dirty="0">
                <a:solidFill>
                  <a:schemeClr val="tx1"/>
                </a:solidFill>
              </a:rPr>
              <a:t>Already picked</a:t>
            </a:r>
            <a:endParaRPr lang="en-US" sz="1800" dirty="0"/>
          </a:p>
          <a:p>
            <a:pPr marL="342900" indent="-342900">
              <a:spcAft>
                <a:spcPts val="300"/>
              </a:spcAft>
              <a:buSzPct val="100000"/>
              <a:buChar char="•"/>
            </a:pPr>
            <a:r>
              <a:rPr lang="en-US" sz="1400" dirty="0">
                <a:solidFill>
                  <a:schemeClr val="accent4"/>
                </a:solidFill>
              </a:rPr>
              <a:t>Belongs in a tote, rebin location or chute</a:t>
            </a:r>
            <a:endParaRPr lang="en-US" sz="1800" dirty="0"/>
          </a:p>
          <a:p>
            <a:pPr marL="342900" indent="-342900">
              <a:spcAft>
                <a:spcPts val="300"/>
              </a:spcAft>
              <a:buSzPct val="100000"/>
              <a:buChar char="•"/>
            </a:pPr>
            <a:r>
              <a:rPr lang="en-US" sz="1400" dirty="0">
                <a:solidFill>
                  <a:schemeClr val="accent4"/>
                </a:solidFill>
              </a:rPr>
              <a:t>Fell or was put in the wrong place</a:t>
            </a:r>
            <a:endParaRPr lang="en-US" sz="1800" dirty="0"/>
          </a:p>
        </p:txBody>
      </p:sp>
      <p:sp>
        <p:nvSpPr>
          <p:cNvPr id="12" name="Side action 2"/>
          <p:cNvSpPr txBox="1"/>
          <p:nvPr/>
        </p:nvSpPr>
        <p:spPr>
          <a:xfrm>
            <a:off x="3474720" y="3355848"/>
            <a:ext cx="2194560" cy="365760"/>
          </a:xfrm>
          <a:prstGeom prst="rect">
            <a:avLst/>
          </a:prstGeom>
          <a:noFill/>
          <a:ln/>
        </p:spPr>
        <p:txBody>
          <a:bodyPr wrap="square" lIns="0" tIns="0" rIns="0" bIns="0" rtlCol="0" anchor="ctr"/>
          <a:lstStyle/>
          <a:p>
            <a:pPr indent="0" marL="0">
              <a:buNone/>
            </a:pPr>
            <a:r>
              <a:rPr lang="en-US" sz="1500" b="1" dirty="0">
                <a:solidFill>
                  <a:schemeClr val="accent3"/>
                </a:solidFill>
              </a:rPr>
              <a:t>→ </a:t>
            </a:r>
            <a:pPr indent="0" marL="0">
              <a:buNone/>
            </a:pPr>
            <a:r>
              <a:rPr lang="en-US" sz="1500" b="1" dirty="0">
                <a:solidFill>
                  <a:schemeClr val="accent3"/>
                </a:solidFill>
              </a:rPr>
              <a:t>Outbound problem solve</a:t>
            </a:r>
            <a:endParaRPr lang="en-US" sz="1500" dirty="0"/>
          </a:p>
        </p:txBody>
      </p:sp>
      <p:sp>
        <p:nvSpPr>
          <p:cNvPr id="13" name="Inflate callout"/>
          <p:cNvSpPr/>
          <p:nvPr/>
        </p:nvSpPr>
        <p:spPr>
          <a:xfrm>
            <a:off x="457200" y="3977640"/>
            <a:ext cx="5394960" cy="685800"/>
          </a:xfrm>
          <a:prstGeom prst="roundRect">
            <a:avLst>
              <a:gd name="adj" fmla="val 13333"/>
            </a:avLst>
          </a:prstGeom>
          <a:solidFill>
            <a:schemeClr val="tx2"/>
          </a:solidFill>
          <a:ln/>
        </p:spPr>
      </p:sp>
      <p:sp>
        <p:nvSpPr>
          <p:cNvPr id="14" name="Inflate text"/>
          <p:cNvSpPr txBox="1"/>
          <p:nvPr/>
        </p:nvSpPr>
        <p:spPr>
          <a:xfrm>
            <a:off x="731520" y="3977640"/>
            <a:ext cx="4846320" cy="685800"/>
          </a:xfrm>
          <a:prstGeom prst="rect">
            <a:avLst/>
          </a:prstGeom>
          <a:noFill/>
          <a:ln/>
        </p:spPr>
        <p:txBody>
          <a:bodyPr wrap="square" lIns="0" tIns="0" rIns="0" bIns="0" rtlCol="0" anchor="ctr"/>
          <a:lstStyle/>
          <a:p>
            <a:pPr indent="0" marL="0">
              <a:buNone/>
            </a:pPr>
            <a:r>
              <a:rPr lang="en-US" sz="1500" b="1" dirty="0">
                <a:solidFill>
                  <a:schemeClr val="bg1"/>
                </a:solidFill>
              </a:rPr>
              <a:t>Putting picked items into amnesty over-inflates wAPMT and hides the real outbound problem.</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body" hasCustomPrompt="1"/>
          </p:nvPr>
        </p:nvSpPr>
        <p:spPr>
          <a:xfrm>
            <a:off x="2514600" y="502920"/>
            <a:ext cx="6400800" cy="320040"/>
          </a:xfrm>
          <a:prstGeom prst="rect">
            <a:avLst/>
          </a:prstGeom>
          <a:noFill/>
          <a:ln/>
        </p:spPr>
        <p:txBody>
          <a:bodyPr wrap="square" lIns="0" tIns="0" rIns="0" bIns="0" rtlCol="0"/>
          <a:lstStyle/>
          <a:p>
            <a:pPr algn="ctr" indent="0" marL="0">
              <a:buNone/>
            </a:pPr>
            <a:r>
              <a:rPr lang="en-US" sz="1300" b="1" spc="300" kern="0" dirty="0">
                <a:solidFill>
                  <a:schemeClr val="accent6"/>
                </a:solidFill>
              </a:rPr>
              <a:t>PART 1</a:t>
            </a:r>
            <a:endParaRPr lang="en-US" sz="1300" dirty="0"/>
          </a:p>
        </p:txBody>
      </p:sp>
      <p:sp>
        <p:nvSpPr>
          <p:cNvPr id="3" name="Text 1"/>
          <p:cNvSpPr/>
          <p:nvPr>
            <p:ph idx="103" type="title" hasCustomPrompt="1"/>
          </p:nvPr>
        </p:nvSpPr>
        <p:spPr>
          <a:xfrm>
            <a:off x="2514600" y="868680"/>
            <a:ext cx="6400800" cy="868680"/>
          </a:xfrm>
          <a:prstGeom prst="rect">
            <a:avLst/>
          </a:prstGeom>
          <a:noFill/>
          <a:ln/>
        </p:spPr>
        <p:txBody>
          <a:bodyPr wrap="square" lIns="0" tIns="0" rIns="0" bIns="0" rtlCol="0" anchor="ctr"/>
          <a:lstStyle/>
          <a:p>
            <a:pPr algn="ctr" indent="0" marL="0">
              <a:buNone/>
            </a:pPr>
            <a:r>
              <a:rPr lang="en-US" sz="3600" b="1" dirty="0">
                <a:solidFill>
                  <a:schemeClr val="tx1"/>
                </a:solidFill>
              </a:rPr>
              <a:t>First Face Fix</a:t>
            </a:r>
            <a:endParaRPr lang="en-US" sz="3600" dirty="0"/>
          </a:p>
        </p:txBody>
      </p:sp>
      <p:sp>
        <p:nvSpPr>
          <p:cNvPr id="4" name="Text 1"/>
          <p:cNvSpPr/>
          <p:nvPr>
            <p:ph idx="104" type="body" hasCustomPrompt="1"/>
          </p:nvPr>
        </p:nvSpPr>
        <p:spPr>
          <a:xfrm>
            <a:off x="2971800" y="1783080"/>
            <a:ext cx="5486400" cy="685800"/>
          </a:xfrm>
          <a:prstGeom prst="rect">
            <a:avLst/>
          </a:prstGeom>
          <a:noFill/>
          <a:ln/>
        </p:spPr>
        <p:txBody>
          <a:bodyPr wrap="square" lIns="0" tIns="0" rIns="0" bIns="0" rtlCol="0" anchor="t"/>
          <a:lstStyle/>
          <a:p>
            <a:pPr algn="ctr" indent="0" marL="0">
              <a:buNone/>
            </a:pPr>
            <a:r>
              <a:rPr lang="en-US" sz="1600" dirty="0">
                <a:solidFill>
                  <a:schemeClr val="accent4"/>
                </a:solidFill>
              </a:rPr>
              <a:t>One minute. The first pod face. Every shift start and after every break.</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1" type="title" hasCustomPrompt="1"/>
          </p:nvPr>
        </p:nvSpPr>
        <p:spPr>
          <a:xfrm>
            <a:off x="457200" y="640080"/>
            <a:ext cx="5394960" cy="548640"/>
          </a:xfrm>
          <a:prstGeom prst="rect">
            <a:avLst/>
          </a:prstGeom>
          <a:noFill/>
          <a:ln/>
        </p:spPr>
        <p:txBody>
          <a:bodyPr wrap="square" lIns="0" tIns="0" rIns="0" bIns="0" rtlCol="0" anchor="ctr"/>
          <a:lstStyle/>
          <a:p>
            <a:pPr algn="l" indent="0" marL="0">
              <a:buNone/>
            </a:pPr>
            <a:r>
              <a:rPr lang="en-US" sz="2800" b="1" dirty="0">
                <a:solidFill>
                  <a:schemeClr val="tx1"/>
                </a:solidFill>
              </a:rPr>
              <a:t>What is First Face Fix?</a:t>
            </a:r>
            <a:endParaRPr lang="en-US" sz="2800" dirty="0"/>
          </a:p>
        </p:txBody>
      </p:sp>
      <p:sp>
        <p:nvSpPr>
          <p:cNvPr id="3" name="Stat card"/>
          <p:cNvSpPr/>
          <p:nvPr/>
        </p:nvSpPr>
        <p:spPr>
          <a:xfrm>
            <a:off x="457200" y="1325880"/>
            <a:ext cx="2011680" cy="3200400"/>
          </a:xfrm>
          <a:prstGeom prst="roundRect">
            <a:avLst>
              <a:gd name="adj" fmla="val 4545"/>
            </a:avLst>
          </a:prstGeom>
          <a:solidFill>
            <a:schemeClr val="tx2"/>
          </a:solidFill>
          <a:ln/>
        </p:spPr>
      </p:sp>
      <p:sp>
        <p:nvSpPr>
          <p:cNvPr id="4" name="Stat"/>
          <p:cNvSpPr txBox="1"/>
          <p:nvPr/>
        </p:nvSpPr>
        <p:spPr>
          <a:xfrm>
            <a:off x="685800" y="1325880"/>
            <a:ext cx="1554480" cy="3200400"/>
          </a:xfrm>
          <a:prstGeom prst="rect">
            <a:avLst/>
          </a:prstGeom>
          <a:noFill/>
          <a:ln/>
        </p:spPr>
        <p:txBody>
          <a:bodyPr wrap="square" lIns="0" tIns="0" rIns="0" bIns="0" rtlCol="0" anchor="ctr"/>
          <a:lstStyle/>
          <a:p>
            <a:pPr indent="0" marL="0">
              <a:buNone/>
            </a:pPr>
            <a:r>
              <a:rPr lang="en-US" sz="7200" b="1" dirty="0">
                <a:solidFill>
                  <a:schemeClr val="accent1"/>
                </a:solidFill>
              </a:rPr>
              <a:t>1</a:t>
            </a:r>
            <a:endParaRPr lang="en-US" sz="7200" dirty="0"/>
          </a:p>
          <a:p>
            <a:pPr indent="0" marL="0">
              <a:buNone/>
            </a:pPr>
            <a:r>
              <a:rPr lang="en-US" sz="1600" dirty="0">
                <a:solidFill>
                  <a:schemeClr val="bg1"/>
                </a:solidFill>
              </a:rPr>
              <a:t>minute to fix the first pod face</a:t>
            </a:r>
            <a:endParaRPr lang="en-US" sz="7200" dirty="0"/>
          </a:p>
        </p:txBody>
      </p:sp>
      <p:pic>
        <p:nvPicPr>
          <p:cNvPr id="5" name="Fact icon 1" descr="preencoded.png">    </p:cNvPr>
          <p:cNvPicPr>
            <a:picLocks noChangeAspect="1"/>
          </p:cNvPicPr>
          <p:nvPr/>
        </p:nvPicPr>
        <p:blipFill>
          <a:blip r:embed="rId1"/>
          <a:stretch>
            <a:fillRect/>
          </a:stretch>
        </p:blipFill>
        <p:spPr>
          <a:xfrm>
            <a:off x="2743200" y="1444752"/>
            <a:ext cx="347472" cy="347472"/>
          </a:xfrm>
          <a:prstGeom prst="rect">
            <a:avLst/>
          </a:prstGeom>
        </p:spPr>
      </p:pic>
      <p:sp>
        <p:nvSpPr>
          <p:cNvPr id="6" name="Fact 1"/>
          <p:cNvSpPr txBox="1"/>
          <p:nvPr/>
        </p:nvSpPr>
        <p:spPr>
          <a:xfrm>
            <a:off x="3246120" y="1371600"/>
            <a:ext cx="2606040" cy="868680"/>
          </a:xfrm>
          <a:prstGeom prst="rect">
            <a:avLst/>
          </a:prstGeom>
          <a:noFill/>
          <a:ln/>
        </p:spPr>
        <p:txBody>
          <a:bodyPr wrap="square" lIns="0" tIns="0" rIns="0" bIns="0" rtlCol="0" anchor="t"/>
          <a:lstStyle/>
          <a:p>
            <a:pPr indent="0" marL="0">
              <a:buNone/>
            </a:pPr>
            <a:r>
              <a:rPr lang="en-US" sz="1700" b="1" dirty="0">
                <a:solidFill>
                  <a:schemeClr val="tx1"/>
                </a:solidFill>
              </a:rPr>
              <a:t>When</a:t>
            </a:r>
            <a:endParaRPr lang="en-US" sz="1700" dirty="0"/>
          </a:p>
          <a:p>
            <a:pPr indent="0" marL="0">
              <a:buNone/>
            </a:pPr>
            <a:r>
              <a:rPr lang="en-US" sz="1400" dirty="0">
                <a:solidFill>
                  <a:schemeClr val="accent4"/>
                </a:solidFill>
              </a:rPr>
              <a:t>At shift start and after every break</a:t>
            </a:r>
            <a:endParaRPr lang="en-US" sz="1700" dirty="0"/>
          </a:p>
        </p:txBody>
      </p:sp>
      <p:pic>
        <p:nvPicPr>
          <p:cNvPr id="7" name="Fact icon 2" descr="preencoded.png">    </p:cNvPr>
          <p:cNvPicPr>
            <a:picLocks noChangeAspect="1"/>
          </p:cNvPicPr>
          <p:nvPr/>
        </p:nvPicPr>
        <p:blipFill>
          <a:blip r:embed="rId2"/>
          <a:stretch>
            <a:fillRect/>
          </a:stretch>
        </p:blipFill>
        <p:spPr>
          <a:xfrm>
            <a:off x="2743200" y="2514600"/>
            <a:ext cx="347472" cy="347472"/>
          </a:xfrm>
          <a:prstGeom prst="rect">
            <a:avLst/>
          </a:prstGeom>
        </p:spPr>
      </p:pic>
      <p:sp>
        <p:nvSpPr>
          <p:cNvPr id="8" name="Fact 2"/>
          <p:cNvSpPr txBox="1"/>
          <p:nvPr/>
        </p:nvSpPr>
        <p:spPr>
          <a:xfrm>
            <a:off x="3246120" y="2441448"/>
            <a:ext cx="2606040" cy="868680"/>
          </a:xfrm>
          <a:prstGeom prst="rect">
            <a:avLst/>
          </a:prstGeom>
          <a:noFill/>
          <a:ln/>
        </p:spPr>
        <p:txBody>
          <a:bodyPr wrap="square" lIns="0" tIns="0" rIns="0" bIns="0" rtlCol="0" anchor="t"/>
          <a:lstStyle/>
          <a:p>
            <a:pPr indent="0" marL="0">
              <a:buNone/>
            </a:pPr>
            <a:r>
              <a:rPr lang="en-US" sz="1700" b="1" dirty="0">
                <a:solidFill>
                  <a:schemeClr val="tx1"/>
                </a:solidFill>
              </a:rPr>
              <a:t>What</a:t>
            </a:r>
            <a:endParaRPr lang="en-US" sz="1700" dirty="0"/>
          </a:p>
          <a:p>
            <a:pPr indent="0" marL="0">
              <a:buNone/>
            </a:pPr>
            <a:r>
              <a:rPr lang="en-US" sz="1400" dirty="0">
                <a:solidFill>
                  <a:schemeClr val="accent4"/>
                </a:solidFill>
              </a:rPr>
              <a:t>The first pod face that arrives at your station</a:t>
            </a:r>
            <a:endParaRPr lang="en-US" sz="1700" dirty="0"/>
          </a:p>
        </p:txBody>
      </p:sp>
      <p:pic>
        <p:nvPicPr>
          <p:cNvPr id="9" name="Fact icon 3" descr="preencoded.png">    </p:cNvPr>
          <p:cNvPicPr>
            <a:picLocks noChangeAspect="1"/>
          </p:cNvPicPr>
          <p:nvPr/>
        </p:nvPicPr>
        <p:blipFill>
          <a:blip r:embed="rId3"/>
          <a:stretch>
            <a:fillRect/>
          </a:stretch>
        </p:blipFill>
        <p:spPr>
          <a:xfrm>
            <a:off x="2743200" y="3584448"/>
            <a:ext cx="347472" cy="347472"/>
          </a:xfrm>
          <a:prstGeom prst="rect">
            <a:avLst/>
          </a:prstGeom>
        </p:spPr>
      </p:pic>
      <p:sp>
        <p:nvSpPr>
          <p:cNvPr id="10" name="Fact 3"/>
          <p:cNvSpPr txBox="1"/>
          <p:nvPr/>
        </p:nvSpPr>
        <p:spPr>
          <a:xfrm>
            <a:off x="3246120" y="3511296"/>
            <a:ext cx="2606040" cy="868680"/>
          </a:xfrm>
          <a:prstGeom prst="rect">
            <a:avLst/>
          </a:prstGeom>
          <a:noFill/>
          <a:ln/>
        </p:spPr>
        <p:txBody>
          <a:bodyPr wrap="square" lIns="0" tIns="0" rIns="0" bIns="0" rtlCol="0" anchor="t"/>
          <a:lstStyle/>
          <a:p>
            <a:pPr indent="0" marL="0">
              <a:buNone/>
            </a:pPr>
            <a:r>
              <a:rPr lang="en-US" sz="1700" b="1" dirty="0">
                <a:solidFill>
                  <a:schemeClr val="tx1"/>
                </a:solidFill>
              </a:rPr>
              <a:t>Who</a:t>
            </a:r>
            <a:endParaRPr lang="en-US" sz="1700" dirty="0"/>
          </a:p>
          <a:p>
            <a:pPr indent="0" marL="0">
              <a:buNone/>
            </a:pPr>
            <a:r>
              <a:rPr lang="en-US" sz="1400" dirty="0">
                <a:solidFill>
                  <a:schemeClr val="accent4"/>
                </a:solidFill>
              </a:rPr>
              <a:t>All Stow and ICQA associates</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1" type="title" hasCustomPrompt="1"/>
          </p:nvPr>
        </p:nvSpPr>
        <p:spPr>
          <a:xfrm>
            <a:off x="457200" y="640080"/>
            <a:ext cx="5394960" cy="548640"/>
          </a:xfrm>
          <a:prstGeom prst="rect">
            <a:avLst/>
          </a:prstGeom>
          <a:noFill/>
          <a:ln/>
        </p:spPr>
        <p:txBody>
          <a:bodyPr wrap="square" lIns="0" tIns="0" rIns="0" bIns="0" rtlCol="0" anchor="ctr"/>
          <a:lstStyle/>
          <a:p>
            <a:pPr algn="l" indent="0" marL="0">
              <a:buNone/>
            </a:pPr>
            <a:r>
              <a:rPr lang="en-US" sz="2800" b="1" dirty="0">
                <a:solidFill>
                  <a:schemeClr val="tx1"/>
                </a:solidFill>
              </a:rPr>
              <a:t>How to do FFF in 4 steps</a:t>
            </a:r>
            <a:endParaRPr lang="en-US" sz="2800" dirty="0"/>
          </a:p>
        </p:txBody>
      </p:sp>
      <p:sp>
        <p:nvSpPr>
          <p:cNvPr id="3" name="Step badge 1"/>
          <p:cNvSpPr/>
          <p:nvPr/>
        </p:nvSpPr>
        <p:spPr>
          <a:xfrm>
            <a:off x="457200" y="1325880"/>
            <a:ext cx="548640" cy="548640"/>
          </a:xfrm>
          <a:prstGeom prst="ellipse">
            <a:avLst/>
          </a:prstGeom>
          <a:solidFill>
            <a:schemeClr val="accent1"/>
          </a:solidFill>
          <a:ln/>
        </p:spPr>
      </p:sp>
      <p:sp>
        <p:nvSpPr>
          <p:cNvPr id="4" name="Step number 1"/>
          <p:cNvSpPr txBox="1"/>
          <p:nvPr/>
        </p:nvSpPr>
        <p:spPr>
          <a:xfrm>
            <a:off x="457200" y="132588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5" name="Step 1"/>
          <p:cNvSpPr txBox="1"/>
          <p:nvPr/>
        </p:nvSpPr>
        <p:spPr>
          <a:xfrm>
            <a:off x="1280160" y="1261872"/>
            <a:ext cx="4572000" cy="685800"/>
          </a:xfrm>
          <a:prstGeom prst="rect">
            <a:avLst/>
          </a:prstGeom>
          <a:noFill/>
          <a:ln/>
        </p:spPr>
        <p:txBody>
          <a:bodyPr wrap="square" lIns="0" tIns="0" rIns="0" bIns="0" rtlCol="0" anchor="ctr"/>
          <a:lstStyle/>
          <a:p>
            <a:pPr indent="0" marL="0">
              <a:buNone/>
            </a:pPr>
            <a:r>
              <a:rPr lang="en-US" sz="1700" b="1" dirty="0">
                <a:solidFill>
                  <a:schemeClr val="tx1"/>
                </a:solidFill>
              </a:rPr>
              <a:t>Get ready</a:t>
            </a:r>
            <a:endParaRPr lang="en-US" sz="1700" dirty="0"/>
          </a:p>
          <a:p>
            <a:pPr indent="0" marL="0">
              <a:buNone/>
            </a:pPr>
            <a:r>
              <a:rPr lang="en-US" sz="1400" dirty="0">
                <a:solidFill>
                  <a:schemeClr val="accent4"/>
                </a:solidFill>
              </a:rPr>
              <a:t>Log in, choose your process path, check your station</a:t>
            </a:r>
            <a:endParaRPr lang="en-US" sz="1700" dirty="0"/>
          </a:p>
        </p:txBody>
      </p:sp>
      <p:sp>
        <p:nvSpPr>
          <p:cNvPr id="6" name="Step badge 2"/>
          <p:cNvSpPr/>
          <p:nvPr/>
        </p:nvSpPr>
        <p:spPr>
          <a:xfrm>
            <a:off x="457200" y="2148840"/>
            <a:ext cx="548640" cy="548640"/>
          </a:xfrm>
          <a:prstGeom prst="ellipse">
            <a:avLst/>
          </a:prstGeom>
          <a:solidFill>
            <a:schemeClr val="accent1"/>
          </a:solidFill>
          <a:ln/>
        </p:spPr>
      </p:sp>
      <p:sp>
        <p:nvSpPr>
          <p:cNvPr id="7" name="Step number 2"/>
          <p:cNvSpPr txBox="1"/>
          <p:nvPr/>
        </p:nvSpPr>
        <p:spPr>
          <a:xfrm>
            <a:off x="457200" y="214884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8" name="Step 2"/>
          <p:cNvSpPr txBox="1"/>
          <p:nvPr/>
        </p:nvSpPr>
        <p:spPr>
          <a:xfrm>
            <a:off x="1280160" y="2084832"/>
            <a:ext cx="4572000" cy="685800"/>
          </a:xfrm>
          <a:prstGeom prst="rect">
            <a:avLst/>
          </a:prstGeom>
          <a:noFill/>
          <a:ln/>
        </p:spPr>
        <p:txBody>
          <a:bodyPr wrap="square" lIns="0" tIns="0" rIns="0" bIns="0" rtlCol="0" anchor="ctr"/>
          <a:lstStyle/>
          <a:p>
            <a:pPr indent="0" marL="0">
              <a:buNone/>
            </a:pPr>
            <a:r>
              <a:rPr lang="en-US" sz="1700" b="1" dirty="0">
                <a:solidFill>
                  <a:schemeClr val="tx1"/>
                </a:solidFill>
              </a:rPr>
              <a:t>Work top to bottom</a:t>
            </a:r>
            <a:endParaRPr lang="en-US" sz="1700" dirty="0"/>
          </a:p>
          <a:p>
            <a:pPr indent="0" marL="0">
              <a:buNone/>
            </a:pPr>
            <a:r>
              <a:rPr lang="en-US" sz="1400" dirty="0">
                <a:solidFill>
                  <a:schemeClr val="accent4"/>
                </a:solidFill>
              </a:rPr>
              <a:t>Start at the top of the face and follow the stow snake</a:t>
            </a:r>
            <a:endParaRPr lang="en-US" sz="1700" dirty="0"/>
          </a:p>
        </p:txBody>
      </p:sp>
      <p:sp>
        <p:nvSpPr>
          <p:cNvPr id="9" name="Step badge 3"/>
          <p:cNvSpPr/>
          <p:nvPr/>
        </p:nvSpPr>
        <p:spPr>
          <a:xfrm>
            <a:off x="457200" y="2971800"/>
            <a:ext cx="548640" cy="548640"/>
          </a:xfrm>
          <a:prstGeom prst="ellipse">
            <a:avLst/>
          </a:prstGeom>
          <a:solidFill>
            <a:schemeClr val="accent1"/>
          </a:solidFill>
          <a:ln/>
        </p:spPr>
      </p:sp>
      <p:sp>
        <p:nvSpPr>
          <p:cNvPr id="10" name="Step number 3"/>
          <p:cNvSpPr txBox="1"/>
          <p:nvPr/>
        </p:nvSpPr>
        <p:spPr>
          <a:xfrm>
            <a:off x="457200" y="297180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1" name="Step 3"/>
          <p:cNvSpPr txBox="1"/>
          <p:nvPr/>
        </p:nvSpPr>
        <p:spPr>
          <a:xfrm>
            <a:off x="1280160" y="2907792"/>
            <a:ext cx="4572000" cy="685800"/>
          </a:xfrm>
          <a:prstGeom prst="rect">
            <a:avLst/>
          </a:prstGeom>
          <a:noFill/>
          <a:ln/>
        </p:spPr>
        <p:txBody>
          <a:bodyPr wrap="square" lIns="0" tIns="0" rIns="0" bIns="0" rtlCol="0" anchor="ctr"/>
          <a:lstStyle/>
          <a:p>
            <a:pPr indent="0" marL="0">
              <a:buNone/>
            </a:pPr>
            <a:r>
              <a:rPr lang="en-US" sz="1700" b="1" dirty="0">
                <a:solidFill>
                  <a:schemeClr val="tx1"/>
                </a:solidFill>
              </a:rPr>
              <a:t>Fix every bin</a:t>
            </a:r>
            <a:endParaRPr lang="en-US" sz="1700" dirty="0"/>
          </a:p>
          <a:p>
            <a:pPr indent="0" marL="0">
              <a:buNone/>
            </a:pPr>
            <a:r>
              <a:rPr lang="en-US" sz="1400" dirty="0">
                <a:solidFill>
                  <a:schemeClr val="accent4"/>
                </a:solidFill>
              </a:rPr>
              <a:t>Bring each bin up to the ROBOTSS rules</a:t>
            </a:r>
            <a:endParaRPr lang="en-US" sz="1700" dirty="0"/>
          </a:p>
        </p:txBody>
      </p:sp>
      <p:sp>
        <p:nvSpPr>
          <p:cNvPr id="12" name="Step badge 4"/>
          <p:cNvSpPr/>
          <p:nvPr/>
        </p:nvSpPr>
        <p:spPr>
          <a:xfrm>
            <a:off x="457200" y="3794760"/>
            <a:ext cx="548640" cy="548640"/>
          </a:xfrm>
          <a:prstGeom prst="ellipse">
            <a:avLst/>
          </a:prstGeom>
          <a:solidFill>
            <a:schemeClr val="accent1"/>
          </a:solidFill>
          <a:ln/>
        </p:spPr>
      </p:sp>
      <p:sp>
        <p:nvSpPr>
          <p:cNvPr id="13" name="Step number 4"/>
          <p:cNvSpPr txBox="1"/>
          <p:nvPr/>
        </p:nvSpPr>
        <p:spPr>
          <a:xfrm>
            <a:off x="457200" y="379476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14" name="Step 4"/>
          <p:cNvSpPr txBox="1"/>
          <p:nvPr/>
        </p:nvSpPr>
        <p:spPr>
          <a:xfrm>
            <a:off x="1280160" y="3730752"/>
            <a:ext cx="4572000" cy="685800"/>
          </a:xfrm>
          <a:prstGeom prst="rect">
            <a:avLst/>
          </a:prstGeom>
          <a:noFill/>
          <a:ln/>
        </p:spPr>
        <p:txBody>
          <a:bodyPr wrap="square" lIns="0" tIns="0" rIns="0" bIns="0" rtlCol="0" anchor="ctr"/>
          <a:lstStyle/>
          <a:p>
            <a:pPr indent="0" marL="0">
              <a:buNone/>
            </a:pPr>
            <a:r>
              <a:rPr lang="en-US" sz="1700" b="1" dirty="0">
                <a:solidFill>
                  <a:schemeClr val="tx1"/>
                </a:solidFill>
              </a:rPr>
              <a:t>Start your process</a:t>
            </a:r>
            <a:endParaRPr lang="en-US" sz="1700" dirty="0"/>
          </a:p>
          <a:p>
            <a:pPr indent="0" marL="0">
              <a:buNone/>
            </a:pPr>
            <a:r>
              <a:rPr lang="en-US" sz="1400" dirty="0">
                <a:solidFill>
                  <a:schemeClr val="accent4"/>
                </a:solidFill>
              </a:rPr>
              <a:t>After 1 minute, or once the face meets ROBOTSS</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title" hasCustomPrompt="1"/>
          </p:nvPr>
        </p:nvSpPr>
        <p:spPr>
          <a:xfrm>
            <a:off x="457200" y="640080"/>
            <a:ext cx="5394960" cy="548640"/>
          </a:xfrm>
          <a:prstGeom prst="rect">
            <a:avLst/>
          </a:prstGeom>
          <a:noFill/>
          <a:ln/>
        </p:spPr>
        <p:txBody>
          <a:bodyPr wrap="square" lIns="0" tIns="0" rIns="0" bIns="0" rtlCol="0" anchor="ctr"/>
          <a:lstStyle/>
          <a:p>
            <a:pPr algn="l" indent="0" marL="0">
              <a:buNone/>
            </a:pPr>
            <a:r>
              <a:rPr lang="en-US" sz="2800" b="1" dirty="0">
                <a:solidFill>
                  <a:schemeClr val="tx1"/>
                </a:solidFill>
              </a:rPr>
              <a:t>During FFF, do NOT</a:t>
            </a:r>
            <a:endParaRPr lang="en-US" sz="2800" dirty="0"/>
          </a:p>
        </p:txBody>
      </p:sp>
      <p:sp>
        <p:nvSpPr>
          <p:cNvPr id="3" name="Dont card 1"/>
          <p:cNvSpPr/>
          <p:nvPr/>
        </p:nvSpPr>
        <p:spPr>
          <a:xfrm>
            <a:off x="457200" y="1325880"/>
            <a:ext cx="1691640" cy="2194560"/>
          </a:xfrm>
          <a:prstGeom prst="roundRect">
            <a:avLst>
              <a:gd name="adj" fmla="val 5405"/>
            </a:avLst>
          </a:prstGeom>
          <a:solidFill>
            <a:srgbClr val="FBECEC"/>
          </a:solidFill>
          <a:ln/>
        </p:spPr>
      </p:sp>
      <p:pic>
        <p:nvPicPr>
          <p:cNvPr id="4" name="Dont icon 1" descr="preencoded.png">    </p:cNvPr>
          <p:cNvPicPr>
            <a:picLocks noChangeAspect="1"/>
          </p:cNvPicPr>
          <p:nvPr/>
        </p:nvPicPr>
        <p:blipFill>
          <a:blip r:embed="rId1"/>
          <a:stretch>
            <a:fillRect/>
          </a:stretch>
        </p:blipFill>
        <p:spPr>
          <a:xfrm>
            <a:off x="685800" y="1554480"/>
            <a:ext cx="457200" cy="457200"/>
          </a:xfrm>
          <a:prstGeom prst="rect">
            <a:avLst/>
          </a:prstGeom>
        </p:spPr>
      </p:pic>
      <p:pic>
        <p:nvPicPr>
          <p:cNvPr id="5" name="Ban icon 1" descr="preencoded.png">    </p:cNvPr>
          <p:cNvPicPr>
            <a:picLocks noChangeAspect="1"/>
          </p:cNvPicPr>
          <p:nvPr/>
        </p:nvPicPr>
        <p:blipFill>
          <a:blip r:embed="rId2"/>
          <a:stretch>
            <a:fillRect/>
          </a:stretch>
        </p:blipFill>
        <p:spPr>
          <a:xfrm>
            <a:off x="1554480" y="1554480"/>
            <a:ext cx="365760" cy="365760"/>
          </a:xfrm>
          <a:prstGeom prst="rect">
            <a:avLst/>
          </a:prstGeom>
        </p:spPr>
      </p:pic>
      <p:sp>
        <p:nvSpPr>
          <p:cNvPr id="6" name="Dont text 1"/>
          <p:cNvSpPr txBox="1"/>
          <p:nvPr/>
        </p:nvSpPr>
        <p:spPr>
          <a:xfrm>
            <a:off x="685800" y="2194560"/>
            <a:ext cx="1280160" cy="1234440"/>
          </a:xfrm>
          <a:prstGeom prst="rect">
            <a:avLst/>
          </a:prstGeom>
          <a:noFill/>
          <a:ln/>
        </p:spPr>
        <p:txBody>
          <a:bodyPr wrap="square" lIns="0" tIns="0" rIns="0" bIns="0" rtlCol="0" anchor="t"/>
          <a:lstStyle/>
          <a:p>
            <a:pPr indent="0" marL="0">
              <a:buNone/>
            </a:pPr>
            <a:r>
              <a:rPr lang="en-US" sz="2000" b="1" dirty="0">
                <a:solidFill>
                  <a:schemeClr val="accent3"/>
                </a:solidFill>
              </a:rPr>
              <a:t>Scan</a:t>
            </a:r>
            <a:endParaRPr lang="en-US" sz="2000" dirty="0"/>
          </a:p>
          <a:p>
            <a:pPr indent="0" marL="0">
              <a:buNone/>
            </a:pPr>
            <a:r>
              <a:rPr lang="en-US" sz="1400" dirty="0">
                <a:solidFill>
                  <a:schemeClr val="tx1"/>
                </a:solidFill>
              </a:rPr>
              <a:t>any articles in totes or bins</a:t>
            </a:r>
            <a:endParaRPr lang="en-US" sz="2000" dirty="0"/>
          </a:p>
        </p:txBody>
      </p:sp>
      <p:sp>
        <p:nvSpPr>
          <p:cNvPr id="7" name="Dont card 2"/>
          <p:cNvSpPr/>
          <p:nvPr/>
        </p:nvSpPr>
        <p:spPr>
          <a:xfrm>
            <a:off x="2286000" y="1325880"/>
            <a:ext cx="1691640" cy="2194560"/>
          </a:xfrm>
          <a:prstGeom prst="roundRect">
            <a:avLst>
              <a:gd name="adj" fmla="val 5405"/>
            </a:avLst>
          </a:prstGeom>
          <a:solidFill>
            <a:srgbClr val="FBECEC"/>
          </a:solidFill>
          <a:ln/>
        </p:spPr>
      </p:sp>
      <p:pic>
        <p:nvPicPr>
          <p:cNvPr id="8" name="Dont icon 2" descr="preencoded.png">    </p:cNvPr>
          <p:cNvPicPr>
            <a:picLocks noChangeAspect="1"/>
          </p:cNvPicPr>
          <p:nvPr/>
        </p:nvPicPr>
        <p:blipFill>
          <a:blip r:embed="rId3"/>
          <a:stretch>
            <a:fillRect/>
          </a:stretch>
        </p:blipFill>
        <p:spPr>
          <a:xfrm>
            <a:off x="2514600" y="1554480"/>
            <a:ext cx="457200" cy="457200"/>
          </a:xfrm>
          <a:prstGeom prst="rect">
            <a:avLst/>
          </a:prstGeom>
        </p:spPr>
      </p:pic>
      <p:pic>
        <p:nvPicPr>
          <p:cNvPr id="9" name="Ban icon 2" descr="preencoded.png">    </p:cNvPr>
          <p:cNvPicPr>
            <a:picLocks noChangeAspect="1"/>
          </p:cNvPicPr>
          <p:nvPr/>
        </p:nvPicPr>
        <p:blipFill>
          <a:blip r:embed="rId4"/>
          <a:stretch>
            <a:fillRect/>
          </a:stretch>
        </p:blipFill>
        <p:spPr>
          <a:xfrm>
            <a:off x="3383280" y="1554480"/>
            <a:ext cx="365760" cy="365760"/>
          </a:xfrm>
          <a:prstGeom prst="rect">
            <a:avLst/>
          </a:prstGeom>
        </p:spPr>
      </p:pic>
      <p:sp>
        <p:nvSpPr>
          <p:cNvPr id="10" name="Dont text 2"/>
          <p:cNvSpPr txBox="1"/>
          <p:nvPr/>
        </p:nvSpPr>
        <p:spPr>
          <a:xfrm>
            <a:off x="2514600" y="2194560"/>
            <a:ext cx="1280160" cy="1234440"/>
          </a:xfrm>
          <a:prstGeom prst="rect">
            <a:avLst/>
          </a:prstGeom>
          <a:noFill/>
          <a:ln/>
        </p:spPr>
        <p:txBody>
          <a:bodyPr wrap="square" lIns="0" tIns="0" rIns="0" bIns="0" rtlCol="0" anchor="t"/>
          <a:lstStyle/>
          <a:p>
            <a:pPr indent="0" marL="0">
              <a:buNone/>
            </a:pPr>
            <a:r>
              <a:rPr lang="en-US" sz="2000" b="1" dirty="0">
                <a:solidFill>
                  <a:schemeClr val="accent3"/>
                </a:solidFill>
              </a:rPr>
              <a:t>Move</a:t>
            </a:r>
            <a:endParaRPr lang="en-US" sz="2000" dirty="0"/>
          </a:p>
          <a:p>
            <a:pPr indent="0" marL="0">
              <a:buNone/>
            </a:pPr>
            <a:r>
              <a:rPr lang="en-US" sz="1400" dirty="0">
                <a:solidFill>
                  <a:schemeClr val="tx1"/>
                </a:solidFill>
              </a:rPr>
              <a:t>articles to a different bin</a:t>
            </a:r>
            <a:endParaRPr lang="en-US" sz="2000" dirty="0"/>
          </a:p>
        </p:txBody>
      </p:sp>
      <p:sp>
        <p:nvSpPr>
          <p:cNvPr id="11" name="Dont card 3"/>
          <p:cNvSpPr/>
          <p:nvPr/>
        </p:nvSpPr>
        <p:spPr>
          <a:xfrm>
            <a:off x="4114800" y="1325880"/>
            <a:ext cx="1691640" cy="2194560"/>
          </a:xfrm>
          <a:prstGeom prst="roundRect">
            <a:avLst>
              <a:gd name="adj" fmla="val 5405"/>
            </a:avLst>
          </a:prstGeom>
          <a:solidFill>
            <a:srgbClr val="FBECEC"/>
          </a:solidFill>
          <a:ln/>
        </p:spPr>
      </p:sp>
      <p:pic>
        <p:nvPicPr>
          <p:cNvPr id="12" name="Dont icon 3" descr="preencoded.png">    </p:cNvPr>
          <p:cNvPicPr>
            <a:picLocks noChangeAspect="1"/>
          </p:cNvPicPr>
          <p:nvPr/>
        </p:nvPicPr>
        <p:blipFill>
          <a:blip r:embed="rId5"/>
          <a:stretch>
            <a:fillRect/>
          </a:stretch>
        </p:blipFill>
        <p:spPr>
          <a:xfrm>
            <a:off x="4343400" y="1554480"/>
            <a:ext cx="457200" cy="457200"/>
          </a:xfrm>
          <a:prstGeom prst="rect">
            <a:avLst/>
          </a:prstGeom>
        </p:spPr>
      </p:pic>
      <p:pic>
        <p:nvPicPr>
          <p:cNvPr id="13" name="Ban icon 3" descr="preencoded.png">    </p:cNvPr>
          <p:cNvPicPr>
            <a:picLocks noChangeAspect="1"/>
          </p:cNvPicPr>
          <p:nvPr/>
        </p:nvPicPr>
        <p:blipFill>
          <a:blip r:embed="rId6"/>
          <a:stretch>
            <a:fillRect/>
          </a:stretch>
        </p:blipFill>
        <p:spPr>
          <a:xfrm>
            <a:off x="5212080" y="1554480"/>
            <a:ext cx="365760" cy="365760"/>
          </a:xfrm>
          <a:prstGeom prst="rect">
            <a:avLst/>
          </a:prstGeom>
        </p:spPr>
      </p:pic>
      <p:sp>
        <p:nvSpPr>
          <p:cNvPr id="14" name="Dont text 3"/>
          <p:cNvSpPr txBox="1"/>
          <p:nvPr/>
        </p:nvSpPr>
        <p:spPr>
          <a:xfrm>
            <a:off x="4343400" y="2194560"/>
            <a:ext cx="1280160" cy="1234440"/>
          </a:xfrm>
          <a:prstGeom prst="rect">
            <a:avLst/>
          </a:prstGeom>
          <a:noFill/>
          <a:ln/>
        </p:spPr>
        <p:txBody>
          <a:bodyPr wrap="square" lIns="0" tIns="0" rIns="0" bIns="0" rtlCol="0" anchor="t"/>
          <a:lstStyle/>
          <a:p>
            <a:pPr indent="0" marL="0">
              <a:buNone/>
            </a:pPr>
            <a:r>
              <a:rPr lang="en-US" sz="2000" b="1" dirty="0">
                <a:solidFill>
                  <a:schemeClr val="accent3"/>
                </a:solidFill>
              </a:rPr>
              <a:t>Remove</a:t>
            </a:r>
            <a:endParaRPr lang="en-US" sz="2000" dirty="0"/>
          </a:p>
          <a:p>
            <a:pPr indent="0" marL="0">
              <a:buNone/>
            </a:pPr>
            <a:r>
              <a:rPr lang="en-US" sz="1400" dirty="0">
                <a:solidFill>
                  <a:schemeClr val="tx1"/>
                </a:solidFill>
              </a:rPr>
              <a:t>any articles from bins</a:t>
            </a:r>
            <a:endParaRPr lang="en-US" sz="2000" dirty="0"/>
          </a:p>
        </p:txBody>
      </p:sp>
      <p:pic>
        <p:nvPicPr>
          <p:cNvPr id="15" name="Check icon" descr="preencoded.png">    </p:cNvPr>
          <p:cNvPicPr>
            <a:picLocks noChangeAspect="1"/>
          </p:cNvPicPr>
          <p:nvPr/>
        </p:nvPicPr>
        <p:blipFill>
          <a:blip r:embed="rId7"/>
          <a:stretch>
            <a:fillRect/>
          </a:stretch>
        </p:blipFill>
        <p:spPr>
          <a:xfrm>
            <a:off x="457200" y="3886200"/>
            <a:ext cx="365760" cy="365760"/>
          </a:xfrm>
          <a:prstGeom prst="rect">
            <a:avLst/>
          </a:prstGeom>
        </p:spPr>
      </p:pic>
      <p:sp>
        <p:nvSpPr>
          <p:cNvPr id="16" name="Do text"/>
          <p:cNvSpPr txBox="1"/>
          <p:nvPr/>
        </p:nvSpPr>
        <p:spPr>
          <a:xfrm>
            <a:off x="1005840" y="3776472"/>
            <a:ext cx="4846320" cy="594360"/>
          </a:xfrm>
          <a:prstGeom prst="rect">
            <a:avLst/>
          </a:prstGeom>
          <a:noFill/>
          <a:ln/>
        </p:spPr>
        <p:txBody>
          <a:bodyPr wrap="square" lIns="0" tIns="0" rIns="0" bIns="0" rtlCol="0" anchor="ctr"/>
          <a:lstStyle/>
          <a:p>
            <a:pPr indent="0" marL="0">
              <a:buNone/>
            </a:pPr>
            <a:r>
              <a:rPr lang="en-US" sz="1600" b="1" dirty="0">
                <a:solidFill>
                  <a:schemeClr val="accent2"/>
                </a:solidFill>
              </a:rPr>
              <a:t>FFF is only about organizing what is already in each bin.</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type="title" hasCustomPrompt="1"/>
          </p:nvPr>
        </p:nvSpPr>
        <p:spPr>
          <a:xfrm>
            <a:off x="457200" y="640080"/>
            <a:ext cx="5394960" cy="548640"/>
          </a:xfrm>
          <a:prstGeom prst="rect">
            <a:avLst/>
          </a:prstGeom>
          <a:noFill/>
          <a:ln/>
        </p:spPr>
        <p:txBody>
          <a:bodyPr wrap="square" lIns="0" tIns="0" rIns="0" bIns="0" rtlCol="0" anchor="ctr"/>
          <a:lstStyle/>
          <a:p>
            <a:pPr algn="l" indent="0" marL="0">
              <a:buNone/>
            </a:pPr>
            <a:r>
              <a:rPr lang="en-US" sz="2800" b="1" dirty="0">
                <a:solidFill>
                  <a:schemeClr val="tx1"/>
                </a:solidFill>
              </a:rPr>
              <a:t>Then keep fixing as you go</a:t>
            </a:r>
            <a:endParaRPr lang="en-US" sz="2800" dirty="0"/>
          </a:p>
        </p:txBody>
      </p:sp>
      <p:sp>
        <p:nvSpPr>
          <p:cNvPr id="3" name="Quote card"/>
          <p:cNvSpPr/>
          <p:nvPr/>
        </p:nvSpPr>
        <p:spPr>
          <a:xfrm>
            <a:off x="457200" y="1325880"/>
            <a:ext cx="5394960" cy="1188720"/>
          </a:xfrm>
          <a:prstGeom prst="roundRect">
            <a:avLst>
              <a:gd name="adj" fmla="val 7692"/>
            </a:avLst>
          </a:prstGeom>
          <a:solidFill>
            <a:schemeClr val="bg1"/>
          </a:solidFill>
          <a:ln/>
        </p:spPr>
      </p:sp>
      <p:pic>
        <p:nvPicPr>
          <p:cNvPr id="4" name="Redo icon" descr="preencoded.png">    </p:cNvPr>
          <p:cNvPicPr>
            <a:picLocks noChangeAspect="1"/>
          </p:cNvPicPr>
          <p:nvPr/>
        </p:nvPicPr>
        <p:blipFill>
          <a:blip r:embed="rId1"/>
          <a:stretch>
            <a:fillRect/>
          </a:stretch>
        </p:blipFill>
        <p:spPr>
          <a:xfrm>
            <a:off x="731520" y="1709928"/>
            <a:ext cx="411480" cy="411480"/>
          </a:xfrm>
          <a:prstGeom prst="rect">
            <a:avLst/>
          </a:prstGeom>
        </p:spPr>
      </p:pic>
      <p:sp>
        <p:nvSpPr>
          <p:cNvPr id="5" name="Quote"/>
          <p:cNvSpPr txBox="1"/>
          <p:nvPr/>
        </p:nvSpPr>
        <p:spPr>
          <a:xfrm>
            <a:off x="1371600" y="1325880"/>
            <a:ext cx="4297680" cy="1188720"/>
          </a:xfrm>
          <a:prstGeom prst="rect">
            <a:avLst/>
          </a:prstGeom>
          <a:noFill/>
          <a:ln/>
        </p:spPr>
        <p:txBody>
          <a:bodyPr wrap="square" lIns="0" tIns="0" rIns="0" bIns="0" rtlCol="0" anchor="ctr"/>
          <a:lstStyle/>
          <a:p>
            <a:pPr indent="0" marL="0">
              <a:buNone/>
            </a:pPr>
            <a:r>
              <a:rPr lang="en-US" sz="1800" b="1" dirty="0">
                <a:solidFill>
                  <a:schemeClr val="tx1"/>
                </a:solidFill>
              </a:rPr>
              <a:t>Leave every bin better than you found it.</a:t>
            </a:r>
            <a:endParaRPr lang="en-US" sz="1800" dirty="0"/>
          </a:p>
          <a:p>
            <a:pPr indent="0" marL="0">
              <a:buNone/>
            </a:pPr>
            <a:r>
              <a:rPr lang="en-US" sz="1400" dirty="0">
                <a:solidFill>
                  <a:schemeClr val="accent4"/>
                </a:solidFill>
              </a:rPr>
              <a:t>Whenever your hands are in a bin, fix its etiquette.</a:t>
            </a:r>
            <a:endParaRPr lang="en-US" sz="1800" dirty="0"/>
          </a:p>
        </p:txBody>
      </p:sp>
      <p:sp>
        <p:nvSpPr>
          <p:cNvPr id="6" name="Stat 1"/>
          <p:cNvSpPr txBox="1"/>
          <p:nvPr/>
        </p:nvSpPr>
        <p:spPr>
          <a:xfrm>
            <a:off x="457200" y="2743200"/>
            <a:ext cx="2606040" cy="1463040"/>
          </a:xfrm>
          <a:prstGeom prst="rect">
            <a:avLst/>
          </a:prstGeom>
          <a:noFill/>
          <a:ln/>
        </p:spPr>
        <p:txBody>
          <a:bodyPr wrap="square" lIns="0" tIns="0" rIns="0" bIns="0" rtlCol="0" anchor="t"/>
          <a:lstStyle/>
          <a:p>
            <a:pPr indent="0" marL="0">
              <a:buNone/>
            </a:pPr>
            <a:r>
              <a:rPr lang="en-US" sz="5400" b="1" dirty="0">
                <a:solidFill>
                  <a:schemeClr val="accent1"/>
                </a:solidFill>
              </a:rPr>
              <a:t>15</a:t>
            </a:r>
            <a:endParaRPr lang="en-US" sz="5400" dirty="0"/>
          </a:p>
          <a:p>
            <a:pPr indent="0" marL="0">
              <a:buNone/>
            </a:pPr>
            <a:r>
              <a:rPr lang="en-US" sz="1500" dirty="0">
                <a:solidFill>
                  <a:schemeClr val="accent4"/>
                </a:solidFill>
              </a:rPr>
              <a:t>FFF audits per shift</a:t>
            </a:r>
            <a:endParaRPr lang="en-US" sz="5400" dirty="0"/>
          </a:p>
        </p:txBody>
      </p:sp>
      <p:sp>
        <p:nvSpPr>
          <p:cNvPr id="7" name="Stat 2"/>
          <p:cNvSpPr txBox="1"/>
          <p:nvPr/>
        </p:nvSpPr>
        <p:spPr>
          <a:xfrm>
            <a:off x="3246120" y="2743200"/>
            <a:ext cx="2606040" cy="1463040"/>
          </a:xfrm>
          <a:prstGeom prst="rect">
            <a:avLst/>
          </a:prstGeom>
          <a:noFill/>
          <a:ln/>
        </p:spPr>
        <p:txBody>
          <a:bodyPr wrap="square" lIns="0" tIns="0" rIns="0" bIns="0" rtlCol="0" anchor="t"/>
          <a:lstStyle/>
          <a:p>
            <a:pPr indent="0" marL="0">
              <a:buNone/>
            </a:pPr>
            <a:r>
              <a:rPr lang="en-US" sz="5400" b="1" dirty="0">
                <a:solidFill>
                  <a:schemeClr val="accent1"/>
                </a:solidFill>
              </a:rPr>
              <a:t>90%+</a:t>
            </a:r>
            <a:endParaRPr lang="en-US" sz="5400" dirty="0"/>
          </a:p>
          <a:p>
            <a:pPr indent="0" marL="0">
              <a:buNone/>
            </a:pPr>
            <a:r>
              <a:rPr lang="en-US" sz="1500" dirty="0">
                <a:solidFill>
                  <a:schemeClr val="accent4"/>
                </a:solidFill>
              </a:rPr>
              <a:t>daily compliance target</a:t>
            </a:r>
            <a:endParaRPr lang="en-US" sz="5400" dirty="0"/>
          </a:p>
        </p:txBody>
      </p:sp>
      <p:sp>
        <p:nvSpPr>
          <p:cNvPr id="8" name="Caption"/>
          <p:cNvSpPr txBox="1"/>
          <p:nvPr/>
        </p:nvSpPr>
        <p:spPr>
          <a:xfrm>
            <a:off x="457200" y="4343400"/>
            <a:ext cx="5394960" cy="320040"/>
          </a:xfrm>
          <a:prstGeom prst="rect">
            <a:avLst/>
          </a:prstGeom>
          <a:noFill/>
          <a:ln/>
        </p:spPr>
        <p:txBody>
          <a:bodyPr wrap="square" lIns="0" tIns="0" rIns="0" bIns="0" rtlCol="0" anchor="ctr"/>
          <a:lstStyle/>
          <a:p>
            <a:pPr indent="0" marL="0">
              <a:buNone/>
            </a:pPr>
            <a:r>
              <a:rPr lang="en-US" sz="1200" dirty="0">
                <a:solidFill>
                  <a:srgbClr val="7A8795"/>
                </a:solidFill>
              </a:rPr>
              <a:t>Audited by ICQA, Ops and L&amp;D, with feedback on the spot</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body" hasCustomPrompt="1"/>
          </p:nvPr>
        </p:nvSpPr>
        <p:spPr>
          <a:xfrm>
            <a:off x="2514600" y="502920"/>
            <a:ext cx="6400800" cy="320040"/>
          </a:xfrm>
          <a:prstGeom prst="rect">
            <a:avLst/>
          </a:prstGeom>
          <a:noFill/>
          <a:ln/>
        </p:spPr>
        <p:txBody>
          <a:bodyPr wrap="square" lIns="0" tIns="0" rIns="0" bIns="0" rtlCol="0"/>
          <a:lstStyle/>
          <a:p>
            <a:pPr algn="ctr" indent="0" marL="0">
              <a:buNone/>
            </a:pPr>
            <a:r>
              <a:rPr lang="en-US" sz="1300" b="1" spc="300" kern="0" dirty="0">
                <a:solidFill>
                  <a:schemeClr val="accent6"/>
                </a:solidFill>
              </a:rPr>
              <a:t>PART 2</a:t>
            </a:r>
            <a:endParaRPr lang="en-US" sz="1300" dirty="0"/>
          </a:p>
        </p:txBody>
      </p:sp>
      <p:sp>
        <p:nvSpPr>
          <p:cNvPr id="3" name="Text 1"/>
          <p:cNvSpPr/>
          <p:nvPr>
            <p:ph idx="103" type="title" hasCustomPrompt="1"/>
          </p:nvPr>
        </p:nvSpPr>
        <p:spPr>
          <a:xfrm>
            <a:off x="2514600" y="868680"/>
            <a:ext cx="6400800" cy="868680"/>
          </a:xfrm>
          <a:prstGeom prst="rect">
            <a:avLst/>
          </a:prstGeom>
          <a:noFill/>
          <a:ln/>
        </p:spPr>
        <p:txBody>
          <a:bodyPr wrap="square" lIns="0" tIns="0" rIns="0" bIns="0" rtlCol="0" anchor="ctr"/>
          <a:lstStyle/>
          <a:p>
            <a:pPr algn="ctr" indent="0" marL="0">
              <a:buNone/>
            </a:pPr>
            <a:r>
              <a:rPr lang="en-US" sz="3600" b="1" dirty="0">
                <a:solidFill>
                  <a:schemeClr val="tx1"/>
                </a:solidFill>
              </a:rPr>
              <a:t>Bin Etiquette: ROBOTSS</a:t>
            </a:r>
            <a:endParaRPr lang="en-US" sz="3600" dirty="0"/>
          </a:p>
        </p:txBody>
      </p:sp>
      <p:sp>
        <p:nvSpPr>
          <p:cNvPr id="4" name="Text 1"/>
          <p:cNvSpPr/>
          <p:nvPr>
            <p:ph idx="104" type="body" hasCustomPrompt="1"/>
          </p:nvPr>
        </p:nvSpPr>
        <p:spPr>
          <a:xfrm>
            <a:off x="2971800" y="1783080"/>
            <a:ext cx="5486400" cy="685800"/>
          </a:xfrm>
          <a:prstGeom prst="rect">
            <a:avLst/>
          </a:prstGeom>
          <a:noFill/>
          <a:ln/>
        </p:spPr>
        <p:txBody>
          <a:bodyPr wrap="square" lIns="0" tIns="0" rIns="0" bIns="0" rtlCol="0" anchor="t"/>
          <a:lstStyle/>
          <a:p>
            <a:pPr algn="ctr" indent="0" marL="0">
              <a:buNone/>
            </a:pPr>
            <a:r>
              <a:rPr lang="en-US" sz="1600" dirty="0">
                <a:solidFill>
                  <a:schemeClr val="accent4"/>
                </a:solidFill>
              </a:rPr>
              <a:t>Seven rules for every bin you touch, in Stow, Pick and ICQA.</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1" type="title" hasCustomPrompt="1"/>
          </p:nvPr>
        </p:nvSpPr>
        <p:spPr>
          <a:xfrm>
            <a:off x="457200" y="640080"/>
            <a:ext cx="5394960" cy="548640"/>
          </a:xfrm>
          <a:prstGeom prst="rect">
            <a:avLst/>
          </a:prstGeom>
          <a:noFill/>
          <a:ln/>
        </p:spPr>
        <p:txBody>
          <a:bodyPr wrap="square" lIns="0" tIns="0" rIns="0" bIns="0" rtlCol="0" anchor="ctr"/>
          <a:lstStyle/>
          <a:p>
            <a:pPr algn="l" indent="0" marL="0">
              <a:buNone/>
            </a:pPr>
            <a:r>
              <a:rPr lang="en-US" sz="2800" b="1" dirty="0">
                <a:solidFill>
                  <a:schemeClr val="tx1"/>
                </a:solidFill>
              </a:rPr>
              <a:t>Seven rules, one word</a:t>
            </a:r>
            <a:endParaRPr lang="en-US" sz="2800" dirty="0"/>
          </a:p>
        </p:txBody>
      </p:sp>
      <p:sp>
        <p:nvSpPr>
          <p:cNvPr id="3" name="Tile 1"/>
          <p:cNvSpPr/>
          <p:nvPr/>
        </p:nvSpPr>
        <p:spPr>
          <a:xfrm>
            <a:off x="457200" y="1417320"/>
            <a:ext cx="676656" cy="868680"/>
          </a:xfrm>
          <a:prstGeom prst="roundRect">
            <a:avLst>
              <a:gd name="adj" fmla="val 13514"/>
            </a:avLst>
          </a:prstGeom>
          <a:solidFill>
            <a:schemeClr val="tx2"/>
          </a:solidFill>
          <a:ln/>
        </p:spPr>
      </p:sp>
      <p:sp>
        <p:nvSpPr>
          <p:cNvPr id="4" name="Letter 1"/>
          <p:cNvSpPr txBox="1"/>
          <p:nvPr/>
        </p:nvSpPr>
        <p:spPr>
          <a:xfrm>
            <a:off x="457200" y="1417320"/>
            <a:ext cx="676656" cy="868680"/>
          </a:xfrm>
          <a:prstGeom prst="rect">
            <a:avLst/>
          </a:prstGeom>
          <a:noFill/>
          <a:ln/>
        </p:spPr>
        <p:txBody>
          <a:bodyPr wrap="square" lIns="0" tIns="0" rIns="0" bIns="0" rtlCol="0" anchor="ctr"/>
          <a:lstStyle/>
          <a:p>
            <a:pPr algn="ctr" indent="0" marL="0">
              <a:buNone/>
            </a:pPr>
            <a:r>
              <a:rPr lang="en-US" sz="3600" b="1" dirty="0">
                <a:solidFill>
                  <a:schemeClr val="accent1"/>
                </a:solidFill>
                <a:latin typeface="Arial" pitchFamily="34" charset="0"/>
                <a:ea typeface="Arial" pitchFamily="34" charset="-122"/>
                <a:cs typeface="Arial" pitchFamily="34" charset="-120"/>
              </a:rPr>
              <a:t>R</a:t>
            </a:r>
            <a:endParaRPr lang="en-US" sz="3600" dirty="0"/>
          </a:p>
        </p:txBody>
      </p:sp>
      <p:sp>
        <p:nvSpPr>
          <p:cNvPr id="5" name="Label 1"/>
          <p:cNvSpPr txBox="1"/>
          <p:nvPr/>
        </p:nvSpPr>
        <p:spPr>
          <a:xfrm>
            <a:off x="420624" y="2377440"/>
            <a:ext cx="749808" cy="594360"/>
          </a:xfrm>
          <a:prstGeom prst="rect">
            <a:avLst/>
          </a:prstGeom>
          <a:noFill/>
          <a:ln/>
        </p:spPr>
        <p:txBody>
          <a:bodyPr wrap="square" lIns="0" tIns="0" rIns="0" bIns="0" rtlCol="0" anchor="t"/>
          <a:lstStyle/>
          <a:p>
            <a:pPr algn="ctr" indent="0" marL="0">
              <a:buNone/>
            </a:pPr>
            <a:r>
              <a:rPr lang="en-US" sz="1200" dirty="0">
                <a:solidFill>
                  <a:schemeClr val="tx1"/>
                </a:solidFill>
              </a:rPr>
              <a:t>Right bin size</a:t>
            </a:r>
            <a:endParaRPr lang="en-US" sz="1200" dirty="0"/>
          </a:p>
        </p:txBody>
      </p:sp>
      <p:sp>
        <p:nvSpPr>
          <p:cNvPr id="6" name="Tile 2"/>
          <p:cNvSpPr/>
          <p:nvPr/>
        </p:nvSpPr>
        <p:spPr>
          <a:xfrm>
            <a:off x="1243584" y="1417320"/>
            <a:ext cx="676656" cy="868680"/>
          </a:xfrm>
          <a:prstGeom prst="roundRect">
            <a:avLst>
              <a:gd name="adj" fmla="val 13514"/>
            </a:avLst>
          </a:prstGeom>
          <a:solidFill>
            <a:schemeClr val="tx2"/>
          </a:solidFill>
          <a:ln/>
        </p:spPr>
      </p:sp>
      <p:sp>
        <p:nvSpPr>
          <p:cNvPr id="7" name="Letter 2"/>
          <p:cNvSpPr txBox="1"/>
          <p:nvPr/>
        </p:nvSpPr>
        <p:spPr>
          <a:xfrm>
            <a:off x="1243584" y="1417320"/>
            <a:ext cx="676656" cy="868680"/>
          </a:xfrm>
          <a:prstGeom prst="rect">
            <a:avLst/>
          </a:prstGeom>
          <a:noFill/>
          <a:ln/>
        </p:spPr>
        <p:txBody>
          <a:bodyPr wrap="square" lIns="0" tIns="0" rIns="0" bIns="0" rtlCol="0" anchor="ctr"/>
          <a:lstStyle/>
          <a:p>
            <a:pPr algn="ctr" indent="0" marL="0">
              <a:buNone/>
            </a:pPr>
            <a:r>
              <a:rPr lang="en-US" sz="3600" b="1" dirty="0">
                <a:solidFill>
                  <a:schemeClr val="accent1"/>
                </a:solidFill>
                <a:latin typeface="Arial" pitchFamily="34" charset="0"/>
                <a:ea typeface="Arial" pitchFamily="34" charset="-122"/>
                <a:cs typeface="Arial" pitchFamily="34" charset="-120"/>
              </a:rPr>
              <a:t>O</a:t>
            </a:r>
            <a:endParaRPr lang="en-US" sz="3600" dirty="0"/>
          </a:p>
        </p:txBody>
      </p:sp>
      <p:sp>
        <p:nvSpPr>
          <p:cNvPr id="8" name="Label 2"/>
          <p:cNvSpPr txBox="1"/>
          <p:nvPr/>
        </p:nvSpPr>
        <p:spPr>
          <a:xfrm>
            <a:off x="1207008" y="2377440"/>
            <a:ext cx="749808" cy="594360"/>
          </a:xfrm>
          <a:prstGeom prst="rect">
            <a:avLst/>
          </a:prstGeom>
          <a:noFill/>
          <a:ln/>
        </p:spPr>
        <p:txBody>
          <a:bodyPr wrap="square" lIns="0" tIns="0" rIns="0" bIns="0" rtlCol="0" anchor="t"/>
          <a:lstStyle/>
          <a:p>
            <a:pPr algn="ctr" indent="0" marL="0">
              <a:buNone/>
            </a:pPr>
            <a:r>
              <a:rPr lang="en-US" sz="1200" dirty="0">
                <a:solidFill>
                  <a:schemeClr val="tx1"/>
                </a:solidFill>
              </a:rPr>
              <a:t>No overhang</a:t>
            </a:r>
            <a:endParaRPr lang="en-US" sz="1200" dirty="0"/>
          </a:p>
        </p:txBody>
      </p:sp>
      <p:sp>
        <p:nvSpPr>
          <p:cNvPr id="9" name="Tile 3"/>
          <p:cNvSpPr/>
          <p:nvPr/>
        </p:nvSpPr>
        <p:spPr>
          <a:xfrm>
            <a:off x="2029968" y="1417320"/>
            <a:ext cx="676656" cy="868680"/>
          </a:xfrm>
          <a:prstGeom prst="roundRect">
            <a:avLst>
              <a:gd name="adj" fmla="val 13514"/>
            </a:avLst>
          </a:prstGeom>
          <a:solidFill>
            <a:schemeClr val="tx2"/>
          </a:solidFill>
          <a:ln/>
        </p:spPr>
      </p:sp>
      <p:sp>
        <p:nvSpPr>
          <p:cNvPr id="10" name="Letter 3"/>
          <p:cNvSpPr txBox="1"/>
          <p:nvPr/>
        </p:nvSpPr>
        <p:spPr>
          <a:xfrm>
            <a:off x="2029968" y="1417320"/>
            <a:ext cx="676656" cy="868680"/>
          </a:xfrm>
          <a:prstGeom prst="rect">
            <a:avLst/>
          </a:prstGeom>
          <a:noFill/>
          <a:ln/>
        </p:spPr>
        <p:txBody>
          <a:bodyPr wrap="square" lIns="0" tIns="0" rIns="0" bIns="0" rtlCol="0" anchor="ctr"/>
          <a:lstStyle/>
          <a:p>
            <a:pPr algn="ctr" indent="0" marL="0">
              <a:buNone/>
            </a:pPr>
            <a:r>
              <a:rPr lang="en-US" sz="3600" b="1" dirty="0">
                <a:solidFill>
                  <a:schemeClr val="accent1"/>
                </a:solidFill>
                <a:latin typeface="Arial" pitchFamily="34" charset="0"/>
                <a:ea typeface="Arial" pitchFamily="34" charset="-122"/>
                <a:cs typeface="Arial" pitchFamily="34" charset="-120"/>
              </a:rPr>
              <a:t>B</a:t>
            </a:r>
            <a:endParaRPr lang="en-US" sz="3600" dirty="0"/>
          </a:p>
        </p:txBody>
      </p:sp>
      <p:sp>
        <p:nvSpPr>
          <p:cNvPr id="11" name="Label 3"/>
          <p:cNvSpPr txBox="1"/>
          <p:nvPr/>
        </p:nvSpPr>
        <p:spPr>
          <a:xfrm>
            <a:off x="1993392" y="2377440"/>
            <a:ext cx="749808" cy="594360"/>
          </a:xfrm>
          <a:prstGeom prst="rect">
            <a:avLst/>
          </a:prstGeom>
          <a:noFill/>
          <a:ln/>
        </p:spPr>
        <p:txBody>
          <a:bodyPr wrap="square" lIns="0" tIns="0" rIns="0" bIns="0" rtlCol="0" anchor="t"/>
          <a:lstStyle/>
          <a:p>
            <a:pPr algn="ctr" indent="0" marL="0">
              <a:buNone/>
            </a:pPr>
            <a:r>
              <a:rPr lang="en-US" sz="1200" dirty="0">
                <a:solidFill>
                  <a:schemeClr val="tx1"/>
                </a:solidFill>
              </a:rPr>
              <a:t>Blocking</a:t>
            </a:r>
            <a:endParaRPr lang="en-US" sz="1200" dirty="0"/>
          </a:p>
        </p:txBody>
      </p:sp>
      <p:sp>
        <p:nvSpPr>
          <p:cNvPr id="12" name="Tile 4"/>
          <p:cNvSpPr/>
          <p:nvPr/>
        </p:nvSpPr>
        <p:spPr>
          <a:xfrm>
            <a:off x="2816352" y="1417320"/>
            <a:ext cx="676656" cy="868680"/>
          </a:xfrm>
          <a:prstGeom prst="roundRect">
            <a:avLst>
              <a:gd name="adj" fmla="val 13514"/>
            </a:avLst>
          </a:prstGeom>
          <a:solidFill>
            <a:schemeClr val="tx2"/>
          </a:solidFill>
          <a:ln/>
        </p:spPr>
      </p:sp>
      <p:sp>
        <p:nvSpPr>
          <p:cNvPr id="13" name="Letter 4"/>
          <p:cNvSpPr txBox="1"/>
          <p:nvPr/>
        </p:nvSpPr>
        <p:spPr>
          <a:xfrm>
            <a:off x="2816352" y="1417320"/>
            <a:ext cx="676656" cy="868680"/>
          </a:xfrm>
          <a:prstGeom prst="rect">
            <a:avLst/>
          </a:prstGeom>
          <a:noFill/>
          <a:ln/>
        </p:spPr>
        <p:txBody>
          <a:bodyPr wrap="square" lIns="0" tIns="0" rIns="0" bIns="0" rtlCol="0" anchor="ctr"/>
          <a:lstStyle/>
          <a:p>
            <a:pPr algn="ctr" indent="0" marL="0">
              <a:buNone/>
            </a:pPr>
            <a:r>
              <a:rPr lang="en-US" sz="3600" b="1" dirty="0">
                <a:solidFill>
                  <a:schemeClr val="accent1"/>
                </a:solidFill>
                <a:latin typeface="Arial" pitchFamily="34" charset="0"/>
                <a:ea typeface="Arial" pitchFamily="34" charset="-122"/>
                <a:cs typeface="Arial" pitchFamily="34" charset="-120"/>
              </a:rPr>
              <a:t>O</a:t>
            </a:r>
            <a:endParaRPr lang="en-US" sz="3600" dirty="0"/>
          </a:p>
        </p:txBody>
      </p:sp>
      <p:sp>
        <p:nvSpPr>
          <p:cNvPr id="14" name="Label 4"/>
          <p:cNvSpPr txBox="1"/>
          <p:nvPr/>
        </p:nvSpPr>
        <p:spPr>
          <a:xfrm>
            <a:off x="2779776" y="2377440"/>
            <a:ext cx="749808" cy="594360"/>
          </a:xfrm>
          <a:prstGeom prst="rect">
            <a:avLst/>
          </a:prstGeom>
          <a:noFill/>
          <a:ln/>
        </p:spPr>
        <p:txBody>
          <a:bodyPr wrap="square" lIns="0" tIns="0" rIns="0" bIns="0" rtlCol="0" anchor="t"/>
          <a:lstStyle/>
          <a:p>
            <a:pPr algn="ctr" indent="0" marL="0">
              <a:buNone/>
            </a:pPr>
            <a:r>
              <a:rPr lang="en-US" sz="1200" dirty="0">
                <a:solidFill>
                  <a:schemeClr val="tx1"/>
                </a:solidFill>
              </a:rPr>
              <a:t>Over-stuffing</a:t>
            </a:r>
            <a:endParaRPr lang="en-US" sz="1200" dirty="0"/>
          </a:p>
        </p:txBody>
      </p:sp>
      <p:sp>
        <p:nvSpPr>
          <p:cNvPr id="15" name="Tile 5"/>
          <p:cNvSpPr/>
          <p:nvPr/>
        </p:nvSpPr>
        <p:spPr>
          <a:xfrm>
            <a:off x="3602736" y="1417320"/>
            <a:ext cx="676656" cy="868680"/>
          </a:xfrm>
          <a:prstGeom prst="roundRect">
            <a:avLst>
              <a:gd name="adj" fmla="val 13514"/>
            </a:avLst>
          </a:prstGeom>
          <a:solidFill>
            <a:schemeClr val="tx2"/>
          </a:solidFill>
          <a:ln/>
        </p:spPr>
      </p:sp>
      <p:sp>
        <p:nvSpPr>
          <p:cNvPr id="16" name="Letter 5"/>
          <p:cNvSpPr txBox="1"/>
          <p:nvPr/>
        </p:nvSpPr>
        <p:spPr>
          <a:xfrm>
            <a:off x="3602736" y="1417320"/>
            <a:ext cx="676656" cy="868680"/>
          </a:xfrm>
          <a:prstGeom prst="rect">
            <a:avLst/>
          </a:prstGeom>
          <a:noFill/>
          <a:ln/>
        </p:spPr>
        <p:txBody>
          <a:bodyPr wrap="square" lIns="0" tIns="0" rIns="0" bIns="0" rtlCol="0" anchor="ctr"/>
          <a:lstStyle/>
          <a:p>
            <a:pPr algn="ctr" indent="0" marL="0">
              <a:buNone/>
            </a:pPr>
            <a:r>
              <a:rPr lang="en-US" sz="3600" b="1" dirty="0">
                <a:solidFill>
                  <a:schemeClr val="accent1"/>
                </a:solidFill>
                <a:latin typeface="Arial" pitchFamily="34" charset="0"/>
                <a:ea typeface="Arial" pitchFamily="34" charset="-122"/>
                <a:cs typeface="Arial" pitchFamily="34" charset="-120"/>
              </a:rPr>
              <a:t>T</a:t>
            </a:r>
            <a:endParaRPr lang="en-US" sz="3600" dirty="0"/>
          </a:p>
        </p:txBody>
      </p:sp>
      <p:sp>
        <p:nvSpPr>
          <p:cNvPr id="17" name="Label 5"/>
          <p:cNvSpPr txBox="1"/>
          <p:nvPr/>
        </p:nvSpPr>
        <p:spPr>
          <a:xfrm>
            <a:off x="3566160" y="2377440"/>
            <a:ext cx="749808" cy="594360"/>
          </a:xfrm>
          <a:prstGeom prst="rect">
            <a:avLst/>
          </a:prstGeom>
          <a:noFill/>
          <a:ln/>
        </p:spPr>
        <p:txBody>
          <a:bodyPr wrap="square" lIns="0" tIns="0" rIns="0" bIns="0" rtlCol="0" anchor="t"/>
          <a:lstStyle/>
          <a:p>
            <a:pPr algn="ctr" indent="0" marL="0">
              <a:buNone/>
            </a:pPr>
            <a:r>
              <a:rPr lang="en-US" sz="1200" dirty="0">
                <a:solidFill>
                  <a:schemeClr val="tx1"/>
                </a:solidFill>
              </a:rPr>
              <a:t>Titles out</a:t>
            </a:r>
            <a:endParaRPr lang="en-US" sz="1200" dirty="0"/>
          </a:p>
        </p:txBody>
      </p:sp>
      <p:sp>
        <p:nvSpPr>
          <p:cNvPr id="18" name="Tile 6"/>
          <p:cNvSpPr/>
          <p:nvPr/>
        </p:nvSpPr>
        <p:spPr>
          <a:xfrm>
            <a:off x="4389120" y="1417320"/>
            <a:ext cx="676656" cy="868680"/>
          </a:xfrm>
          <a:prstGeom prst="roundRect">
            <a:avLst>
              <a:gd name="adj" fmla="val 13514"/>
            </a:avLst>
          </a:prstGeom>
          <a:solidFill>
            <a:schemeClr val="tx2"/>
          </a:solidFill>
          <a:ln/>
        </p:spPr>
      </p:sp>
      <p:sp>
        <p:nvSpPr>
          <p:cNvPr id="19" name="Letter 6"/>
          <p:cNvSpPr txBox="1"/>
          <p:nvPr/>
        </p:nvSpPr>
        <p:spPr>
          <a:xfrm>
            <a:off x="4389120" y="1417320"/>
            <a:ext cx="676656" cy="868680"/>
          </a:xfrm>
          <a:prstGeom prst="rect">
            <a:avLst/>
          </a:prstGeom>
          <a:noFill/>
          <a:ln/>
        </p:spPr>
        <p:txBody>
          <a:bodyPr wrap="square" lIns="0" tIns="0" rIns="0" bIns="0" rtlCol="0" anchor="ctr"/>
          <a:lstStyle/>
          <a:p>
            <a:pPr algn="ctr" indent="0" marL="0">
              <a:buNone/>
            </a:pPr>
            <a:r>
              <a:rPr lang="en-US" sz="3600" b="1" dirty="0">
                <a:solidFill>
                  <a:schemeClr val="accent1"/>
                </a:solidFill>
                <a:latin typeface="Arial" pitchFamily="34" charset="0"/>
                <a:ea typeface="Arial" pitchFamily="34" charset="-122"/>
                <a:cs typeface="Arial" pitchFamily="34" charset="-120"/>
              </a:rPr>
              <a:t>S</a:t>
            </a:r>
            <a:endParaRPr lang="en-US" sz="3600" dirty="0"/>
          </a:p>
        </p:txBody>
      </p:sp>
      <p:sp>
        <p:nvSpPr>
          <p:cNvPr id="20" name="Label 6"/>
          <p:cNvSpPr txBox="1"/>
          <p:nvPr/>
        </p:nvSpPr>
        <p:spPr>
          <a:xfrm>
            <a:off x="4352544" y="2377440"/>
            <a:ext cx="749808" cy="594360"/>
          </a:xfrm>
          <a:prstGeom prst="rect">
            <a:avLst/>
          </a:prstGeom>
          <a:noFill/>
          <a:ln/>
        </p:spPr>
        <p:txBody>
          <a:bodyPr wrap="square" lIns="0" tIns="0" rIns="0" bIns="0" rtlCol="0" anchor="t"/>
          <a:lstStyle/>
          <a:p>
            <a:pPr algn="ctr" indent="0" marL="0">
              <a:buNone/>
            </a:pPr>
            <a:r>
              <a:rPr lang="en-US" sz="1200" dirty="0">
                <a:solidFill>
                  <a:schemeClr val="tx1"/>
                </a:solidFill>
              </a:rPr>
              <a:t>Stacking</a:t>
            </a:r>
            <a:endParaRPr lang="en-US" sz="1200" dirty="0"/>
          </a:p>
        </p:txBody>
      </p:sp>
      <p:sp>
        <p:nvSpPr>
          <p:cNvPr id="21" name="Tile 7"/>
          <p:cNvSpPr/>
          <p:nvPr/>
        </p:nvSpPr>
        <p:spPr>
          <a:xfrm>
            <a:off x="5175504" y="1417320"/>
            <a:ext cx="676656" cy="868680"/>
          </a:xfrm>
          <a:prstGeom prst="roundRect">
            <a:avLst>
              <a:gd name="adj" fmla="val 13514"/>
            </a:avLst>
          </a:prstGeom>
          <a:solidFill>
            <a:schemeClr val="tx2"/>
          </a:solidFill>
          <a:ln/>
        </p:spPr>
      </p:sp>
      <p:sp>
        <p:nvSpPr>
          <p:cNvPr id="22" name="Letter 7"/>
          <p:cNvSpPr txBox="1"/>
          <p:nvPr/>
        </p:nvSpPr>
        <p:spPr>
          <a:xfrm>
            <a:off x="5175504" y="1417320"/>
            <a:ext cx="676656" cy="868680"/>
          </a:xfrm>
          <a:prstGeom prst="rect">
            <a:avLst/>
          </a:prstGeom>
          <a:noFill/>
          <a:ln/>
        </p:spPr>
        <p:txBody>
          <a:bodyPr wrap="square" lIns="0" tIns="0" rIns="0" bIns="0" rtlCol="0" anchor="ctr"/>
          <a:lstStyle/>
          <a:p>
            <a:pPr algn="ctr" indent="0" marL="0">
              <a:buNone/>
            </a:pPr>
            <a:r>
              <a:rPr lang="en-US" sz="3600" b="1" dirty="0">
                <a:solidFill>
                  <a:schemeClr val="accent1"/>
                </a:solidFill>
                <a:latin typeface="Arial" pitchFamily="34" charset="0"/>
                <a:ea typeface="Arial" pitchFamily="34" charset="-122"/>
                <a:cs typeface="Arial" pitchFamily="34" charset="-120"/>
              </a:rPr>
              <a:t>S</a:t>
            </a:r>
            <a:endParaRPr lang="en-US" sz="3600" dirty="0"/>
          </a:p>
        </p:txBody>
      </p:sp>
      <p:sp>
        <p:nvSpPr>
          <p:cNvPr id="23" name="Label 7"/>
          <p:cNvSpPr txBox="1"/>
          <p:nvPr/>
        </p:nvSpPr>
        <p:spPr>
          <a:xfrm>
            <a:off x="5138928" y="2377440"/>
            <a:ext cx="749808" cy="594360"/>
          </a:xfrm>
          <a:prstGeom prst="rect">
            <a:avLst/>
          </a:prstGeom>
          <a:noFill/>
          <a:ln/>
        </p:spPr>
        <p:txBody>
          <a:bodyPr wrap="square" lIns="0" tIns="0" rIns="0" bIns="0" rtlCol="0" anchor="t"/>
          <a:lstStyle/>
          <a:p>
            <a:pPr algn="ctr" indent="0" marL="0">
              <a:buNone/>
            </a:pPr>
            <a:r>
              <a:rPr lang="en-US" sz="1200" dirty="0">
                <a:solidFill>
                  <a:schemeClr val="tx1"/>
                </a:solidFill>
              </a:rPr>
              <a:t>Similar items</a:t>
            </a:r>
            <a:endParaRPr lang="en-US" sz="1200" dirty="0"/>
          </a:p>
        </p:txBody>
      </p:sp>
      <p:sp>
        <p:nvSpPr>
          <p:cNvPr id="24" name="Why card"/>
          <p:cNvSpPr/>
          <p:nvPr/>
        </p:nvSpPr>
        <p:spPr>
          <a:xfrm>
            <a:off x="457200" y="3429000"/>
            <a:ext cx="5394960" cy="1097280"/>
          </a:xfrm>
          <a:prstGeom prst="roundRect">
            <a:avLst>
              <a:gd name="adj" fmla="val 8333"/>
            </a:avLst>
          </a:prstGeom>
          <a:solidFill>
            <a:schemeClr val="bg1"/>
          </a:solidFill>
          <a:ln/>
        </p:spPr>
      </p:sp>
      <p:sp>
        <p:nvSpPr>
          <p:cNvPr id="25" name="Why text"/>
          <p:cNvSpPr txBox="1"/>
          <p:nvPr/>
        </p:nvSpPr>
        <p:spPr>
          <a:xfrm>
            <a:off x="731520" y="3429000"/>
            <a:ext cx="4846320" cy="1097280"/>
          </a:xfrm>
          <a:prstGeom prst="rect">
            <a:avLst/>
          </a:prstGeom>
          <a:noFill/>
          <a:ln/>
        </p:spPr>
        <p:txBody>
          <a:bodyPr wrap="square" lIns="0" tIns="0" rIns="0" bIns="0" rtlCol="0" anchor="ctr"/>
          <a:lstStyle/>
          <a:p>
            <a:pPr indent="0" marL="0">
              <a:buNone/>
            </a:pPr>
            <a:r>
              <a:rPr lang="en-US" sz="1500" b="1" dirty="0">
                <a:solidFill>
                  <a:schemeClr val="tx1"/>
                </a:solidFill>
              </a:rPr>
              <a:t>Why it matters: </a:t>
            </a:r>
            <a:pPr indent="0" marL="0">
              <a:buNone/>
            </a:pPr>
            <a:r>
              <a:rPr lang="en-US" sz="1500" dirty="0">
                <a:solidFill>
                  <a:schemeClr val="accent4"/>
                </a:solidFill>
              </a:rPr>
              <a:t>pickers find items faster, bins hold more, and nothing falls out when the pod moves.</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title" hasCustomPrompt="1"/>
          </p:nvPr>
        </p:nvSpPr>
        <p:spPr>
          <a:xfrm>
            <a:off x="457200" y="640080"/>
            <a:ext cx="5394960" cy="548640"/>
          </a:xfrm>
          <a:prstGeom prst="rect">
            <a:avLst/>
          </a:prstGeom>
          <a:noFill/>
          <a:ln/>
        </p:spPr>
        <p:txBody>
          <a:bodyPr wrap="square" lIns="0" tIns="0" rIns="0" bIns="0" rtlCol="0" anchor="ctr"/>
          <a:lstStyle/>
          <a:p>
            <a:pPr algn="l" indent="0" marL="0">
              <a:buNone/>
            </a:pPr>
            <a:r>
              <a:rPr lang="en-US" sz="2800" b="1" dirty="0">
                <a:solidFill>
                  <a:schemeClr val="tx1"/>
                </a:solidFill>
              </a:rPr>
              <a:t>R + O: size it right</a:t>
            </a:r>
            <a:endParaRPr lang="en-US" sz="2800" dirty="0"/>
          </a:p>
        </p:txBody>
      </p:sp>
      <p:sp>
        <p:nvSpPr>
          <p:cNvPr id="3" name="Rule card 1"/>
          <p:cNvSpPr/>
          <p:nvPr/>
        </p:nvSpPr>
        <p:spPr>
          <a:xfrm>
            <a:off x="457200" y="1325880"/>
            <a:ext cx="2606040" cy="3246120"/>
          </a:xfrm>
          <a:prstGeom prst="roundRect">
            <a:avLst>
              <a:gd name="adj" fmla="val 3509"/>
            </a:avLst>
          </a:prstGeom>
          <a:solidFill>
            <a:schemeClr val="bg1"/>
          </a:solidFill>
          <a:ln/>
        </p:spPr>
      </p:sp>
      <p:sp>
        <p:nvSpPr>
          <p:cNvPr id="4" name="Rule badge 1"/>
          <p:cNvSpPr/>
          <p:nvPr/>
        </p:nvSpPr>
        <p:spPr>
          <a:xfrm>
            <a:off x="640080" y="1490472"/>
            <a:ext cx="502920" cy="502920"/>
          </a:xfrm>
          <a:prstGeom prst="ellipse">
            <a:avLst/>
          </a:prstGeom>
          <a:solidFill>
            <a:schemeClr val="tx2"/>
          </a:solidFill>
          <a:ln/>
        </p:spPr>
      </p:sp>
      <p:sp>
        <p:nvSpPr>
          <p:cNvPr id="5" name="Rule letter 1"/>
          <p:cNvSpPr txBox="1"/>
          <p:nvPr/>
        </p:nvSpPr>
        <p:spPr>
          <a:xfrm>
            <a:off x="640080" y="1490472"/>
            <a:ext cx="502920" cy="502920"/>
          </a:xfrm>
          <a:prstGeom prst="rect">
            <a:avLst/>
          </a:prstGeom>
          <a:noFill/>
          <a:ln/>
        </p:spPr>
        <p:txBody>
          <a:bodyPr wrap="square" lIns="0" tIns="0" rIns="0" bIns="0" rtlCol="0" anchor="ctr"/>
          <a:lstStyle/>
          <a:p>
            <a:pPr algn="ctr" indent="0" marL="0">
              <a:buNone/>
            </a:pPr>
            <a:r>
              <a:rPr lang="en-US" sz="2200" b="1" dirty="0">
                <a:solidFill>
                  <a:schemeClr val="accent1"/>
                </a:solidFill>
                <a:latin typeface="Arial" pitchFamily="34" charset="0"/>
                <a:ea typeface="Arial" pitchFamily="34" charset="-122"/>
                <a:cs typeface="Arial" pitchFamily="34" charset="-120"/>
              </a:rPr>
              <a:t>R</a:t>
            </a:r>
            <a:endParaRPr lang="en-US" sz="2200" dirty="0"/>
          </a:p>
        </p:txBody>
      </p:sp>
      <p:sp>
        <p:nvSpPr>
          <p:cNvPr id="6" name="Rule name 1"/>
          <p:cNvSpPr txBox="1"/>
          <p:nvPr/>
        </p:nvSpPr>
        <p:spPr>
          <a:xfrm>
            <a:off x="1280160" y="1490472"/>
            <a:ext cx="1645920" cy="502920"/>
          </a:xfrm>
          <a:prstGeom prst="rect">
            <a:avLst/>
          </a:prstGeom>
          <a:noFill/>
          <a:ln/>
        </p:spPr>
        <p:txBody>
          <a:bodyPr wrap="square" lIns="0" tIns="0" rIns="0" bIns="0" rtlCol="0" anchor="ctr"/>
          <a:lstStyle/>
          <a:p>
            <a:pPr indent="0" marL="0">
              <a:buNone/>
            </a:pPr>
            <a:r>
              <a:rPr lang="en-US" sz="1700" b="1" dirty="0">
                <a:solidFill>
                  <a:schemeClr val="tx1"/>
                </a:solidFill>
              </a:rPr>
              <a:t>Right bin size</a:t>
            </a:r>
            <a:endParaRPr lang="en-US" sz="1700" dirty="0"/>
          </a:p>
        </p:txBody>
      </p:sp>
      <p:pic>
        <p:nvPicPr>
          <p:cNvPr id="7" name="Rule picture 1" descr="Right bin size: wrong and right example">    </p:cNvPr>
          <p:cNvPicPr>
            <a:picLocks noChangeAspect="1"/>
          </p:cNvPicPr>
          <p:nvPr/>
        </p:nvPicPr>
        <p:blipFill>
          <a:blip r:embed="rId1"/>
          <a:stretch>
            <a:fillRect/>
          </a:stretch>
        </p:blipFill>
        <p:spPr>
          <a:xfrm>
            <a:off x="640080" y="2106968"/>
            <a:ext cx="2240280" cy="998145"/>
          </a:xfrm>
          <a:prstGeom prst="rect">
            <a:avLst/>
          </a:prstGeom>
        </p:spPr>
      </p:pic>
      <p:sp>
        <p:nvSpPr>
          <p:cNvPr id="8" name="Rule detail 1"/>
          <p:cNvSpPr txBox="1"/>
          <p:nvPr/>
        </p:nvSpPr>
        <p:spPr>
          <a:xfrm>
            <a:off x="640080" y="3246120"/>
            <a:ext cx="2286000" cy="123444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accent4"/>
                </a:solidFill>
              </a:rPr>
              <a:t>Use the smallest bin that fits</a:t>
            </a:r>
            <a:endParaRPr lang="en-US" sz="1400" dirty="0"/>
          </a:p>
          <a:p>
            <a:pPr marL="342900" indent="-342900">
              <a:spcAft>
                <a:spcPts val="400"/>
              </a:spcAft>
              <a:buSzPct val="100000"/>
              <a:buChar char="•"/>
            </a:pPr>
            <a:r>
              <a:rPr lang="en-US" sz="1400" dirty="0">
                <a:solidFill>
                  <a:schemeClr val="accent4"/>
                </a:solidFill>
              </a:rPr>
              <a:t>Place items by length first</a:t>
            </a:r>
            <a:endParaRPr lang="en-US" sz="1400" dirty="0"/>
          </a:p>
        </p:txBody>
      </p:sp>
      <p:sp>
        <p:nvSpPr>
          <p:cNvPr id="9" name="Rule card 2"/>
          <p:cNvSpPr/>
          <p:nvPr/>
        </p:nvSpPr>
        <p:spPr>
          <a:xfrm>
            <a:off x="3246120" y="1325880"/>
            <a:ext cx="2606040" cy="3246120"/>
          </a:xfrm>
          <a:prstGeom prst="roundRect">
            <a:avLst>
              <a:gd name="adj" fmla="val 3509"/>
            </a:avLst>
          </a:prstGeom>
          <a:solidFill>
            <a:schemeClr val="bg1"/>
          </a:solidFill>
          <a:ln/>
        </p:spPr>
      </p:sp>
      <p:sp>
        <p:nvSpPr>
          <p:cNvPr id="10" name="Rule badge 2"/>
          <p:cNvSpPr/>
          <p:nvPr/>
        </p:nvSpPr>
        <p:spPr>
          <a:xfrm>
            <a:off x="3429000" y="1490472"/>
            <a:ext cx="502920" cy="502920"/>
          </a:xfrm>
          <a:prstGeom prst="ellipse">
            <a:avLst/>
          </a:prstGeom>
          <a:solidFill>
            <a:schemeClr val="tx2"/>
          </a:solidFill>
          <a:ln/>
        </p:spPr>
      </p:sp>
      <p:sp>
        <p:nvSpPr>
          <p:cNvPr id="11" name="Rule letter 2"/>
          <p:cNvSpPr txBox="1"/>
          <p:nvPr/>
        </p:nvSpPr>
        <p:spPr>
          <a:xfrm>
            <a:off x="3429000" y="1490472"/>
            <a:ext cx="502920" cy="502920"/>
          </a:xfrm>
          <a:prstGeom prst="rect">
            <a:avLst/>
          </a:prstGeom>
          <a:noFill/>
          <a:ln/>
        </p:spPr>
        <p:txBody>
          <a:bodyPr wrap="square" lIns="0" tIns="0" rIns="0" bIns="0" rtlCol="0" anchor="ctr"/>
          <a:lstStyle/>
          <a:p>
            <a:pPr algn="ctr" indent="0" marL="0">
              <a:buNone/>
            </a:pPr>
            <a:r>
              <a:rPr lang="en-US" sz="2200" b="1" dirty="0">
                <a:solidFill>
                  <a:schemeClr val="accent1"/>
                </a:solidFill>
                <a:latin typeface="Arial" pitchFamily="34" charset="0"/>
                <a:ea typeface="Arial" pitchFamily="34" charset="-122"/>
                <a:cs typeface="Arial" pitchFamily="34" charset="-120"/>
              </a:rPr>
              <a:t>O</a:t>
            </a:r>
            <a:endParaRPr lang="en-US" sz="2200" dirty="0"/>
          </a:p>
        </p:txBody>
      </p:sp>
      <p:sp>
        <p:nvSpPr>
          <p:cNvPr id="12" name="Rule name 2"/>
          <p:cNvSpPr txBox="1"/>
          <p:nvPr/>
        </p:nvSpPr>
        <p:spPr>
          <a:xfrm>
            <a:off x="4069080" y="1490472"/>
            <a:ext cx="1645920" cy="502920"/>
          </a:xfrm>
          <a:prstGeom prst="rect">
            <a:avLst/>
          </a:prstGeom>
          <a:noFill/>
          <a:ln/>
        </p:spPr>
        <p:txBody>
          <a:bodyPr wrap="square" lIns="0" tIns="0" rIns="0" bIns="0" rtlCol="0" anchor="ctr"/>
          <a:lstStyle/>
          <a:p>
            <a:pPr indent="0" marL="0">
              <a:buNone/>
            </a:pPr>
            <a:r>
              <a:rPr lang="en-US" sz="1700" b="1" dirty="0">
                <a:solidFill>
                  <a:schemeClr val="tx1"/>
                </a:solidFill>
              </a:rPr>
              <a:t>No overhang</a:t>
            </a:r>
            <a:endParaRPr lang="en-US" sz="1700" dirty="0"/>
          </a:p>
        </p:txBody>
      </p:sp>
      <p:pic>
        <p:nvPicPr>
          <p:cNvPr id="13" name="Rule picture 2" descr="No overhang: wrong and right example">    </p:cNvPr>
          <p:cNvPicPr>
            <a:picLocks noChangeAspect="1"/>
          </p:cNvPicPr>
          <p:nvPr/>
        </p:nvPicPr>
        <p:blipFill>
          <a:blip r:embed="rId2"/>
          <a:stretch>
            <a:fillRect/>
          </a:stretch>
        </p:blipFill>
        <p:spPr>
          <a:xfrm>
            <a:off x="3429000" y="2143936"/>
            <a:ext cx="2240280" cy="924208"/>
          </a:xfrm>
          <a:prstGeom prst="rect">
            <a:avLst/>
          </a:prstGeom>
        </p:spPr>
      </p:pic>
      <p:sp>
        <p:nvSpPr>
          <p:cNvPr id="14" name="Rule detail 2"/>
          <p:cNvSpPr txBox="1"/>
          <p:nvPr/>
        </p:nvSpPr>
        <p:spPr>
          <a:xfrm>
            <a:off x="3429000" y="3246120"/>
            <a:ext cx="2286000" cy="123444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accent4"/>
                </a:solidFill>
              </a:rPr>
              <a:t>Every item must fit fully inside the bin</a:t>
            </a:r>
            <a:endParaRPr lang="en-US" sz="1400" dirty="0"/>
          </a:p>
          <a:p>
            <a:pPr marL="342900" indent="-342900">
              <a:spcAft>
                <a:spcPts val="400"/>
              </a:spcAft>
              <a:buSzPct val="100000"/>
              <a:buChar char="•"/>
            </a:pPr>
            <a:r>
              <a:rPr lang="en-US" sz="1400" dirty="0">
                <a:solidFill>
                  <a:schemeClr val="accent4"/>
                </a:solidFill>
              </a:rPr>
              <a:t>Overhang causes drive obstructions and pod crashes</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1" type="title" hasCustomPrompt="1"/>
          </p:nvPr>
        </p:nvSpPr>
        <p:spPr>
          <a:xfrm>
            <a:off x="457200" y="640080"/>
            <a:ext cx="5394960" cy="548640"/>
          </a:xfrm>
          <a:prstGeom prst="rect">
            <a:avLst/>
          </a:prstGeom>
          <a:noFill/>
          <a:ln/>
        </p:spPr>
        <p:txBody>
          <a:bodyPr wrap="square" lIns="0" tIns="0" rIns="0" bIns="0" rtlCol="0" anchor="ctr"/>
          <a:lstStyle/>
          <a:p>
            <a:pPr algn="l" indent="0" marL="0">
              <a:buNone/>
            </a:pPr>
            <a:r>
              <a:rPr lang="en-US" sz="2800" b="1" dirty="0">
                <a:solidFill>
                  <a:schemeClr val="tx1"/>
                </a:solidFill>
              </a:rPr>
              <a:t>B + O: keep items safe</a:t>
            </a:r>
            <a:endParaRPr lang="en-US" sz="2800" dirty="0"/>
          </a:p>
        </p:txBody>
      </p:sp>
      <p:sp>
        <p:nvSpPr>
          <p:cNvPr id="3" name="Rule card 1"/>
          <p:cNvSpPr/>
          <p:nvPr/>
        </p:nvSpPr>
        <p:spPr>
          <a:xfrm>
            <a:off x="457200" y="1325880"/>
            <a:ext cx="2606040" cy="3246120"/>
          </a:xfrm>
          <a:prstGeom prst="roundRect">
            <a:avLst>
              <a:gd name="adj" fmla="val 3509"/>
            </a:avLst>
          </a:prstGeom>
          <a:solidFill>
            <a:schemeClr val="bg1"/>
          </a:solidFill>
          <a:ln/>
        </p:spPr>
      </p:sp>
      <p:sp>
        <p:nvSpPr>
          <p:cNvPr id="4" name="Rule badge 1"/>
          <p:cNvSpPr/>
          <p:nvPr/>
        </p:nvSpPr>
        <p:spPr>
          <a:xfrm>
            <a:off x="640080" y="1490472"/>
            <a:ext cx="502920" cy="502920"/>
          </a:xfrm>
          <a:prstGeom prst="ellipse">
            <a:avLst/>
          </a:prstGeom>
          <a:solidFill>
            <a:schemeClr val="tx2"/>
          </a:solidFill>
          <a:ln/>
        </p:spPr>
      </p:sp>
      <p:sp>
        <p:nvSpPr>
          <p:cNvPr id="5" name="Rule letter 1"/>
          <p:cNvSpPr txBox="1"/>
          <p:nvPr/>
        </p:nvSpPr>
        <p:spPr>
          <a:xfrm>
            <a:off x="640080" y="1490472"/>
            <a:ext cx="502920" cy="502920"/>
          </a:xfrm>
          <a:prstGeom prst="rect">
            <a:avLst/>
          </a:prstGeom>
          <a:noFill/>
          <a:ln/>
        </p:spPr>
        <p:txBody>
          <a:bodyPr wrap="square" lIns="0" tIns="0" rIns="0" bIns="0" rtlCol="0" anchor="ctr"/>
          <a:lstStyle/>
          <a:p>
            <a:pPr algn="ctr" indent="0" marL="0">
              <a:buNone/>
            </a:pPr>
            <a:r>
              <a:rPr lang="en-US" sz="2200" b="1" dirty="0">
                <a:solidFill>
                  <a:schemeClr val="accent1"/>
                </a:solidFill>
                <a:latin typeface="Arial" pitchFamily="34" charset="0"/>
                <a:ea typeface="Arial" pitchFamily="34" charset="-122"/>
                <a:cs typeface="Arial" pitchFamily="34" charset="-120"/>
              </a:rPr>
              <a:t>B</a:t>
            </a:r>
            <a:endParaRPr lang="en-US" sz="2200" dirty="0"/>
          </a:p>
        </p:txBody>
      </p:sp>
      <p:sp>
        <p:nvSpPr>
          <p:cNvPr id="6" name="Rule name 1"/>
          <p:cNvSpPr txBox="1"/>
          <p:nvPr/>
        </p:nvSpPr>
        <p:spPr>
          <a:xfrm>
            <a:off x="1280160" y="1490472"/>
            <a:ext cx="1645920" cy="502920"/>
          </a:xfrm>
          <a:prstGeom prst="rect">
            <a:avLst/>
          </a:prstGeom>
          <a:noFill/>
          <a:ln/>
        </p:spPr>
        <p:txBody>
          <a:bodyPr wrap="square" lIns="0" tIns="0" rIns="0" bIns="0" rtlCol="0" anchor="ctr"/>
          <a:lstStyle/>
          <a:p>
            <a:pPr indent="0" marL="0">
              <a:buNone/>
            </a:pPr>
            <a:r>
              <a:rPr lang="en-US" sz="1700" b="1" dirty="0">
                <a:solidFill>
                  <a:schemeClr val="tx1"/>
                </a:solidFill>
              </a:rPr>
              <a:t>Blocking</a:t>
            </a:r>
            <a:endParaRPr lang="en-US" sz="1700" dirty="0"/>
          </a:p>
        </p:txBody>
      </p:sp>
      <p:pic>
        <p:nvPicPr>
          <p:cNvPr id="7" name="Rule picture 1" descr="Blocking: wrong and right example">    </p:cNvPr>
          <p:cNvPicPr>
            <a:picLocks noChangeAspect="1"/>
          </p:cNvPicPr>
          <p:nvPr/>
        </p:nvPicPr>
        <p:blipFill>
          <a:blip r:embed="rId1"/>
          <a:stretch>
            <a:fillRect/>
          </a:stretch>
        </p:blipFill>
        <p:spPr>
          <a:xfrm>
            <a:off x="640080" y="2136542"/>
            <a:ext cx="2240280" cy="938995"/>
          </a:xfrm>
          <a:prstGeom prst="rect">
            <a:avLst/>
          </a:prstGeom>
        </p:spPr>
      </p:pic>
      <p:sp>
        <p:nvSpPr>
          <p:cNvPr id="8" name="Rule detail 1"/>
          <p:cNvSpPr txBox="1"/>
          <p:nvPr/>
        </p:nvSpPr>
        <p:spPr>
          <a:xfrm>
            <a:off x="640080" y="3246120"/>
            <a:ext cx="2286000" cy="123444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accent4"/>
                </a:solidFill>
              </a:rPr>
              <a:t>Never hide small items behind larger ones</a:t>
            </a:r>
            <a:endParaRPr lang="en-US" sz="1400" dirty="0"/>
          </a:p>
          <a:p>
            <a:pPr marL="342900" indent="-342900">
              <a:spcAft>
                <a:spcPts val="400"/>
              </a:spcAft>
              <a:buSzPct val="100000"/>
              <a:buChar char="•"/>
            </a:pPr>
            <a:r>
              <a:rPr lang="en-US" sz="1400" dirty="0">
                <a:solidFill>
                  <a:schemeClr val="accent4"/>
                </a:solidFill>
              </a:rPr>
              <a:t>Stand flat items upright so they can't slip between the bands</a:t>
            </a:r>
            <a:endParaRPr lang="en-US" sz="1400" dirty="0"/>
          </a:p>
        </p:txBody>
      </p:sp>
      <p:sp>
        <p:nvSpPr>
          <p:cNvPr id="9" name="Rule card 2"/>
          <p:cNvSpPr/>
          <p:nvPr/>
        </p:nvSpPr>
        <p:spPr>
          <a:xfrm>
            <a:off x="3246120" y="1325880"/>
            <a:ext cx="2606040" cy="3246120"/>
          </a:xfrm>
          <a:prstGeom prst="roundRect">
            <a:avLst>
              <a:gd name="adj" fmla="val 3509"/>
            </a:avLst>
          </a:prstGeom>
          <a:solidFill>
            <a:schemeClr val="bg1"/>
          </a:solidFill>
          <a:ln/>
        </p:spPr>
      </p:sp>
      <p:sp>
        <p:nvSpPr>
          <p:cNvPr id="10" name="Rule badge 2"/>
          <p:cNvSpPr/>
          <p:nvPr/>
        </p:nvSpPr>
        <p:spPr>
          <a:xfrm>
            <a:off x="3429000" y="1490472"/>
            <a:ext cx="502920" cy="502920"/>
          </a:xfrm>
          <a:prstGeom prst="ellipse">
            <a:avLst/>
          </a:prstGeom>
          <a:solidFill>
            <a:schemeClr val="tx2"/>
          </a:solidFill>
          <a:ln/>
        </p:spPr>
      </p:sp>
      <p:sp>
        <p:nvSpPr>
          <p:cNvPr id="11" name="Rule letter 2"/>
          <p:cNvSpPr txBox="1"/>
          <p:nvPr/>
        </p:nvSpPr>
        <p:spPr>
          <a:xfrm>
            <a:off x="3429000" y="1490472"/>
            <a:ext cx="502920" cy="502920"/>
          </a:xfrm>
          <a:prstGeom prst="rect">
            <a:avLst/>
          </a:prstGeom>
          <a:noFill/>
          <a:ln/>
        </p:spPr>
        <p:txBody>
          <a:bodyPr wrap="square" lIns="0" tIns="0" rIns="0" bIns="0" rtlCol="0" anchor="ctr"/>
          <a:lstStyle/>
          <a:p>
            <a:pPr algn="ctr" indent="0" marL="0">
              <a:buNone/>
            </a:pPr>
            <a:r>
              <a:rPr lang="en-US" sz="2200" b="1" dirty="0">
                <a:solidFill>
                  <a:schemeClr val="accent1"/>
                </a:solidFill>
                <a:latin typeface="Arial" pitchFamily="34" charset="0"/>
                <a:ea typeface="Arial" pitchFamily="34" charset="-122"/>
                <a:cs typeface="Arial" pitchFamily="34" charset="-120"/>
              </a:rPr>
              <a:t>O</a:t>
            </a:r>
            <a:endParaRPr lang="en-US" sz="2200" dirty="0"/>
          </a:p>
        </p:txBody>
      </p:sp>
      <p:sp>
        <p:nvSpPr>
          <p:cNvPr id="12" name="Rule name 2"/>
          <p:cNvSpPr txBox="1"/>
          <p:nvPr/>
        </p:nvSpPr>
        <p:spPr>
          <a:xfrm>
            <a:off x="4069080" y="1490472"/>
            <a:ext cx="1645920" cy="502920"/>
          </a:xfrm>
          <a:prstGeom prst="rect">
            <a:avLst/>
          </a:prstGeom>
          <a:noFill/>
          <a:ln/>
        </p:spPr>
        <p:txBody>
          <a:bodyPr wrap="square" lIns="0" tIns="0" rIns="0" bIns="0" rtlCol="0" anchor="ctr"/>
          <a:lstStyle/>
          <a:p>
            <a:pPr indent="0" marL="0">
              <a:buNone/>
            </a:pPr>
            <a:r>
              <a:rPr lang="en-US" sz="1700" b="1" dirty="0">
                <a:solidFill>
                  <a:schemeClr val="tx1"/>
                </a:solidFill>
              </a:rPr>
              <a:t>Overstuffing</a:t>
            </a:r>
            <a:endParaRPr lang="en-US" sz="1700" dirty="0"/>
          </a:p>
        </p:txBody>
      </p:sp>
      <p:pic>
        <p:nvPicPr>
          <p:cNvPr id="13" name="Rule picture 2" descr="Overstuffing: wrong and right example">    </p:cNvPr>
          <p:cNvPicPr>
            <a:picLocks noChangeAspect="1"/>
          </p:cNvPicPr>
          <p:nvPr/>
        </p:nvPicPr>
        <p:blipFill>
          <a:blip r:embed="rId2"/>
          <a:stretch>
            <a:fillRect/>
          </a:stretch>
        </p:blipFill>
        <p:spPr>
          <a:xfrm>
            <a:off x="3429000" y="2162420"/>
            <a:ext cx="2240280" cy="887240"/>
          </a:xfrm>
          <a:prstGeom prst="rect">
            <a:avLst/>
          </a:prstGeom>
        </p:spPr>
      </p:pic>
      <p:sp>
        <p:nvSpPr>
          <p:cNvPr id="14" name="Rule detail 2"/>
          <p:cNvSpPr txBox="1"/>
          <p:nvPr/>
        </p:nvSpPr>
        <p:spPr>
          <a:xfrm>
            <a:off x="3429000" y="3246120"/>
            <a:ext cx="2286000" cy="123444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accent4"/>
                </a:solidFill>
              </a:rPr>
              <a:t>Don't overfill the bin</a:t>
            </a:r>
            <a:endParaRPr lang="en-US" sz="1400" dirty="0"/>
          </a:p>
          <a:p>
            <a:pPr marL="342900" indent="-342900">
              <a:spcAft>
                <a:spcPts val="400"/>
              </a:spcAft>
              <a:buSzPct val="100000"/>
              <a:buChar char="•"/>
            </a:pPr>
            <a:r>
              <a:rPr lang="en-US" sz="1400" dirty="0">
                <a:solidFill>
                  <a:schemeClr val="accent4"/>
                </a:solidFill>
              </a:rPr>
              <a:t>Forcing items in damages customer products</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1" type="title" hasCustomPrompt="1"/>
          </p:nvPr>
        </p:nvSpPr>
        <p:spPr>
          <a:xfrm>
            <a:off x="457200" y="640080"/>
            <a:ext cx="5394960" cy="548640"/>
          </a:xfrm>
          <a:prstGeom prst="rect">
            <a:avLst/>
          </a:prstGeom>
          <a:noFill/>
          <a:ln/>
        </p:spPr>
        <p:txBody>
          <a:bodyPr wrap="square" lIns="0" tIns="0" rIns="0" bIns="0" rtlCol="0" anchor="ctr"/>
          <a:lstStyle/>
          <a:p>
            <a:pPr algn="l" indent="0" marL="0">
              <a:buNone/>
            </a:pPr>
            <a:r>
              <a:rPr lang="en-US" sz="2800" b="1" dirty="0">
                <a:solidFill>
                  <a:schemeClr val="tx1"/>
                </a:solidFill>
              </a:rPr>
              <a:t>T + S: easy to find</a:t>
            </a:r>
            <a:endParaRPr lang="en-US" sz="2800" dirty="0"/>
          </a:p>
        </p:txBody>
      </p:sp>
      <p:sp>
        <p:nvSpPr>
          <p:cNvPr id="3" name="Rule card 1"/>
          <p:cNvSpPr/>
          <p:nvPr/>
        </p:nvSpPr>
        <p:spPr>
          <a:xfrm>
            <a:off x="457200" y="1325880"/>
            <a:ext cx="2606040" cy="3246120"/>
          </a:xfrm>
          <a:prstGeom prst="roundRect">
            <a:avLst>
              <a:gd name="adj" fmla="val 3509"/>
            </a:avLst>
          </a:prstGeom>
          <a:solidFill>
            <a:schemeClr val="bg1"/>
          </a:solidFill>
          <a:ln/>
        </p:spPr>
      </p:sp>
      <p:sp>
        <p:nvSpPr>
          <p:cNvPr id="4" name="Rule badge 1"/>
          <p:cNvSpPr/>
          <p:nvPr/>
        </p:nvSpPr>
        <p:spPr>
          <a:xfrm>
            <a:off x="640080" y="1490472"/>
            <a:ext cx="502920" cy="502920"/>
          </a:xfrm>
          <a:prstGeom prst="ellipse">
            <a:avLst/>
          </a:prstGeom>
          <a:solidFill>
            <a:schemeClr val="tx2"/>
          </a:solidFill>
          <a:ln/>
        </p:spPr>
      </p:sp>
      <p:sp>
        <p:nvSpPr>
          <p:cNvPr id="5" name="Rule letter 1"/>
          <p:cNvSpPr txBox="1"/>
          <p:nvPr/>
        </p:nvSpPr>
        <p:spPr>
          <a:xfrm>
            <a:off x="640080" y="1490472"/>
            <a:ext cx="502920" cy="502920"/>
          </a:xfrm>
          <a:prstGeom prst="rect">
            <a:avLst/>
          </a:prstGeom>
          <a:noFill/>
          <a:ln/>
        </p:spPr>
        <p:txBody>
          <a:bodyPr wrap="square" lIns="0" tIns="0" rIns="0" bIns="0" rtlCol="0" anchor="ctr"/>
          <a:lstStyle/>
          <a:p>
            <a:pPr algn="ctr" indent="0" marL="0">
              <a:buNone/>
            </a:pPr>
            <a:r>
              <a:rPr lang="en-US" sz="2200" b="1" dirty="0">
                <a:solidFill>
                  <a:schemeClr val="accent1"/>
                </a:solidFill>
                <a:latin typeface="Arial" pitchFamily="34" charset="0"/>
                <a:ea typeface="Arial" pitchFamily="34" charset="-122"/>
                <a:cs typeface="Arial" pitchFamily="34" charset="-120"/>
              </a:rPr>
              <a:t>T</a:t>
            </a:r>
            <a:endParaRPr lang="en-US" sz="2200" dirty="0"/>
          </a:p>
        </p:txBody>
      </p:sp>
      <p:sp>
        <p:nvSpPr>
          <p:cNvPr id="6" name="Rule name 1"/>
          <p:cNvSpPr txBox="1"/>
          <p:nvPr/>
        </p:nvSpPr>
        <p:spPr>
          <a:xfrm>
            <a:off x="1280160" y="1490472"/>
            <a:ext cx="1645920" cy="502920"/>
          </a:xfrm>
          <a:prstGeom prst="rect">
            <a:avLst/>
          </a:prstGeom>
          <a:noFill/>
          <a:ln/>
        </p:spPr>
        <p:txBody>
          <a:bodyPr wrap="square" lIns="0" tIns="0" rIns="0" bIns="0" rtlCol="0" anchor="ctr"/>
          <a:lstStyle/>
          <a:p>
            <a:pPr indent="0" marL="0">
              <a:buNone/>
            </a:pPr>
            <a:r>
              <a:rPr lang="en-US" sz="1700" b="1" dirty="0">
                <a:solidFill>
                  <a:schemeClr val="tx1"/>
                </a:solidFill>
              </a:rPr>
              <a:t>Titles out</a:t>
            </a:r>
            <a:endParaRPr lang="en-US" sz="1700" dirty="0"/>
          </a:p>
        </p:txBody>
      </p:sp>
      <p:pic>
        <p:nvPicPr>
          <p:cNvPr id="7" name="Rule picture 1" descr="Titles out: wrong and right example">    </p:cNvPr>
          <p:cNvPicPr>
            <a:picLocks noChangeAspect="1"/>
          </p:cNvPicPr>
          <p:nvPr/>
        </p:nvPicPr>
        <p:blipFill>
          <a:blip r:embed="rId1"/>
          <a:stretch>
            <a:fillRect/>
          </a:stretch>
        </p:blipFill>
        <p:spPr>
          <a:xfrm>
            <a:off x="640080" y="2180904"/>
            <a:ext cx="2240280" cy="850271"/>
          </a:xfrm>
          <a:prstGeom prst="rect">
            <a:avLst/>
          </a:prstGeom>
        </p:spPr>
      </p:pic>
      <p:sp>
        <p:nvSpPr>
          <p:cNvPr id="8" name="Rule detail 1"/>
          <p:cNvSpPr txBox="1"/>
          <p:nvPr/>
        </p:nvSpPr>
        <p:spPr>
          <a:xfrm>
            <a:off x="640080" y="3246120"/>
            <a:ext cx="2286000" cy="123444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accent4"/>
                </a:solidFill>
              </a:rPr>
              <a:t>Book and DVD spines face outward</a:t>
            </a:r>
            <a:endParaRPr lang="en-US" sz="1400" dirty="0"/>
          </a:p>
          <a:p>
            <a:pPr marL="342900" indent="-342900">
              <a:spcAft>
                <a:spcPts val="400"/>
              </a:spcAft>
              <a:buSzPct val="100000"/>
              <a:buChar char="•"/>
            </a:pPr>
            <a:r>
              <a:rPr lang="en-US" sz="1400" dirty="0">
                <a:solidFill>
                  <a:schemeClr val="accent4"/>
                </a:solidFill>
              </a:rPr>
              <a:t>So pickers can find them fast</a:t>
            </a:r>
            <a:endParaRPr lang="en-US" sz="1400" dirty="0"/>
          </a:p>
        </p:txBody>
      </p:sp>
      <p:sp>
        <p:nvSpPr>
          <p:cNvPr id="9" name="Rule card 2"/>
          <p:cNvSpPr/>
          <p:nvPr/>
        </p:nvSpPr>
        <p:spPr>
          <a:xfrm>
            <a:off x="3246120" y="1325880"/>
            <a:ext cx="2606040" cy="3246120"/>
          </a:xfrm>
          <a:prstGeom prst="roundRect">
            <a:avLst>
              <a:gd name="adj" fmla="val 3509"/>
            </a:avLst>
          </a:prstGeom>
          <a:solidFill>
            <a:schemeClr val="bg1"/>
          </a:solidFill>
          <a:ln/>
        </p:spPr>
      </p:sp>
      <p:sp>
        <p:nvSpPr>
          <p:cNvPr id="10" name="Rule badge 2"/>
          <p:cNvSpPr/>
          <p:nvPr/>
        </p:nvSpPr>
        <p:spPr>
          <a:xfrm>
            <a:off x="3429000" y="1490472"/>
            <a:ext cx="502920" cy="502920"/>
          </a:xfrm>
          <a:prstGeom prst="ellipse">
            <a:avLst/>
          </a:prstGeom>
          <a:solidFill>
            <a:schemeClr val="tx2"/>
          </a:solidFill>
          <a:ln/>
        </p:spPr>
      </p:sp>
      <p:sp>
        <p:nvSpPr>
          <p:cNvPr id="11" name="Rule letter 2"/>
          <p:cNvSpPr txBox="1"/>
          <p:nvPr/>
        </p:nvSpPr>
        <p:spPr>
          <a:xfrm>
            <a:off x="3429000" y="1490472"/>
            <a:ext cx="502920" cy="502920"/>
          </a:xfrm>
          <a:prstGeom prst="rect">
            <a:avLst/>
          </a:prstGeom>
          <a:noFill/>
          <a:ln/>
        </p:spPr>
        <p:txBody>
          <a:bodyPr wrap="square" lIns="0" tIns="0" rIns="0" bIns="0" rtlCol="0" anchor="ctr"/>
          <a:lstStyle/>
          <a:p>
            <a:pPr algn="ctr" indent="0" marL="0">
              <a:buNone/>
            </a:pPr>
            <a:r>
              <a:rPr lang="en-US" sz="2200" b="1" dirty="0">
                <a:solidFill>
                  <a:schemeClr val="accent1"/>
                </a:solidFill>
                <a:latin typeface="Arial" pitchFamily="34" charset="0"/>
                <a:ea typeface="Arial" pitchFamily="34" charset="-122"/>
                <a:cs typeface="Arial" pitchFamily="34" charset="-120"/>
              </a:rPr>
              <a:t>S</a:t>
            </a:r>
            <a:endParaRPr lang="en-US" sz="2200" dirty="0"/>
          </a:p>
        </p:txBody>
      </p:sp>
      <p:sp>
        <p:nvSpPr>
          <p:cNvPr id="12" name="Rule name 2"/>
          <p:cNvSpPr txBox="1"/>
          <p:nvPr/>
        </p:nvSpPr>
        <p:spPr>
          <a:xfrm>
            <a:off x="4069080" y="1490472"/>
            <a:ext cx="1645920" cy="502920"/>
          </a:xfrm>
          <a:prstGeom prst="rect">
            <a:avLst/>
          </a:prstGeom>
          <a:noFill/>
          <a:ln/>
        </p:spPr>
        <p:txBody>
          <a:bodyPr wrap="square" lIns="0" tIns="0" rIns="0" bIns="0" rtlCol="0" anchor="ctr"/>
          <a:lstStyle/>
          <a:p>
            <a:pPr indent="0" marL="0">
              <a:buNone/>
            </a:pPr>
            <a:r>
              <a:rPr lang="en-US" sz="1700" b="1" dirty="0">
                <a:solidFill>
                  <a:schemeClr val="tx1"/>
                </a:solidFill>
              </a:rPr>
              <a:t>Stacking</a:t>
            </a:r>
            <a:endParaRPr lang="en-US" sz="1700" dirty="0"/>
          </a:p>
        </p:txBody>
      </p:sp>
      <p:pic>
        <p:nvPicPr>
          <p:cNvPr id="13" name="Rule picture 2" descr="Stacking: wrong and right example">    </p:cNvPr>
          <p:cNvPicPr>
            <a:picLocks noChangeAspect="1"/>
          </p:cNvPicPr>
          <p:nvPr/>
        </p:nvPicPr>
        <p:blipFill>
          <a:blip r:embed="rId2"/>
          <a:stretch>
            <a:fillRect/>
          </a:stretch>
        </p:blipFill>
        <p:spPr>
          <a:xfrm>
            <a:off x="3429000" y="2173511"/>
            <a:ext cx="2240280" cy="865059"/>
          </a:xfrm>
          <a:prstGeom prst="rect">
            <a:avLst/>
          </a:prstGeom>
        </p:spPr>
      </p:pic>
      <p:sp>
        <p:nvSpPr>
          <p:cNvPr id="14" name="Rule detail 2"/>
          <p:cNvSpPr txBox="1"/>
          <p:nvPr/>
        </p:nvSpPr>
        <p:spPr>
          <a:xfrm>
            <a:off x="3429000" y="3246120"/>
            <a:ext cx="2286000" cy="123444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accent4"/>
                </a:solidFill>
              </a:rPr>
              <a:t>Same ASIN only, with two flat sides</a:t>
            </a:r>
            <a:endParaRPr lang="en-US" sz="1400" dirty="0"/>
          </a:p>
          <a:p>
            <a:pPr marL="342900" indent="-342900">
              <a:spcAft>
                <a:spcPts val="400"/>
              </a:spcAft>
              <a:buSzPct val="100000"/>
              <a:buChar char="•"/>
            </a:pPr>
            <a:r>
              <a:rPr lang="en-US" sz="1400" dirty="0">
                <a:solidFill>
                  <a:schemeClr val="accent4"/>
                </a:solidFill>
              </a:rPr>
              <a:t>Keep stacks below the retention bands</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1" type="title" hasCustomPrompt="1"/>
          </p:nvPr>
        </p:nvSpPr>
        <p:spPr>
          <a:xfrm>
            <a:off x="457200" y="640080"/>
            <a:ext cx="5394960" cy="548640"/>
          </a:xfrm>
          <a:prstGeom prst="rect">
            <a:avLst/>
          </a:prstGeom>
          <a:noFill/>
          <a:ln/>
        </p:spPr>
        <p:txBody>
          <a:bodyPr wrap="square" lIns="0" tIns="0" rIns="0" bIns="0" rtlCol="0" anchor="ctr"/>
          <a:lstStyle/>
          <a:p>
            <a:pPr algn="l" indent="0" marL="0">
              <a:buNone/>
            </a:pPr>
            <a:r>
              <a:rPr lang="en-US" sz="2800" b="1" dirty="0">
                <a:solidFill>
                  <a:schemeClr val="tx1"/>
                </a:solidFill>
              </a:rPr>
              <a:t>S: similar items</a:t>
            </a:r>
            <a:endParaRPr lang="en-US" sz="2800" dirty="0"/>
          </a:p>
        </p:txBody>
      </p:sp>
      <p:sp>
        <p:nvSpPr>
          <p:cNvPr id="3" name="Similar card"/>
          <p:cNvSpPr/>
          <p:nvPr/>
        </p:nvSpPr>
        <p:spPr>
          <a:xfrm>
            <a:off x="457200" y="1325880"/>
            <a:ext cx="5394960" cy="3246120"/>
          </a:xfrm>
          <a:prstGeom prst="roundRect">
            <a:avLst>
              <a:gd name="adj" fmla="val 2817"/>
            </a:avLst>
          </a:prstGeom>
          <a:solidFill>
            <a:schemeClr val="bg1"/>
          </a:solidFill>
          <a:ln/>
        </p:spPr>
      </p:sp>
      <p:pic>
        <p:nvPicPr>
          <p:cNvPr id="4" name="Similar picture" descr="Similar items: wrong and right example">    </p:cNvPr>
          <p:cNvPicPr>
            <a:picLocks noChangeAspect="1"/>
          </p:cNvPicPr>
          <p:nvPr/>
        </p:nvPicPr>
        <p:blipFill>
          <a:blip r:embed="rId1"/>
          <a:stretch>
            <a:fillRect/>
          </a:stretch>
        </p:blipFill>
        <p:spPr>
          <a:xfrm>
            <a:off x="1568631" y="1600200"/>
            <a:ext cx="3172097" cy="1417320"/>
          </a:xfrm>
          <a:prstGeom prst="rect">
            <a:avLst/>
          </a:prstGeom>
        </p:spPr>
      </p:pic>
      <p:sp>
        <p:nvSpPr>
          <p:cNvPr id="5" name="Similar text"/>
          <p:cNvSpPr txBox="1"/>
          <p:nvPr/>
        </p:nvSpPr>
        <p:spPr>
          <a:xfrm>
            <a:off x="731520" y="3246120"/>
            <a:ext cx="4846320" cy="118872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accent4"/>
                </a:solidFill>
              </a:rPr>
              <a:t>Never put look-alike items in the same bin</a:t>
            </a:r>
            <a:endParaRPr lang="en-US" sz="1500" dirty="0"/>
          </a:p>
          <a:p>
            <a:pPr marL="342900" indent="-342900">
              <a:spcAft>
                <a:spcPts val="600"/>
              </a:spcAft>
              <a:buSzPct val="100000"/>
              <a:buChar char="•"/>
            </a:pPr>
            <a:r>
              <a:rPr lang="en-US" sz="1500" dirty="0">
                <a:solidFill>
                  <a:schemeClr val="accent4"/>
                </a:solidFill>
              </a:rPr>
              <a:t>Use the cross method for similar items</a:t>
            </a:r>
            <a:endParaRPr lang="en-US" sz="1500" dirty="0"/>
          </a:p>
          <a:p>
            <a:pPr marL="342900" indent="-342900">
              <a:spcAft>
                <a:spcPts val="600"/>
              </a:spcAft>
              <a:buSzPct val="100000"/>
              <a:buChar char="•"/>
            </a:pPr>
            <a:r>
              <a:rPr lang="en-US" sz="1500" dirty="0">
                <a:solidFill>
                  <a:schemeClr val="accent4"/>
                </a:solidFill>
              </a:rPr>
              <a:t>The system won't always flag them on screen</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1" type="title" hasCustomPrompt="1"/>
          </p:nvPr>
        </p:nvSpPr>
        <p:spPr>
          <a:xfrm>
            <a:off x="457200" y="640080"/>
            <a:ext cx="5394960" cy="548640"/>
          </a:xfrm>
          <a:prstGeom prst="rect">
            <a:avLst/>
          </a:prstGeom>
          <a:noFill/>
          <a:ln/>
        </p:spPr>
        <p:txBody>
          <a:bodyPr wrap="square" lIns="0" tIns="0" rIns="0" bIns="0" rtlCol="0" anchor="ctr"/>
          <a:lstStyle/>
          <a:p>
            <a:pPr algn="l" indent="0" marL="0">
              <a:buNone/>
            </a:pPr>
            <a:r>
              <a:rPr lang="en-US" sz="2800" b="1" dirty="0">
                <a:solidFill>
                  <a:schemeClr val="tx1"/>
                </a:solidFill>
              </a:rPr>
              <a:t>Your shift, bin by bin</a:t>
            </a:r>
            <a:endParaRPr lang="en-US" sz="2800" dirty="0"/>
          </a:p>
        </p:txBody>
      </p:sp>
      <p:sp>
        <p:nvSpPr>
          <p:cNvPr id="3" name="Recap circle 1"/>
          <p:cNvSpPr/>
          <p:nvPr/>
        </p:nvSpPr>
        <p:spPr>
          <a:xfrm>
            <a:off x="868680" y="1371600"/>
            <a:ext cx="868680" cy="868680"/>
          </a:xfrm>
          <a:prstGeom prst="ellipse">
            <a:avLst/>
          </a:prstGeom>
          <a:solidFill>
            <a:schemeClr val="accent1"/>
          </a:solidFill>
          <a:ln/>
        </p:spPr>
      </p:sp>
      <p:pic>
        <p:nvPicPr>
          <p:cNvPr id="4" name="Recap icon 1" descr="preencoded.png">    </p:cNvPr>
          <p:cNvPicPr>
            <a:picLocks noChangeAspect="1"/>
          </p:cNvPicPr>
          <p:nvPr/>
        </p:nvPicPr>
        <p:blipFill>
          <a:blip r:embed="rId1"/>
          <a:stretch>
            <a:fillRect/>
          </a:stretch>
        </p:blipFill>
        <p:spPr>
          <a:xfrm>
            <a:off x="1088136" y="1591056"/>
            <a:ext cx="429768" cy="429768"/>
          </a:xfrm>
          <a:prstGeom prst="rect">
            <a:avLst/>
          </a:prstGeom>
        </p:spPr>
      </p:pic>
      <p:sp>
        <p:nvSpPr>
          <p:cNvPr id="5" name="Recap text 1"/>
          <p:cNvSpPr txBox="1"/>
          <p:nvPr/>
        </p:nvSpPr>
        <p:spPr>
          <a:xfrm>
            <a:off x="457200" y="2423160"/>
            <a:ext cx="1691640" cy="1097280"/>
          </a:xfrm>
          <a:prstGeom prst="rect">
            <a:avLst/>
          </a:prstGeom>
          <a:noFill/>
          <a:ln/>
        </p:spPr>
        <p:txBody>
          <a:bodyPr wrap="square" lIns="0" tIns="0" rIns="0" bIns="0" rtlCol="0" anchor="t"/>
          <a:lstStyle/>
          <a:p>
            <a:pPr algn="ctr" indent="0" marL="0">
              <a:buNone/>
            </a:pPr>
            <a:r>
              <a:rPr lang="en-US" sz="1300" dirty="0">
                <a:solidFill>
                  <a:schemeClr val="accent4"/>
                </a:solidFill>
              </a:rPr>
              <a:t>Shift start and after breaks</a:t>
            </a:r>
            <a:endParaRPr lang="en-US" sz="1300" dirty="0"/>
          </a:p>
          <a:p>
            <a:pPr algn="ctr" indent="0" marL="0">
              <a:buNone/>
            </a:pPr>
            <a:r>
              <a:rPr lang="en-US" sz="1700" b="1" dirty="0">
                <a:solidFill>
                  <a:schemeClr val="tx1"/>
                </a:solidFill>
              </a:rPr>
              <a:t>1-minute First Face Fix</a:t>
            </a:r>
            <a:endParaRPr lang="en-US" sz="1300" dirty="0"/>
          </a:p>
        </p:txBody>
      </p:sp>
      <p:pic>
        <p:nvPicPr>
          <p:cNvPr id="6" name="Arrow 1" descr="preencoded.png">    </p:cNvPr>
          <p:cNvPicPr>
            <a:picLocks noChangeAspect="1"/>
          </p:cNvPicPr>
          <p:nvPr/>
        </p:nvPicPr>
        <p:blipFill>
          <a:blip r:embed="rId2"/>
          <a:stretch>
            <a:fillRect/>
          </a:stretch>
        </p:blipFill>
        <p:spPr>
          <a:xfrm>
            <a:off x="2121408" y="1664208"/>
            <a:ext cx="274320" cy="274320"/>
          </a:xfrm>
          <a:prstGeom prst="rect">
            <a:avLst/>
          </a:prstGeom>
        </p:spPr>
      </p:pic>
      <p:sp>
        <p:nvSpPr>
          <p:cNvPr id="7" name="Recap circle 2"/>
          <p:cNvSpPr/>
          <p:nvPr/>
        </p:nvSpPr>
        <p:spPr>
          <a:xfrm>
            <a:off x="2697480" y="1371600"/>
            <a:ext cx="868680" cy="868680"/>
          </a:xfrm>
          <a:prstGeom prst="ellipse">
            <a:avLst/>
          </a:prstGeom>
          <a:solidFill>
            <a:schemeClr val="accent1"/>
          </a:solidFill>
          <a:ln/>
        </p:spPr>
      </p:sp>
      <p:pic>
        <p:nvPicPr>
          <p:cNvPr id="8" name="Recap icon 2" descr="preencoded.png">    </p:cNvPr>
          <p:cNvPicPr>
            <a:picLocks noChangeAspect="1"/>
          </p:cNvPicPr>
          <p:nvPr/>
        </p:nvPicPr>
        <p:blipFill>
          <a:blip r:embed="rId3"/>
          <a:stretch>
            <a:fillRect/>
          </a:stretch>
        </p:blipFill>
        <p:spPr>
          <a:xfrm>
            <a:off x="2916936" y="1591056"/>
            <a:ext cx="429768" cy="429768"/>
          </a:xfrm>
          <a:prstGeom prst="rect">
            <a:avLst/>
          </a:prstGeom>
        </p:spPr>
      </p:pic>
      <p:sp>
        <p:nvSpPr>
          <p:cNvPr id="9" name="Recap text 2"/>
          <p:cNvSpPr txBox="1"/>
          <p:nvPr/>
        </p:nvSpPr>
        <p:spPr>
          <a:xfrm>
            <a:off x="2286000" y="2423160"/>
            <a:ext cx="1691640" cy="1097280"/>
          </a:xfrm>
          <a:prstGeom prst="rect">
            <a:avLst/>
          </a:prstGeom>
          <a:noFill/>
          <a:ln/>
        </p:spPr>
        <p:txBody>
          <a:bodyPr wrap="square" lIns="0" tIns="0" rIns="0" bIns="0" rtlCol="0" anchor="t"/>
          <a:lstStyle/>
          <a:p>
            <a:pPr algn="ctr" indent="0" marL="0">
              <a:buNone/>
            </a:pPr>
            <a:r>
              <a:rPr lang="en-US" sz="1300" dirty="0">
                <a:solidFill>
                  <a:schemeClr val="accent4"/>
                </a:solidFill>
              </a:rPr>
              <a:t>Every bin you touch</a:t>
            </a:r>
            <a:endParaRPr lang="en-US" sz="1300" dirty="0"/>
          </a:p>
          <a:p>
            <a:pPr algn="ctr" indent="0" marL="0">
              <a:buNone/>
            </a:pPr>
            <a:r>
              <a:rPr lang="en-US" sz="1700" b="1" dirty="0">
                <a:solidFill>
                  <a:schemeClr val="tx1"/>
                </a:solidFill>
              </a:rPr>
              <a:t>Apply ROBOTSS</a:t>
            </a:r>
            <a:endParaRPr lang="en-US" sz="1300" dirty="0"/>
          </a:p>
        </p:txBody>
      </p:sp>
      <p:pic>
        <p:nvPicPr>
          <p:cNvPr id="10" name="Arrow 2" descr="preencoded.png">    </p:cNvPr>
          <p:cNvPicPr>
            <a:picLocks noChangeAspect="1"/>
          </p:cNvPicPr>
          <p:nvPr/>
        </p:nvPicPr>
        <p:blipFill>
          <a:blip r:embed="rId4"/>
          <a:stretch>
            <a:fillRect/>
          </a:stretch>
        </p:blipFill>
        <p:spPr>
          <a:xfrm>
            <a:off x="3950208" y="1664208"/>
            <a:ext cx="274320" cy="274320"/>
          </a:xfrm>
          <a:prstGeom prst="rect">
            <a:avLst/>
          </a:prstGeom>
        </p:spPr>
      </p:pic>
      <p:sp>
        <p:nvSpPr>
          <p:cNvPr id="11" name="Recap circle 3"/>
          <p:cNvSpPr/>
          <p:nvPr/>
        </p:nvSpPr>
        <p:spPr>
          <a:xfrm>
            <a:off x="4526280" y="1371600"/>
            <a:ext cx="868680" cy="868680"/>
          </a:xfrm>
          <a:prstGeom prst="ellipse">
            <a:avLst/>
          </a:prstGeom>
          <a:solidFill>
            <a:schemeClr val="accent1"/>
          </a:solidFill>
          <a:ln/>
        </p:spPr>
      </p:sp>
      <p:pic>
        <p:nvPicPr>
          <p:cNvPr id="12" name="Recap icon 3" descr="preencoded.png">    </p:cNvPr>
          <p:cNvPicPr>
            <a:picLocks noChangeAspect="1"/>
          </p:cNvPicPr>
          <p:nvPr/>
        </p:nvPicPr>
        <p:blipFill>
          <a:blip r:embed="rId5"/>
          <a:stretch>
            <a:fillRect/>
          </a:stretch>
        </p:blipFill>
        <p:spPr>
          <a:xfrm>
            <a:off x="4745736" y="1591056"/>
            <a:ext cx="429768" cy="429768"/>
          </a:xfrm>
          <a:prstGeom prst="rect">
            <a:avLst/>
          </a:prstGeom>
        </p:spPr>
      </p:pic>
      <p:sp>
        <p:nvSpPr>
          <p:cNvPr id="13" name="Recap text 3"/>
          <p:cNvSpPr txBox="1"/>
          <p:nvPr/>
        </p:nvSpPr>
        <p:spPr>
          <a:xfrm>
            <a:off x="4114800" y="2423160"/>
            <a:ext cx="1691640" cy="1097280"/>
          </a:xfrm>
          <a:prstGeom prst="rect">
            <a:avLst/>
          </a:prstGeom>
          <a:noFill/>
          <a:ln/>
        </p:spPr>
        <p:txBody>
          <a:bodyPr wrap="square" lIns="0" tIns="0" rIns="0" bIns="0" rtlCol="0" anchor="t"/>
          <a:lstStyle/>
          <a:p>
            <a:pPr algn="ctr" indent="0" marL="0">
              <a:buNone/>
            </a:pPr>
            <a:r>
              <a:rPr lang="en-US" sz="1300" dirty="0">
                <a:solidFill>
                  <a:schemeClr val="accent4"/>
                </a:solidFill>
              </a:rPr>
              <a:t>All shift long</a:t>
            </a:r>
            <a:endParaRPr lang="en-US" sz="1300" dirty="0"/>
          </a:p>
          <a:p>
            <a:pPr algn="ctr" indent="0" marL="0">
              <a:buNone/>
            </a:pPr>
            <a:r>
              <a:rPr lang="en-US" sz="1700" b="1" dirty="0">
                <a:solidFill>
                  <a:schemeClr val="tx1"/>
                </a:solidFill>
              </a:rPr>
              <a:t>Fix as you go</a:t>
            </a:r>
            <a:endParaRPr lang="en-US" sz="1300" dirty="0"/>
          </a:p>
        </p:txBody>
      </p:sp>
      <p:sp>
        <p:nvSpPr>
          <p:cNvPr id="14" name="Goal card"/>
          <p:cNvSpPr/>
          <p:nvPr/>
        </p:nvSpPr>
        <p:spPr>
          <a:xfrm>
            <a:off x="457200" y="3749040"/>
            <a:ext cx="5394960" cy="777240"/>
          </a:xfrm>
          <a:prstGeom prst="roundRect">
            <a:avLst>
              <a:gd name="adj" fmla="val 11765"/>
            </a:avLst>
          </a:prstGeom>
          <a:solidFill>
            <a:schemeClr val="tx2"/>
          </a:solidFill>
          <a:ln/>
        </p:spPr>
      </p:sp>
      <p:sp>
        <p:nvSpPr>
          <p:cNvPr id="15" name="Goal text"/>
          <p:cNvSpPr txBox="1"/>
          <p:nvPr/>
        </p:nvSpPr>
        <p:spPr>
          <a:xfrm>
            <a:off x="731520" y="3749040"/>
            <a:ext cx="4846320" cy="777240"/>
          </a:xfrm>
          <a:prstGeom prst="rect">
            <a:avLst/>
          </a:prstGeom>
          <a:noFill/>
          <a:ln/>
        </p:spPr>
        <p:txBody>
          <a:bodyPr wrap="square" lIns="0" tIns="0" rIns="0" bIns="0" rtlCol="0" anchor="ctr"/>
          <a:lstStyle/>
          <a:p>
            <a:pPr indent="0" marL="0">
              <a:buNone/>
            </a:pPr>
            <a:r>
              <a:rPr lang="en-US" sz="1600" b="1" dirty="0">
                <a:solidFill>
                  <a:srgbClr val="9EDFF7"/>
                </a:solidFill>
              </a:rPr>
              <a:t>Goal: </a:t>
            </a:r>
            <a:pPr indent="0" marL="0">
              <a:buNone/>
            </a:pPr>
            <a:r>
              <a:rPr lang="en-US" sz="1600" dirty="0">
                <a:solidFill>
                  <a:schemeClr val="bg1"/>
                </a:solidFill>
              </a:rPr>
              <a:t>fewer units falling, lower wAPMT, happier customers.</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Closing title"/>
          <p:cNvSpPr txBox="1"/>
          <p:nvPr/>
        </p:nvSpPr>
        <p:spPr>
          <a:xfrm>
            <a:off x="1371600" y="411480"/>
            <a:ext cx="6400800" cy="640080"/>
          </a:xfrm>
          <a:prstGeom prst="rect">
            <a:avLst/>
          </a:prstGeom>
          <a:noFill/>
          <a:ln/>
        </p:spPr>
        <p:txBody>
          <a:bodyPr wrap="square" lIns="0" tIns="0" rIns="0" bIns="0" rtlCol="0" anchor="ctr"/>
          <a:lstStyle/>
          <a:p>
            <a:pPr algn="ctr" indent="0" marL="0">
              <a:buNone/>
            </a:pPr>
            <a:r>
              <a:rPr lang="en-US" sz="3200" dirty="0">
                <a:solidFill>
                  <a:schemeClr val="accent1"/>
                </a:solidFill>
                <a:latin typeface="Arial" pitchFamily="34" charset="0"/>
                <a:ea typeface="Arial" pitchFamily="34" charset="-122"/>
                <a:cs typeface="Arial" pitchFamily="34" charset="-120"/>
              </a:rPr>
              <a:t>Learn and be curious</a:t>
            </a:r>
            <a:endParaRPr lang="en-US" sz="3200" dirty="0"/>
          </a:p>
        </p:txBody>
      </p:sp>
      <p:sp>
        <p:nvSpPr>
          <p:cNvPr id="3" name="Closing tagline"/>
          <p:cNvSpPr txBox="1"/>
          <p:nvPr/>
        </p:nvSpPr>
        <p:spPr>
          <a:xfrm>
            <a:off x="1371600" y="2651760"/>
            <a:ext cx="6400800" cy="457200"/>
          </a:xfrm>
          <a:prstGeom prst="rect">
            <a:avLst/>
          </a:prstGeom>
          <a:noFill/>
          <a:ln/>
        </p:spPr>
        <p:txBody>
          <a:bodyPr wrap="square" lIns="0" tIns="0" rIns="0" bIns="0" rtlCol="0" anchor="ctr"/>
          <a:lstStyle/>
          <a:p>
            <a:pPr algn="ctr" indent="0" marL="0">
              <a:buNone/>
            </a:pPr>
            <a:r>
              <a:rPr lang="en-US" sz="1800" b="1" dirty="0">
                <a:solidFill>
                  <a:schemeClr val="tx1"/>
                </a:solidFill>
              </a:rPr>
              <a:t>Small fixes. Big impact.</a:t>
            </a:r>
            <a:endParaRPr lang="en-US" sz="1800" dirty="0"/>
          </a:p>
        </p:txBody>
      </p:sp>
      <p:sp>
        <p:nvSpPr>
          <p:cNvPr id="4" name="Rate label"/>
          <p:cNvSpPr txBox="1"/>
          <p:nvPr/>
        </p:nvSpPr>
        <p:spPr>
          <a:xfrm>
            <a:off x="2788920" y="3429000"/>
            <a:ext cx="1600200" cy="365760"/>
          </a:xfrm>
          <a:prstGeom prst="rect">
            <a:avLst/>
          </a:prstGeom>
          <a:noFill/>
          <a:ln/>
        </p:spPr>
        <p:txBody>
          <a:bodyPr wrap="square" lIns="0" tIns="0" rIns="0" bIns="0" rtlCol="0" anchor="ctr"/>
          <a:lstStyle/>
          <a:p>
            <a:pPr algn="r" indent="0" marL="0">
              <a:buNone/>
            </a:pPr>
            <a:r>
              <a:rPr lang="en-US" sz="1600" dirty="0">
                <a:solidFill>
                  <a:schemeClr val="tx1"/>
                </a:solidFill>
              </a:rPr>
              <a:t>Rate this video</a:t>
            </a:r>
            <a:endParaRPr lang="en-US" sz="1600" dirty="0"/>
          </a:p>
        </p:txBody>
      </p:sp>
      <p:pic>
        <p:nvPicPr>
          <p:cNvPr id="5" name="Star 1" descr="preencoded.png">    </p:cNvPr>
          <p:cNvPicPr>
            <a:picLocks noChangeAspect="1"/>
          </p:cNvPicPr>
          <p:nvPr/>
        </p:nvPicPr>
        <p:blipFill>
          <a:blip r:embed="rId1"/>
          <a:stretch>
            <a:fillRect/>
          </a:stretch>
        </p:blipFill>
        <p:spPr>
          <a:xfrm>
            <a:off x="4526280" y="3474720"/>
            <a:ext cx="274320" cy="274320"/>
          </a:xfrm>
          <a:prstGeom prst="rect">
            <a:avLst/>
          </a:prstGeom>
        </p:spPr>
      </p:pic>
      <p:pic>
        <p:nvPicPr>
          <p:cNvPr id="6" name="Star 2" descr="preencoded.png">    </p:cNvPr>
          <p:cNvPicPr>
            <a:picLocks noChangeAspect="1"/>
          </p:cNvPicPr>
          <p:nvPr/>
        </p:nvPicPr>
        <p:blipFill>
          <a:blip r:embed="rId2"/>
          <a:stretch>
            <a:fillRect/>
          </a:stretch>
        </p:blipFill>
        <p:spPr>
          <a:xfrm>
            <a:off x="4873752" y="3474720"/>
            <a:ext cx="274320" cy="274320"/>
          </a:xfrm>
          <a:prstGeom prst="rect">
            <a:avLst/>
          </a:prstGeom>
        </p:spPr>
      </p:pic>
      <p:pic>
        <p:nvPicPr>
          <p:cNvPr id="7" name="Star 3" descr="preencoded.png">    </p:cNvPr>
          <p:cNvPicPr>
            <a:picLocks noChangeAspect="1"/>
          </p:cNvPicPr>
          <p:nvPr/>
        </p:nvPicPr>
        <p:blipFill>
          <a:blip r:embed="rId3"/>
          <a:stretch>
            <a:fillRect/>
          </a:stretch>
        </p:blipFill>
        <p:spPr>
          <a:xfrm>
            <a:off x="5221224" y="3474720"/>
            <a:ext cx="274320" cy="274320"/>
          </a:xfrm>
          <a:prstGeom prst="rect">
            <a:avLst/>
          </a:prstGeom>
        </p:spPr>
      </p:pic>
      <p:pic>
        <p:nvPicPr>
          <p:cNvPr id="8" name="Star 4" descr="preencoded.png">    </p:cNvPr>
          <p:cNvPicPr>
            <a:picLocks noChangeAspect="1"/>
          </p:cNvPicPr>
          <p:nvPr/>
        </p:nvPicPr>
        <p:blipFill>
          <a:blip r:embed="rId4"/>
          <a:stretch>
            <a:fillRect/>
          </a:stretch>
        </p:blipFill>
        <p:spPr>
          <a:xfrm>
            <a:off x="5568696" y="3474720"/>
            <a:ext cx="274320" cy="274320"/>
          </a:xfrm>
          <a:prstGeom prst="rect">
            <a:avLst/>
          </a:prstGeom>
        </p:spPr>
      </p:pic>
      <p:pic>
        <p:nvPicPr>
          <p:cNvPr id="9" name="Star 5" descr="preencoded.png">    </p:cNvPr>
          <p:cNvPicPr>
            <a:picLocks noChangeAspect="1"/>
          </p:cNvPicPr>
          <p:nvPr/>
        </p:nvPicPr>
        <p:blipFill>
          <a:blip r:embed="rId5"/>
          <a:stretch>
            <a:fillRect/>
          </a:stretch>
        </p:blipFill>
        <p:spPr>
          <a:xfrm>
            <a:off x="5916168" y="3474720"/>
            <a:ext cx="274320" cy="274320"/>
          </a:xfrm>
          <a:prstGeom prst="rect">
            <a:avLst/>
          </a:prstGeom>
        </p:spPr>
      </p:pic>
    </p:spTree>
  </p:cSld>
  <p:clrMapOvr>
    <a:masterClrMapping/>
  </p:clrMapOvr>
</p:sld>
</file>

<file path=ppt/theme/theme1.xml><?xml version="1.0" encoding="utf-8"?>
<a:theme xmlns:a="http://schemas.openxmlformats.org/drawingml/2006/main" name="L&amp;D Field Team">
  <a:themeElements>
    <a:clrScheme name="L&amp;D Field Team">
      <a:dk1>
        <a:srgbClr val="121921"/>
      </a:dk1>
      <a:lt1>
        <a:srgbClr val="FFFFFF"/>
      </a:lt1>
      <a:dk2>
        <a:srgbClr val="37475A"/>
      </a:dk2>
      <a:lt2>
        <a:srgbClr val="F5F6FA"/>
      </a:lt2>
      <a:accent1>
        <a:srgbClr val="02A6E1"/>
      </a:accent1>
      <a:accent2>
        <a:srgbClr val="1E8C7E"/>
      </a:accent2>
      <a:accent3>
        <a:srgbClr val="D64545"/>
      </a:accent3>
      <a:accent4>
        <a:srgbClr val="5B6B7B"/>
      </a:accent4>
      <a:accent5>
        <a:srgbClr val="FFB400"/>
      </a:accent5>
      <a:accent6>
        <a:srgbClr val="0B6E99"/>
      </a:accent6>
      <a:hlink>
        <a:srgbClr val="0B6E99"/>
      </a:hlink>
      <a:folHlink>
        <a:srgbClr val="5B6B7B"/>
      </a:folHlink>
    </a:clrScheme>
    <a:fontScheme name="L&amp;D Field Team">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Amnesty Coaching - Stow: First Face Fix and ROBOTSS</dc:title>
  <dc:subject>wAPMT coaching campaign</dc:subject>
  <dc:creator>PptxGenJS</dc:creator>
  <cp:lastModifiedBy>PptxGenJS</cp:lastModifiedBy>
  <cp:revision>1</cp:revision>
  <dcterms:created xsi:type="dcterms:W3CDTF">2026-10-12T10:39:35Z</dcterms:created>
  <dcterms:modified xsi:type="dcterms:W3CDTF">2026-10-12T10:39:35Z</dcterms:modified>
</cp:coreProperties>
</file>