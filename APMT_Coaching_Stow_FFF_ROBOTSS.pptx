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eae75f32-f901-7bf8-64f3-ed7f78f61b9b}">
          <p14:sldIdLst>
            <p14:sldId id="256"/>
            <p14:sldId id="257"/>
            <p14:sldId id="258"/>
            <p14:sldId id="259"/>
          </p14:sldIdLst>
        </p14:section>
        <p14:section name="First Face Fix" id="{5a1c7c61-5b38-2e34-89f7-3cfbd445ffda}">
          <p14:sldIdLst>
            <p14:sldId id="260"/>
            <p14:sldId id="261"/>
            <p14:sldId id="262"/>
            <p14:sldId id="263"/>
            <p14:sldId id="264"/>
          </p14:sldIdLst>
        </p14:section>
        <p14:section name="ROBOTSS" id="{4eaea52b-80b8-a890-0919-dd2854085b74}">
          <p14:sldIdLst>
            <p14:sldId id="265"/>
            <p14:sldId id="266"/>
            <p14:sldId id="267"/>
            <p14:sldId id="268"/>
            <p14:sldId id="269"/>
          </p14:sldIdLst>
        </p14:section>
        <p14:section name="Wrap-up" id="{16d2a5ca-a0c0-70c4-d3cb-27614b62dff0}">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This one is for our stow team. Today we're focusing on amnesty, and on two simple habits that make a real difference to it: First Face Fix, and the ROBOTSS bin etiquette rules.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 item that should be in a stowed pod bin, but isn't physically there. It was stowed to prime and hasn't been picked yet, but it fell out, or ended up at the station or on the floor. The system still thinks it's in the bin. That creates a defect in our inventory, and it can lead to a pick short, which puts our customer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distinction. Amnesty is only for items that haven't been picked yet: they belong in a stowed pod bin, and they're not in it. Those go to amnesty. But if you find an item that has already been picked, one that should be in a tote, at a rebin location or in a chute, and it fell or was put in the wrong place, that is not amnesty. That's an outbound problem solve item. Putting picked items into amnesty over-inflates our wAPMT, and it hides the real outbound problem that needs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part one: First Face Fix, or F F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is a standard process to fix the bin etiquette of the very first pod face that arrives at your station. It takes just one minute. You do it at the start of your shift, and again after every break. It applies to all Stow and ICQA associates.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how to do it in four steps. One: enter your station, log in, choose your process path, and make sure your station is ready. Two: when the first pod face arrives, work from the top to the bottom, just like the stow snake. Three: fix every bin so it meets the ROBOTSS rules, which we'll cover in a moment. Four: start your assigned process after one minute, or as soon as the face meets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three things you must not do before or during First Face Fix. Don't scan any articles in totes or bins. Don't move articles to a different bin. And don't remove any articles from bins. First Face Fix is only about organizing what's already in each bin, so the inventory stays exactly where the system expects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Face Fix gets your shift off to a clean start, but it doesn't stop there. Whenever your hands are in a bin, fix its etiquette as you go. If every one of us leaves each bin a little better than we found it, units won't fall out as the pod moves. We check First Face Fix with at least fifteen audits per shift, and our target is ninety percent compliance or better, with feedback given to you right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 part two: the rules you use during First Face Fix and every time you touch a bin. They're called ROBOTSS.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ROBOTSS stands for seven rules. R, right bin size. O, no overhang. B, blocking. O, overstuffing. T, titles out. S, stacking. And S, similar items. Follow them and pickers find items faster, bins hold more, and nothing falls out when the pod moves. Let's go through them one by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 is for right bin size. Always stow into the smallest bin the item fits in, and place it by its length first. The first O is no overhang. Every item must fit completely inside the bin. Anything hanging out can catch, causing drive obstructions and even pod crashes, and that's how items end up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is for blocking. Never put a large item in front of a small one, because the picker won't see it. Stand flat items upright so they can't slide out between the retention bands. The second O is overstuffing. Don't overfill a bin. Forcing items in damages customer products, and an overstuffed bin is the one most likely to spill.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 is for titles out. Books and DVDs go in with the spine facing outward, so pickers can find them straight away. The first S is stacking. Only stack items of the same ASIN, only when they have at least two flat surfaces, and always keep them below the retention bands. The last S is similar items. Never put items that look alike or have similar names in the same bin. Use the cross method instead, because the system won't always warn you 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shift, bin by bin. At shift start and after every break, do your one-minute First Face Fix. On every bin you touch, apply ROBOTSS. And all shift long, fix as you go. Do these three things consistently and fewer units will fall, our wAPMT will come down, and our customers get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 And please take a second to rate this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5166360" y="2606040"/>
            <a:ext cx="1097280" cy="1225296"/>
          </a:xfrm>
          <a:prstGeom prst="rect">
            <a:avLst/>
          </a:prstGeom>
        </p:spPr>
      </p:pic>
      <p:sp>
        <p:nvSpPr>
          <p:cNvPr id="4" name="Text 1"/>
          <p:cNvSpPr/>
          <p:nvPr>
            <p:ph idx="102" type="body" hasCustomPrompt="1"/>
          </p:nvPr>
        </p:nvSpPr>
        <p:spPr>
          <a:xfrm>
            <a:off x="2514600" y="502920"/>
            <a:ext cx="6400800" cy="320040"/>
          </a:xfrm>
          <a:prstGeom prst="rect">
            <a:avLst/>
          </a:prstGeom>
          <a:noFill/>
          <a:ln/>
        </p:spPr>
        <p:txBody>
          <a:bodyPr wrap="square" rtlCol="0"/>
          <a:lstStyle>
            <a:lvl1pPr algn="ctr" indent="0" marL="0">
              <a:buNone/>
              <a:defRPr lang="en-US" sz="1300" b="1" spc="300" kern="0" dirty="0">
                <a:solidFill>
                  <a:schemeClr val="accent6"/>
                </a:solidFill>
              </a:defRPr>
            </a:lvl1pPr>
          </a:lstStyle>
          <a:p>
            <a:pPr algn="ctr" indent="0" marL="0">
              <a:buNone/>
            </a:pPr>
            <a:endParaRPr lang="en-US" sz="1300" dirty="0"/>
          </a:p>
        </p:txBody>
      </p:sp>
      <p:sp>
        <p:nvSpPr>
          <p:cNvPr id="5" name="Text 1"/>
          <p:cNvSpPr/>
          <p:nvPr>
            <p:ph idx="103" type="title" hasCustomPrompt="1"/>
          </p:nvPr>
        </p:nvSpPr>
        <p:spPr>
          <a:xfrm>
            <a:off x="2514600" y="868680"/>
            <a:ext cx="6400800" cy="868680"/>
          </a:xfrm>
          <a:prstGeom prst="rect">
            <a:avLst/>
          </a:prstGeom>
          <a:noFill/>
          <a:ln/>
        </p:spPr>
        <p:txBody>
          <a:bodyPr wrap="square" rtlCol="0"/>
          <a:lstStyle>
            <a:lvl1pPr algn="ctr" indent="0" marL="0">
              <a:buNone/>
              <a:defRPr lang="en-US" sz="3600" b="1" dirty="0">
                <a:solidFill>
                  <a:schemeClr val="tx1"/>
                </a:solidFill>
              </a:defRPr>
            </a:lvl1pPr>
          </a:lstStyle>
          <a:p>
            <a:pPr algn="ctr" indent="0" marL="0">
              <a:buNone/>
            </a:pPr>
            <a:endParaRPr lang="en-US" sz="3600" dirty="0"/>
          </a:p>
        </p:txBody>
      </p:sp>
      <p:sp>
        <p:nvSpPr>
          <p:cNvPr id="6" name="Text 1"/>
          <p:cNvSpPr/>
          <p:nvPr>
            <p:ph idx="104" type="body" hasCustomPrompt="1"/>
          </p:nvPr>
        </p:nvSpPr>
        <p:spPr>
          <a:xfrm>
            <a:off x="2971800" y="1783080"/>
            <a:ext cx="5486400" cy="685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201168" y="109728"/>
            <a:ext cx="1417320" cy="434340"/>
          </a:xfrm>
          <a:prstGeom prst="rect">
            <a:avLst/>
          </a:prstGeom>
        </p:spPr>
      </p:pic>
      <p:sp>
        <p:nvSpPr>
          <p:cNvPr id="3" name="Text 0"/>
          <p:cNvSpPr/>
          <p:nvPr>
            <p:ph idx="101" type="title" hasCustomPrompt="1"/>
          </p:nvPr>
        </p:nvSpPr>
        <p:spPr>
          <a:xfrm>
            <a:off x="457200" y="640080"/>
            <a:ext cx="539496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wAPMT COACHING  |  STOW</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Every Bin, Every Time</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First Face Fix and the ROBOTSS rules: two habits that stop amnesty at the source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amnesty?</a:t>
            </a:r>
            <a:endParaRPr lang="en-US" sz="2800" dirty="0"/>
          </a:p>
        </p:txBody>
      </p:sp>
      <p:sp>
        <p:nvSpPr>
          <p:cNvPr id="3" name="Definition"/>
          <p:cNvSpPr txBox="1"/>
          <p:nvPr/>
        </p:nvSpPr>
        <p:spPr>
          <a:xfrm>
            <a:off x="457200" y="1280160"/>
            <a:ext cx="5394960" cy="548640"/>
          </a:xfrm>
          <a:prstGeom prst="rect">
            <a:avLst/>
          </a:prstGeom>
          <a:noFill/>
          <a:ln/>
        </p:spPr>
        <p:txBody>
          <a:bodyPr wrap="square" lIns="0" tIns="0" rIns="0" bIns="0" rtlCol="0" anchor="ctr"/>
          <a:lstStyle/>
          <a:p>
            <a:pPr indent="0" marL="0">
              <a:buNone/>
            </a:pPr>
            <a:r>
              <a:rPr lang="en-US" sz="1800" i="1" dirty="0">
                <a:solidFill>
                  <a:schemeClr val="accent6"/>
                </a:solidFill>
              </a:rPr>
              <a:t>An item that should be in a stowed pod bin, but is not physically there.</a:t>
            </a:r>
            <a:endParaRPr lang="en-US" sz="1800" dirty="0"/>
          </a:p>
        </p:txBody>
      </p:sp>
      <p:sp>
        <p:nvSpPr>
          <p:cNvPr id="4" name="Icon circle 1"/>
          <p:cNvSpPr/>
          <p:nvPr/>
        </p:nvSpPr>
        <p:spPr>
          <a:xfrm>
            <a:off x="45720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621792" y="2176272"/>
            <a:ext cx="310896" cy="310896"/>
          </a:xfrm>
          <a:prstGeom prst="rect">
            <a:avLst/>
          </a:prstGeom>
        </p:spPr>
      </p:pic>
      <p:sp>
        <p:nvSpPr>
          <p:cNvPr id="6" name="Row 1"/>
          <p:cNvSpPr txBox="1"/>
          <p:nvPr/>
        </p:nvSpPr>
        <p:spPr>
          <a:xfrm>
            <a:off x="1325880" y="19933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belongs in a stowed bin</a:t>
            </a:r>
            <a:endParaRPr lang="en-US" sz="1700" dirty="0"/>
          </a:p>
          <a:p>
            <a:pPr indent="0" marL="0">
              <a:buNone/>
            </a:pPr>
            <a:r>
              <a:rPr lang="en-US" sz="1400" dirty="0">
                <a:solidFill>
                  <a:schemeClr val="accent4"/>
                </a:solidFill>
              </a:rPr>
              <a:t>Stowed to prime and not picked yet</a:t>
            </a:r>
            <a:endParaRPr lang="en-US" sz="1700" dirty="0"/>
          </a:p>
        </p:txBody>
      </p:sp>
      <p:sp>
        <p:nvSpPr>
          <p:cNvPr id="7" name="Icon circle 2"/>
          <p:cNvSpPr/>
          <p:nvPr/>
        </p:nvSpPr>
        <p:spPr>
          <a:xfrm>
            <a:off x="45720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621792" y="3090672"/>
            <a:ext cx="310896" cy="310896"/>
          </a:xfrm>
          <a:prstGeom prst="rect">
            <a:avLst/>
          </a:prstGeom>
        </p:spPr>
      </p:pic>
      <p:sp>
        <p:nvSpPr>
          <p:cNvPr id="9" name="Row 2"/>
          <p:cNvSpPr txBox="1"/>
          <p:nvPr/>
        </p:nvSpPr>
        <p:spPr>
          <a:xfrm>
            <a:off x="1325880" y="29077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isn't physically there</a:t>
            </a:r>
            <a:endParaRPr lang="en-US" sz="1700" dirty="0"/>
          </a:p>
          <a:p>
            <a:pPr indent="0" marL="0">
              <a:buNone/>
            </a:pPr>
            <a:r>
              <a:rPr lang="en-US" sz="1400" dirty="0">
                <a:solidFill>
                  <a:schemeClr val="accent4"/>
                </a:solidFill>
              </a:rPr>
              <a:t>It fell, or ended up at the station or on the floor</a:t>
            </a:r>
            <a:endParaRPr lang="en-US" sz="1700" dirty="0"/>
          </a:p>
        </p:txBody>
      </p:sp>
      <p:sp>
        <p:nvSpPr>
          <p:cNvPr id="10" name="Icon circle 3"/>
          <p:cNvSpPr/>
          <p:nvPr/>
        </p:nvSpPr>
        <p:spPr>
          <a:xfrm>
            <a:off x="45720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621792" y="4005072"/>
            <a:ext cx="310896" cy="310896"/>
          </a:xfrm>
          <a:prstGeom prst="rect">
            <a:avLst/>
          </a:prstGeom>
        </p:spPr>
      </p:pic>
      <p:sp>
        <p:nvSpPr>
          <p:cNvPr id="12" name="Row 3"/>
          <p:cNvSpPr txBox="1"/>
          <p:nvPr/>
        </p:nvSpPr>
        <p:spPr>
          <a:xfrm>
            <a:off x="1325880" y="38221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A virtual overage that can cause a pick short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Where amnesty comes from</a:t>
            </a:r>
            <a:endParaRPr lang="en-US" sz="2800" dirty="0"/>
          </a:p>
        </p:txBody>
      </p:sp>
      <p:sp>
        <p:nvSpPr>
          <p:cNvPr id="3" name="Card 1"/>
          <p:cNvSpPr/>
          <p:nvPr/>
        </p:nvSpPr>
        <p:spPr>
          <a:xfrm>
            <a:off x="45720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685800" y="1508760"/>
            <a:ext cx="411480" cy="411480"/>
          </a:xfrm>
          <a:prstGeom prst="rect">
            <a:avLst/>
          </a:prstGeom>
        </p:spPr>
      </p:pic>
      <p:sp>
        <p:nvSpPr>
          <p:cNvPr id="5" name="Card text 1"/>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347472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383280"/>
            <a:ext cx="5394960" cy="1143000"/>
          </a:xfrm>
          <a:prstGeom prst="roundRect">
            <a:avLst>
              <a:gd name="adj" fmla="val 8000"/>
            </a:avLst>
          </a:prstGeom>
          <a:solidFill>
            <a:schemeClr val="tx2"/>
          </a:solidFill>
          <a:ln/>
        </p:spPr>
      </p:sp>
      <p:sp>
        <p:nvSpPr>
          <p:cNvPr id="10" name="Callout text"/>
          <p:cNvSpPr txBox="1"/>
          <p:nvPr/>
        </p:nvSpPr>
        <p:spPr>
          <a:xfrm>
            <a:off x="731520" y="3383280"/>
            <a:ext cx="4846320" cy="114300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rgbClr val="9EDFF7"/>
                </a:solidFill>
              </a:rPr>
              <a:t>Good bin etiquette is something every one of us controls.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Amnesty or problem solve?</a:t>
            </a:r>
            <a:endParaRPr lang="en-US" sz="2800" dirty="0"/>
          </a:p>
        </p:txBody>
      </p:sp>
      <p:sp>
        <p:nvSpPr>
          <p:cNvPr id="3" name="Side card 1"/>
          <p:cNvSpPr/>
          <p:nvPr/>
        </p:nvSpPr>
        <p:spPr>
          <a:xfrm>
            <a:off x="45720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685800" y="1527048"/>
            <a:ext cx="384048" cy="384048"/>
          </a:xfrm>
          <a:prstGeom prst="rect">
            <a:avLst/>
          </a:prstGeom>
        </p:spPr>
      </p:pic>
      <p:sp>
        <p:nvSpPr>
          <p:cNvPr id="5" name="Side tag 1"/>
          <p:cNvSpPr txBox="1"/>
          <p:nvPr/>
        </p:nvSpPr>
        <p:spPr>
          <a:xfrm>
            <a:off x="118872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6"/>
                </a:solidFill>
              </a:rPr>
              <a:t>AMNESTY</a:t>
            </a:r>
            <a:endParaRPr lang="en-US" sz="1300" dirty="0"/>
          </a:p>
        </p:txBody>
      </p:sp>
      <p:sp>
        <p:nvSpPr>
          <p:cNvPr id="6" name="Side text 1"/>
          <p:cNvSpPr txBox="1"/>
          <p:nvPr/>
        </p:nvSpPr>
        <p:spPr>
          <a:xfrm>
            <a:off x="68580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Not picked yet</a:t>
            </a:r>
            <a:endParaRPr lang="en-US" sz="1800" dirty="0"/>
          </a:p>
          <a:p>
            <a:pPr marL="342900" indent="-342900">
              <a:spcAft>
                <a:spcPts val="300"/>
              </a:spcAft>
              <a:buSzPct val="100000"/>
              <a:buChar char="•"/>
            </a:pPr>
            <a:r>
              <a:rPr lang="en-US" sz="1400" dirty="0">
                <a:solidFill>
                  <a:schemeClr val="accent4"/>
                </a:solidFill>
              </a:rPr>
              <a:t>Belongs in a stowed pod bin</a:t>
            </a:r>
            <a:endParaRPr lang="en-US" sz="1800" dirty="0"/>
          </a:p>
          <a:p>
            <a:pPr marL="342900" indent="-342900">
              <a:spcAft>
                <a:spcPts val="300"/>
              </a:spcAft>
              <a:buSzPct val="100000"/>
              <a:buChar char="•"/>
            </a:pPr>
            <a:r>
              <a:rPr lang="en-US" sz="1400" dirty="0">
                <a:solidFill>
                  <a:schemeClr val="accent4"/>
                </a:solidFill>
              </a:rPr>
              <a:t>Fell out or is missing from that bin</a:t>
            </a:r>
            <a:endParaRPr lang="en-US" sz="1800" dirty="0"/>
          </a:p>
        </p:txBody>
      </p:sp>
      <p:sp>
        <p:nvSpPr>
          <p:cNvPr id="7" name="Side action 1"/>
          <p:cNvSpPr txBox="1"/>
          <p:nvPr/>
        </p:nvSpPr>
        <p:spPr>
          <a:xfrm>
            <a:off x="685800" y="3355848"/>
            <a:ext cx="2194560" cy="365760"/>
          </a:xfrm>
          <a:prstGeom prst="rect">
            <a:avLst/>
          </a:prstGeom>
          <a:noFill/>
          <a:ln/>
        </p:spPr>
        <p:txBody>
          <a:bodyPr wrap="square" lIns="0" tIns="0" rIns="0" bIns="0" rtlCol="0" anchor="ctr"/>
          <a:lstStyle/>
          <a:p>
            <a:pPr indent="0" marL="0">
              <a:buNone/>
            </a:pPr>
            <a:r>
              <a:rPr lang="en-US" sz="1500" b="1" dirty="0">
                <a:solidFill>
                  <a:schemeClr val="accent6"/>
                </a:solidFill>
              </a:rPr>
              <a:t>→ </a:t>
            </a:r>
            <a:pPr indent="0" marL="0">
              <a:buNone/>
            </a:pPr>
            <a:r>
              <a:rPr lang="en-US" sz="1500" b="1" dirty="0">
                <a:solidFill>
                  <a:schemeClr val="accent6"/>
                </a:solidFill>
              </a:rPr>
              <a:t>Send to amnesty</a:t>
            </a:r>
            <a:endParaRPr lang="en-US" sz="1500" dirty="0"/>
          </a:p>
        </p:txBody>
      </p:sp>
      <p:sp>
        <p:nvSpPr>
          <p:cNvPr id="8" name="Side card 2"/>
          <p:cNvSpPr/>
          <p:nvPr/>
        </p:nvSpPr>
        <p:spPr>
          <a:xfrm>
            <a:off x="324612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3474720" y="1527048"/>
            <a:ext cx="384048" cy="384048"/>
          </a:xfrm>
          <a:prstGeom prst="rect">
            <a:avLst/>
          </a:prstGeom>
        </p:spPr>
      </p:pic>
      <p:sp>
        <p:nvSpPr>
          <p:cNvPr id="10" name="Side tag 2"/>
          <p:cNvSpPr txBox="1"/>
          <p:nvPr/>
        </p:nvSpPr>
        <p:spPr>
          <a:xfrm>
            <a:off x="397764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3"/>
                </a:solidFill>
              </a:rPr>
              <a:t>NOT AMNESTY</a:t>
            </a:r>
            <a:endParaRPr lang="en-US"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Already picked</a:t>
            </a:r>
            <a:endParaRPr lang="en-US" sz="1800" dirty="0"/>
          </a:p>
          <a:p>
            <a:pPr marL="342900" indent="-342900">
              <a:spcAft>
                <a:spcPts val="300"/>
              </a:spcAft>
              <a:buSzPct val="100000"/>
              <a:buChar char="•"/>
            </a:pPr>
            <a:r>
              <a:rPr lang="en-US" sz="1400" dirty="0">
                <a:solidFill>
                  <a:schemeClr val="accent4"/>
                </a:solidFill>
              </a:rPr>
              <a:t>Belongs in a tote, rebin location or chute</a:t>
            </a:r>
            <a:endParaRPr lang="en-US" sz="1800" dirty="0"/>
          </a:p>
          <a:p>
            <a:pPr marL="342900" indent="-342900">
              <a:spcAft>
                <a:spcPts val="300"/>
              </a:spcAft>
              <a:buSzPct val="100000"/>
              <a:buChar char="•"/>
            </a:pPr>
            <a:r>
              <a:rPr lang="en-US" sz="1400" dirty="0">
                <a:solidFill>
                  <a:schemeClr val="accent4"/>
                </a:solidFill>
              </a:rPr>
              <a:t>Fell or was put in the wrong place</a:t>
            </a:r>
            <a:endParaRPr lang="en-US"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indent="0" marL="0">
              <a:buNone/>
            </a:pPr>
            <a:r>
              <a:rPr lang="en-US" sz="1500" b="1" dirty="0">
                <a:solidFill>
                  <a:schemeClr val="accent3"/>
                </a:solidFill>
              </a:rPr>
              <a:t>→ </a:t>
            </a:r>
            <a:pPr indent="0" marL="0">
              <a:buNone/>
            </a:pPr>
            <a:r>
              <a:rPr lang="en-US" sz="1500" b="1" dirty="0">
                <a:solidFill>
                  <a:schemeClr val="accent3"/>
                </a:solidFill>
              </a:rPr>
              <a:t>Outbound problem solve</a:t>
            </a:r>
            <a:endParaRPr lang="en-US" sz="1500" dirty="0"/>
          </a:p>
        </p:txBody>
      </p:sp>
      <p:sp>
        <p:nvSpPr>
          <p:cNvPr id="13" name="Inflate callout"/>
          <p:cNvSpPr/>
          <p:nvPr/>
        </p:nvSpPr>
        <p:spPr>
          <a:xfrm>
            <a:off x="457200" y="3977640"/>
            <a:ext cx="5394960" cy="685800"/>
          </a:xfrm>
          <a:prstGeom prst="roundRect">
            <a:avLst>
              <a:gd name="adj" fmla="val 13333"/>
            </a:avLst>
          </a:prstGeom>
          <a:solidFill>
            <a:schemeClr val="tx2"/>
          </a:solidFill>
          <a:ln/>
        </p:spPr>
      </p:sp>
      <p:sp>
        <p:nvSpPr>
          <p:cNvPr id="14" name="Inflate text"/>
          <p:cNvSpPr txBox="1"/>
          <p:nvPr/>
        </p:nvSpPr>
        <p:spPr>
          <a:xfrm>
            <a:off x="731520" y="3977640"/>
            <a:ext cx="4846320" cy="685800"/>
          </a:xfrm>
          <a:prstGeom prst="rect">
            <a:avLst/>
          </a:prstGeom>
          <a:noFill/>
          <a:ln/>
        </p:spPr>
        <p:txBody>
          <a:bodyPr wrap="square" lIns="0" tIns="0" rIns="0" bIns="0" rtlCol="0" anchor="ctr"/>
          <a:lstStyle/>
          <a:p>
            <a:pPr indent="0" marL="0">
              <a:buNone/>
            </a:pPr>
            <a:r>
              <a:rPr lang="en-US" sz="1500" b="1" dirty="0">
                <a:solidFill>
                  <a:schemeClr val="bg1"/>
                </a:solidFill>
              </a:rPr>
              <a:t>Putting picked items into amnesty over-inflates wAPMT and hides the real outbound problem.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PART 1</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First Face Fix</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One minute. The first pod face. Every shift start and after every break.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First Face Fix?</a:t>
            </a:r>
            <a:endParaRPr lang="en-US" sz="2800" dirty="0"/>
          </a:p>
        </p:txBody>
      </p:sp>
      <p:sp>
        <p:nvSpPr>
          <p:cNvPr id="3" name="Stat card"/>
          <p:cNvSpPr/>
          <p:nvPr/>
        </p:nvSpPr>
        <p:spPr>
          <a:xfrm>
            <a:off x="457200" y="1325880"/>
            <a:ext cx="2011680" cy="3200400"/>
          </a:xfrm>
          <a:prstGeom prst="roundRect">
            <a:avLst>
              <a:gd name="adj" fmla="val 4545"/>
            </a:avLst>
          </a:prstGeom>
          <a:solidFill>
            <a:schemeClr val="tx2"/>
          </a:solidFill>
          <a:ln/>
        </p:spPr>
      </p:sp>
      <p:sp>
        <p:nvSpPr>
          <p:cNvPr id="4" name="Stat"/>
          <p:cNvSpPr txBox="1"/>
          <p:nvPr/>
        </p:nvSpPr>
        <p:spPr>
          <a:xfrm>
            <a:off x="685800" y="1325880"/>
            <a:ext cx="1554480" cy="3200400"/>
          </a:xfrm>
          <a:prstGeom prst="rect">
            <a:avLst/>
          </a:prstGeom>
          <a:noFill/>
          <a:ln/>
        </p:spPr>
        <p:txBody>
          <a:bodyPr wrap="square" lIns="0" tIns="0" rIns="0" bIns="0" rtlCol="0" anchor="ctr"/>
          <a:lstStyle/>
          <a:p>
            <a:pPr indent="0" marL="0">
              <a:buNone/>
            </a:pPr>
            <a:r>
              <a:rPr lang="en-US" sz="7200" b="1" dirty="0">
                <a:solidFill>
                  <a:schemeClr val="accent1"/>
                </a:solidFill>
              </a:rPr>
              <a:t>1</a:t>
            </a:r>
            <a:endParaRPr lang="en-US" sz="7200" dirty="0"/>
          </a:p>
          <a:p>
            <a:pPr indent="0" marL="0">
              <a:buNone/>
            </a:pPr>
            <a:r>
              <a:rPr lang="en-US" sz="1600" dirty="0">
                <a:solidFill>
                  <a:schemeClr val="bg1"/>
                </a:solidFill>
              </a:rPr>
              <a:t>minute to fix the first pod face</a:t>
            </a:r>
            <a:endParaRPr lang="en-US" sz="7200" dirty="0"/>
          </a:p>
        </p:txBody>
      </p:sp>
      <p:pic>
        <p:nvPicPr>
          <p:cNvPr id="5" name="Fact icon 1" descr="preencoded.png">    </p:cNvPr>
          <p:cNvPicPr>
            <a:picLocks noChangeAspect="1"/>
          </p:cNvPicPr>
          <p:nvPr/>
        </p:nvPicPr>
        <p:blipFill>
          <a:blip r:embed="rId1"/>
          <a:stretch>
            <a:fillRect/>
          </a:stretch>
        </p:blipFill>
        <p:spPr>
          <a:xfrm>
            <a:off x="2743200" y="1444752"/>
            <a:ext cx="347472" cy="347472"/>
          </a:xfrm>
          <a:prstGeom prst="rect">
            <a:avLst/>
          </a:prstGeom>
        </p:spPr>
      </p:pic>
      <p:sp>
        <p:nvSpPr>
          <p:cNvPr id="6" name="Fact 1"/>
          <p:cNvSpPr txBox="1"/>
          <p:nvPr/>
        </p:nvSpPr>
        <p:spPr>
          <a:xfrm>
            <a:off x="3246120" y="1371600"/>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When</a:t>
            </a:r>
            <a:endParaRPr lang="en-US" sz="1700" dirty="0"/>
          </a:p>
          <a:p>
            <a:pPr indent="0" marL="0">
              <a:buNone/>
            </a:pPr>
            <a:r>
              <a:rPr lang="en-US" sz="1400" dirty="0">
                <a:solidFill>
                  <a:schemeClr val="accent4"/>
                </a:solidFill>
              </a:rPr>
              <a:t>At shift start and after every break</a:t>
            </a:r>
            <a:endParaRPr lang="en-US" sz="1700" dirty="0"/>
          </a:p>
        </p:txBody>
      </p:sp>
      <p:pic>
        <p:nvPicPr>
          <p:cNvPr id="7" name="Fact icon 2" descr="preencoded.png">    </p:cNvPr>
          <p:cNvPicPr>
            <a:picLocks noChangeAspect="1"/>
          </p:cNvPicPr>
          <p:nvPr/>
        </p:nvPicPr>
        <p:blipFill>
          <a:blip r:embed="rId2"/>
          <a:stretch>
            <a:fillRect/>
          </a:stretch>
        </p:blipFill>
        <p:spPr>
          <a:xfrm>
            <a:off x="2743200" y="2514600"/>
            <a:ext cx="347472" cy="347472"/>
          </a:xfrm>
          <a:prstGeom prst="rect">
            <a:avLst/>
          </a:prstGeom>
        </p:spPr>
      </p:pic>
      <p:sp>
        <p:nvSpPr>
          <p:cNvPr id="8" name="Fact 2"/>
          <p:cNvSpPr txBox="1"/>
          <p:nvPr/>
        </p:nvSpPr>
        <p:spPr>
          <a:xfrm>
            <a:off x="3246120" y="2441448"/>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What</a:t>
            </a:r>
            <a:endParaRPr lang="en-US" sz="1700" dirty="0"/>
          </a:p>
          <a:p>
            <a:pPr indent="0" marL="0">
              <a:buNone/>
            </a:pPr>
            <a:r>
              <a:rPr lang="en-US" sz="1400" dirty="0">
                <a:solidFill>
                  <a:schemeClr val="accent4"/>
                </a:solidFill>
              </a:rPr>
              <a:t>The first pod face that arrives at your station</a:t>
            </a:r>
            <a:endParaRPr lang="en-US" sz="1700" dirty="0"/>
          </a:p>
        </p:txBody>
      </p:sp>
      <p:pic>
        <p:nvPicPr>
          <p:cNvPr id="9" name="Fact icon 3" descr="preencoded.png">    </p:cNvPr>
          <p:cNvPicPr>
            <a:picLocks noChangeAspect="1"/>
          </p:cNvPicPr>
          <p:nvPr/>
        </p:nvPicPr>
        <p:blipFill>
          <a:blip r:embed="rId3"/>
          <a:stretch>
            <a:fillRect/>
          </a:stretch>
        </p:blipFill>
        <p:spPr>
          <a:xfrm>
            <a:off x="2743200" y="3584448"/>
            <a:ext cx="347472" cy="347472"/>
          </a:xfrm>
          <a:prstGeom prst="rect">
            <a:avLst/>
          </a:prstGeom>
        </p:spPr>
      </p:pic>
      <p:sp>
        <p:nvSpPr>
          <p:cNvPr id="10" name="Fact 3"/>
          <p:cNvSpPr txBox="1"/>
          <p:nvPr/>
        </p:nvSpPr>
        <p:spPr>
          <a:xfrm>
            <a:off x="3246120" y="3511296"/>
            <a:ext cx="2606040" cy="868680"/>
          </a:xfrm>
          <a:prstGeom prst="rect">
            <a:avLst/>
          </a:prstGeom>
          <a:noFill/>
          <a:ln/>
        </p:spPr>
        <p:txBody>
          <a:bodyPr wrap="square" lIns="0" tIns="0" rIns="0" bIns="0" rtlCol="0" anchor="t"/>
          <a:lstStyle/>
          <a:p>
            <a:pPr indent="0" marL="0">
              <a:buNone/>
            </a:pPr>
            <a:r>
              <a:rPr lang="en-US" sz="1700" b="1" dirty="0">
                <a:solidFill>
                  <a:schemeClr val="tx1"/>
                </a:solidFill>
              </a:rPr>
              <a:t>Who</a:t>
            </a:r>
            <a:endParaRPr lang="en-US" sz="1700" dirty="0"/>
          </a:p>
          <a:p>
            <a:pPr indent="0" marL="0">
              <a:buNone/>
            </a:pPr>
            <a:r>
              <a:rPr lang="en-US" sz="1400" dirty="0">
                <a:solidFill>
                  <a:schemeClr val="accent4"/>
                </a:solidFill>
              </a:rPr>
              <a:t>All Stow and ICQA associates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How to do FFF in 4 steps</a:t>
            </a:r>
            <a:endParaRPr lang="en-US" sz="2800" dirty="0"/>
          </a:p>
        </p:txBody>
      </p:sp>
      <p:sp>
        <p:nvSpPr>
          <p:cNvPr id="3" name="Step badge 1"/>
          <p:cNvSpPr/>
          <p:nvPr/>
        </p:nvSpPr>
        <p:spPr>
          <a:xfrm>
            <a:off x="457200" y="1325880"/>
            <a:ext cx="548640" cy="548640"/>
          </a:xfrm>
          <a:prstGeom prst="ellipse">
            <a:avLst/>
          </a:prstGeom>
          <a:solidFill>
            <a:schemeClr val="accent1"/>
          </a:solidFill>
          <a:ln/>
        </p:spPr>
      </p:sp>
      <p:sp>
        <p:nvSpPr>
          <p:cNvPr id="4" name="Step number 1"/>
          <p:cNvSpPr txBox="1"/>
          <p:nvPr/>
        </p:nvSpPr>
        <p:spPr>
          <a:xfrm>
            <a:off x="45720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Step 1"/>
          <p:cNvSpPr txBox="1"/>
          <p:nvPr/>
        </p:nvSpPr>
        <p:spPr>
          <a:xfrm>
            <a:off x="1280160" y="126187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Get ready</a:t>
            </a:r>
            <a:endParaRPr lang="en-US" sz="1700" dirty="0"/>
          </a:p>
          <a:p>
            <a:pPr indent="0" marL="0">
              <a:buNone/>
            </a:pPr>
            <a:r>
              <a:rPr lang="en-US" sz="1400" dirty="0">
                <a:solidFill>
                  <a:schemeClr val="accent4"/>
                </a:solidFill>
              </a:rPr>
              <a:t>Log in, choose your process path, check your station</a:t>
            </a:r>
            <a:endParaRPr lang="en-US" sz="1700" dirty="0"/>
          </a:p>
        </p:txBody>
      </p:sp>
      <p:sp>
        <p:nvSpPr>
          <p:cNvPr id="6" name="Step badge 2"/>
          <p:cNvSpPr/>
          <p:nvPr/>
        </p:nvSpPr>
        <p:spPr>
          <a:xfrm>
            <a:off x="457200" y="2148840"/>
            <a:ext cx="548640" cy="548640"/>
          </a:xfrm>
          <a:prstGeom prst="ellipse">
            <a:avLst/>
          </a:prstGeom>
          <a:solidFill>
            <a:schemeClr val="accent1"/>
          </a:solidFill>
          <a:ln/>
        </p:spPr>
      </p:sp>
      <p:sp>
        <p:nvSpPr>
          <p:cNvPr id="7" name="Step number 2"/>
          <p:cNvSpPr txBox="1"/>
          <p:nvPr/>
        </p:nvSpPr>
        <p:spPr>
          <a:xfrm>
            <a:off x="457200" y="214884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Step 2"/>
          <p:cNvSpPr txBox="1"/>
          <p:nvPr/>
        </p:nvSpPr>
        <p:spPr>
          <a:xfrm>
            <a:off x="1280160" y="208483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Work top to bottom</a:t>
            </a:r>
            <a:endParaRPr lang="en-US" sz="1700" dirty="0"/>
          </a:p>
          <a:p>
            <a:pPr indent="0" marL="0">
              <a:buNone/>
            </a:pPr>
            <a:r>
              <a:rPr lang="en-US" sz="1400" dirty="0">
                <a:solidFill>
                  <a:schemeClr val="accent4"/>
                </a:solidFill>
              </a:rPr>
              <a:t>Start at the top of the face and follow the stow snake</a:t>
            </a:r>
            <a:endParaRPr lang="en-US" sz="1700" dirty="0"/>
          </a:p>
        </p:txBody>
      </p:sp>
      <p:sp>
        <p:nvSpPr>
          <p:cNvPr id="9" name="Step badge 3"/>
          <p:cNvSpPr/>
          <p:nvPr/>
        </p:nvSpPr>
        <p:spPr>
          <a:xfrm>
            <a:off x="457200" y="2971800"/>
            <a:ext cx="548640" cy="548640"/>
          </a:xfrm>
          <a:prstGeom prst="ellipse">
            <a:avLst/>
          </a:prstGeom>
          <a:solidFill>
            <a:schemeClr val="accent1"/>
          </a:solidFill>
          <a:ln/>
        </p:spPr>
      </p:sp>
      <p:sp>
        <p:nvSpPr>
          <p:cNvPr id="10" name="Step number 3"/>
          <p:cNvSpPr txBox="1"/>
          <p:nvPr/>
        </p:nvSpPr>
        <p:spPr>
          <a:xfrm>
            <a:off x="457200" y="297180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1" name="Step 3"/>
          <p:cNvSpPr txBox="1"/>
          <p:nvPr/>
        </p:nvSpPr>
        <p:spPr>
          <a:xfrm>
            <a:off x="1280160" y="290779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Fix every bin</a:t>
            </a:r>
            <a:endParaRPr lang="en-US" sz="1700" dirty="0"/>
          </a:p>
          <a:p>
            <a:pPr indent="0" marL="0">
              <a:buNone/>
            </a:pPr>
            <a:r>
              <a:rPr lang="en-US" sz="1400" dirty="0">
                <a:solidFill>
                  <a:schemeClr val="accent4"/>
                </a:solidFill>
              </a:rPr>
              <a:t>Bring each bin up to the ROBOTSS rules</a:t>
            </a:r>
            <a:endParaRPr lang="en-US" sz="1700" dirty="0"/>
          </a:p>
        </p:txBody>
      </p:sp>
      <p:sp>
        <p:nvSpPr>
          <p:cNvPr id="12" name="Step badge 4"/>
          <p:cNvSpPr/>
          <p:nvPr/>
        </p:nvSpPr>
        <p:spPr>
          <a:xfrm>
            <a:off x="457200" y="3794760"/>
            <a:ext cx="548640" cy="548640"/>
          </a:xfrm>
          <a:prstGeom prst="ellipse">
            <a:avLst/>
          </a:prstGeom>
          <a:solidFill>
            <a:schemeClr val="accent1"/>
          </a:solidFill>
          <a:ln/>
        </p:spPr>
      </p:sp>
      <p:sp>
        <p:nvSpPr>
          <p:cNvPr id="13" name="Step number 4"/>
          <p:cNvSpPr txBox="1"/>
          <p:nvPr/>
        </p:nvSpPr>
        <p:spPr>
          <a:xfrm>
            <a:off x="457200" y="379476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4" name="Step 4"/>
          <p:cNvSpPr txBox="1"/>
          <p:nvPr/>
        </p:nvSpPr>
        <p:spPr>
          <a:xfrm>
            <a:off x="1280160" y="3730752"/>
            <a:ext cx="4572000" cy="685800"/>
          </a:xfrm>
          <a:prstGeom prst="rect">
            <a:avLst/>
          </a:prstGeom>
          <a:noFill/>
          <a:ln/>
        </p:spPr>
        <p:txBody>
          <a:bodyPr wrap="square" lIns="0" tIns="0" rIns="0" bIns="0" rtlCol="0" anchor="ctr"/>
          <a:lstStyle/>
          <a:p>
            <a:pPr indent="0" marL="0">
              <a:buNone/>
            </a:pPr>
            <a:r>
              <a:rPr lang="en-US" sz="1700" b="1" dirty="0">
                <a:solidFill>
                  <a:schemeClr val="tx1"/>
                </a:solidFill>
              </a:rPr>
              <a:t>Start your process</a:t>
            </a:r>
            <a:endParaRPr lang="en-US" sz="1700" dirty="0"/>
          </a:p>
          <a:p>
            <a:pPr indent="0" marL="0">
              <a:buNone/>
            </a:pPr>
            <a:r>
              <a:rPr lang="en-US" sz="1400" dirty="0">
                <a:solidFill>
                  <a:schemeClr val="accent4"/>
                </a:solidFill>
              </a:rPr>
              <a:t>After 1 minute, or once the face meets ROBOTSS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During FFF, do NOT</a:t>
            </a:r>
            <a:endParaRPr lang="en-US" sz="2800" dirty="0"/>
          </a:p>
        </p:txBody>
      </p:sp>
      <p:sp>
        <p:nvSpPr>
          <p:cNvPr id="3" name="Dont card 1"/>
          <p:cNvSpPr/>
          <p:nvPr/>
        </p:nvSpPr>
        <p:spPr>
          <a:xfrm>
            <a:off x="457200" y="1325880"/>
            <a:ext cx="1691640" cy="2194560"/>
          </a:xfrm>
          <a:prstGeom prst="roundRect">
            <a:avLst>
              <a:gd name="adj" fmla="val 5405"/>
            </a:avLst>
          </a:prstGeom>
          <a:solidFill>
            <a:srgbClr val="FBECEC"/>
          </a:solidFill>
          <a:ln/>
        </p:spPr>
      </p:sp>
      <p:pic>
        <p:nvPicPr>
          <p:cNvPr id="4" name="Dont icon 1" descr="preencoded.png">    </p:cNvPr>
          <p:cNvPicPr>
            <a:picLocks noChangeAspect="1"/>
          </p:cNvPicPr>
          <p:nvPr/>
        </p:nvPicPr>
        <p:blipFill>
          <a:blip r:embed="rId1"/>
          <a:stretch>
            <a:fillRect/>
          </a:stretch>
        </p:blipFill>
        <p:spPr>
          <a:xfrm>
            <a:off x="685800" y="1554480"/>
            <a:ext cx="457200" cy="457200"/>
          </a:xfrm>
          <a:prstGeom prst="rect">
            <a:avLst/>
          </a:prstGeom>
        </p:spPr>
      </p:pic>
      <p:pic>
        <p:nvPicPr>
          <p:cNvPr id="5" name="Ban icon 1" descr="preencoded.png">    </p:cNvPr>
          <p:cNvPicPr>
            <a:picLocks noChangeAspect="1"/>
          </p:cNvPicPr>
          <p:nvPr/>
        </p:nvPicPr>
        <p:blipFill>
          <a:blip r:embed="rId2"/>
          <a:stretch>
            <a:fillRect/>
          </a:stretch>
        </p:blipFill>
        <p:spPr>
          <a:xfrm>
            <a:off x="1554480" y="1554480"/>
            <a:ext cx="365760" cy="365760"/>
          </a:xfrm>
          <a:prstGeom prst="rect">
            <a:avLst/>
          </a:prstGeom>
        </p:spPr>
      </p:pic>
      <p:sp>
        <p:nvSpPr>
          <p:cNvPr id="6" name="Dont text 1"/>
          <p:cNvSpPr txBox="1"/>
          <p:nvPr/>
        </p:nvSpPr>
        <p:spPr>
          <a:xfrm>
            <a:off x="6858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Scan</a:t>
            </a:r>
            <a:endParaRPr lang="en-US" sz="2000" dirty="0"/>
          </a:p>
          <a:p>
            <a:pPr indent="0" marL="0">
              <a:buNone/>
            </a:pPr>
            <a:r>
              <a:rPr lang="en-US" sz="1400" dirty="0">
                <a:solidFill>
                  <a:schemeClr val="tx1"/>
                </a:solidFill>
              </a:rPr>
              <a:t>any articles in totes or bins</a:t>
            </a:r>
            <a:endParaRPr lang="en-US" sz="2000" dirty="0"/>
          </a:p>
        </p:txBody>
      </p:sp>
      <p:sp>
        <p:nvSpPr>
          <p:cNvPr id="7" name="Dont card 2"/>
          <p:cNvSpPr/>
          <p:nvPr/>
        </p:nvSpPr>
        <p:spPr>
          <a:xfrm>
            <a:off x="2286000" y="1325880"/>
            <a:ext cx="1691640" cy="2194560"/>
          </a:xfrm>
          <a:prstGeom prst="roundRect">
            <a:avLst>
              <a:gd name="adj" fmla="val 5405"/>
            </a:avLst>
          </a:prstGeom>
          <a:solidFill>
            <a:srgbClr val="FBECEC"/>
          </a:solidFill>
          <a:ln/>
        </p:spPr>
      </p:sp>
      <p:pic>
        <p:nvPicPr>
          <p:cNvPr id="8" name="Dont icon 2" descr="preencoded.png">    </p:cNvPr>
          <p:cNvPicPr>
            <a:picLocks noChangeAspect="1"/>
          </p:cNvPicPr>
          <p:nvPr/>
        </p:nvPicPr>
        <p:blipFill>
          <a:blip r:embed="rId3"/>
          <a:stretch>
            <a:fillRect/>
          </a:stretch>
        </p:blipFill>
        <p:spPr>
          <a:xfrm>
            <a:off x="2514600" y="1554480"/>
            <a:ext cx="457200" cy="457200"/>
          </a:xfrm>
          <a:prstGeom prst="rect">
            <a:avLst/>
          </a:prstGeom>
        </p:spPr>
      </p:pic>
      <p:pic>
        <p:nvPicPr>
          <p:cNvPr id="9" name="Ban icon 2" descr="preencoded.png">    </p:cNvPr>
          <p:cNvPicPr>
            <a:picLocks noChangeAspect="1"/>
          </p:cNvPicPr>
          <p:nvPr/>
        </p:nvPicPr>
        <p:blipFill>
          <a:blip r:embed="rId4"/>
          <a:stretch>
            <a:fillRect/>
          </a:stretch>
        </p:blipFill>
        <p:spPr>
          <a:xfrm>
            <a:off x="3383280" y="1554480"/>
            <a:ext cx="365760" cy="365760"/>
          </a:xfrm>
          <a:prstGeom prst="rect">
            <a:avLst/>
          </a:prstGeom>
        </p:spPr>
      </p:pic>
      <p:sp>
        <p:nvSpPr>
          <p:cNvPr id="10" name="Dont text 2"/>
          <p:cNvSpPr txBox="1"/>
          <p:nvPr/>
        </p:nvSpPr>
        <p:spPr>
          <a:xfrm>
            <a:off x="25146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Move</a:t>
            </a:r>
            <a:endParaRPr lang="en-US" sz="2000" dirty="0"/>
          </a:p>
          <a:p>
            <a:pPr indent="0" marL="0">
              <a:buNone/>
            </a:pPr>
            <a:r>
              <a:rPr lang="en-US" sz="1400" dirty="0">
                <a:solidFill>
                  <a:schemeClr val="tx1"/>
                </a:solidFill>
              </a:rPr>
              <a:t>articles to a different bin</a:t>
            </a:r>
            <a:endParaRPr lang="en-US" sz="2000" dirty="0"/>
          </a:p>
        </p:txBody>
      </p:sp>
      <p:sp>
        <p:nvSpPr>
          <p:cNvPr id="11" name="Dont card 3"/>
          <p:cNvSpPr/>
          <p:nvPr/>
        </p:nvSpPr>
        <p:spPr>
          <a:xfrm>
            <a:off x="4114800" y="1325880"/>
            <a:ext cx="1691640" cy="2194560"/>
          </a:xfrm>
          <a:prstGeom prst="roundRect">
            <a:avLst>
              <a:gd name="adj" fmla="val 5405"/>
            </a:avLst>
          </a:prstGeom>
          <a:solidFill>
            <a:srgbClr val="FBECEC"/>
          </a:solidFill>
          <a:ln/>
        </p:spPr>
      </p:sp>
      <p:pic>
        <p:nvPicPr>
          <p:cNvPr id="12" name="Dont icon 3" descr="preencoded.png">    </p:cNvPr>
          <p:cNvPicPr>
            <a:picLocks noChangeAspect="1"/>
          </p:cNvPicPr>
          <p:nvPr/>
        </p:nvPicPr>
        <p:blipFill>
          <a:blip r:embed="rId5"/>
          <a:stretch>
            <a:fillRect/>
          </a:stretch>
        </p:blipFill>
        <p:spPr>
          <a:xfrm>
            <a:off x="4343400" y="1554480"/>
            <a:ext cx="457200" cy="457200"/>
          </a:xfrm>
          <a:prstGeom prst="rect">
            <a:avLst/>
          </a:prstGeom>
        </p:spPr>
      </p:pic>
      <p:pic>
        <p:nvPicPr>
          <p:cNvPr id="13" name="Ban icon 3" descr="preencoded.png">    </p:cNvPr>
          <p:cNvPicPr>
            <a:picLocks noChangeAspect="1"/>
          </p:cNvPicPr>
          <p:nvPr/>
        </p:nvPicPr>
        <p:blipFill>
          <a:blip r:embed="rId6"/>
          <a:stretch>
            <a:fillRect/>
          </a:stretch>
        </p:blipFill>
        <p:spPr>
          <a:xfrm>
            <a:off x="5212080" y="1554480"/>
            <a:ext cx="365760" cy="365760"/>
          </a:xfrm>
          <a:prstGeom prst="rect">
            <a:avLst/>
          </a:prstGeom>
        </p:spPr>
      </p:pic>
      <p:sp>
        <p:nvSpPr>
          <p:cNvPr id="14" name="Dont text 3"/>
          <p:cNvSpPr txBox="1"/>
          <p:nvPr/>
        </p:nvSpPr>
        <p:spPr>
          <a:xfrm>
            <a:off x="4343400" y="2194560"/>
            <a:ext cx="1280160" cy="1234440"/>
          </a:xfrm>
          <a:prstGeom prst="rect">
            <a:avLst/>
          </a:prstGeom>
          <a:noFill/>
          <a:ln/>
        </p:spPr>
        <p:txBody>
          <a:bodyPr wrap="square" lIns="0" tIns="0" rIns="0" bIns="0" rtlCol="0" anchor="t"/>
          <a:lstStyle/>
          <a:p>
            <a:pPr indent="0" marL="0">
              <a:buNone/>
            </a:pPr>
            <a:r>
              <a:rPr lang="en-US" sz="2000" b="1" dirty="0">
                <a:solidFill>
                  <a:schemeClr val="accent3"/>
                </a:solidFill>
              </a:rPr>
              <a:t>Remove</a:t>
            </a:r>
            <a:endParaRPr lang="en-US" sz="2000" dirty="0"/>
          </a:p>
          <a:p>
            <a:pPr indent="0" marL="0">
              <a:buNone/>
            </a:pPr>
            <a:r>
              <a:rPr lang="en-US" sz="1400" dirty="0">
                <a:solidFill>
                  <a:schemeClr val="tx1"/>
                </a:solidFill>
              </a:rPr>
              <a:t>any articles from bins</a:t>
            </a:r>
            <a:endParaRPr lang="en-US" sz="2000" dirty="0"/>
          </a:p>
        </p:txBody>
      </p:sp>
      <p:pic>
        <p:nvPicPr>
          <p:cNvPr id="15" name="Check icon" descr="preencoded.png">    </p:cNvPr>
          <p:cNvPicPr>
            <a:picLocks noChangeAspect="1"/>
          </p:cNvPicPr>
          <p:nvPr/>
        </p:nvPicPr>
        <p:blipFill>
          <a:blip r:embed="rId7"/>
          <a:stretch>
            <a:fillRect/>
          </a:stretch>
        </p:blipFill>
        <p:spPr>
          <a:xfrm>
            <a:off x="457200" y="3886200"/>
            <a:ext cx="365760" cy="365760"/>
          </a:xfrm>
          <a:prstGeom prst="rect">
            <a:avLst/>
          </a:prstGeom>
        </p:spPr>
      </p:pic>
      <p:sp>
        <p:nvSpPr>
          <p:cNvPr id="16" name="Do text"/>
          <p:cNvSpPr txBox="1"/>
          <p:nvPr/>
        </p:nvSpPr>
        <p:spPr>
          <a:xfrm>
            <a:off x="1005840" y="3776472"/>
            <a:ext cx="4846320" cy="594360"/>
          </a:xfrm>
          <a:prstGeom prst="rect">
            <a:avLst/>
          </a:prstGeom>
          <a:noFill/>
          <a:ln/>
        </p:spPr>
        <p:txBody>
          <a:bodyPr wrap="square" lIns="0" tIns="0" rIns="0" bIns="0" rtlCol="0" anchor="ctr"/>
          <a:lstStyle/>
          <a:p>
            <a:pPr indent="0" marL="0">
              <a:buNone/>
            </a:pPr>
            <a:r>
              <a:rPr lang="en-US" sz="1600" b="1" dirty="0">
                <a:solidFill>
                  <a:schemeClr val="accent2"/>
                </a:solidFill>
              </a:rPr>
              <a:t>FFF is only about organizing what is already in each bin.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Then keep fixing as you go</a:t>
            </a:r>
            <a:endParaRPr lang="en-US" sz="2800" dirty="0"/>
          </a:p>
        </p:txBody>
      </p:sp>
      <p:sp>
        <p:nvSpPr>
          <p:cNvPr id="3" name="Quote card"/>
          <p:cNvSpPr/>
          <p:nvPr/>
        </p:nvSpPr>
        <p:spPr>
          <a:xfrm>
            <a:off x="457200" y="1325880"/>
            <a:ext cx="5394960" cy="1188720"/>
          </a:xfrm>
          <a:prstGeom prst="roundRect">
            <a:avLst>
              <a:gd name="adj" fmla="val 7692"/>
            </a:avLst>
          </a:prstGeom>
          <a:solidFill>
            <a:schemeClr val="bg1"/>
          </a:solidFill>
          <a:ln/>
        </p:spPr>
      </p:sp>
      <p:pic>
        <p:nvPicPr>
          <p:cNvPr id="4" name="Redo icon" descr="preencoded.png">    </p:cNvPr>
          <p:cNvPicPr>
            <a:picLocks noChangeAspect="1"/>
          </p:cNvPicPr>
          <p:nvPr/>
        </p:nvPicPr>
        <p:blipFill>
          <a:blip r:embed="rId1"/>
          <a:stretch>
            <a:fillRect/>
          </a:stretch>
        </p:blipFill>
        <p:spPr>
          <a:xfrm>
            <a:off x="731520" y="1709928"/>
            <a:ext cx="411480" cy="411480"/>
          </a:xfrm>
          <a:prstGeom prst="rect">
            <a:avLst/>
          </a:prstGeom>
        </p:spPr>
      </p:pic>
      <p:sp>
        <p:nvSpPr>
          <p:cNvPr id="5" name="Quote"/>
          <p:cNvSpPr txBox="1"/>
          <p:nvPr/>
        </p:nvSpPr>
        <p:spPr>
          <a:xfrm>
            <a:off x="1371600" y="1325880"/>
            <a:ext cx="4297680" cy="1188720"/>
          </a:xfrm>
          <a:prstGeom prst="rect">
            <a:avLst/>
          </a:prstGeom>
          <a:noFill/>
          <a:ln/>
        </p:spPr>
        <p:txBody>
          <a:bodyPr wrap="square" lIns="0" tIns="0" rIns="0" bIns="0" rtlCol="0" anchor="ctr"/>
          <a:lstStyle/>
          <a:p>
            <a:pPr indent="0" marL="0">
              <a:buNone/>
            </a:pPr>
            <a:r>
              <a:rPr lang="en-US" sz="1800" b="1" dirty="0">
                <a:solidFill>
                  <a:schemeClr val="tx1"/>
                </a:solidFill>
              </a:rPr>
              <a:t>Leave every bin better than you found it.</a:t>
            </a:r>
            <a:endParaRPr lang="en-US" sz="1800" dirty="0"/>
          </a:p>
          <a:p>
            <a:pPr indent="0" marL="0">
              <a:buNone/>
            </a:pPr>
            <a:r>
              <a:rPr lang="en-US" sz="1400" dirty="0">
                <a:solidFill>
                  <a:schemeClr val="accent4"/>
                </a:solidFill>
              </a:rPr>
              <a:t>Whenever your hands are in a bin, fix its etiquette.</a:t>
            </a:r>
            <a:endParaRPr lang="en-US" sz="1800" dirty="0"/>
          </a:p>
        </p:txBody>
      </p:sp>
      <p:sp>
        <p:nvSpPr>
          <p:cNvPr id="6" name="Stat 1"/>
          <p:cNvSpPr txBox="1"/>
          <p:nvPr/>
        </p:nvSpPr>
        <p:spPr>
          <a:xfrm>
            <a:off x="457200" y="2743200"/>
            <a:ext cx="2606040" cy="1463040"/>
          </a:xfrm>
          <a:prstGeom prst="rect">
            <a:avLst/>
          </a:prstGeom>
          <a:noFill/>
          <a:ln/>
        </p:spPr>
        <p:txBody>
          <a:bodyPr wrap="square" lIns="0" tIns="0" rIns="0" bIns="0" rtlCol="0" anchor="t"/>
          <a:lstStyle/>
          <a:p>
            <a:pPr indent="0" marL="0">
              <a:buNone/>
            </a:pPr>
            <a:r>
              <a:rPr lang="en-US" sz="5400" b="1" dirty="0">
                <a:solidFill>
                  <a:schemeClr val="accent1"/>
                </a:solidFill>
              </a:rPr>
              <a:t>15</a:t>
            </a:r>
            <a:endParaRPr lang="en-US" sz="5400" dirty="0"/>
          </a:p>
          <a:p>
            <a:pPr indent="0" marL="0">
              <a:buNone/>
            </a:pPr>
            <a:r>
              <a:rPr lang="en-US" sz="1500" dirty="0">
                <a:solidFill>
                  <a:schemeClr val="accent4"/>
                </a:solidFill>
              </a:rPr>
              <a:t>FFF audits per shift</a:t>
            </a:r>
            <a:endParaRPr lang="en-US" sz="5400" dirty="0"/>
          </a:p>
        </p:txBody>
      </p:sp>
      <p:sp>
        <p:nvSpPr>
          <p:cNvPr id="7" name="Stat 2"/>
          <p:cNvSpPr txBox="1"/>
          <p:nvPr/>
        </p:nvSpPr>
        <p:spPr>
          <a:xfrm>
            <a:off x="3246120" y="2743200"/>
            <a:ext cx="2606040" cy="1463040"/>
          </a:xfrm>
          <a:prstGeom prst="rect">
            <a:avLst/>
          </a:prstGeom>
          <a:noFill/>
          <a:ln/>
        </p:spPr>
        <p:txBody>
          <a:bodyPr wrap="square" lIns="0" tIns="0" rIns="0" bIns="0" rtlCol="0" anchor="t"/>
          <a:lstStyle/>
          <a:p>
            <a:pPr indent="0" marL="0">
              <a:buNone/>
            </a:pPr>
            <a:r>
              <a:rPr lang="en-US" sz="5400" b="1" dirty="0">
                <a:solidFill>
                  <a:schemeClr val="accent1"/>
                </a:solidFill>
              </a:rPr>
              <a:t>90%+</a:t>
            </a:r>
            <a:endParaRPr lang="en-US" sz="5400" dirty="0"/>
          </a:p>
          <a:p>
            <a:pPr indent="0" marL="0">
              <a:buNone/>
            </a:pPr>
            <a:r>
              <a:rPr lang="en-US" sz="1500" dirty="0">
                <a:solidFill>
                  <a:schemeClr val="accent4"/>
                </a:solidFill>
              </a:rPr>
              <a:t>daily compliance target</a:t>
            </a:r>
            <a:endParaRPr lang="en-US" sz="5400" dirty="0"/>
          </a:p>
        </p:txBody>
      </p:sp>
      <p:sp>
        <p:nvSpPr>
          <p:cNvPr id="8" name="Caption"/>
          <p:cNvSpPr txBox="1"/>
          <p:nvPr/>
        </p:nvSpPr>
        <p:spPr>
          <a:xfrm>
            <a:off x="457200" y="4343400"/>
            <a:ext cx="5394960" cy="320040"/>
          </a:xfrm>
          <a:prstGeom prst="rect">
            <a:avLst/>
          </a:prstGeom>
          <a:noFill/>
          <a:ln/>
        </p:spPr>
        <p:txBody>
          <a:bodyPr wrap="square" lIns="0" tIns="0" rIns="0" bIns="0" rtlCol="0" anchor="ctr"/>
          <a:lstStyle/>
          <a:p>
            <a:pPr indent="0" marL="0">
              <a:buNone/>
            </a:pPr>
            <a:r>
              <a:rPr lang="en-US" sz="1200" dirty="0">
                <a:solidFill>
                  <a:srgbClr val="7A8795"/>
                </a:solidFill>
              </a:rPr>
              <a:t>Audited by ICQA, Ops and L&amp;D, with feedback on the spot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PART 2</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Bin Etiquette: ROBOTSS</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Seven rules for every bin you touch, in Stow, Pick and ICQA.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Seven rules, one word</a:t>
            </a:r>
            <a:endParaRPr lang="en-US" sz="2800" dirty="0"/>
          </a:p>
        </p:txBody>
      </p:sp>
      <p:sp>
        <p:nvSpPr>
          <p:cNvPr id="3" name="Tile 1"/>
          <p:cNvSpPr/>
          <p:nvPr/>
        </p:nvSpPr>
        <p:spPr>
          <a:xfrm>
            <a:off x="457200" y="1417320"/>
            <a:ext cx="676656" cy="868680"/>
          </a:xfrm>
          <a:prstGeom prst="roundRect">
            <a:avLst>
              <a:gd name="adj" fmla="val 13514"/>
            </a:avLst>
          </a:prstGeom>
          <a:solidFill>
            <a:schemeClr val="tx2"/>
          </a:solidFill>
          <a:ln/>
        </p:spPr>
      </p:sp>
      <p:sp>
        <p:nvSpPr>
          <p:cNvPr id="4" name="Letter 1"/>
          <p:cNvSpPr txBox="1"/>
          <p:nvPr/>
        </p:nvSpPr>
        <p:spPr>
          <a:xfrm>
            <a:off x="45720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R</a:t>
            </a:r>
            <a:endParaRPr lang="en-US" sz="3600" dirty="0"/>
          </a:p>
        </p:txBody>
      </p:sp>
      <p:sp>
        <p:nvSpPr>
          <p:cNvPr id="5" name="Label 1"/>
          <p:cNvSpPr txBox="1"/>
          <p:nvPr/>
        </p:nvSpPr>
        <p:spPr>
          <a:xfrm>
            <a:off x="42062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Right bin size</a:t>
            </a:r>
            <a:endParaRPr lang="en-US" sz="1200" dirty="0"/>
          </a:p>
        </p:txBody>
      </p:sp>
      <p:sp>
        <p:nvSpPr>
          <p:cNvPr id="6" name="Tile 2"/>
          <p:cNvSpPr/>
          <p:nvPr/>
        </p:nvSpPr>
        <p:spPr>
          <a:xfrm>
            <a:off x="1243584" y="1417320"/>
            <a:ext cx="676656" cy="868680"/>
          </a:xfrm>
          <a:prstGeom prst="roundRect">
            <a:avLst>
              <a:gd name="adj" fmla="val 13514"/>
            </a:avLst>
          </a:prstGeom>
          <a:solidFill>
            <a:schemeClr val="tx2"/>
          </a:solidFill>
          <a:ln/>
        </p:spPr>
      </p:sp>
      <p:sp>
        <p:nvSpPr>
          <p:cNvPr id="7" name="Letter 2"/>
          <p:cNvSpPr txBox="1"/>
          <p:nvPr/>
        </p:nvSpPr>
        <p:spPr>
          <a:xfrm>
            <a:off x="124358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8" name="Label 2"/>
          <p:cNvSpPr txBox="1"/>
          <p:nvPr/>
        </p:nvSpPr>
        <p:spPr>
          <a:xfrm>
            <a:off x="120700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No overhang</a:t>
            </a:r>
            <a:endParaRPr lang="en-US" sz="1200" dirty="0"/>
          </a:p>
        </p:txBody>
      </p:sp>
      <p:sp>
        <p:nvSpPr>
          <p:cNvPr id="9" name="Tile 3"/>
          <p:cNvSpPr/>
          <p:nvPr/>
        </p:nvSpPr>
        <p:spPr>
          <a:xfrm>
            <a:off x="2029968" y="1417320"/>
            <a:ext cx="676656" cy="868680"/>
          </a:xfrm>
          <a:prstGeom prst="roundRect">
            <a:avLst>
              <a:gd name="adj" fmla="val 13514"/>
            </a:avLst>
          </a:prstGeom>
          <a:solidFill>
            <a:schemeClr val="tx2"/>
          </a:solidFill>
          <a:ln/>
        </p:spPr>
      </p:sp>
      <p:sp>
        <p:nvSpPr>
          <p:cNvPr id="10" name="Letter 3"/>
          <p:cNvSpPr txBox="1"/>
          <p:nvPr/>
        </p:nvSpPr>
        <p:spPr>
          <a:xfrm>
            <a:off x="2029968"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B</a:t>
            </a:r>
            <a:endParaRPr lang="en-US" sz="3600" dirty="0"/>
          </a:p>
        </p:txBody>
      </p:sp>
      <p:sp>
        <p:nvSpPr>
          <p:cNvPr id="11" name="Label 3"/>
          <p:cNvSpPr txBox="1"/>
          <p:nvPr/>
        </p:nvSpPr>
        <p:spPr>
          <a:xfrm>
            <a:off x="1993392"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Blocking</a:t>
            </a:r>
            <a:endParaRPr lang="en-US" sz="1200" dirty="0"/>
          </a:p>
        </p:txBody>
      </p:sp>
      <p:sp>
        <p:nvSpPr>
          <p:cNvPr id="12" name="Tile 4"/>
          <p:cNvSpPr/>
          <p:nvPr/>
        </p:nvSpPr>
        <p:spPr>
          <a:xfrm>
            <a:off x="2816352" y="1417320"/>
            <a:ext cx="676656" cy="868680"/>
          </a:xfrm>
          <a:prstGeom prst="roundRect">
            <a:avLst>
              <a:gd name="adj" fmla="val 13514"/>
            </a:avLst>
          </a:prstGeom>
          <a:solidFill>
            <a:schemeClr val="tx2"/>
          </a:solidFill>
          <a:ln/>
        </p:spPr>
      </p:sp>
      <p:sp>
        <p:nvSpPr>
          <p:cNvPr id="13" name="Letter 4"/>
          <p:cNvSpPr txBox="1"/>
          <p:nvPr/>
        </p:nvSpPr>
        <p:spPr>
          <a:xfrm>
            <a:off x="2816352"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O</a:t>
            </a:r>
            <a:endParaRPr lang="en-US" sz="3600" dirty="0"/>
          </a:p>
        </p:txBody>
      </p:sp>
      <p:sp>
        <p:nvSpPr>
          <p:cNvPr id="14" name="Label 4"/>
          <p:cNvSpPr txBox="1"/>
          <p:nvPr/>
        </p:nvSpPr>
        <p:spPr>
          <a:xfrm>
            <a:off x="2779776"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Over-stuffing</a:t>
            </a:r>
            <a:endParaRPr lang="en-US" sz="1200" dirty="0"/>
          </a:p>
        </p:txBody>
      </p:sp>
      <p:sp>
        <p:nvSpPr>
          <p:cNvPr id="15" name="Tile 5"/>
          <p:cNvSpPr/>
          <p:nvPr/>
        </p:nvSpPr>
        <p:spPr>
          <a:xfrm>
            <a:off x="3602736" y="1417320"/>
            <a:ext cx="676656" cy="868680"/>
          </a:xfrm>
          <a:prstGeom prst="roundRect">
            <a:avLst>
              <a:gd name="adj" fmla="val 13514"/>
            </a:avLst>
          </a:prstGeom>
          <a:solidFill>
            <a:schemeClr val="tx2"/>
          </a:solidFill>
          <a:ln/>
        </p:spPr>
      </p:sp>
      <p:sp>
        <p:nvSpPr>
          <p:cNvPr id="16" name="Letter 5"/>
          <p:cNvSpPr txBox="1"/>
          <p:nvPr/>
        </p:nvSpPr>
        <p:spPr>
          <a:xfrm>
            <a:off x="3602736"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T</a:t>
            </a:r>
            <a:endParaRPr lang="en-US" sz="3600" dirty="0"/>
          </a:p>
        </p:txBody>
      </p:sp>
      <p:sp>
        <p:nvSpPr>
          <p:cNvPr id="17" name="Label 5"/>
          <p:cNvSpPr txBox="1"/>
          <p:nvPr/>
        </p:nvSpPr>
        <p:spPr>
          <a:xfrm>
            <a:off x="3566160"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Titles out</a:t>
            </a:r>
            <a:endParaRPr lang="en-US" sz="1200" dirty="0"/>
          </a:p>
        </p:txBody>
      </p:sp>
      <p:sp>
        <p:nvSpPr>
          <p:cNvPr id="18" name="Tile 6"/>
          <p:cNvSpPr/>
          <p:nvPr/>
        </p:nvSpPr>
        <p:spPr>
          <a:xfrm>
            <a:off x="4389120" y="1417320"/>
            <a:ext cx="676656" cy="868680"/>
          </a:xfrm>
          <a:prstGeom prst="roundRect">
            <a:avLst>
              <a:gd name="adj" fmla="val 13514"/>
            </a:avLst>
          </a:prstGeom>
          <a:solidFill>
            <a:schemeClr val="tx2"/>
          </a:solidFill>
          <a:ln/>
        </p:spPr>
      </p:sp>
      <p:sp>
        <p:nvSpPr>
          <p:cNvPr id="19" name="Letter 6"/>
          <p:cNvSpPr txBox="1"/>
          <p:nvPr/>
        </p:nvSpPr>
        <p:spPr>
          <a:xfrm>
            <a:off x="4389120"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0" name="Label 6"/>
          <p:cNvSpPr txBox="1"/>
          <p:nvPr/>
        </p:nvSpPr>
        <p:spPr>
          <a:xfrm>
            <a:off x="4352544"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Stacking</a:t>
            </a:r>
            <a:endParaRPr lang="en-US" sz="1200" dirty="0"/>
          </a:p>
        </p:txBody>
      </p:sp>
      <p:sp>
        <p:nvSpPr>
          <p:cNvPr id="21" name="Tile 7"/>
          <p:cNvSpPr/>
          <p:nvPr/>
        </p:nvSpPr>
        <p:spPr>
          <a:xfrm>
            <a:off x="5175504" y="1417320"/>
            <a:ext cx="676656" cy="868680"/>
          </a:xfrm>
          <a:prstGeom prst="roundRect">
            <a:avLst>
              <a:gd name="adj" fmla="val 13514"/>
            </a:avLst>
          </a:prstGeom>
          <a:solidFill>
            <a:schemeClr val="tx2"/>
          </a:solidFill>
          <a:ln/>
        </p:spPr>
      </p:sp>
      <p:sp>
        <p:nvSpPr>
          <p:cNvPr id="22" name="Letter 7"/>
          <p:cNvSpPr txBox="1"/>
          <p:nvPr/>
        </p:nvSpPr>
        <p:spPr>
          <a:xfrm>
            <a:off x="5175504" y="1417320"/>
            <a:ext cx="676656" cy="868680"/>
          </a:xfrm>
          <a:prstGeom prst="rect">
            <a:avLst/>
          </a:prstGeom>
          <a:noFill/>
          <a:ln/>
        </p:spPr>
        <p:txBody>
          <a:bodyPr wrap="square" lIns="0" tIns="0" rIns="0" bIns="0" rtlCol="0" anchor="ctr"/>
          <a:lstStyle/>
          <a:p>
            <a:pPr algn="ctr" indent="0" marL="0">
              <a:buNone/>
            </a:pPr>
            <a:r>
              <a:rPr lang="en-US" sz="3600" b="1" dirty="0">
                <a:solidFill>
                  <a:schemeClr val="accent1"/>
                </a:solidFill>
                <a:latin typeface="Arial" pitchFamily="34" charset="0"/>
                <a:ea typeface="Arial" pitchFamily="34" charset="-122"/>
                <a:cs typeface="Arial" pitchFamily="34" charset="-120"/>
              </a:rPr>
              <a:t>S</a:t>
            </a:r>
            <a:endParaRPr lang="en-US" sz="3600" dirty="0"/>
          </a:p>
        </p:txBody>
      </p:sp>
      <p:sp>
        <p:nvSpPr>
          <p:cNvPr id="23" name="Label 7"/>
          <p:cNvSpPr txBox="1"/>
          <p:nvPr/>
        </p:nvSpPr>
        <p:spPr>
          <a:xfrm>
            <a:off x="5138928" y="2377440"/>
            <a:ext cx="749808" cy="594360"/>
          </a:xfrm>
          <a:prstGeom prst="rect">
            <a:avLst/>
          </a:prstGeom>
          <a:noFill/>
          <a:ln/>
        </p:spPr>
        <p:txBody>
          <a:bodyPr wrap="square" lIns="0" tIns="0" rIns="0" bIns="0" rtlCol="0" anchor="t"/>
          <a:lstStyle/>
          <a:p>
            <a:pPr algn="ctr" indent="0" marL="0">
              <a:buNone/>
            </a:pPr>
            <a:r>
              <a:rPr lang="en-US" sz="1200" dirty="0">
                <a:solidFill>
                  <a:schemeClr val="tx1"/>
                </a:solidFill>
              </a:rPr>
              <a:t>Similar items</a:t>
            </a:r>
            <a:endParaRPr lang="en-US" sz="1200" dirty="0"/>
          </a:p>
        </p:txBody>
      </p:sp>
      <p:sp>
        <p:nvSpPr>
          <p:cNvPr id="24" name="Why card"/>
          <p:cNvSpPr/>
          <p:nvPr/>
        </p:nvSpPr>
        <p:spPr>
          <a:xfrm>
            <a:off x="457200" y="3429000"/>
            <a:ext cx="5394960" cy="1097280"/>
          </a:xfrm>
          <a:prstGeom prst="roundRect">
            <a:avLst>
              <a:gd name="adj" fmla="val 8333"/>
            </a:avLst>
          </a:prstGeom>
          <a:solidFill>
            <a:schemeClr val="bg1"/>
          </a:solidFill>
          <a:ln/>
        </p:spPr>
      </p:sp>
      <p:sp>
        <p:nvSpPr>
          <p:cNvPr id="25" name="Why text"/>
          <p:cNvSpPr txBox="1"/>
          <p:nvPr/>
        </p:nvSpPr>
        <p:spPr>
          <a:xfrm>
            <a:off x="731520" y="3429000"/>
            <a:ext cx="4846320" cy="1097280"/>
          </a:xfrm>
          <a:prstGeom prst="rect">
            <a:avLst/>
          </a:prstGeom>
          <a:noFill/>
          <a:ln/>
        </p:spPr>
        <p:txBody>
          <a:bodyPr wrap="square" lIns="0" tIns="0" rIns="0" bIns="0" rtlCol="0" anchor="ctr"/>
          <a:lstStyle/>
          <a:p>
            <a:pPr indent="0" marL="0">
              <a:buNone/>
            </a:pPr>
            <a:r>
              <a:rPr lang="en-US" sz="1500" b="1" dirty="0">
                <a:solidFill>
                  <a:schemeClr val="tx1"/>
                </a:solidFill>
              </a:rPr>
              <a:t>Why it matters: </a:t>
            </a:r>
            <a:pPr indent="0" marL="0">
              <a:buNone/>
            </a:pPr>
            <a:r>
              <a:rPr lang="en-US" sz="1500" dirty="0">
                <a:solidFill>
                  <a:schemeClr val="accent4"/>
                </a:solidFill>
              </a:rPr>
              <a:t>pickers find items faster, bins hold more, and nothing falls out when the pod moves.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R + O: size it right</a:t>
            </a:r>
            <a:endParaRPr lang="en-US" sz="2800" dirty="0"/>
          </a:p>
        </p:txBody>
      </p:sp>
      <p:sp>
        <p:nvSpPr>
          <p:cNvPr id="3" name="Rule card 1"/>
          <p:cNvSpPr/>
          <p:nvPr/>
        </p:nvSpPr>
        <p:spPr>
          <a:xfrm>
            <a:off x="457200" y="1325880"/>
            <a:ext cx="2606040" cy="3200400"/>
          </a:xfrm>
          <a:prstGeom prst="roundRect">
            <a:avLst>
              <a:gd name="adj" fmla="val 3509"/>
            </a:avLst>
          </a:prstGeom>
          <a:solidFill>
            <a:schemeClr val="bg1"/>
          </a:solidFill>
          <a:ln/>
        </p:spPr>
      </p:sp>
      <p:sp>
        <p:nvSpPr>
          <p:cNvPr id="4" name="Rule badge 1"/>
          <p:cNvSpPr/>
          <p:nvPr/>
        </p:nvSpPr>
        <p:spPr>
          <a:xfrm>
            <a:off x="685800" y="1554480"/>
            <a:ext cx="731520" cy="731520"/>
          </a:xfrm>
          <a:prstGeom prst="ellipse">
            <a:avLst/>
          </a:prstGeom>
          <a:solidFill>
            <a:schemeClr val="tx2"/>
          </a:solidFill>
          <a:ln/>
        </p:spPr>
      </p:sp>
      <p:sp>
        <p:nvSpPr>
          <p:cNvPr id="5" name="Rule letter 1"/>
          <p:cNvSpPr txBox="1"/>
          <p:nvPr/>
        </p:nvSpPr>
        <p:spPr>
          <a:xfrm>
            <a:off x="685800" y="155448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R</a:t>
            </a:r>
            <a:endParaRPr lang="en-US" sz="3000" dirty="0"/>
          </a:p>
        </p:txBody>
      </p:sp>
      <p:sp>
        <p:nvSpPr>
          <p:cNvPr id="6" name="Rule name 1"/>
          <p:cNvSpPr txBox="1"/>
          <p:nvPr/>
        </p:nvSpPr>
        <p:spPr>
          <a:xfrm>
            <a:off x="685800" y="242316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Right bin size</a:t>
            </a:r>
            <a:endParaRPr lang="en-US" sz="1900" dirty="0"/>
          </a:p>
        </p:txBody>
      </p:sp>
      <p:sp>
        <p:nvSpPr>
          <p:cNvPr id="7" name="Rule detail 1"/>
          <p:cNvSpPr txBox="1"/>
          <p:nvPr/>
        </p:nvSpPr>
        <p:spPr>
          <a:xfrm>
            <a:off x="685800" y="2926080"/>
            <a:ext cx="2240280" cy="1508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Use the smallest bin that fits</a:t>
            </a:r>
            <a:endParaRPr lang="en-US" sz="1400" dirty="0"/>
          </a:p>
          <a:p>
            <a:pPr marL="342900" indent="-342900">
              <a:spcAft>
                <a:spcPts val="600"/>
              </a:spcAft>
              <a:buSzPct val="100000"/>
              <a:buChar char="•"/>
            </a:pPr>
            <a:r>
              <a:rPr lang="en-US" sz="1400" dirty="0">
                <a:solidFill>
                  <a:schemeClr val="accent4"/>
                </a:solidFill>
              </a:rPr>
              <a:t>Place items by length first</a:t>
            </a:r>
            <a:endParaRPr lang="en-US" sz="1400" dirty="0"/>
          </a:p>
        </p:txBody>
      </p:sp>
      <p:sp>
        <p:nvSpPr>
          <p:cNvPr id="8" name="Rule card 2"/>
          <p:cNvSpPr/>
          <p:nvPr/>
        </p:nvSpPr>
        <p:spPr>
          <a:xfrm>
            <a:off x="3246120" y="1325880"/>
            <a:ext cx="2606040" cy="3200400"/>
          </a:xfrm>
          <a:prstGeom prst="roundRect">
            <a:avLst>
              <a:gd name="adj" fmla="val 3509"/>
            </a:avLst>
          </a:prstGeom>
          <a:solidFill>
            <a:schemeClr val="bg1"/>
          </a:solidFill>
          <a:ln/>
        </p:spPr>
      </p:sp>
      <p:sp>
        <p:nvSpPr>
          <p:cNvPr id="9" name="Rule badge 2"/>
          <p:cNvSpPr/>
          <p:nvPr/>
        </p:nvSpPr>
        <p:spPr>
          <a:xfrm>
            <a:off x="3474720" y="1554480"/>
            <a:ext cx="731520" cy="731520"/>
          </a:xfrm>
          <a:prstGeom prst="ellipse">
            <a:avLst/>
          </a:prstGeom>
          <a:solidFill>
            <a:schemeClr val="tx2"/>
          </a:solidFill>
          <a:ln/>
        </p:spPr>
      </p:sp>
      <p:sp>
        <p:nvSpPr>
          <p:cNvPr id="10" name="Rule letter 2"/>
          <p:cNvSpPr txBox="1"/>
          <p:nvPr/>
        </p:nvSpPr>
        <p:spPr>
          <a:xfrm>
            <a:off x="3474720" y="155448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O</a:t>
            </a:r>
            <a:endParaRPr lang="en-US" sz="3000" dirty="0"/>
          </a:p>
        </p:txBody>
      </p:sp>
      <p:sp>
        <p:nvSpPr>
          <p:cNvPr id="11" name="Rule name 2"/>
          <p:cNvSpPr txBox="1"/>
          <p:nvPr/>
        </p:nvSpPr>
        <p:spPr>
          <a:xfrm>
            <a:off x="3474720" y="242316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No overhang</a:t>
            </a:r>
            <a:endParaRPr lang="en-US" sz="1900" dirty="0"/>
          </a:p>
        </p:txBody>
      </p:sp>
      <p:sp>
        <p:nvSpPr>
          <p:cNvPr id="12" name="Rule detail 2"/>
          <p:cNvSpPr txBox="1"/>
          <p:nvPr/>
        </p:nvSpPr>
        <p:spPr>
          <a:xfrm>
            <a:off x="3474720" y="2926080"/>
            <a:ext cx="2240280" cy="1508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Every item must fit fully inside the bin</a:t>
            </a:r>
            <a:endParaRPr lang="en-US" sz="1400" dirty="0"/>
          </a:p>
          <a:p>
            <a:pPr marL="342900" indent="-342900">
              <a:spcAft>
                <a:spcPts val="600"/>
              </a:spcAft>
              <a:buSzPct val="100000"/>
              <a:buChar char="•"/>
            </a:pPr>
            <a:r>
              <a:rPr lang="en-US" sz="1400" dirty="0">
                <a:solidFill>
                  <a:schemeClr val="accent4"/>
                </a:solidFill>
              </a:rPr>
              <a:t>Overhang causes drive obstructions and pod crashes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B + O: keep items safe</a:t>
            </a:r>
            <a:endParaRPr lang="en-US" sz="2800" dirty="0"/>
          </a:p>
        </p:txBody>
      </p:sp>
      <p:sp>
        <p:nvSpPr>
          <p:cNvPr id="3" name="Rule card 1"/>
          <p:cNvSpPr/>
          <p:nvPr/>
        </p:nvSpPr>
        <p:spPr>
          <a:xfrm>
            <a:off x="457200" y="1325880"/>
            <a:ext cx="2606040" cy="3200400"/>
          </a:xfrm>
          <a:prstGeom prst="roundRect">
            <a:avLst>
              <a:gd name="adj" fmla="val 3509"/>
            </a:avLst>
          </a:prstGeom>
          <a:solidFill>
            <a:schemeClr val="bg1"/>
          </a:solidFill>
          <a:ln/>
        </p:spPr>
      </p:sp>
      <p:sp>
        <p:nvSpPr>
          <p:cNvPr id="4" name="Rule badge 1"/>
          <p:cNvSpPr/>
          <p:nvPr/>
        </p:nvSpPr>
        <p:spPr>
          <a:xfrm>
            <a:off x="685800" y="1554480"/>
            <a:ext cx="731520" cy="731520"/>
          </a:xfrm>
          <a:prstGeom prst="ellipse">
            <a:avLst/>
          </a:prstGeom>
          <a:solidFill>
            <a:schemeClr val="tx2"/>
          </a:solidFill>
          <a:ln/>
        </p:spPr>
      </p:sp>
      <p:sp>
        <p:nvSpPr>
          <p:cNvPr id="5" name="Rule letter 1"/>
          <p:cNvSpPr txBox="1"/>
          <p:nvPr/>
        </p:nvSpPr>
        <p:spPr>
          <a:xfrm>
            <a:off x="685800" y="155448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B</a:t>
            </a:r>
            <a:endParaRPr lang="en-US" sz="3000" dirty="0"/>
          </a:p>
        </p:txBody>
      </p:sp>
      <p:sp>
        <p:nvSpPr>
          <p:cNvPr id="6" name="Rule name 1"/>
          <p:cNvSpPr txBox="1"/>
          <p:nvPr/>
        </p:nvSpPr>
        <p:spPr>
          <a:xfrm>
            <a:off x="685800" y="242316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Blocking</a:t>
            </a:r>
            <a:endParaRPr lang="en-US" sz="1900" dirty="0"/>
          </a:p>
        </p:txBody>
      </p:sp>
      <p:sp>
        <p:nvSpPr>
          <p:cNvPr id="7" name="Rule detail 1"/>
          <p:cNvSpPr txBox="1"/>
          <p:nvPr/>
        </p:nvSpPr>
        <p:spPr>
          <a:xfrm>
            <a:off x="685800" y="2926080"/>
            <a:ext cx="2240280" cy="1508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Never hide small items behind larger ones</a:t>
            </a:r>
            <a:endParaRPr lang="en-US" sz="1400" dirty="0"/>
          </a:p>
          <a:p>
            <a:pPr marL="342900" indent="-342900">
              <a:spcAft>
                <a:spcPts val="600"/>
              </a:spcAft>
              <a:buSzPct val="100000"/>
              <a:buChar char="•"/>
            </a:pPr>
            <a:r>
              <a:rPr lang="en-US" sz="1400" dirty="0">
                <a:solidFill>
                  <a:schemeClr val="accent4"/>
                </a:solidFill>
              </a:rPr>
              <a:t>Stand flat items upright so they can't slip between the bands</a:t>
            </a:r>
            <a:endParaRPr lang="en-US" sz="1400" dirty="0"/>
          </a:p>
        </p:txBody>
      </p:sp>
      <p:sp>
        <p:nvSpPr>
          <p:cNvPr id="8" name="Rule card 2"/>
          <p:cNvSpPr/>
          <p:nvPr/>
        </p:nvSpPr>
        <p:spPr>
          <a:xfrm>
            <a:off x="3246120" y="1325880"/>
            <a:ext cx="2606040" cy="3200400"/>
          </a:xfrm>
          <a:prstGeom prst="roundRect">
            <a:avLst>
              <a:gd name="adj" fmla="val 3509"/>
            </a:avLst>
          </a:prstGeom>
          <a:solidFill>
            <a:schemeClr val="bg1"/>
          </a:solidFill>
          <a:ln/>
        </p:spPr>
      </p:sp>
      <p:sp>
        <p:nvSpPr>
          <p:cNvPr id="9" name="Rule badge 2"/>
          <p:cNvSpPr/>
          <p:nvPr/>
        </p:nvSpPr>
        <p:spPr>
          <a:xfrm>
            <a:off x="3474720" y="1554480"/>
            <a:ext cx="731520" cy="731520"/>
          </a:xfrm>
          <a:prstGeom prst="ellipse">
            <a:avLst/>
          </a:prstGeom>
          <a:solidFill>
            <a:schemeClr val="tx2"/>
          </a:solidFill>
          <a:ln/>
        </p:spPr>
      </p:sp>
      <p:sp>
        <p:nvSpPr>
          <p:cNvPr id="10" name="Rule letter 2"/>
          <p:cNvSpPr txBox="1"/>
          <p:nvPr/>
        </p:nvSpPr>
        <p:spPr>
          <a:xfrm>
            <a:off x="3474720" y="1554480"/>
            <a:ext cx="731520" cy="73152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O</a:t>
            </a:r>
            <a:endParaRPr lang="en-US" sz="3000" dirty="0"/>
          </a:p>
        </p:txBody>
      </p:sp>
      <p:sp>
        <p:nvSpPr>
          <p:cNvPr id="11" name="Rule name 2"/>
          <p:cNvSpPr txBox="1"/>
          <p:nvPr/>
        </p:nvSpPr>
        <p:spPr>
          <a:xfrm>
            <a:off x="3474720" y="2423160"/>
            <a:ext cx="2194560" cy="411480"/>
          </a:xfrm>
          <a:prstGeom prst="rect">
            <a:avLst/>
          </a:prstGeom>
          <a:noFill/>
          <a:ln/>
        </p:spPr>
        <p:txBody>
          <a:bodyPr wrap="square" lIns="0" tIns="0" rIns="0" bIns="0" rtlCol="0" anchor="ctr"/>
          <a:lstStyle/>
          <a:p>
            <a:pPr indent="0" marL="0">
              <a:buNone/>
            </a:pPr>
            <a:r>
              <a:rPr lang="en-US" sz="1900" b="1" dirty="0">
                <a:solidFill>
                  <a:schemeClr val="tx1"/>
                </a:solidFill>
              </a:rPr>
              <a:t>Overstuffing</a:t>
            </a:r>
            <a:endParaRPr lang="en-US" sz="1900" dirty="0"/>
          </a:p>
        </p:txBody>
      </p:sp>
      <p:sp>
        <p:nvSpPr>
          <p:cNvPr id="12" name="Rule detail 2"/>
          <p:cNvSpPr txBox="1"/>
          <p:nvPr/>
        </p:nvSpPr>
        <p:spPr>
          <a:xfrm>
            <a:off x="3474720" y="2926080"/>
            <a:ext cx="2240280" cy="15087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accent4"/>
                </a:solidFill>
              </a:rPr>
              <a:t>Don't overfill the bin</a:t>
            </a:r>
            <a:endParaRPr lang="en-US" sz="1400" dirty="0"/>
          </a:p>
          <a:p>
            <a:pPr marL="342900" indent="-342900">
              <a:spcAft>
                <a:spcPts val="600"/>
              </a:spcAft>
              <a:buSzPct val="100000"/>
              <a:buChar char="•"/>
            </a:pPr>
            <a:r>
              <a:rPr lang="en-US" sz="1400" dirty="0">
                <a:solidFill>
                  <a:schemeClr val="accent4"/>
                </a:solidFill>
              </a:rPr>
              <a:t>Forcing items in damages customer products</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T + S + S: easy to pick</a:t>
            </a:r>
            <a:endParaRPr lang="en-US" sz="2800" dirty="0"/>
          </a:p>
        </p:txBody>
      </p:sp>
      <p:sp>
        <p:nvSpPr>
          <p:cNvPr id="3" name="TSS row 1"/>
          <p:cNvSpPr/>
          <p:nvPr/>
        </p:nvSpPr>
        <p:spPr>
          <a:xfrm>
            <a:off x="457200" y="1325880"/>
            <a:ext cx="5394960" cy="960120"/>
          </a:xfrm>
          <a:prstGeom prst="roundRect">
            <a:avLst>
              <a:gd name="adj" fmla="val 9524"/>
            </a:avLst>
          </a:prstGeom>
          <a:solidFill>
            <a:schemeClr val="bg1"/>
          </a:solidFill>
          <a:ln/>
        </p:spPr>
      </p:sp>
      <p:sp>
        <p:nvSpPr>
          <p:cNvPr id="4" name="TSS badge 1"/>
          <p:cNvSpPr/>
          <p:nvPr/>
        </p:nvSpPr>
        <p:spPr>
          <a:xfrm>
            <a:off x="640080" y="1472184"/>
            <a:ext cx="658368" cy="658368"/>
          </a:xfrm>
          <a:prstGeom prst="ellipse">
            <a:avLst/>
          </a:prstGeom>
          <a:solidFill>
            <a:schemeClr val="tx2"/>
          </a:solidFill>
          <a:ln/>
        </p:spPr>
      </p:sp>
      <p:sp>
        <p:nvSpPr>
          <p:cNvPr id="5" name="TSS letter 1"/>
          <p:cNvSpPr txBox="1"/>
          <p:nvPr/>
        </p:nvSpPr>
        <p:spPr>
          <a:xfrm>
            <a:off x="640080" y="1472184"/>
            <a:ext cx="658368" cy="658368"/>
          </a:xfrm>
          <a:prstGeom prst="rect">
            <a:avLst/>
          </a:prstGeom>
          <a:noFill/>
          <a:ln/>
        </p:spPr>
        <p:txBody>
          <a:bodyPr wrap="square" lIns="0" tIns="0" rIns="0" bIns="0" rtlCol="0" anchor="ctr"/>
          <a:lstStyle/>
          <a:p>
            <a:pPr algn="ctr" indent="0" marL="0">
              <a:buNone/>
            </a:pPr>
            <a:r>
              <a:rPr lang="en-US" sz="2800" b="1" dirty="0">
                <a:solidFill>
                  <a:schemeClr val="accent1"/>
                </a:solidFill>
                <a:latin typeface="Arial" pitchFamily="34" charset="0"/>
                <a:ea typeface="Arial" pitchFamily="34" charset="-122"/>
                <a:cs typeface="Arial" pitchFamily="34" charset="-120"/>
              </a:rPr>
              <a:t>T</a:t>
            </a:r>
            <a:endParaRPr lang="en-US" sz="2800" dirty="0"/>
          </a:p>
        </p:txBody>
      </p:sp>
      <p:sp>
        <p:nvSpPr>
          <p:cNvPr id="6" name="TSS text 1"/>
          <p:cNvSpPr txBox="1"/>
          <p:nvPr/>
        </p:nvSpPr>
        <p:spPr>
          <a:xfrm>
            <a:off x="1554480" y="1325880"/>
            <a:ext cx="4114800" cy="960120"/>
          </a:xfrm>
          <a:prstGeom prst="rect">
            <a:avLst/>
          </a:prstGeom>
          <a:noFill/>
          <a:ln/>
        </p:spPr>
        <p:txBody>
          <a:bodyPr wrap="square" lIns="0" tIns="0" rIns="0" bIns="0" rtlCol="0" anchor="ctr"/>
          <a:lstStyle/>
          <a:p>
            <a:pPr indent="0" marL="0">
              <a:buNone/>
            </a:pPr>
            <a:r>
              <a:rPr lang="en-US" sz="1700" b="1" dirty="0">
                <a:solidFill>
                  <a:schemeClr val="tx1"/>
                </a:solidFill>
              </a:rPr>
              <a:t>Titles out</a:t>
            </a:r>
            <a:endParaRPr lang="en-US" sz="1700" dirty="0"/>
          </a:p>
          <a:p>
            <a:pPr indent="0" marL="0">
              <a:buNone/>
            </a:pPr>
            <a:r>
              <a:rPr lang="en-US" sz="1400" dirty="0">
                <a:solidFill>
                  <a:schemeClr val="accent4"/>
                </a:solidFill>
              </a:rPr>
              <a:t>Book and DVD spines face outward so pickers can find them</a:t>
            </a:r>
            <a:endParaRPr lang="en-US" sz="1700" dirty="0"/>
          </a:p>
        </p:txBody>
      </p:sp>
      <p:sp>
        <p:nvSpPr>
          <p:cNvPr id="7" name="TSS row 2"/>
          <p:cNvSpPr/>
          <p:nvPr/>
        </p:nvSpPr>
        <p:spPr>
          <a:xfrm>
            <a:off x="457200" y="2423160"/>
            <a:ext cx="5394960" cy="960120"/>
          </a:xfrm>
          <a:prstGeom prst="roundRect">
            <a:avLst>
              <a:gd name="adj" fmla="val 9524"/>
            </a:avLst>
          </a:prstGeom>
          <a:solidFill>
            <a:schemeClr val="bg1"/>
          </a:solidFill>
          <a:ln/>
        </p:spPr>
      </p:sp>
      <p:sp>
        <p:nvSpPr>
          <p:cNvPr id="8" name="TSS badge 2"/>
          <p:cNvSpPr/>
          <p:nvPr/>
        </p:nvSpPr>
        <p:spPr>
          <a:xfrm>
            <a:off x="640080" y="2569464"/>
            <a:ext cx="658368" cy="658368"/>
          </a:xfrm>
          <a:prstGeom prst="ellipse">
            <a:avLst/>
          </a:prstGeom>
          <a:solidFill>
            <a:schemeClr val="tx2"/>
          </a:solidFill>
          <a:ln/>
        </p:spPr>
      </p:sp>
      <p:sp>
        <p:nvSpPr>
          <p:cNvPr id="9" name="TSS letter 2"/>
          <p:cNvSpPr txBox="1"/>
          <p:nvPr/>
        </p:nvSpPr>
        <p:spPr>
          <a:xfrm>
            <a:off x="640080" y="2569464"/>
            <a:ext cx="658368" cy="658368"/>
          </a:xfrm>
          <a:prstGeom prst="rect">
            <a:avLst/>
          </a:prstGeom>
          <a:noFill/>
          <a:ln/>
        </p:spPr>
        <p:txBody>
          <a:bodyPr wrap="square" lIns="0" tIns="0" rIns="0" bIns="0" rtlCol="0" anchor="ctr"/>
          <a:lstStyle/>
          <a:p>
            <a:pPr algn="ctr" indent="0" marL="0">
              <a:buNone/>
            </a:pPr>
            <a:r>
              <a:rPr lang="en-US" sz="2800" b="1" dirty="0">
                <a:solidFill>
                  <a:schemeClr val="accent1"/>
                </a:solidFill>
                <a:latin typeface="Arial" pitchFamily="34" charset="0"/>
                <a:ea typeface="Arial" pitchFamily="34" charset="-122"/>
                <a:cs typeface="Arial" pitchFamily="34" charset="-120"/>
              </a:rPr>
              <a:t>S</a:t>
            </a:r>
            <a:endParaRPr lang="en-US" sz="2800" dirty="0"/>
          </a:p>
        </p:txBody>
      </p:sp>
      <p:sp>
        <p:nvSpPr>
          <p:cNvPr id="10" name="TSS text 2"/>
          <p:cNvSpPr txBox="1"/>
          <p:nvPr/>
        </p:nvSpPr>
        <p:spPr>
          <a:xfrm>
            <a:off x="1554480" y="2423160"/>
            <a:ext cx="4114800" cy="960120"/>
          </a:xfrm>
          <a:prstGeom prst="rect">
            <a:avLst/>
          </a:prstGeom>
          <a:noFill/>
          <a:ln/>
        </p:spPr>
        <p:txBody>
          <a:bodyPr wrap="square" lIns="0" tIns="0" rIns="0" bIns="0" rtlCol="0" anchor="ctr"/>
          <a:lstStyle/>
          <a:p>
            <a:pPr indent="0" marL="0">
              <a:buNone/>
            </a:pPr>
            <a:r>
              <a:rPr lang="en-US" sz="1700" b="1" dirty="0">
                <a:solidFill>
                  <a:schemeClr val="tx1"/>
                </a:solidFill>
              </a:rPr>
              <a:t>Stacking</a:t>
            </a:r>
            <a:endParaRPr lang="en-US" sz="1700" dirty="0"/>
          </a:p>
          <a:p>
            <a:pPr indent="0" marL="0">
              <a:buNone/>
            </a:pPr>
            <a:r>
              <a:rPr lang="en-US" sz="1400" dirty="0">
                <a:solidFill>
                  <a:schemeClr val="accent4"/>
                </a:solidFill>
              </a:rPr>
              <a:t>Stack the same ASIN only with two flat sides, and stay below the bands</a:t>
            </a:r>
            <a:endParaRPr lang="en-US" sz="1700" dirty="0"/>
          </a:p>
        </p:txBody>
      </p:sp>
      <p:sp>
        <p:nvSpPr>
          <p:cNvPr id="11" name="TSS row 3"/>
          <p:cNvSpPr/>
          <p:nvPr/>
        </p:nvSpPr>
        <p:spPr>
          <a:xfrm>
            <a:off x="457200" y="3520440"/>
            <a:ext cx="5394960" cy="960120"/>
          </a:xfrm>
          <a:prstGeom prst="roundRect">
            <a:avLst>
              <a:gd name="adj" fmla="val 9524"/>
            </a:avLst>
          </a:prstGeom>
          <a:solidFill>
            <a:schemeClr val="bg1"/>
          </a:solidFill>
          <a:ln/>
        </p:spPr>
      </p:sp>
      <p:sp>
        <p:nvSpPr>
          <p:cNvPr id="12" name="TSS badge 3"/>
          <p:cNvSpPr/>
          <p:nvPr/>
        </p:nvSpPr>
        <p:spPr>
          <a:xfrm>
            <a:off x="640080" y="3666744"/>
            <a:ext cx="658368" cy="658368"/>
          </a:xfrm>
          <a:prstGeom prst="ellipse">
            <a:avLst/>
          </a:prstGeom>
          <a:solidFill>
            <a:schemeClr val="tx2"/>
          </a:solidFill>
          <a:ln/>
        </p:spPr>
      </p:sp>
      <p:sp>
        <p:nvSpPr>
          <p:cNvPr id="13" name="TSS letter 3"/>
          <p:cNvSpPr txBox="1"/>
          <p:nvPr/>
        </p:nvSpPr>
        <p:spPr>
          <a:xfrm>
            <a:off x="640080" y="3666744"/>
            <a:ext cx="658368" cy="658368"/>
          </a:xfrm>
          <a:prstGeom prst="rect">
            <a:avLst/>
          </a:prstGeom>
          <a:noFill/>
          <a:ln/>
        </p:spPr>
        <p:txBody>
          <a:bodyPr wrap="square" lIns="0" tIns="0" rIns="0" bIns="0" rtlCol="0" anchor="ctr"/>
          <a:lstStyle/>
          <a:p>
            <a:pPr algn="ctr" indent="0" marL="0">
              <a:buNone/>
            </a:pPr>
            <a:r>
              <a:rPr lang="en-US" sz="2800" b="1" dirty="0">
                <a:solidFill>
                  <a:schemeClr val="accent1"/>
                </a:solidFill>
                <a:latin typeface="Arial" pitchFamily="34" charset="0"/>
                <a:ea typeface="Arial" pitchFamily="34" charset="-122"/>
                <a:cs typeface="Arial" pitchFamily="34" charset="-120"/>
              </a:rPr>
              <a:t>S</a:t>
            </a:r>
            <a:endParaRPr lang="en-US" sz="2800" dirty="0"/>
          </a:p>
        </p:txBody>
      </p:sp>
      <p:sp>
        <p:nvSpPr>
          <p:cNvPr id="14" name="TSS text 3"/>
          <p:cNvSpPr txBox="1"/>
          <p:nvPr/>
        </p:nvSpPr>
        <p:spPr>
          <a:xfrm>
            <a:off x="1554480" y="3520440"/>
            <a:ext cx="4114800" cy="960120"/>
          </a:xfrm>
          <a:prstGeom prst="rect">
            <a:avLst/>
          </a:prstGeom>
          <a:noFill/>
          <a:ln/>
        </p:spPr>
        <p:txBody>
          <a:bodyPr wrap="square" lIns="0" tIns="0" rIns="0" bIns="0" rtlCol="0" anchor="ctr"/>
          <a:lstStyle/>
          <a:p>
            <a:pPr indent="0" marL="0">
              <a:buNone/>
            </a:pPr>
            <a:r>
              <a:rPr lang="en-US" sz="1700" b="1" dirty="0">
                <a:solidFill>
                  <a:schemeClr val="tx1"/>
                </a:solidFill>
              </a:rPr>
              <a:t>Similar items</a:t>
            </a:r>
            <a:endParaRPr lang="en-US" sz="1700" dirty="0"/>
          </a:p>
          <a:p>
            <a:pPr indent="0" marL="0">
              <a:buNone/>
            </a:pPr>
            <a:r>
              <a:rPr lang="en-US" sz="1400" dirty="0">
                <a:solidFill>
                  <a:schemeClr val="accent4"/>
                </a:solidFill>
              </a:rPr>
              <a:t>Never put look-alike items in one bin; use the cross method</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Your shift, bin by bin</a:t>
            </a:r>
            <a:endParaRPr lang="en-US" sz="2800" dirty="0"/>
          </a:p>
        </p:txBody>
      </p:sp>
      <p:sp>
        <p:nvSpPr>
          <p:cNvPr id="3" name="Recap circle 1"/>
          <p:cNvSpPr/>
          <p:nvPr/>
        </p:nvSpPr>
        <p:spPr>
          <a:xfrm>
            <a:off x="86868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591056"/>
            <a:ext cx="429768" cy="429768"/>
          </a:xfrm>
          <a:prstGeom prst="rect">
            <a:avLst/>
          </a:prstGeom>
        </p:spPr>
      </p:pic>
      <p:sp>
        <p:nvSpPr>
          <p:cNvPr id="5" name="Recap text 1"/>
          <p:cNvSpPr txBox="1"/>
          <p:nvPr/>
        </p:nvSpPr>
        <p:spPr>
          <a:xfrm>
            <a:off x="4572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Shift start and after breaks</a:t>
            </a:r>
            <a:endParaRPr lang="en-US" sz="1300" dirty="0"/>
          </a:p>
          <a:p>
            <a:pPr algn="ctr" indent="0" marL="0">
              <a:buNone/>
            </a:pPr>
            <a:r>
              <a:rPr lang="en-US" sz="1700" b="1" dirty="0">
                <a:solidFill>
                  <a:schemeClr val="tx1"/>
                </a:solidFill>
              </a:rPr>
              <a:t>1-minute First Face Fix</a:t>
            </a:r>
            <a:endParaRPr lang="en-US" sz="1300" dirty="0"/>
          </a:p>
        </p:txBody>
      </p:sp>
      <p:pic>
        <p:nvPicPr>
          <p:cNvPr id="6" name="Arrow 1" descr="preencoded.png">    </p:cNvPr>
          <p:cNvPicPr>
            <a:picLocks noChangeAspect="1"/>
          </p:cNvPicPr>
          <p:nvPr/>
        </p:nvPicPr>
        <p:blipFill>
          <a:blip r:embed="rId2"/>
          <a:stretch>
            <a:fillRect/>
          </a:stretch>
        </p:blipFill>
        <p:spPr>
          <a:xfrm>
            <a:off x="2121408" y="1664208"/>
            <a:ext cx="274320" cy="274320"/>
          </a:xfrm>
          <a:prstGeom prst="rect">
            <a:avLst/>
          </a:prstGeom>
        </p:spPr>
      </p:pic>
      <p:sp>
        <p:nvSpPr>
          <p:cNvPr id="7" name="Recap circle 2"/>
          <p:cNvSpPr/>
          <p:nvPr/>
        </p:nvSpPr>
        <p:spPr>
          <a:xfrm>
            <a:off x="2697480" y="1371600"/>
            <a:ext cx="868680" cy="868680"/>
          </a:xfrm>
          <a:prstGeom prst="ellipse">
            <a:avLst/>
          </a:prstGeom>
          <a:solidFill>
            <a:schemeClr val="accent1"/>
          </a:solidFill>
          <a:ln/>
        </p:spPr>
      </p:sp>
      <p:pic>
        <p:nvPicPr>
          <p:cNvPr id="8" name="Recap icon 2" descr="preencoded.png">    </p:cNvPr>
          <p:cNvPicPr>
            <a:picLocks noChangeAspect="1"/>
          </p:cNvPicPr>
          <p:nvPr/>
        </p:nvPicPr>
        <p:blipFill>
          <a:blip r:embed="rId3"/>
          <a:stretch>
            <a:fillRect/>
          </a:stretch>
        </p:blipFill>
        <p:spPr>
          <a:xfrm>
            <a:off x="2916936" y="1591056"/>
            <a:ext cx="429768" cy="429768"/>
          </a:xfrm>
          <a:prstGeom prst="rect">
            <a:avLst/>
          </a:prstGeom>
        </p:spPr>
      </p:pic>
      <p:sp>
        <p:nvSpPr>
          <p:cNvPr id="9" name="Recap text 2"/>
          <p:cNvSpPr txBox="1"/>
          <p:nvPr/>
        </p:nvSpPr>
        <p:spPr>
          <a:xfrm>
            <a:off x="22860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Apply ROBOTSS</a:t>
            </a:r>
            <a:endParaRPr lang="en-US" sz="1300" dirty="0"/>
          </a:p>
        </p:txBody>
      </p:sp>
      <p:pic>
        <p:nvPicPr>
          <p:cNvPr id="10" name="Arrow 2" descr="preencoded.png">    </p:cNvPr>
          <p:cNvPicPr>
            <a:picLocks noChangeAspect="1"/>
          </p:cNvPicPr>
          <p:nvPr/>
        </p:nvPicPr>
        <p:blipFill>
          <a:blip r:embed="rId4"/>
          <a:stretch>
            <a:fillRect/>
          </a:stretch>
        </p:blipFill>
        <p:spPr>
          <a:xfrm>
            <a:off x="3950208" y="1664208"/>
            <a:ext cx="274320" cy="274320"/>
          </a:xfrm>
          <a:prstGeom prst="rect">
            <a:avLst/>
          </a:prstGeom>
        </p:spPr>
      </p:pic>
      <p:sp>
        <p:nvSpPr>
          <p:cNvPr id="11" name="Recap circle 3"/>
          <p:cNvSpPr/>
          <p:nvPr/>
        </p:nvSpPr>
        <p:spPr>
          <a:xfrm>
            <a:off x="4526280" y="1371600"/>
            <a:ext cx="868680" cy="868680"/>
          </a:xfrm>
          <a:prstGeom prst="ellipse">
            <a:avLst/>
          </a:prstGeom>
          <a:solidFill>
            <a:schemeClr val="accent1"/>
          </a:solidFill>
          <a:ln/>
        </p:spPr>
      </p:sp>
      <p:pic>
        <p:nvPicPr>
          <p:cNvPr id="12" name="Recap icon 3" descr="preencoded.png">    </p:cNvPr>
          <p:cNvPicPr>
            <a:picLocks noChangeAspect="1"/>
          </p:cNvPicPr>
          <p:nvPr/>
        </p:nvPicPr>
        <p:blipFill>
          <a:blip r:embed="rId5"/>
          <a:stretch>
            <a:fillRect/>
          </a:stretch>
        </p:blipFill>
        <p:spPr>
          <a:xfrm>
            <a:off x="4745736" y="1591056"/>
            <a:ext cx="429768" cy="429768"/>
          </a:xfrm>
          <a:prstGeom prst="rect">
            <a:avLst/>
          </a:prstGeom>
        </p:spPr>
      </p:pic>
      <p:sp>
        <p:nvSpPr>
          <p:cNvPr id="13" name="Recap text 3"/>
          <p:cNvSpPr txBox="1"/>
          <p:nvPr/>
        </p:nvSpPr>
        <p:spPr>
          <a:xfrm>
            <a:off x="41148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All shift long</a:t>
            </a:r>
            <a:endParaRPr lang="en-US" sz="1300" dirty="0"/>
          </a:p>
          <a:p>
            <a:pPr algn="ctr" indent="0" marL="0">
              <a:buNone/>
            </a:pPr>
            <a:r>
              <a:rPr lang="en-US" sz="1700" b="1" dirty="0">
                <a:solidFill>
                  <a:schemeClr val="tx1"/>
                </a:solidFill>
              </a:rPr>
              <a:t>Fix as you go</a:t>
            </a:r>
            <a:endParaRPr lang="en-US" sz="1300" dirty="0"/>
          </a:p>
        </p:txBody>
      </p:sp>
      <p:sp>
        <p:nvSpPr>
          <p:cNvPr id="14" name="Goal card"/>
          <p:cNvSpPr/>
          <p:nvPr/>
        </p:nvSpPr>
        <p:spPr>
          <a:xfrm>
            <a:off x="457200" y="3749040"/>
            <a:ext cx="5394960" cy="777240"/>
          </a:xfrm>
          <a:prstGeom prst="roundRect">
            <a:avLst>
              <a:gd name="adj" fmla="val 11765"/>
            </a:avLst>
          </a:prstGeom>
          <a:solidFill>
            <a:schemeClr val="tx2"/>
          </a:solidFill>
          <a:ln/>
        </p:spPr>
      </p:sp>
      <p:sp>
        <p:nvSpPr>
          <p:cNvPr id="15" name="Goal text"/>
          <p:cNvSpPr txBox="1"/>
          <p:nvPr/>
        </p:nvSpPr>
        <p:spPr>
          <a:xfrm>
            <a:off x="731520" y="3749040"/>
            <a:ext cx="4846320" cy="777240"/>
          </a:xfrm>
          <a:prstGeom prst="rect">
            <a:avLst/>
          </a:prstGeom>
          <a:noFill/>
          <a:ln/>
        </p:spPr>
        <p:txBody>
          <a:bodyPr wrap="square" lIns="0" tIns="0" rIns="0" bIns="0" rtlCol="0" anchor="ctr"/>
          <a:lstStyle/>
          <a:p>
            <a:pPr indent="0" marL="0">
              <a:buNone/>
            </a:pPr>
            <a:r>
              <a:rPr lang="en-US" sz="1600" b="1" dirty="0">
                <a:solidFill>
                  <a:srgbClr val="9EDFF7"/>
                </a:solidFill>
              </a:rPr>
              <a:t>Goal: </a:t>
            </a:r>
            <a:pPr indent="0" marL="0">
              <a:buNone/>
            </a:pPr>
            <a:r>
              <a:rPr lang="en-US" sz="1600" dirty="0">
                <a:solidFill>
                  <a:schemeClr val="bg1"/>
                </a:solidFill>
              </a:rPr>
              <a:t>fewer units falling, lower wAPMT, happier customers.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algn="ctr" indent="0" marL="0">
              <a:buNone/>
            </a:pPr>
            <a:r>
              <a:rPr lang="en-US" sz="3200" dirty="0">
                <a:solidFill>
                  <a:schemeClr val="accent1"/>
                </a:solidFill>
                <a:latin typeface="Arial" pitchFamily="34" charset="0"/>
                <a:ea typeface="Arial" pitchFamily="34" charset="-122"/>
                <a:cs typeface="Arial" pitchFamily="34" charset="-120"/>
              </a:rPr>
              <a:t>Learn and be curious</a:t>
            </a:r>
            <a:endParaRPr lang="en-US"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algn="ctr" indent="0" marL="0">
              <a:buNone/>
            </a:pPr>
            <a:r>
              <a:rPr lang="en-US" sz="1800" b="1" dirty="0">
                <a:solidFill>
                  <a:schemeClr val="tx1"/>
                </a:solidFill>
              </a:rPr>
              <a:t>Small fixes. Big impact.</a:t>
            </a:r>
            <a:endParaRPr lang="en-US" sz="1800" dirty="0"/>
          </a:p>
        </p:txBody>
      </p:sp>
      <p:sp>
        <p:nvSpPr>
          <p:cNvPr id="4" name="Rate label"/>
          <p:cNvSpPr txBox="1"/>
          <p:nvPr/>
        </p:nvSpPr>
        <p:spPr>
          <a:xfrm>
            <a:off x="2788920" y="3429000"/>
            <a:ext cx="1600200" cy="365760"/>
          </a:xfrm>
          <a:prstGeom prst="rect">
            <a:avLst/>
          </a:prstGeom>
          <a:noFill/>
          <a:ln/>
        </p:spPr>
        <p:txBody>
          <a:bodyPr wrap="square" lIns="0" tIns="0" rIns="0" bIns="0" rtlCol="0" anchor="ctr"/>
          <a:lstStyle/>
          <a:p>
            <a:pPr algn="r" indent="0" marL="0">
              <a:buNone/>
            </a:pPr>
            <a:r>
              <a:rPr lang="en-US" sz="1600" dirty="0">
                <a:solidFill>
                  <a:schemeClr val="tx1"/>
                </a:solidFill>
              </a:rPr>
              <a:t>Rate this video</a:t>
            </a:r>
            <a:endParaRPr lang="en-US" sz="1600" dirty="0"/>
          </a:p>
        </p:txBody>
      </p:sp>
      <p:pic>
        <p:nvPicPr>
          <p:cNvPr id="5" name="Star 1" descr="preencoded.png">    </p:cNvPr>
          <p:cNvPicPr>
            <a:picLocks noChangeAspect="1"/>
          </p:cNvPicPr>
          <p:nvPr/>
        </p:nvPicPr>
        <p:blipFill>
          <a:blip r:embed="rId1"/>
          <a:stretch>
            <a:fillRect/>
          </a:stretch>
        </p:blipFill>
        <p:spPr>
          <a:xfrm>
            <a:off x="452628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4873752"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5221224"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5568696"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5916168"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Stow: First Face Fix and ROBOTSS</dc:title>
  <dc:subject>wAPMT coaching campaign</dc:subject>
  <dc:creator>PptxGenJS</dc:creator>
  <cp:lastModifiedBy>PptxGenJS</cp:lastModifiedBy>
  <cp:revision>1</cp:revision>
  <dcterms:created xsi:type="dcterms:W3CDTF">2026-10-12T09:41:03Z</dcterms:created>
  <dcterms:modified xsi:type="dcterms:W3CDTF">2026-10-12T09:41:03Z</dcterms:modified>
</cp:coreProperties>
</file>