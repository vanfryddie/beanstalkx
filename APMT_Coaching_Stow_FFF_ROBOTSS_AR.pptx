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c06c0bee-e491-19db-f119-690245501f65}">
          <p14:sldIdLst>
            <p14:sldId id="256"/>
            <p14:sldId id="257"/>
            <p14:sldId id="258"/>
            <p14:sldId id="259"/>
            <p14:sldId id="260"/>
          </p14:sldIdLst>
        </p14:section>
        <p14:section name="First Face Fix" id="{2c68b1b3-b17b-b411-544d-204a744eeafe}">
          <p14:sldIdLst>
            <p14:sldId id="261"/>
            <p14:sldId id="262"/>
            <p14:sldId id="263"/>
            <p14:sldId id="264"/>
            <p14:sldId id="265"/>
          </p14:sldIdLst>
        </p14:section>
        <p14:section name="ROBOTSS" id="{fdbc85d8-dd06-1f25-e614-f0c6597a7cd7}">
          <p14:sldIdLst>
            <p14:sldId id="266"/>
            <p14:sldId id="267"/>
            <p14:sldId id="268"/>
            <p14:sldId id="269"/>
            <p14:sldId id="270"/>
            <p14:sldId id="271"/>
            <p14:sldId id="272"/>
            <p14:sldId id="273"/>
            <p14:sldId id="274"/>
          </p14:sldIdLst>
        </p14:section>
        <p14:section name="Wrap-up" id="{b11d8292-9f52-9f92-7672-9a6cd2afa9c0}">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جميعاً، وشكراً إنكن عطيتوني كم دقيقة من وقتكن. هالفيديو لفريق الستو. اليوم رح نحكي عن الأمنستي، وعن عادتين بسيطين بيفرقوا كتير: فيرست فيس فيكس، وقواعد روبوتس لترتيب البِن. يلّا نبلّش.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طيب، شو يعني أمنستي؟ الأمنستي هي قطعة لازم تكون ببِن جوّا البود، بس فعلياً مو موجودة فيه. يعني انعملّها ستو وما انعملّها بيك لسّا، بس وقعت، أو انتهت عالستيشن أو عالأرض. السيستم لسّا مفكّر إنها بالبِن. هالشي بيعمل غلط بالمخزون تبعنا، وممكن يوصّل لبيك شورت، وهيك منعرّض الزبون للخطر.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الأمنستي بتطلع بمكانين. أمنستي الأرض، لمّا القطع توقع من البودات على أرض الروبوتات. وأمنستي الستيشن، لمّا القطع تضل عالستيشن. التنين إلهن نفس السبب. سوء ترتيب البِن هو السبب رقم واحد للأمنستي، والخبر المنيح إنو ترتيب البِن كلّه بإيدنا.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هون الفرق المهم. الأمنستي بس للقطع اللي انعملّها ستو ببِن جوّا البود، وما انعملّها بيك لسّا. إذا وحدة منهن مو ببِنها، بتروح عالأمنستي. بس إذا لقيت قطعة ما انعملّها ستو لسّا، يعني لسّا مكانها بتوت أو كارت الستو، ووقعت أو انتركت قبل الستو، هي مو أمنستي. هي قطعة إنباوند بروبلم سولف. لمّا منحطّ قطع ما انعملّها ستو بالأمنستي، منكبّر رقم الدبليو إيه بي إم تي عالفاضي، ومنخبّي مشكلة الإنباوند الحقيقية اللي لازم تنحل.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يعني لمّا تلاقي قطعة مو بمكانها، اسأل حالك سؤال واحد: انعملّها ستو ولّا لأ؟ إذا الجواب إي، ومكانها ببِن جوّا البود، هي أمنستي. وإذا الجواب لأ، وما وصلت أبداً لبِن بالبود، هي مو أمنستي. خدها عالإنباوند بروبلم سولف.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خلّينا نبلّش بالقسم الأول: فيرست فيس فيكس، أو إف إف إف.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فيرست فيس فيكس هو إجراء ثابت منرتّب فيه البِنات بأول وجّ بود بيوصل عالستيشن تبعك. بياخد دقيقة وحدة بس. بتعمله ببداية الشيفت، ومرّة تانية بعد كل استراحة. وهو لكل موظفين الستو والآي سي كيو إيه.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هيك بتعمله بأربع خطوات. واحد: فوت عالستيشن، سجّل دخول، اختار البروسس باث، وتأكد إنو الستيشن جاهزة. اتنين: لمّا يوصل أول وجّ بود، اشتغل من فوق لتحت، متل الستو سنيك بالزبط. تلاتة: رتّب كل بِن لحتى يكون مطابق لقواعد روبوتس، رح نحكي عنها بعد شوي. أربعة: بلّش الشغل المطلوب منك بعد دقيقة، أو أول ما يصير الوجّ مطابق لروبوتس.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تلات شغلات ممنوع تعملها قبل أو خلال الفيرست فيس فيكس. لا تعمل سكان لأي قطعة بالتوتات أو البِنات. لا تنقل قطع لبِن تاني. ولا تشيل أي قطعة من البِنات. الفيرست فيس فيكس بس لترتيب الموجود أصلاً بكل بِن، منشان المخزون يضل بالزبط وين السيستم متوقّعه.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الفيرست فيس فيكس بيخلّي الشيفت يبلّش نضيف، بس القصة ما بتوقف هون. كل ما تكون إيدك ببِن، رتّبه وانت ماشي. إذا كل واحد فينا ترك كل بِن أحسن شوي من ما لقاه، القطع ما رح توقع والبود عم يتحرك. منشيّك عالفيرست فيس فيكس بخمسطعش أوديت عالأقل بكل شيفت، وهدفنا تسعين بالمية التزام أو أكتر، والفيدباك بيوصلك فوراً.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هلّق القسم التاني: القواعد اللي بتستعملها خلال الفيرست فيس فيكس، وكل مرّة بتلمس فيها بِن. اسمها روبوتس.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روبوتس يعني سبع قواعد. آر، حجم البِن المناسب. أو، ما في شي طالع لبرّا. بي، ما تسكّر عالقطع. أو، ما تحشي البِن. تي، العناوين لبرّا. إس، الترصيص. وإس، القطع المتشابهة. إذا مشيت عليها، البيكرز بيلاقوا القطع أسرع، البِن بيساع أكتر، وما بيوقع شي لمّا يتحرك البود. يلّا نشوفها وحدة وحدة.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آر يعني حجم البِن المناسب. على اليمين، قطعة صغيرة لحالها ببِن كبير. هيك المساحة بتضيع، والقطع الصغيرة بتضيع كمان. على اليسار، القطعة مناسبة لحجم البِن. دايماً اعمل ستو بأصغر بِن بتساع فيه القطعة، وحطّها حسب طولها أول شي.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أول أو يعني ما في شي طالع لبرّا. على اليمين، الكرتونة طالعة برّا حرف البِن. على اليسار، كل شي جوّا تماماً. أي شي طالع ممكن يعلق والبود عم يتحرك، وبيعمل عوائق للدرايف وحتى حوادث للبودات، وهيك بتوصل القطع عالأرض.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بي يعني ما تسكّر عالقطع. على اليمين، قطعة مسطّحة نايمة قدّام ومخبّية كل شي وراها، فالبيكر ما بيشوف شو بدّه. على اليسار، كل قطعة مبيّنة من قدّام. لا تحطّ قطعة كبيرة قدّام قطعة صغيرة، ووقّف القطع المسطّحة لحتى ما تزحط وتطلع من بين الأحزمة.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تاني أو يعني ما تحشي البِن. على اليمين، القطع محشورة بالقوة والبِن منفوخ. على اليسار، كل شي مرتاح وفي مجال للبيك. الحشر بالقوة بيخرّب بضاعة الزبون، والبِن المحشي هو أكتر بِن ممكن يكبّ.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تي يعني العناوين لبرّا. على اليمين، ضهر الكتب لجوّا، فالبيكر ما بيقدر يقرا العناوين. على اليسار، ضهر الكتب لبرّا والعناوين واضحة. دايماً اعمل ستو للكتب والدي في دي وضهرها لبرّا، لحتى البيكرز يلاقوها دغري.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أول إس يعني الترصيص. على اليمين، قطع مختلفة مرصوصة فوق بعض. على اليسار، واقفين جنب بعض، تحت الأحزمة. رصّ بس قطع من نفس الأيسن، وبس إذا إلها جهتين مسطّحين عالأقل، ودايماً خلّيها تحت الأحزمة.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آخر إس يعني القطع المتشابهة. على اليمين، كبلين شكلهن تقريباً متل بعض، واحد متر واتنين متر، بنفس البِن، فالبيكر بسهولة ممكن ياخد الغلط. على اليسار، كل قطعة من المتشابهين ببِن. استعمل طريقة الكروس للقطع المتشابهة، لأنو السيستم مو دايماً رح ينبّهك عالشاشة.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يعني هيك شيفتك، بِن ببِن. ببداية الشيفت وبعد كل استراحة، اعمل الفيرست فيس فيكس بدقيقة. على كل بِن بتلمسه، طبّق روبوتس. وطول الشيفت، رتّب وانت ماشي. إذا عملت هالتلات شغلات دايماً، رح يوقع قطع أقل، والدبليو إيه بي إم تي تبعنا رح ينزل، وزباينا بيوصلهن اللي طلبوه.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التصليحات الصغيرة بتعمل فرق كبير. شكراً عالمتابعة، وشكراً لأنك عم تهتم بكل بِن، كل مرّة. إذا عندك أي سؤال، احكي مع البروسس غايد، أو الإيريا مانجر، أو فريق الآي سي كيو إيه. وإذا بتريد، خود ثانية وقيّم هالفيديو.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CENE">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6858000" y="0"/>
            <a:ext cx="2286000" cy="5143500"/>
          </a:xfrm>
          <a:prstGeom prst="rect">
            <a:avLst/>
          </a:prstGeom>
          <a:solidFill>
            <a:schemeClr val="tx2"/>
          </a:solidFill>
          <a:ln/>
        </p:spPr>
      </p:sp>
      <p:pic>
        <p:nvPicPr>
          <p:cNvPr id="3" name="Image 0" descr="preencoded.png">    </p:cNvPr>
          <p:cNvPicPr>
            <a:picLocks noChangeAspect="1"/>
          </p:cNvPicPr>
          <p:nvPr/>
        </p:nvPicPr>
        <p:blipFill>
          <a:blip r:embed="rId1"/>
          <a:stretch>
            <a:fillRect/>
          </a:stretch>
        </p:blipFill>
        <p:spPr>
          <a:xfrm>
            <a:off x="2880360" y="2606040"/>
            <a:ext cx="1097280" cy="1225296"/>
          </a:xfrm>
          <a:prstGeom prst="rect">
            <a:avLst/>
          </a:prstGeom>
        </p:spPr>
      </p:pic>
      <p:sp>
        <p:nvSpPr>
          <p:cNvPr id="4" name="Text 1"/>
          <p:cNvSpPr/>
          <p:nvPr>
            <p:ph idx="102" type="body" hasCustomPrompt="1"/>
          </p:nvPr>
        </p:nvSpPr>
        <p:spPr>
          <a:xfrm>
            <a:off x="228600" y="502920"/>
            <a:ext cx="6400800" cy="320040"/>
          </a:xfrm>
          <a:prstGeom prst="rect">
            <a:avLst/>
          </a:prstGeom>
          <a:noFill/>
          <a:ln/>
        </p:spPr>
        <p:txBody>
          <a:bodyPr wrap="square" rtlCol="0"/>
          <a:lstStyle>
            <a:lvl1pPr rtl="1" algn="ctr" indent="0" marL="0">
              <a:buNone/>
              <a:defRPr lang="ar-SY" altLang="en-US" sz="1300" b="1" dirty="0">
                <a:solidFill>
                  <a:schemeClr val="accent6"/>
                </a:solidFill>
              </a:defRPr>
            </a:lvl1pPr>
          </a:lstStyle>
          <a:p>
            <a:pPr algn="ctr" indent="0" marL="0">
              <a:buNone/>
            </a:pPr>
            <a:endParaRPr lang="ar-SY" sz="1300" dirty="0"/>
          </a:p>
        </p:txBody>
      </p:sp>
      <p:sp>
        <p:nvSpPr>
          <p:cNvPr id="5" name="Text 1"/>
          <p:cNvSpPr/>
          <p:nvPr>
            <p:ph idx="103" type="title" hasCustomPrompt="1"/>
          </p:nvPr>
        </p:nvSpPr>
        <p:spPr>
          <a:xfrm>
            <a:off x="228600" y="868680"/>
            <a:ext cx="6400800" cy="868680"/>
          </a:xfrm>
          <a:prstGeom prst="rect">
            <a:avLst/>
          </a:prstGeom>
          <a:noFill/>
          <a:ln/>
        </p:spPr>
        <p:txBody>
          <a:bodyPr wrap="square" rtlCol="0"/>
          <a:lstStyle>
            <a:lvl1pPr rtl="1" algn="ctr" indent="0" marL="0">
              <a:buNone/>
              <a:defRPr lang="ar-SY" altLang="en-US" sz="3600" b="1" dirty="0">
                <a:solidFill>
                  <a:schemeClr val="tx1"/>
                </a:solidFill>
              </a:defRPr>
            </a:lvl1pPr>
          </a:lstStyle>
          <a:p>
            <a:pPr algn="ctr" indent="0" marL="0">
              <a:buNone/>
            </a:pPr>
            <a:endParaRPr lang="ar-SY" sz="3600" dirty="0"/>
          </a:p>
        </p:txBody>
      </p:sp>
      <p:sp>
        <p:nvSpPr>
          <p:cNvPr id="6" name="Text 1"/>
          <p:cNvSpPr/>
          <p:nvPr>
            <p:ph idx="104" type="body" hasCustomPrompt="1"/>
          </p:nvPr>
        </p:nvSpPr>
        <p:spPr>
          <a:xfrm>
            <a:off x="685800" y="1783080"/>
            <a:ext cx="5486400" cy="685800"/>
          </a:xfrm>
          <a:prstGeom prst="rect">
            <a:avLst/>
          </a:prstGeom>
          <a:noFill/>
          <a:ln/>
        </p:spPr>
        <p:txBody>
          <a:bodyPr wrap="square" rtlCol="0"/>
          <a:lstStyle>
            <a:lvl1pPr rtl="1" algn="ctr" indent="0" marL="0">
              <a:buNone/>
              <a:defRPr lang="ar-SY" altLang="en-US" sz="1600" dirty="0">
                <a:solidFill>
                  <a:schemeClr val="accent4"/>
                </a:solidFill>
              </a:defRPr>
            </a:lvl1pPr>
          </a:lstStyle>
          <a:p>
            <a:pPr algn="ctr" indent="0" marL="0">
              <a:buNone/>
            </a:pPr>
            <a:endParaRPr lang="ar-SY"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25512" y="109728"/>
            <a:ext cx="1417320" cy="434340"/>
          </a:xfrm>
          <a:prstGeom prst="rect">
            <a:avLst/>
          </a:prstGeom>
        </p:spPr>
      </p:pic>
      <p:sp>
        <p:nvSpPr>
          <p:cNvPr id="3" name="Text 0"/>
          <p:cNvSpPr/>
          <p:nvPr>
            <p:ph idx="101" type="title" hasCustomPrompt="1"/>
          </p:nvPr>
        </p:nvSpPr>
        <p:spPr>
          <a:xfrm>
            <a:off x="3291840" y="640080"/>
            <a:ext cx="5394960" cy="548640"/>
          </a:xfrm>
          <a:prstGeom prst="rect">
            <a:avLst/>
          </a:prstGeom>
          <a:noFill/>
          <a:ln/>
        </p:spPr>
        <p:txBody>
          <a:bodyPr wrap="square" rtlCol="0"/>
          <a:lstStyle>
            <a:lvl1pPr rtl="1" algn="r" indent="0" marL="0">
              <a:buNone/>
              <a:defRPr lang="ar-SY" altLang="en-US" sz="2800" b="1" dirty="0">
                <a:solidFill>
                  <a:schemeClr val="tx1"/>
                </a:solidFill>
              </a:defRPr>
            </a:lvl1pPr>
          </a:lstStyle>
          <a:p>
            <a:pPr algn="r" indent="0" marL="0">
              <a:buNone/>
            </a:pPr>
            <a:endParaRPr lang="ar-SY" sz="2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1234440"/>
            <a:ext cx="1097280" cy="122529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3.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4.xml"/><Relationship Id="rId7"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228600" y="502920"/>
            <a:ext cx="6400800" cy="320040"/>
          </a:xfrm>
          <a:prstGeom prst="rect">
            <a:avLst/>
          </a:prstGeom>
          <a:noFill/>
          <a:ln/>
        </p:spPr>
        <p:txBody>
          <a:bodyPr wrap="square" lIns="0" tIns="0" rIns="0" bIns="0" rtlCol="0"/>
          <a:lstStyle/>
          <a:p>
            <a:pPr rtl="1" algn="ctr" indent="0" marL="0">
              <a:buNone/>
            </a:pPr>
            <a:r>
              <a:rPr lang="ar-SY" altLang="en-US" sz="1300" b="1" dirty="0">
                <a:solidFill>
                  <a:schemeClr val="accent6"/>
                </a:solidFill>
              </a:rPr>
              <a:t>كوتشينغ wAPMT  |  ستو</a:t>
            </a:r>
            <a:endParaRPr lang="ar-SY" sz="1300" dirty="0"/>
          </a:p>
        </p:txBody>
      </p:sp>
      <p:sp>
        <p:nvSpPr>
          <p:cNvPr id="3" name="Text 1"/>
          <p:cNvSpPr/>
          <p:nvPr>
            <p:ph idx="103" type="title" hasCustomPrompt="1"/>
          </p:nvPr>
        </p:nvSpPr>
        <p:spPr>
          <a:xfrm>
            <a:off x="228600" y="868680"/>
            <a:ext cx="6400800" cy="868680"/>
          </a:xfrm>
          <a:prstGeom prst="rect">
            <a:avLst/>
          </a:prstGeom>
          <a:noFill/>
          <a:ln/>
        </p:spPr>
        <p:txBody>
          <a:bodyPr wrap="square" lIns="0" tIns="0" rIns="0" bIns="0" rtlCol="0" anchor="ctr"/>
          <a:lstStyle/>
          <a:p>
            <a:pPr rtl="1" algn="ctr" indent="0" marL="0">
              <a:buNone/>
            </a:pPr>
            <a:r>
              <a:rPr lang="ar-SY" altLang="en-US" sz="3600" b="1" dirty="0">
                <a:solidFill>
                  <a:schemeClr val="tx1"/>
                </a:solidFill>
              </a:rPr>
              <a:t>كل بِن، كل مرّة</a:t>
            </a:r>
            <a:endParaRPr lang="ar-SY" sz="3600" dirty="0"/>
          </a:p>
        </p:txBody>
      </p:sp>
      <p:sp>
        <p:nvSpPr>
          <p:cNvPr id="4" name="Text 1"/>
          <p:cNvSpPr/>
          <p:nvPr>
            <p:ph idx="104" type="body" hasCustomPrompt="1"/>
          </p:nvPr>
        </p:nvSpPr>
        <p:spPr>
          <a:xfrm>
            <a:off x="685800" y="1783080"/>
            <a:ext cx="5486400" cy="685800"/>
          </a:xfrm>
          <a:prstGeom prst="rect">
            <a:avLst/>
          </a:prstGeom>
          <a:noFill/>
          <a:ln/>
        </p:spPr>
        <p:txBody>
          <a:bodyPr wrap="square" lIns="0" tIns="0" rIns="0" bIns="0" rtlCol="0" anchor="t"/>
          <a:lstStyle/>
          <a:p>
            <a:pPr rtl="1" algn="ctr" indent="0" marL="0">
              <a:buNone/>
            </a:pPr>
            <a:r>
              <a:rPr lang="ar-SY" altLang="en-US" sz="1600" dirty="0">
                <a:solidFill>
                  <a:schemeClr val="accent4"/>
                </a:solidFill>
              </a:rPr>
              <a:t>First Face Fix وقواعد ROBOTSS: عادتين بيوقّفوا الأمنستي من أساسها</a:t>
            </a:r>
            <a:endParaRPr lang="ar-SY"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شو يعني أمنستي؟</a:t>
            </a:r>
            <a:endParaRPr lang="ar-SY" sz="2800" dirty="0"/>
          </a:p>
        </p:txBody>
      </p:sp>
      <p:sp>
        <p:nvSpPr>
          <p:cNvPr id="3" name="Definition"/>
          <p:cNvSpPr txBox="1"/>
          <p:nvPr/>
        </p:nvSpPr>
        <p:spPr>
          <a:xfrm>
            <a:off x="3291840" y="1280160"/>
            <a:ext cx="5394960" cy="548640"/>
          </a:xfrm>
          <a:prstGeom prst="rect">
            <a:avLst/>
          </a:prstGeom>
          <a:noFill/>
          <a:ln/>
        </p:spPr>
        <p:txBody>
          <a:bodyPr wrap="square" lIns="0" tIns="0" rIns="0" bIns="0" rtlCol="0" anchor="ctr"/>
          <a:lstStyle/>
          <a:p>
            <a:pPr rtl="1" algn="r" indent="0" marL="0">
              <a:buNone/>
            </a:pPr>
            <a:r>
              <a:rPr lang="ar-SY" altLang="en-US" sz="1800" i="1" dirty="0">
                <a:solidFill>
                  <a:schemeClr val="accent6"/>
                </a:solidFill>
              </a:rPr>
              <a:t>قطعة لازم تكون بِبِن جوّا البود بعد ما انعملّها ستو، بس فعلياً مو موجودة فيه.</a:t>
            </a:r>
            <a:endParaRPr lang="ar-SY" sz="1800" dirty="0"/>
          </a:p>
        </p:txBody>
      </p:sp>
      <p:sp>
        <p:nvSpPr>
          <p:cNvPr id="4" name="Icon circle 1"/>
          <p:cNvSpPr/>
          <p:nvPr/>
        </p:nvSpPr>
        <p:spPr>
          <a:xfrm>
            <a:off x="8046720" y="2011680"/>
            <a:ext cx="640080" cy="640080"/>
          </a:xfrm>
          <a:prstGeom prst="ellipse">
            <a:avLst/>
          </a:prstGeom>
          <a:solidFill>
            <a:schemeClr val="bg1"/>
          </a:solidFill>
          <a:ln/>
        </p:spPr>
      </p:sp>
      <p:pic>
        <p:nvPicPr>
          <p:cNvPr id="5" name="Icon 1" descr="preencoded.png">    </p:cNvPr>
          <p:cNvPicPr>
            <a:picLocks noChangeAspect="1"/>
          </p:cNvPicPr>
          <p:nvPr/>
        </p:nvPicPr>
        <p:blipFill>
          <a:blip r:embed="rId1"/>
          <a:stretch>
            <a:fillRect/>
          </a:stretch>
        </p:blipFill>
        <p:spPr>
          <a:xfrm>
            <a:off x="8211312" y="2176272"/>
            <a:ext cx="310896" cy="310896"/>
          </a:xfrm>
          <a:prstGeom prst="rect">
            <a:avLst/>
          </a:prstGeom>
        </p:spPr>
      </p:pic>
      <p:sp>
        <p:nvSpPr>
          <p:cNvPr id="6" name="Row 1"/>
          <p:cNvSpPr txBox="1"/>
          <p:nvPr/>
        </p:nvSpPr>
        <p:spPr>
          <a:xfrm>
            <a:off x="3291840" y="1993392"/>
            <a:ext cx="4526280" cy="685800"/>
          </a:xfrm>
          <a:prstGeom prst="rect">
            <a:avLst/>
          </a:prstGeom>
          <a:noFill/>
          <a:ln/>
        </p:spPr>
        <p:txBody>
          <a:bodyPr wrap="square" lIns="0" tIns="0" rIns="0" bIns="0" rtlCol="0" anchor="ctr"/>
          <a:lstStyle/>
          <a:p>
            <a:pPr rtl="1" algn="r" indent="0" marL="0">
              <a:buNone/>
            </a:pPr>
            <a:r>
              <a:rPr lang="ar-SY" altLang="en-US" sz="1700" b="1" dirty="0">
                <a:solidFill>
                  <a:schemeClr val="tx1"/>
                </a:solidFill>
              </a:rPr>
              <a:t>مكانها ببِن انعملّه ستو</a:t>
            </a:r>
            <a:endParaRPr lang="ar-SY" sz="1700" dirty="0"/>
          </a:p>
          <a:p>
            <a:pPr rtl="1" algn="r" indent="0" marL="0">
              <a:buNone/>
            </a:pPr>
            <a:r>
              <a:rPr lang="ar-SY" altLang="en-US" sz="1400" dirty="0">
                <a:solidFill>
                  <a:schemeClr val="accent4"/>
                </a:solidFill>
              </a:rPr>
              <a:t>انعملّها ستو وما انعملّها بيك لسّا</a:t>
            </a:r>
            <a:endParaRPr lang="ar-SY" sz="1700" dirty="0"/>
          </a:p>
        </p:txBody>
      </p:sp>
      <p:sp>
        <p:nvSpPr>
          <p:cNvPr id="7" name="Icon circle 2"/>
          <p:cNvSpPr/>
          <p:nvPr/>
        </p:nvSpPr>
        <p:spPr>
          <a:xfrm>
            <a:off x="8046720" y="2926080"/>
            <a:ext cx="640080" cy="640080"/>
          </a:xfrm>
          <a:prstGeom prst="ellipse">
            <a:avLst/>
          </a:prstGeom>
          <a:solidFill>
            <a:schemeClr val="bg1"/>
          </a:solidFill>
          <a:ln/>
        </p:spPr>
      </p:sp>
      <p:pic>
        <p:nvPicPr>
          <p:cNvPr id="8" name="Icon 2" descr="preencoded.png">    </p:cNvPr>
          <p:cNvPicPr>
            <a:picLocks noChangeAspect="1"/>
          </p:cNvPicPr>
          <p:nvPr/>
        </p:nvPicPr>
        <p:blipFill>
          <a:blip r:embed="rId2"/>
          <a:stretch>
            <a:fillRect/>
          </a:stretch>
        </p:blipFill>
        <p:spPr>
          <a:xfrm>
            <a:off x="8211312" y="3090672"/>
            <a:ext cx="310896" cy="310896"/>
          </a:xfrm>
          <a:prstGeom prst="rect">
            <a:avLst/>
          </a:prstGeom>
        </p:spPr>
      </p:pic>
      <p:sp>
        <p:nvSpPr>
          <p:cNvPr id="9" name="Row 2"/>
          <p:cNvSpPr txBox="1"/>
          <p:nvPr/>
        </p:nvSpPr>
        <p:spPr>
          <a:xfrm>
            <a:off x="3291840" y="2907792"/>
            <a:ext cx="4526280" cy="685800"/>
          </a:xfrm>
          <a:prstGeom prst="rect">
            <a:avLst/>
          </a:prstGeom>
          <a:noFill/>
          <a:ln/>
        </p:spPr>
        <p:txBody>
          <a:bodyPr wrap="square" lIns="0" tIns="0" rIns="0" bIns="0" rtlCol="0" anchor="ctr"/>
          <a:lstStyle/>
          <a:p>
            <a:pPr rtl="1" algn="r" indent="0" marL="0">
              <a:buNone/>
            </a:pPr>
            <a:r>
              <a:rPr lang="ar-SY" altLang="en-US" sz="1700" b="1" dirty="0">
                <a:solidFill>
                  <a:schemeClr val="tx1"/>
                </a:solidFill>
              </a:rPr>
              <a:t>فعلياً مو موجودة بمكانها</a:t>
            </a:r>
            <a:endParaRPr lang="ar-SY" sz="1700" dirty="0"/>
          </a:p>
          <a:p>
            <a:pPr rtl="1" algn="r" indent="0" marL="0">
              <a:buNone/>
            </a:pPr>
            <a:r>
              <a:rPr lang="ar-SY" altLang="en-US" sz="1400" dirty="0">
                <a:solidFill>
                  <a:schemeClr val="accent4"/>
                </a:solidFill>
              </a:rPr>
              <a:t>وقعت، أو انتهت عالستيشن أو عالأرض</a:t>
            </a:r>
            <a:endParaRPr lang="ar-SY" sz="1700" dirty="0"/>
          </a:p>
        </p:txBody>
      </p:sp>
      <p:sp>
        <p:nvSpPr>
          <p:cNvPr id="10" name="Icon circle 3"/>
          <p:cNvSpPr/>
          <p:nvPr/>
        </p:nvSpPr>
        <p:spPr>
          <a:xfrm>
            <a:off x="8046720" y="3840480"/>
            <a:ext cx="640080" cy="640080"/>
          </a:xfrm>
          <a:prstGeom prst="ellipse">
            <a:avLst/>
          </a:prstGeom>
          <a:solidFill>
            <a:schemeClr val="bg1"/>
          </a:solidFill>
          <a:ln/>
        </p:spPr>
      </p:sp>
      <p:pic>
        <p:nvPicPr>
          <p:cNvPr id="11" name="Icon 3" descr="preencoded.png">    </p:cNvPr>
          <p:cNvPicPr>
            <a:picLocks noChangeAspect="1"/>
          </p:cNvPicPr>
          <p:nvPr/>
        </p:nvPicPr>
        <p:blipFill>
          <a:blip r:embed="rId3"/>
          <a:stretch>
            <a:fillRect/>
          </a:stretch>
        </p:blipFill>
        <p:spPr>
          <a:xfrm>
            <a:off x="8211312" y="4005072"/>
            <a:ext cx="310896" cy="310896"/>
          </a:xfrm>
          <a:prstGeom prst="rect">
            <a:avLst/>
          </a:prstGeom>
        </p:spPr>
      </p:pic>
      <p:sp>
        <p:nvSpPr>
          <p:cNvPr id="12" name="Row 3"/>
          <p:cNvSpPr txBox="1"/>
          <p:nvPr/>
        </p:nvSpPr>
        <p:spPr>
          <a:xfrm>
            <a:off x="3291840" y="3822192"/>
            <a:ext cx="4526280" cy="685800"/>
          </a:xfrm>
          <a:prstGeom prst="rect">
            <a:avLst/>
          </a:prstGeom>
          <a:noFill/>
          <a:ln/>
        </p:spPr>
        <p:txBody>
          <a:bodyPr wrap="square" lIns="0" tIns="0" rIns="0" bIns="0" rtlCol="0" anchor="ctr"/>
          <a:lstStyle/>
          <a:p>
            <a:pPr rtl="1" algn="r" indent="0" marL="0">
              <a:buNone/>
            </a:pPr>
            <a:r>
              <a:rPr lang="ar-SY" altLang="en-US" sz="1700" b="1" dirty="0">
                <a:solidFill>
                  <a:schemeClr val="tx1"/>
                </a:solidFill>
              </a:rPr>
              <a:t>بتعرّض الزبون للخطر</a:t>
            </a:r>
            <a:endParaRPr lang="ar-SY" sz="1700" dirty="0"/>
          </a:p>
          <a:p>
            <a:pPr rtl="1" algn="r" indent="0" marL="0">
              <a:buNone/>
            </a:pPr>
            <a:r>
              <a:rPr lang="ar-SY" altLang="en-US" sz="1400" dirty="0">
                <a:solidFill>
                  <a:schemeClr val="accent4"/>
                </a:solidFill>
              </a:rPr>
              <a:t>زيادة بالسيستم ممكن تعمل بيك شورت</a:t>
            </a:r>
            <a:endParaRPr lang="ar-SY"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من وين بتجي الأمنستي</a:t>
            </a:r>
            <a:endParaRPr lang="ar-SY" sz="2800" dirty="0"/>
          </a:p>
        </p:txBody>
      </p:sp>
      <p:sp>
        <p:nvSpPr>
          <p:cNvPr id="3" name="Card 1"/>
          <p:cNvSpPr/>
          <p:nvPr/>
        </p:nvSpPr>
        <p:spPr>
          <a:xfrm>
            <a:off x="6080760" y="1325880"/>
            <a:ext cx="2606040" cy="1783080"/>
          </a:xfrm>
          <a:prstGeom prst="roundRect">
            <a:avLst>
              <a:gd name="adj" fmla="val 5128"/>
            </a:avLst>
          </a:prstGeom>
          <a:solidFill>
            <a:schemeClr val="bg1"/>
          </a:solidFill>
          <a:ln/>
        </p:spPr>
      </p:sp>
      <p:pic>
        <p:nvPicPr>
          <p:cNvPr id="4" name="Card icon 1" descr="preencoded.png">    </p:cNvPr>
          <p:cNvPicPr>
            <a:picLocks noChangeAspect="1"/>
          </p:cNvPicPr>
          <p:nvPr/>
        </p:nvPicPr>
        <p:blipFill>
          <a:blip r:embed="rId1"/>
          <a:stretch>
            <a:fillRect/>
          </a:stretch>
        </p:blipFill>
        <p:spPr>
          <a:xfrm>
            <a:off x="8046720" y="1508760"/>
            <a:ext cx="411480" cy="411480"/>
          </a:xfrm>
          <a:prstGeom prst="rect">
            <a:avLst/>
          </a:prstGeom>
        </p:spPr>
      </p:pic>
      <p:sp>
        <p:nvSpPr>
          <p:cNvPr id="5" name="Card text 1"/>
          <p:cNvSpPr txBox="1"/>
          <p:nvPr/>
        </p:nvSpPr>
        <p:spPr>
          <a:xfrm>
            <a:off x="6263640" y="2011680"/>
            <a:ext cx="2194560" cy="1005840"/>
          </a:xfrm>
          <a:prstGeom prst="rect">
            <a:avLst/>
          </a:prstGeom>
          <a:noFill/>
          <a:ln/>
        </p:spPr>
        <p:txBody>
          <a:bodyPr wrap="square" lIns="0" tIns="0" rIns="0" bIns="0" rtlCol="0" anchor="t"/>
          <a:lstStyle/>
          <a:p>
            <a:pPr rtl="1" algn="r" indent="0" marL="0">
              <a:buNone/>
            </a:pPr>
            <a:r>
              <a:rPr lang="ar-SY" altLang="en-US" sz="1800" b="1" dirty="0">
                <a:solidFill>
                  <a:schemeClr val="tx1"/>
                </a:solidFill>
              </a:rPr>
              <a:t>أمنستي الأرض</a:t>
            </a:r>
            <a:endParaRPr lang="ar-SY" sz="1800" dirty="0"/>
          </a:p>
          <a:p>
            <a:pPr rtl="1" algn="r" indent="0" marL="0">
              <a:buNone/>
            </a:pPr>
            <a:r>
              <a:rPr lang="ar-SY" altLang="en-US" sz="1400" dirty="0">
                <a:solidFill>
                  <a:schemeClr val="accent4"/>
                </a:solidFill>
              </a:rPr>
              <a:t>قطع بتوقع من البودات عأرض الروبوتات وهي عم تتحرك</a:t>
            </a:r>
            <a:endParaRPr lang="ar-SY" sz="1800" dirty="0"/>
          </a:p>
        </p:txBody>
      </p:sp>
      <p:sp>
        <p:nvSpPr>
          <p:cNvPr id="6" name="Card 2"/>
          <p:cNvSpPr/>
          <p:nvPr/>
        </p:nvSpPr>
        <p:spPr>
          <a:xfrm>
            <a:off x="3291840" y="1325880"/>
            <a:ext cx="2606040" cy="1783080"/>
          </a:xfrm>
          <a:prstGeom prst="roundRect">
            <a:avLst>
              <a:gd name="adj" fmla="val 5128"/>
            </a:avLst>
          </a:prstGeom>
          <a:solidFill>
            <a:schemeClr val="bg1"/>
          </a:solidFill>
          <a:ln/>
        </p:spPr>
      </p:sp>
      <p:pic>
        <p:nvPicPr>
          <p:cNvPr id="7" name="Card icon 2" descr="preencoded.png">    </p:cNvPr>
          <p:cNvPicPr>
            <a:picLocks noChangeAspect="1"/>
          </p:cNvPicPr>
          <p:nvPr/>
        </p:nvPicPr>
        <p:blipFill>
          <a:blip r:embed="rId2"/>
          <a:stretch>
            <a:fillRect/>
          </a:stretch>
        </p:blipFill>
        <p:spPr>
          <a:xfrm>
            <a:off x="5257800" y="1508760"/>
            <a:ext cx="411480" cy="411480"/>
          </a:xfrm>
          <a:prstGeom prst="rect">
            <a:avLst/>
          </a:prstGeom>
        </p:spPr>
      </p:pic>
      <p:sp>
        <p:nvSpPr>
          <p:cNvPr id="8" name="Card text 2"/>
          <p:cNvSpPr txBox="1"/>
          <p:nvPr/>
        </p:nvSpPr>
        <p:spPr>
          <a:xfrm>
            <a:off x="3474720" y="2011680"/>
            <a:ext cx="2194560" cy="1005840"/>
          </a:xfrm>
          <a:prstGeom prst="rect">
            <a:avLst/>
          </a:prstGeom>
          <a:noFill/>
          <a:ln/>
        </p:spPr>
        <p:txBody>
          <a:bodyPr wrap="square" lIns="0" tIns="0" rIns="0" bIns="0" rtlCol="0" anchor="t"/>
          <a:lstStyle/>
          <a:p>
            <a:pPr rtl="1" algn="r" indent="0" marL="0">
              <a:buNone/>
            </a:pPr>
            <a:r>
              <a:rPr lang="ar-SY" altLang="en-US" sz="1800" b="1" dirty="0">
                <a:solidFill>
                  <a:schemeClr val="tx1"/>
                </a:solidFill>
              </a:rPr>
              <a:t>أمنستي الستيشن</a:t>
            </a:r>
            <a:endParaRPr lang="ar-SY" sz="1800" dirty="0"/>
          </a:p>
          <a:p>
            <a:pPr rtl="1" algn="r" indent="0" marL="0">
              <a:buNone/>
            </a:pPr>
            <a:r>
              <a:rPr lang="ar-SY" altLang="en-US" sz="1400" dirty="0">
                <a:solidFill>
                  <a:schemeClr val="accent4"/>
                </a:solidFill>
              </a:rPr>
              <a:t>قطع بتضل عالستيشن لمّا يفلّ البود</a:t>
            </a:r>
            <a:endParaRPr lang="ar-SY" sz="1800" dirty="0"/>
          </a:p>
        </p:txBody>
      </p:sp>
      <p:sp>
        <p:nvSpPr>
          <p:cNvPr id="9" name="Callout"/>
          <p:cNvSpPr/>
          <p:nvPr/>
        </p:nvSpPr>
        <p:spPr>
          <a:xfrm>
            <a:off x="3291840" y="3383280"/>
            <a:ext cx="5394960" cy="1143000"/>
          </a:xfrm>
          <a:prstGeom prst="roundRect">
            <a:avLst>
              <a:gd name="adj" fmla="val 8000"/>
            </a:avLst>
          </a:prstGeom>
          <a:solidFill>
            <a:schemeClr val="tx2"/>
          </a:solidFill>
          <a:ln/>
        </p:spPr>
      </p:sp>
      <p:sp>
        <p:nvSpPr>
          <p:cNvPr id="10" name="Callout text"/>
          <p:cNvSpPr txBox="1"/>
          <p:nvPr/>
        </p:nvSpPr>
        <p:spPr>
          <a:xfrm>
            <a:off x="3566160" y="3383280"/>
            <a:ext cx="4846320" cy="1143000"/>
          </a:xfrm>
          <a:prstGeom prst="rect">
            <a:avLst/>
          </a:prstGeom>
          <a:noFill/>
          <a:ln/>
        </p:spPr>
        <p:txBody>
          <a:bodyPr wrap="square" lIns="0" tIns="0" rIns="0" bIns="0" rtlCol="0" anchor="ctr"/>
          <a:lstStyle/>
          <a:p>
            <a:pPr rtl="1" algn="r" indent="0" marL="0">
              <a:buNone/>
            </a:pPr>
            <a:r>
              <a:rPr lang="ar-SY" altLang="en-US" sz="1800" b="1" dirty="0">
                <a:solidFill>
                  <a:schemeClr val="bg1"/>
                </a:solidFill>
              </a:rPr>
              <a:t>سوء ترتيب البِن هو السبب رقم 1 للأمنستي.</a:t>
            </a:r>
            <a:endParaRPr lang="ar-SY" sz="1800" dirty="0"/>
          </a:p>
          <a:p>
            <a:pPr rtl="1" algn="r" indent="0" marL="0">
              <a:buNone/>
            </a:pPr>
            <a:r>
              <a:rPr lang="ar-SY" altLang="en-US" sz="1500" dirty="0">
                <a:solidFill>
                  <a:srgbClr val="9EDFF7"/>
                </a:solidFill>
              </a:rPr>
              <a:t>والترتيب المنيح بإيد كل واحد فينا.</a:t>
            </a:r>
            <a:endParaRPr lang="ar-SY"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أمنستي ولّا بروبلم سولف؟</a:t>
            </a:r>
            <a:endParaRPr lang="ar-SY" sz="2800" dirty="0"/>
          </a:p>
        </p:txBody>
      </p:sp>
      <p:sp>
        <p:nvSpPr>
          <p:cNvPr id="3" name="Side card 1"/>
          <p:cNvSpPr/>
          <p:nvPr/>
        </p:nvSpPr>
        <p:spPr>
          <a:xfrm>
            <a:off x="6080760" y="1325880"/>
            <a:ext cx="2606040" cy="2514600"/>
          </a:xfrm>
          <a:prstGeom prst="roundRect">
            <a:avLst>
              <a:gd name="adj" fmla="val 3636"/>
            </a:avLst>
          </a:prstGeom>
          <a:solidFill>
            <a:schemeClr val="bg1"/>
          </a:solidFill>
          <a:ln/>
        </p:spPr>
      </p:sp>
      <p:pic>
        <p:nvPicPr>
          <p:cNvPr id="4" name="Side icon 1" descr="preencoded.png">    </p:cNvPr>
          <p:cNvPicPr>
            <a:picLocks noChangeAspect="1"/>
          </p:cNvPicPr>
          <p:nvPr/>
        </p:nvPicPr>
        <p:blipFill>
          <a:blip r:embed="rId1"/>
          <a:stretch>
            <a:fillRect/>
          </a:stretch>
        </p:blipFill>
        <p:spPr>
          <a:xfrm>
            <a:off x="8074152" y="1527048"/>
            <a:ext cx="384048" cy="384048"/>
          </a:xfrm>
          <a:prstGeom prst="rect">
            <a:avLst/>
          </a:prstGeom>
        </p:spPr>
      </p:pic>
      <p:sp>
        <p:nvSpPr>
          <p:cNvPr id="5" name="Side tag 1"/>
          <p:cNvSpPr txBox="1"/>
          <p:nvPr/>
        </p:nvSpPr>
        <p:spPr>
          <a:xfrm>
            <a:off x="6263640" y="1527048"/>
            <a:ext cx="1691640" cy="384048"/>
          </a:xfrm>
          <a:prstGeom prst="rect">
            <a:avLst/>
          </a:prstGeom>
          <a:noFill/>
          <a:ln/>
        </p:spPr>
        <p:txBody>
          <a:bodyPr wrap="square" lIns="0" tIns="0" rIns="0" bIns="0" rtlCol="0" anchor="ctr"/>
          <a:lstStyle/>
          <a:p>
            <a:pPr rtl="1" algn="r" indent="0" marL="0">
              <a:buNone/>
            </a:pPr>
            <a:r>
              <a:rPr lang="ar-SY" altLang="en-US" sz="1300" b="1" dirty="0">
                <a:solidFill>
                  <a:schemeClr val="accent6"/>
                </a:solidFill>
              </a:rPr>
              <a:t>أمنستي</a:t>
            </a:r>
            <a:endParaRPr lang="ar-SY" sz="1300" dirty="0"/>
          </a:p>
        </p:txBody>
      </p:sp>
      <p:sp>
        <p:nvSpPr>
          <p:cNvPr id="6" name="Side text 1"/>
          <p:cNvSpPr txBox="1"/>
          <p:nvPr/>
        </p:nvSpPr>
        <p:spPr>
          <a:xfrm>
            <a:off x="6263640" y="2057400"/>
            <a:ext cx="2194560" cy="1234440"/>
          </a:xfrm>
          <a:prstGeom prst="rect">
            <a:avLst/>
          </a:prstGeom>
          <a:noFill/>
          <a:ln/>
        </p:spPr>
        <p:txBody>
          <a:bodyPr wrap="square" lIns="0" tIns="0" rIns="0" bIns="0" rtlCol="0" anchor="t"/>
          <a:lstStyle/>
          <a:p>
            <a:pPr rtl="1" algn="r" indent="0" marL="0">
              <a:spcAft>
                <a:spcPts val="300"/>
              </a:spcAft>
              <a:buNone/>
            </a:pPr>
            <a:r>
              <a:rPr lang="ar-SY" altLang="en-US" sz="1800" b="1" dirty="0">
                <a:solidFill>
                  <a:schemeClr val="tx1"/>
                </a:solidFill>
              </a:rPr>
              <a:t>انعملّها ستو، وما انعملّها بيك لسّا</a:t>
            </a:r>
            <a:endParaRPr lang="ar-SY" sz="1800" dirty="0"/>
          </a:p>
          <a:p>
            <a:pPr rtl="1" algn="r" marL="342900" indent="-342900">
              <a:spcAft>
                <a:spcPts val="300"/>
              </a:spcAft>
              <a:buSzPct val="100000"/>
              <a:buChar char="•"/>
            </a:pPr>
            <a:r>
              <a:rPr lang="ar-SY" altLang="en-US" sz="1400" dirty="0">
                <a:solidFill>
                  <a:schemeClr val="accent4"/>
                </a:solidFill>
              </a:rPr>
              <a:t>مكانها ببِن جوّا البود</a:t>
            </a:r>
            <a:endParaRPr lang="ar-SY" sz="1800" dirty="0"/>
          </a:p>
          <a:p>
            <a:pPr rtl="1" algn="r" marL="342900" indent="-342900">
              <a:spcAft>
                <a:spcPts val="300"/>
              </a:spcAft>
              <a:buSzPct val="100000"/>
              <a:buChar char="•"/>
            </a:pPr>
            <a:r>
              <a:rPr lang="ar-SY" altLang="en-US" sz="1400" dirty="0">
                <a:solidFill>
                  <a:schemeClr val="accent4"/>
                </a:solidFill>
              </a:rPr>
              <a:t>وقعت أو ناقصة من هالبِن</a:t>
            </a:r>
            <a:endParaRPr lang="ar-SY" sz="1800" dirty="0"/>
          </a:p>
        </p:txBody>
      </p:sp>
      <p:sp>
        <p:nvSpPr>
          <p:cNvPr id="7" name="Side action 1"/>
          <p:cNvSpPr txBox="1"/>
          <p:nvPr/>
        </p:nvSpPr>
        <p:spPr>
          <a:xfrm>
            <a:off x="6263640" y="3355848"/>
            <a:ext cx="2194560" cy="365760"/>
          </a:xfrm>
          <a:prstGeom prst="rect">
            <a:avLst/>
          </a:prstGeom>
          <a:noFill/>
          <a:ln/>
        </p:spPr>
        <p:txBody>
          <a:bodyPr wrap="square" lIns="0" tIns="0" rIns="0" bIns="0" rtlCol="0" anchor="ctr"/>
          <a:lstStyle/>
          <a:p>
            <a:pPr rtl="1" algn="r" indent="0" marL="0">
              <a:buNone/>
            </a:pPr>
            <a:r>
              <a:rPr lang="ar-SY" altLang="en-US" sz="1300" b="1" dirty="0">
                <a:solidFill>
                  <a:schemeClr val="accent6"/>
                </a:solidFill>
              </a:rPr>
              <a:t>← </a:t>
            </a:r>
            <a:pPr rtl="1" algn="r" indent="0" marL="0">
              <a:buNone/>
            </a:pPr>
            <a:r>
              <a:rPr lang="ar-SY" altLang="en-US" sz="1300" b="1" dirty="0">
                <a:solidFill>
                  <a:schemeClr val="accent6"/>
                </a:solidFill>
              </a:rPr>
              <a:t>بتروح عالأمنستي</a:t>
            </a:r>
            <a:endParaRPr lang="ar-SY" sz="1300" dirty="0"/>
          </a:p>
        </p:txBody>
      </p:sp>
      <p:sp>
        <p:nvSpPr>
          <p:cNvPr id="8" name="Side card 2"/>
          <p:cNvSpPr/>
          <p:nvPr/>
        </p:nvSpPr>
        <p:spPr>
          <a:xfrm>
            <a:off x="3291840" y="1325880"/>
            <a:ext cx="2606040" cy="2514600"/>
          </a:xfrm>
          <a:prstGeom prst="roundRect">
            <a:avLst>
              <a:gd name="adj" fmla="val 3636"/>
            </a:avLst>
          </a:prstGeom>
          <a:solidFill>
            <a:srgbClr val="FBECEC"/>
          </a:solidFill>
          <a:ln/>
        </p:spPr>
      </p:sp>
      <p:pic>
        <p:nvPicPr>
          <p:cNvPr id="9" name="Side icon 2" descr="preencoded.png">    </p:cNvPr>
          <p:cNvPicPr>
            <a:picLocks noChangeAspect="1"/>
          </p:cNvPicPr>
          <p:nvPr/>
        </p:nvPicPr>
        <p:blipFill>
          <a:blip r:embed="rId2"/>
          <a:stretch>
            <a:fillRect/>
          </a:stretch>
        </p:blipFill>
        <p:spPr>
          <a:xfrm>
            <a:off x="5285232" y="1527048"/>
            <a:ext cx="384048" cy="384048"/>
          </a:xfrm>
          <a:prstGeom prst="rect">
            <a:avLst/>
          </a:prstGeom>
        </p:spPr>
      </p:pic>
      <p:sp>
        <p:nvSpPr>
          <p:cNvPr id="10" name="Side tag 2"/>
          <p:cNvSpPr txBox="1"/>
          <p:nvPr/>
        </p:nvSpPr>
        <p:spPr>
          <a:xfrm>
            <a:off x="3474720" y="1527048"/>
            <a:ext cx="1691640" cy="384048"/>
          </a:xfrm>
          <a:prstGeom prst="rect">
            <a:avLst/>
          </a:prstGeom>
          <a:noFill/>
          <a:ln/>
        </p:spPr>
        <p:txBody>
          <a:bodyPr wrap="square" lIns="0" tIns="0" rIns="0" bIns="0" rtlCol="0" anchor="ctr"/>
          <a:lstStyle/>
          <a:p>
            <a:pPr rtl="1" algn="r" indent="0" marL="0">
              <a:buNone/>
            </a:pPr>
            <a:r>
              <a:rPr lang="ar-SY" altLang="en-US" sz="1300" b="1" dirty="0">
                <a:solidFill>
                  <a:schemeClr val="accent3"/>
                </a:solidFill>
              </a:rPr>
              <a:t>مو أمنستي</a:t>
            </a:r>
            <a:endParaRPr lang="ar-SY" sz="1300" dirty="0"/>
          </a:p>
        </p:txBody>
      </p:sp>
      <p:sp>
        <p:nvSpPr>
          <p:cNvPr id="11" name="Side text 2"/>
          <p:cNvSpPr txBox="1"/>
          <p:nvPr/>
        </p:nvSpPr>
        <p:spPr>
          <a:xfrm>
            <a:off x="3474720" y="2057400"/>
            <a:ext cx="2194560" cy="1234440"/>
          </a:xfrm>
          <a:prstGeom prst="rect">
            <a:avLst/>
          </a:prstGeom>
          <a:noFill/>
          <a:ln/>
        </p:spPr>
        <p:txBody>
          <a:bodyPr wrap="square" lIns="0" tIns="0" rIns="0" bIns="0" rtlCol="0" anchor="t"/>
          <a:lstStyle/>
          <a:p>
            <a:pPr rtl="1" algn="r" indent="0" marL="0">
              <a:spcAft>
                <a:spcPts val="300"/>
              </a:spcAft>
              <a:buNone/>
            </a:pPr>
            <a:r>
              <a:rPr lang="ar-SY" altLang="en-US" sz="1800" b="1" dirty="0">
                <a:solidFill>
                  <a:schemeClr val="tx1"/>
                </a:solidFill>
              </a:rPr>
              <a:t>ما انعملّها ستو لسّا</a:t>
            </a:r>
            <a:endParaRPr lang="ar-SY" sz="1800" dirty="0"/>
          </a:p>
          <a:p>
            <a:pPr rtl="1" algn="r" marL="342900" indent="-342900">
              <a:spcAft>
                <a:spcPts val="300"/>
              </a:spcAft>
              <a:buSzPct val="100000"/>
              <a:buChar char="•"/>
            </a:pPr>
            <a:r>
              <a:rPr lang="ar-SY" altLang="en-US" sz="1400" dirty="0">
                <a:solidFill>
                  <a:schemeClr val="accent4"/>
                </a:solidFill>
              </a:rPr>
              <a:t>لسّا مكانها بتوت أو كارت الستو</a:t>
            </a:r>
            <a:endParaRPr lang="ar-SY" sz="1800" dirty="0"/>
          </a:p>
          <a:p>
            <a:pPr rtl="1" algn="r" marL="342900" indent="-342900">
              <a:spcAft>
                <a:spcPts val="300"/>
              </a:spcAft>
              <a:buSzPct val="100000"/>
              <a:buChar char="•"/>
            </a:pPr>
            <a:r>
              <a:rPr lang="ar-SY" altLang="en-US" sz="1400" dirty="0">
                <a:solidFill>
                  <a:schemeClr val="accent4"/>
                </a:solidFill>
              </a:rPr>
              <a:t>وقعت أو انتركت قبل ما ينعملّها ستو</a:t>
            </a:r>
            <a:endParaRPr lang="ar-SY" sz="1800" dirty="0"/>
          </a:p>
        </p:txBody>
      </p:sp>
      <p:sp>
        <p:nvSpPr>
          <p:cNvPr id="12" name="Side action 2"/>
          <p:cNvSpPr txBox="1"/>
          <p:nvPr/>
        </p:nvSpPr>
        <p:spPr>
          <a:xfrm>
            <a:off x="3474720" y="3355848"/>
            <a:ext cx="2194560" cy="365760"/>
          </a:xfrm>
          <a:prstGeom prst="rect">
            <a:avLst/>
          </a:prstGeom>
          <a:noFill/>
          <a:ln/>
        </p:spPr>
        <p:txBody>
          <a:bodyPr wrap="square" lIns="0" tIns="0" rIns="0" bIns="0" rtlCol="0" anchor="ctr"/>
          <a:lstStyle/>
          <a:p>
            <a:pPr rtl="1" algn="r" indent="0" marL="0">
              <a:buNone/>
            </a:pPr>
            <a:r>
              <a:rPr lang="ar-SY" altLang="en-US" sz="1300" b="1" dirty="0">
                <a:solidFill>
                  <a:schemeClr val="accent3"/>
                </a:solidFill>
              </a:rPr>
              <a:t>← </a:t>
            </a:r>
            <a:pPr rtl="1" algn="r" indent="0" marL="0">
              <a:buNone/>
            </a:pPr>
            <a:r>
              <a:rPr lang="ar-SY" altLang="en-US" sz="1300" b="1" dirty="0">
                <a:solidFill>
                  <a:schemeClr val="accent3"/>
                </a:solidFill>
              </a:rPr>
              <a:t>إنباوند بروبلم سولف</a:t>
            </a:r>
            <a:endParaRPr lang="ar-SY" sz="1300" dirty="0"/>
          </a:p>
        </p:txBody>
      </p:sp>
      <p:sp>
        <p:nvSpPr>
          <p:cNvPr id="13" name="Inflate callout"/>
          <p:cNvSpPr/>
          <p:nvPr/>
        </p:nvSpPr>
        <p:spPr>
          <a:xfrm>
            <a:off x="3291840" y="3977640"/>
            <a:ext cx="5394960" cy="685800"/>
          </a:xfrm>
          <a:prstGeom prst="roundRect">
            <a:avLst>
              <a:gd name="adj" fmla="val 13333"/>
            </a:avLst>
          </a:prstGeom>
          <a:solidFill>
            <a:schemeClr val="tx2"/>
          </a:solidFill>
          <a:ln/>
        </p:spPr>
      </p:sp>
      <p:sp>
        <p:nvSpPr>
          <p:cNvPr id="14" name="Inflate text"/>
          <p:cNvSpPr txBox="1"/>
          <p:nvPr/>
        </p:nvSpPr>
        <p:spPr>
          <a:xfrm>
            <a:off x="3566160" y="3977640"/>
            <a:ext cx="4846320" cy="685800"/>
          </a:xfrm>
          <a:prstGeom prst="rect">
            <a:avLst/>
          </a:prstGeom>
          <a:noFill/>
          <a:ln/>
        </p:spPr>
        <p:txBody>
          <a:bodyPr wrap="square" lIns="0" tIns="0" rIns="0" bIns="0" rtlCol="0" anchor="ctr"/>
          <a:lstStyle/>
          <a:p>
            <a:pPr rtl="1" algn="r" indent="0" marL="0">
              <a:buNone/>
            </a:pPr>
            <a:r>
              <a:rPr lang="ar-SY" altLang="en-US" sz="1500" b="1" dirty="0">
                <a:solidFill>
                  <a:schemeClr val="bg1"/>
                </a:solidFill>
              </a:rPr>
              <a:t>حطّ القطع اللي ما انعملّها ستو بالأمنستي بيكبّر wAPMT عالفاضي، وبيخبّي مشكلة الإنباوند.</a:t>
            </a:r>
            <a:endParaRPr lang="ar-SY"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سؤال واحد بتسأله لحالك</a:t>
            </a:r>
            <a:endParaRPr lang="ar-SY" sz="2800" dirty="0"/>
          </a:p>
        </p:txBody>
      </p:sp>
      <p:sp>
        <p:nvSpPr>
          <p:cNvPr id="3" name="Start box"/>
          <p:cNvSpPr/>
          <p:nvPr/>
        </p:nvSpPr>
        <p:spPr>
          <a:xfrm>
            <a:off x="4617720" y="1325880"/>
            <a:ext cx="2743200" cy="548640"/>
          </a:xfrm>
          <a:prstGeom prst="roundRect">
            <a:avLst>
              <a:gd name="adj" fmla="val 16667"/>
            </a:avLst>
          </a:prstGeom>
          <a:solidFill>
            <a:schemeClr val="tx2"/>
          </a:solidFill>
          <a:ln/>
        </p:spPr>
      </p:sp>
      <p:sp>
        <p:nvSpPr>
          <p:cNvPr id="4" name="Start text"/>
          <p:cNvSpPr txBox="1"/>
          <p:nvPr/>
        </p:nvSpPr>
        <p:spPr>
          <a:xfrm>
            <a:off x="4617720" y="1325880"/>
            <a:ext cx="2743200" cy="548640"/>
          </a:xfrm>
          <a:prstGeom prst="rect">
            <a:avLst/>
          </a:prstGeom>
          <a:noFill/>
          <a:ln/>
        </p:spPr>
        <p:txBody>
          <a:bodyPr wrap="square" lIns="0" tIns="0" rIns="0" bIns="0" rtlCol="0" anchor="ctr"/>
          <a:lstStyle/>
          <a:p>
            <a:pPr rtl="1" algn="ctr" indent="0" marL="0">
              <a:buNone/>
            </a:pPr>
            <a:r>
              <a:rPr lang="ar-SY" altLang="en-US" sz="1500" dirty="0">
                <a:solidFill>
                  <a:schemeClr val="bg1"/>
                </a:solidFill>
              </a:rPr>
              <a:t>لقيت قطعة مو بمكانها</a:t>
            </a:r>
            <a:endParaRPr lang="ar-SY" sz="1500" dirty="0"/>
          </a:p>
        </p:txBody>
      </p:sp>
      <p:sp>
        <p:nvSpPr>
          <p:cNvPr id="5" name="Line 1"/>
          <p:cNvSpPr/>
          <p:nvPr/>
        </p:nvSpPr>
        <p:spPr>
          <a:xfrm>
            <a:off x="5989320" y="1874520"/>
            <a:ext cx="0" cy="228600"/>
          </a:xfrm>
          <a:prstGeom prst="line">
            <a:avLst/>
          </a:prstGeom>
          <a:noFill/>
          <a:ln w="25400">
            <a:solidFill>
              <a:srgbClr val="9AA6B2"/>
            </a:solidFill>
            <a:prstDash val="solid"/>
          </a:ln>
        </p:spPr>
      </p:sp>
      <p:sp>
        <p:nvSpPr>
          <p:cNvPr id="6" name="Question box"/>
          <p:cNvSpPr/>
          <p:nvPr/>
        </p:nvSpPr>
        <p:spPr>
          <a:xfrm>
            <a:off x="4389120" y="2103120"/>
            <a:ext cx="3200400" cy="685800"/>
          </a:xfrm>
          <a:prstGeom prst="roundRect">
            <a:avLst>
              <a:gd name="adj" fmla="val 13333"/>
            </a:avLst>
          </a:prstGeom>
          <a:solidFill>
            <a:schemeClr val="accent1"/>
          </a:solidFill>
          <a:ln/>
        </p:spPr>
      </p:sp>
      <p:sp>
        <p:nvSpPr>
          <p:cNvPr id="7" name="Question text"/>
          <p:cNvSpPr txBox="1"/>
          <p:nvPr/>
        </p:nvSpPr>
        <p:spPr>
          <a:xfrm>
            <a:off x="4389120" y="2103120"/>
            <a:ext cx="3200400" cy="685800"/>
          </a:xfrm>
          <a:prstGeom prst="rect">
            <a:avLst/>
          </a:prstGeom>
          <a:noFill/>
          <a:ln/>
        </p:spPr>
        <p:txBody>
          <a:bodyPr wrap="square" lIns="0" tIns="0" rIns="0" bIns="0" rtlCol="0" anchor="ctr"/>
          <a:lstStyle/>
          <a:p>
            <a:pPr rtl="1" algn="ctr" indent="0" marL="0">
              <a:buNone/>
            </a:pPr>
            <a:r>
              <a:rPr lang="ar-SY" altLang="en-US" sz="1800" b="1" dirty="0">
                <a:solidFill>
                  <a:schemeClr val="bg1"/>
                </a:solidFill>
              </a:rPr>
              <a:t>انعملّها ستو ولّا لأ؟</a:t>
            </a:r>
            <a:endParaRPr lang="ar-SY" sz="1800" dirty="0"/>
          </a:p>
        </p:txBody>
      </p:sp>
      <p:sp>
        <p:nvSpPr>
          <p:cNvPr id="8" name="Line 2"/>
          <p:cNvSpPr/>
          <p:nvPr/>
        </p:nvSpPr>
        <p:spPr>
          <a:xfrm>
            <a:off x="5989320" y="2788920"/>
            <a:ext cx="0" cy="228600"/>
          </a:xfrm>
          <a:prstGeom prst="line">
            <a:avLst/>
          </a:prstGeom>
          <a:noFill/>
          <a:ln w="25400">
            <a:solidFill>
              <a:srgbClr val="9AA6B2"/>
            </a:solidFill>
            <a:prstDash val="solid"/>
          </a:ln>
        </p:spPr>
      </p:sp>
      <p:sp>
        <p:nvSpPr>
          <p:cNvPr id="9" name="Line 3"/>
          <p:cNvSpPr/>
          <p:nvPr/>
        </p:nvSpPr>
        <p:spPr>
          <a:xfrm>
            <a:off x="4617720" y="3017520"/>
            <a:ext cx="2743200" cy="0"/>
          </a:xfrm>
          <a:prstGeom prst="line">
            <a:avLst/>
          </a:prstGeom>
          <a:noFill/>
          <a:ln w="25400">
            <a:solidFill>
              <a:srgbClr val="9AA6B2"/>
            </a:solidFill>
            <a:prstDash val="solid"/>
          </a:ln>
        </p:spPr>
      </p:sp>
      <p:sp>
        <p:nvSpPr>
          <p:cNvPr id="10" name="Line 4"/>
          <p:cNvSpPr/>
          <p:nvPr/>
        </p:nvSpPr>
        <p:spPr>
          <a:xfrm>
            <a:off x="7360920" y="3017520"/>
            <a:ext cx="0" cy="228600"/>
          </a:xfrm>
          <a:prstGeom prst="line">
            <a:avLst/>
          </a:prstGeom>
          <a:noFill/>
          <a:ln w="25400">
            <a:solidFill>
              <a:srgbClr val="9AA6B2"/>
            </a:solidFill>
            <a:prstDash val="solid"/>
          </a:ln>
        </p:spPr>
      </p:sp>
      <p:sp>
        <p:nvSpPr>
          <p:cNvPr id="11" name="Line 5"/>
          <p:cNvSpPr/>
          <p:nvPr/>
        </p:nvSpPr>
        <p:spPr>
          <a:xfrm>
            <a:off x="4617720" y="3017520"/>
            <a:ext cx="0" cy="228600"/>
          </a:xfrm>
          <a:prstGeom prst="line">
            <a:avLst/>
          </a:prstGeom>
          <a:noFill/>
          <a:ln w="25400">
            <a:solidFill>
              <a:srgbClr val="9AA6B2"/>
            </a:solidFill>
            <a:prstDash val="solid"/>
          </a:ln>
        </p:spPr>
      </p:sp>
      <p:sp>
        <p:nvSpPr>
          <p:cNvPr id="12" name="Outcome 1"/>
          <p:cNvSpPr/>
          <p:nvPr/>
        </p:nvSpPr>
        <p:spPr>
          <a:xfrm>
            <a:off x="6035040" y="3246120"/>
            <a:ext cx="2651760" cy="1280160"/>
          </a:xfrm>
          <a:prstGeom prst="roundRect">
            <a:avLst>
              <a:gd name="adj" fmla="val 7143"/>
            </a:avLst>
          </a:prstGeom>
          <a:solidFill>
            <a:schemeClr val="bg1"/>
          </a:solidFill>
          <a:ln/>
        </p:spPr>
      </p:sp>
      <p:sp>
        <p:nvSpPr>
          <p:cNvPr id="13" name="Outcome text 1"/>
          <p:cNvSpPr txBox="1"/>
          <p:nvPr/>
        </p:nvSpPr>
        <p:spPr>
          <a:xfrm>
            <a:off x="6217920" y="3246120"/>
            <a:ext cx="2286000" cy="1280160"/>
          </a:xfrm>
          <a:prstGeom prst="rect">
            <a:avLst/>
          </a:prstGeom>
          <a:noFill/>
          <a:ln/>
        </p:spPr>
        <p:txBody>
          <a:bodyPr wrap="square" lIns="0" tIns="0" rIns="0" bIns="0" rtlCol="0" anchor="ctr"/>
          <a:lstStyle/>
          <a:p>
            <a:pPr rtl="1" algn="ctr" indent="0" marL="0">
              <a:buNone/>
            </a:pPr>
            <a:r>
              <a:rPr lang="ar-SY" altLang="en-US" sz="1300" b="1" dirty="0">
                <a:solidFill>
                  <a:schemeClr val="accent4"/>
                </a:solidFill>
              </a:rPr>
              <a:t>إي</a:t>
            </a:r>
            <a:endParaRPr lang="ar-SY" sz="1300" dirty="0"/>
          </a:p>
          <a:p>
            <a:pPr rtl="1" algn="ctr" indent="0" marL="0">
              <a:buNone/>
            </a:pPr>
            <a:r>
              <a:rPr lang="ar-SY" altLang="en-US" sz="1800" b="1" dirty="0">
                <a:solidFill>
                  <a:schemeClr val="accent6"/>
                </a:solidFill>
              </a:rPr>
              <a:t>أمنستي</a:t>
            </a:r>
            <a:endParaRPr lang="ar-SY" sz="1300" dirty="0"/>
          </a:p>
          <a:p>
            <a:pPr rtl="1" algn="ctr" indent="0" marL="0">
              <a:buNone/>
            </a:pPr>
            <a:r>
              <a:rPr lang="ar-SY" altLang="en-US" sz="1400" dirty="0">
                <a:solidFill>
                  <a:schemeClr val="tx1"/>
                </a:solidFill>
              </a:rPr>
              <a:t>مكانها ببِن جوّا البود</a:t>
            </a:r>
            <a:endParaRPr lang="ar-SY" sz="1300" dirty="0"/>
          </a:p>
        </p:txBody>
      </p:sp>
      <p:sp>
        <p:nvSpPr>
          <p:cNvPr id="14" name="Outcome 2"/>
          <p:cNvSpPr/>
          <p:nvPr/>
        </p:nvSpPr>
        <p:spPr>
          <a:xfrm>
            <a:off x="3291840" y="3246120"/>
            <a:ext cx="2651760" cy="1280160"/>
          </a:xfrm>
          <a:prstGeom prst="roundRect">
            <a:avLst>
              <a:gd name="adj" fmla="val 7143"/>
            </a:avLst>
          </a:prstGeom>
          <a:solidFill>
            <a:srgbClr val="FBECEC"/>
          </a:solidFill>
          <a:ln/>
        </p:spPr>
      </p:sp>
      <p:sp>
        <p:nvSpPr>
          <p:cNvPr id="15" name="Outcome text 2"/>
          <p:cNvSpPr txBox="1"/>
          <p:nvPr/>
        </p:nvSpPr>
        <p:spPr>
          <a:xfrm>
            <a:off x="3474720" y="3246120"/>
            <a:ext cx="2286000" cy="1280160"/>
          </a:xfrm>
          <a:prstGeom prst="rect">
            <a:avLst/>
          </a:prstGeom>
          <a:noFill/>
          <a:ln/>
        </p:spPr>
        <p:txBody>
          <a:bodyPr wrap="square" lIns="0" tIns="0" rIns="0" bIns="0" rtlCol="0" anchor="ctr"/>
          <a:lstStyle/>
          <a:p>
            <a:pPr rtl="1" algn="ctr" indent="0" marL="0">
              <a:buNone/>
            </a:pPr>
            <a:r>
              <a:rPr lang="ar-SY" altLang="en-US" sz="1300" b="1" dirty="0">
                <a:solidFill>
                  <a:schemeClr val="accent4"/>
                </a:solidFill>
              </a:rPr>
              <a:t>لأ</a:t>
            </a:r>
            <a:endParaRPr lang="ar-SY" sz="1300" dirty="0"/>
          </a:p>
          <a:p>
            <a:pPr rtl="1" algn="ctr" indent="0" marL="0">
              <a:buNone/>
            </a:pPr>
            <a:r>
              <a:rPr lang="ar-SY" altLang="en-US" sz="1800" b="1" dirty="0">
                <a:solidFill>
                  <a:schemeClr val="accent3"/>
                </a:solidFill>
              </a:rPr>
              <a:t>إنباوند بروبلم سولف</a:t>
            </a:r>
            <a:endParaRPr lang="ar-SY" sz="1300" dirty="0"/>
          </a:p>
          <a:p>
            <a:pPr rtl="1" algn="ctr" indent="0" marL="0">
              <a:buNone/>
            </a:pPr>
            <a:r>
              <a:rPr lang="ar-SY" altLang="en-US" sz="1400" dirty="0">
                <a:solidFill>
                  <a:schemeClr val="tx1"/>
                </a:solidFill>
              </a:rPr>
              <a:t>مو أمنستي: ما وصلت أبداً لبِن بالبود</a:t>
            </a:r>
            <a:endParaRPr lang="ar-SY"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228600" y="502920"/>
            <a:ext cx="6400800" cy="320040"/>
          </a:xfrm>
          <a:prstGeom prst="rect">
            <a:avLst/>
          </a:prstGeom>
          <a:noFill/>
          <a:ln/>
        </p:spPr>
        <p:txBody>
          <a:bodyPr wrap="square" lIns="0" tIns="0" rIns="0" bIns="0" rtlCol="0"/>
          <a:lstStyle/>
          <a:p>
            <a:pPr rtl="1" algn="ctr" indent="0" marL="0">
              <a:buNone/>
            </a:pPr>
            <a:r>
              <a:rPr lang="ar-SY" altLang="en-US" sz="1300" b="1" dirty="0">
                <a:solidFill>
                  <a:schemeClr val="accent6"/>
                </a:solidFill>
              </a:rPr>
              <a:t>القسم الأول</a:t>
            </a:r>
            <a:endParaRPr lang="ar-SY" sz="1300" dirty="0"/>
          </a:p>
        </p:txBody>
      </p:sp>
      <p:sp>
        <p:nvSpPr>
          <p:cNvPr id="3" name="Text 1"/>
          <p:cNvSpPr/>
          <p:nvPr>
            <p:ph idx="103" type="title" hasCustomPrompt="1"/>
          </p:nvPr>
        </p:nvSpPr>
        <p:spPr>
          <a:xfrm>
            <a:off x="228600" y="868680"/>
            <a:ext cx="6400800" cy="868680"/>
          </a:xfrm>
          <a:prstGeom prst="rect">
            <a:avLst/>
          </a:prstGeom>
          <a:noFill/>
          <a:ln/>
        </p:spPr>
        <p:txBody>
          <a:bodyPr wrap="square" lIns="0" tIns="0" rIns="0" bIns="0" rtlCol="0" anchor="ctr"/>
          <a:lstStyle/>
          <a:p>
            <a:pPr rtl="1" algn="ctr" indent="0" marL="0">
              <a:buNone/>
            </a:pPr>
            <a:r>
              <a:rPr lang="ar-SY" altLang="en-US" sz="3600" b="1" dirty="0">
                <a:solidFill>
                  <a:schemeClr val="tx1"/>
                </a:solidFill>
              </a:rPr>
              <a:t>First Face Fix</a:t>
            </a:r>
            <a:endParaRPr lang="ar-SY" sz="3600" dirty="0"/>
          </a:p>
        </p:txBody>
      </p:sp>
      <p:sp>
        <p:nvSpPr>
          <p:cNvPr id="4" name="Text 1"/>
          <p:cNvSpPr/>
          <p:nvPr>
            <p:ph idx="104" type="body" hasCustomPrompt="1"/>
          </p:nvPr>
        </p:nvSpPr>
        <p:spPr>
          <a:xfrm>
            <a:off x="685800" y="1783080"/>
            <a:ext cx="5486400" cy="685800"/>
          </a:xfrm>
          <a:prstGeom prst="rect">
            <a:avLst/>
          </a:prstGeom>
          <a:noFill/>
          <a:ln/>
        </p:spPr>
        <p:txBody>
          <a:bodyPr wrap="square" lIns="0" tIns="0" rIns="0" bIns="0" rtlCol="0" anchor="t"/>
          <a:lstStyle/>
          <a:p>
            <a:pPr rtl="1" algn="ctr" indent="0" marL="0">
              <a:buNone/>
            </a:pPr>
            <a:r>
              <a:rPr lang="ar-SY" altLang="en-US" sz="1600" dirty="0">
                <a:solidFill>
                  <a:schemeClr val="accent4"/>
                </a:solidFill>
              </a:rPr>
              <a:t>دقيقة وحدة. أول وجّ من البود. ببداية كل شيفت وبعد كل استراحة.</a:t>
            </a:r>
            <a:endParaRPr lang="ar-SY"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شو هو First Face Fix؟</a:t>
            </a:r>
            <a:endParaRPr lang="ar-SY" sz="2800" dirty="0"/>
          </a:p>
        </p:txBody>
      </p:sp>
      <p:sp>
        <p:nvSpPr>
          <p:cNvPr id="3" name="Stat card"/>
          <p:cNvSpPr/>
          <p:nvPr/>
        </p:nvSpPr>
        <p:spPr>
          <a:xfrm>
            <a:off x="6675120" y="1325880"/>
            <a:ext cx="2011680" cy="3200400"/>
          </a:xfrm>
          <a:prstGeom prst="roundRect">
            <a:avLst>
              <a:gd name="adj" fmla="val 4545"/>
            </a:avLst>
          </a:prstGeom>
          <a:solidFill>
            <a:schemeClr val="tx2"/>
          </a:solidFill>
          <a:ln/>
        </p:spPr>
      </p:sp>
      <p:sp>
        <p:nvSpPr>
          <p:cNvPr id="4" name="Stat"/>
          <p:cNvSpPr txBox="1"/>
          <p:nvPr/>
        </p:nvSpPr>
        <p:spPr>
          <a:xfrm>
            <a:off x="6903720" y="1325880"/>
            <a:ext cx="1554480" cy="3200400"/>
          </a:xfrm>
          <a:prstGeom prst="rect">
            <a:avLst/>
          </a:prstGeom>
          <a:noFill/>
          <a:ln/>
        </p:spPr>
        <p:txBody>
          <a:bodyPr wrap="square" lIns="0" tIns="0" rIns="0" bIns="0" rtlCol="0" anchor="ctr"/>
          <a:lstStyle/>
          <a:p>
            <a:pPr rtl="1" algn="r" indent="0" marL="0">
              <a:buNone/>
            </a:pPr>
            <a:r>
              <a:rPr lang="ar-SY" altLang="en-US" sz="7200" b="1" dirty="0">
                <a:solidFill>
                  <a:schemeClr val="accent1"/>
                </a:solidFill>
              </a:rPr>
              <a:t>1</a:t>
            </a:r>
            <a:endParaRPr lang="ar-SY" sz="7200" dirty="0"/>
          </a:p>
          <a:p>
            <a:pPr rtl="1" algn="r" indent="0" marL="0">
              <a:buNone/>
            </a:pPr>
            <a:r>
              <a:rPr lang="ar-SY" altLang="en-US" sz="1600" dirty="0">
                <a:solidFill>
                  <a:schemeClr val="bg1"/>
                </a:solidFill>
              </a:rPr>
              <a:t>دقيقة لترتّب أول وجّ من البود</a:t>
            </a:r>
            <a:endParaRPr lang="ar-SY" sz="7200" dirty="0"/>
          </a:p>
        </p:txBody>
      </p:sp>
      <p:pic>
        <p:nvPicPr>
          <p:cNvPr id="5" name="Fact icon 1" descr="preencoded.png">    </p:cNvPr>
          <p:cNvPicPr>
            <a:picLocks noChangeAspect="1"/>
          </p:cNvPicPr>
          <p:nvPr/>
        </p:nvPicPr>
        <p:blipFill>
          <a:blip r:embed="rId1"/>
          <a:stretch>
            <a:fillRect/>
          </a:stretch>
        </p:blipFill>
        <p:spPr>
          <a:xfrm>
            <a:off x="6053328" y="1444752"/>
            <a:ext cx="347472" cy="347472"/>
          </a:xfrm>
          <a:prstGeom prst="rect">
            <a:avLst/>
          </a:prstGeom>
        </p:spPr>
      </p:pic>
      <p:sp>
        <p:nvSpPr>
          <p:cNvPr id="6" name="Fact 1"/>
          <p:cNvSpPr txBox="1"/>
          <p:nvPr/>
        </p:nvSpPr>
        <p:spPr>
          <a:xfrm>
            <a:off x="3291840" y="1371600"/>
            <a:ext cx="2606040" cy="868680"/>
          </a:xfrm>
          <a:prstGeom prst="rect">
            <a:avLst/>
          </a:prstGeom>
          <a:noFill/>
          <a:ln/>
        </p:spPr>
        <p:txBody>
          <a:bodyPr wrap="square" lIns="0" tIns="0" rIns="0" bIns="0" rtlCol="0" anchor="t"/>
          <a:lstStyle/>
          <a:p>
            <a:pPr rtl="1" algn="r" indent="0" marL="0">
              <a:buNone/>
            </a:pPr>
            <a:r>
              <a:rPr lang="ar-SY" altLang="en-US" sz="1700" b="1" dirty="0">
                <a:solidFill>
                  <a:schemeClr val="tx1"/>
                </a:solidFill>
              </a:rPr>
              <a:t>إيمتى</a:t>
            </a:r>
            <a:endParaRPr lang="ar-SY" sz="1700" dirty="0"/>
          </a:p>
          <a:p>
            <a:pPr rtl="1" algn="r" indent="0" marL="0">
              <a:buNone/>
            </a:pPr>
            <a:r>
              <a:rPr lang="ar-SY" altLang="en-US" sz="1400" dirty="0">
                <a:solidFill>
                  <a:schemeClr val="accent4"/>
                </a:solidFill>
              </a:rPr>
              <a:t>ببداية الشيفت وبعد كل استراحة</a:t>
            </a:r>
            <a:endParaRPr lang="ar-SY" sz="1700" dirty="0"/>
          </a:p>
        </p:txBody>
      </p:sp>
      <p:pic>
        <p:nvPicPr>
          <p:cNvPr id="7" name="Fact icon 2" descr="preencoded.png">    </p:cNvPr>
          <p:cNvPicPr>
            <a:picLocks noChangeAspect="1"/>
          </p:cNvPicPr>
          <p:nvPr/>
        </p:nvPicPr>
        <p:blipFill>
          <a:blip r:embed="rId2"/>
          <a:stretch>
            <a:fillRect/>
          </a:stretch>
        </p:blipFill>
        <p:spPr>
          <a:xfrm>
            <a:off x="6053328" y="2514600"/>
            <a:ext cx="347472" cy="347472"/>
          </a:xfrm>
          <a:prstGeom prst="rect">
            <a:avLst/>
          </a:prstGeom>
        </p:spPr>
      </p:pic>
      <p:sp>
        <p:nvSpPr>
          <p:cNvPr id="8" name="Fact 2"/>
          <p:cNvSpPr txBox="1"/>
          <p:nvPr/>
        </p:nvSpPr>
        <p:spPr>
          <a:xfrm>
            <a:off x="3291840" y="2441448"/>
            <a:ext cx="2606040" cy="868680"/>
          </a:xfrm>
          <a:prstGeom prst="rect">
            <a:avLst/>
          </a:prstGeom>
          <a:noFill/>
          <a:ln/>
        </p:spPr>
        <p:txBody>
          <a:bodyPr wrap="square" lIns="0" tIns="0" rIns="0" bIns="0" rtlCol="0" anchor="t"/>
          <a:lstStyle/>
          <a:p>
            <a:pPr rtl="1" algn="r" indent="0" marL="0">
              <a:buNone/>
            </a:pPr>
            <a:r>
              <a:rPr lang="ar-SY" altLang="en-US" sz="1700" b="1" dirty="0">
                <a:solidFill>
                  <a:schemeClr val="tx1"/>
                </a:solidFill>
              </a:rPr>
              <a:t>شو</a:t>
            </a:r>
            <a:endParaRPr lang="ar-SY" sz="1700" dirty="0"/>
          </a:p>
          <a:p>
            <a:pPr rtl="1" algn="r" indent="0" marL="0">
              <a:buNone/>
            </a:pPr>
            <a:r>
              <a:rPr lang="ar-SY" altLang="en-US" sz="1400" dirty="0">
                <a:solidFill>
                  <a:schemeClr val="accent4"/>
                </a:solidFill>
              </a:rPr>
              <a:t>أول وجّ بود بيوصل عالستيشن تبعك</a:t>
            </a:r>
            <a:endParaRPr lang="ar-SY" sz="1700" dirty="0"/>
          </a:p>
        </p:txBody>
      </p:sp>
      <p:pic>
        <p:nvPicPr>
          <p:cNvPr id="9" name="Fact icon 3" descr="preencoded.png">    </p:cNvPr>
          <p:cNvPicPr>
            <a:picLocks noChangeAspect="1"/>
          </p:cNvPicPr>
          <p:nvPr/>
        </p:nvPicPr>
        <p:blipFill>
          <a:blip r:embed="rId3"/>
          <a:stretch>
            <a:fillRect/>
          </a:stretch>
        </p:blipFill>
        <p:spPr>
          <a:xfrm>
            <a:off x="6053328" y="3584448"/>
            <a:ext cx="347472" cy="347472"/>
          </a:xfrm>
          <a:prstGeom prst="rect">
            <a:avLst/>
          </a:prstGeom>
        </p:spPr>
      </p:pic>
      <p:sp>
        <p:nvSpPr>
          <p:cNvPr id="10" name="Fact 3"/>
          <p:cNvSpPr txBox="1"/>
          <p:nvPr/>
        </p:nvSpPr>
        <p:spPr>
          <a:xfrm>
            <a:off x="3291840" y="3511296"/>
            <a:ext cx="2606040" cy="868680"/>
          </a:xfrm>
          <a:prstGeom prst="rect">
            <a:avLst/>
          </a:prstGeom>
          <a:noFill/>
          <a:ln/>
        </p:spPr>
        <p:txBody>
          <a:bodyPr wrap="square" lIns="0" tIns="0" rIns="0" bIns="0" rtlCol="0" anchor="t"/>
          <a:lstStyle/>
          <a:p>
            <a:pPr rtl="1" algn="r" indent="0" marL="0">
              <a:buNone/>
            </a:pPr>
            <a:r>
              <a:rPr lang="ar-SY" altLang="en-US" sz="1700" b="1" dirty="0">
                <a:solidFill>
                  <a:schemeClr val="tx1"/>
                </a:solidFill>
              </a:rPr>
              <a:t>مين</a:t>
            </a:r>
            <a:endParaRPr lang="ar-SY" sz="1700" dirty="0"/>
          </a:p>
          <a:p>
            <a:pPr rtl="1" algn="r" indent="0" marL="0">
              <a:buNone/>
            </a:pPr>
            <a:r>
              <a:rPr lang="ar-SY" altLang="en-US" sz="1400" dirty="0">
                <a:solidFill>
                  <a:schemeClr val="accent4"/>
                </a:solidFill>
              </a:rPr>
              <a:t>كل موظفين الستو والـ ICQA</a:t>
            </a:r>
            <a:endParaRPr lang="ar-SY"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كيف تعمل FFF بـ 4 خطوات</a:t>
            </a:r>
            <a:endParaRPr lang="ar-SY" sz="2800" dirty="0"/>
          </a:p>
        </p:txBody>
      </p:sp>
      <p:sp>
        <p:nvSpPr>
          <p:cNvPr id="3" name="Step badge 1"/>
          <p:cNvSpPr/>
          <p:nvPr/>
        </p:nvSpPr>
        <p:spPr>
          <a:xfrm>
            <a:off x="8138160" y="1325880"/>
            <a:ext cx="548640" cy="548640"/>
          </a:xfrm>
          <a:prstGeom prst="ellipse">
            <a:avLst/>
          </a:prstGeom>
          <a:solidFill>
            <a:schemeClr val="accent1"/>
          </a:solidFill>
          <a:ln/>
        </p:spPr>
      </p:sp>
      <p:sp>
        <p:nvSpPr>
          <p:cNvPr id="4" name="Step number 1"/>
          <p:cNvSpPr txBox="1"/>
          <p:nvPr/>
        </p:nvSpPr>
        <p:spPr>
          <a:xfrm>
            <a:off x="8138160" y="1325880"/>
            <a:ext cx="548640" cy="548640"/>
          </a:xfrm>
          <a:prstGeom prst="rect">
            <a:avLst/>
          </a:prstGeom>
          <a:noFill/>
          <a:ln/>
        </p:spPr>
        <p:txBody>
          <a:bodyPr wrap="square" lIns="0" tIns="0" rIns="0" bIns="0" rtlCol="0" anchor="ctr"/>
          <a:lstStyle/>
          <a:p>
            <a:pPr rtl="1" algn="ctr" indent="0" marL="0">
              <a:buNone/>
            </a:pPr>
            <a:r>
              <a:rPr lang="ar-SY" altLang="en-US" sz="2000" b="1" dirty="0">
                <a:solidFill>
                  <a:schemeClr val="bg1"/>
                </a:solidFill>
              </a:rPr>
              <a:t>1</a:t>
            </a:r>
            <a:endParaRPr lang="ar-SY" sz="2000" dirty="0"/>
          </a:p>
        </p:txBody>
      </p:sp>
      <p:sp>
        <p:nvSpPr>
          <p:cNvPr id="5" name="Step 1"/>
          <p:cNvSpPr txBox="1"/>
          <p:nvPr/>
        </p:nvSpPr>
        <p:spPr>
          <a:xfrm>
            <a:off x="3291840" y="1261872"/>
            <a:ext cx="4572000" cy="685800"/>
          </a:xfrm>
          <a:prstGeom prst="rect">
            <a:avLst/>
          </a:prstGeom>
          <a:noFill/>
          <a:ln/>
        </p:spPr>
        <p:txBody>
          <a:bodyPr wrap="square" lIns="0" tIns="0" rIns="0" bIns="0" rtlCol="0" anchor="ctr"/>
          <a:lstStyle/>
          <a:p>
            <a:pPr rtl="1" algn="r" indent="0" marL="0">
              <a:buNone/>
            </a:pPr>
            <a:r>
              <a:rPr lang="ar-SY" altLang="en-US" sz="1700" b="1" dirty="0">
                <a:solidFill>
                  <a:schemeClr val="tx1"/>
                </a:solidFill>
              </a:rPr>
              <a:t>جهّز حالك</a:t>
            </a:r>
            <a:endParaRPr lang="ar-SY" sz="1700" dirty="0"/>
          </a:p>
          <a:p>
            <a:pPr rtl="1" algn="r" indent="0" marL="0">
              <a:buNone/>
            </a:pPr>
            <a:r>
              <a:rPr lang="ar-SY" altLang="en-US" sz="1400" dirty="0">
                <a:solidFill>
                  <a:schemeClr val="accent4"/>
                </a:solidFill>
              </a:rPr>
              <a:t>سجّل دخول، اختار البروسس باث، وشيّك عالستيشن</a:t>
            </a:r>
            <a:endParaRPr lang="ar-SY" sz="1700" dirty="0"/>
          </a:p>
        </p:txBody>
      </p:sp>
      <p:sp>
        <p:nvSpPr>
          <p:cNvPr id="6" name="Step badge 2"/>
          <p:cNvSpPr/>
          <p:nvPr/>
        </p:nvSpPr>
        <p:spPr>
          <a:xfrm>
            <a:off x="8138160" y="2148840"/>
            <a:ext cx="548640" cy="548640"/>
          </a:xfrm>
          <a:prstGeom prst="ellipse">
            <a:avLst/>
          </a:prstGeom>
          <a:solidFill>
            <a:schemeClr val="accent1"/>
          </a:solidFill>
          <a:ln/>
        </p:spPr>
      </p:sp>
      <p:sp>
        <p:nvSpPr>
          <p:cNvPr id="7" name="Step number 2"/>
          <p:cNvSpPr txBox="1"/>
          <p:nvPr/>
        </p:nvSpPr>
        <p:spPr>
          <a:xfrm>
            <a:off x="8138160" y="2148840"/>
            <a:ext cx="548640" cy="548640"/>
          </a:xfrm>
          <a:prstGeom prst="rect">
            <a:avLst/>
          </a:prstGeom>
          <a:noFill/>
          <a:ln/>
        </p:spPr>
        <p:txBody>
          <a:bodyPr wrap="square" lIns="0" tIns="0" rIns="0" bIns="0" rtlCol="0" anchor="ctr"/>
          <a:lstStyle/>
          <a:p>
            <a:pPr rtl="1" algn="ctr" indent="0" marL="0">
              <a:buNone/>
            </a:pPr>
            <a:r>
              <a:rPr lang="ar-SY" altLang="en-US" sz="2000" b="1" dirty="0">
                <a:solidFill>
                  <a:schemeClr val="bg1"/>
                </a:solidFill>
              </a:rPr>
              <a:t>2</a:t>
            </a:r>
            <a:endParaRPr lang="ar-SY" sz="2000" dirty="0"/>
          </a:p>
        </p:txBody>
      </p:sp>
      <p:sp>
        <p:nvSpPr>
          <p:cNvPr id="8" name="Step 2"/>
          <p:cNvSpPr txBox="1"/>
          <p:nvPr/>
        </p:nvSpPr>
        <p:spPr>
          <a:xfrm>
            <a:off x="3291840" y="2084832"/>
            <a:ext cx="4572000" cy="685800"/>
          </a:xfrm>
          <a:prstGeom prst="rect">
            <a:avLst/>
          </a:prstGeom>
          <a:noFill/>
          <a:ln/>
        </p:spPr>
        <p:txBody>
          <a:bodyPr wrap="square" lIns="0" tIns="0" rIns="0" bIns="0" rtlCol="0" anchor="ctr"/>
          <a:lstStyle/>
          <a:p>
            <a:pPr rtl="1" algn="r" indent="0" marL="0">
              <a:buNone/>
            </a:pPr>
            <a:r>
              <a:rPr lang="ar-SY" altLang="en-US" sz="1700" b="1" dirty="0">
                <a:solidFill>
                  <a:schemeClr val="tx1"/>
                </a:solidFill>
              </a:rPr>
              <a:t>اشتغل من فوق لتحت</a:t>
            </a:r>
            <a:endParaRPr lang="ar-SY" sz="1700" dirty="0"/>
          </a:p>
          <a:p>
            <a:pPr rtl="1" algn="r" indent="0" marL="0">
              <a:buNone/>
            </a:pPr>
            <a:r>
              <a:rPr lang="ar-SY" altLang="en-US" sz="1400" dirty="0">
                <a:solidFill>
                  <a:schemeClr val="accent4"/>
                </a:solidFill>
              </a:rPr>
              <a:t>بلّش من فوق الوجّ ومشي متل الستو سنيك</a:t>
            </a:r>
            <a:endParaRPr lang="ar-SY" sz="1700" dirty="0"/>
          </a:p>
        </p:txBody>
      </p:sp>
      <p:sp>
        <p:nvSpPr>
          <p:cNvPr id="9" name="Step badge 3"/>
          <p:cNvSpPr/>
          <p:nvPr/>
        </p:nvSpPr>
        <p:spPr>
          <a:xfrm>
            <a:off x="8138160" y="2971800"/>
            <a:ext cx="548640" cy="548640"/>
          </a:xfrm>
          <a:prstGeom prst="ellipse">
            <a:avLst/>
          </a:prstGeom>
          <a:solidFill>
            <a:schemeClr val="accent1"/>
          </a:solidFill>
          <a:ln/>
        </p:spPr>
      </p:sp>
      <p:sp>
        <p:nvSpPr>
          <p:cNvPr id="10" name="Step number 3"/>
          <p:cNvSpPr txBox="1"/>
          <p:nvPr/>
        </p:nvSpPr>
        <p:spPr>
          <a:xfrm>
            <a:off x="8138160" y="2971800"/>
            <a:ext cx="548640" cy="548640"/>
          </a:xfrm>
          <a:prstGeom prst="rect">
            <a:avLst/>
          </a:prstGeom>
          <a:noFill/>
          <a:ln/>
        </p:spPr>
        <p:txBody>
          <a:bodyPr wrap="square" lIns="0" tIns="0" rIns="0" bIns="0" rtlCol="0" anchor="ctr"/>
          <a:lstStyle/>
          <a:p>
            <a:pPr rtl="1" algn="ctr" indent="0" marL="0">
              <a:buNone/>
            </a:pPr>
            <a:r>
              <a:rPr lang="ar-SY" altLang="en-US" sz="2000" b="1" dirty="0">
                <a:solidFill>
                  <a:schemeClr val="bg1"/>
                </a:solidFill>
              </a:rPr>
              <a:t>3</a:t>
            </a:r>
            <a:endParaRPr lang="ar-SY" sz="2000" dirty="0"/>
          </a:p>
        </p:txBody>
      </p:sp>
      <p:sp>
        <p:nvSpPr>
          <p:cNvPr id="11" name="Step 3"/>
          <p:cNvSpPr txBox="1"/>
          <p:nvPr/>
        </p:nvSpPr>
        <p:spPr>
          <a:xfrm>
            <a:off x="3291840" y="2907792"/>
            <a:ext cx="4572000" cy="685800"/>
          </a:xfrm>
          <a:prstGeom prst="rect">
            <a:avLst/>
          </a:prstGeom>
          <a:noFill/>
          <a:ln/>
        </p:spPr>
        <p:txBody>
          <a:bodyPr wrap="square" lIns="0" tIns="0" rIns="0" bIns="0" rtlCol="0" anchor="ctr"/>
          <a:lstStyle/>
          <a:p>
            <a:pPr rtl="1" algn="r" indent="0" marL="0">
              <a:buNone/>
            </a:pPr>
            <a:r>
              <a:rPr lang="ar-SY" altLang="en-US" sz="1700" b="1" dirty="0">
                <a:solidFill>
                  <a:schemeClr val="tx1"/>
                </a:solidFill>
              </a:rPr>
              <a:t>رتّب كل بِن</a:t>
            </a:r>
            <a:endParaRPr lang="ar-SY" sz="1700" dirty="0"/>
          </a:p>
          <a:p>
            <a:pPr rtl="1" algn="r" indent="0" marL="0">
              <a:buNone/>
            </a:pPr>
            <a:r>
              <a:rPr lang="ar-SY" altLang="en-US" sz="1400" dirty="0">
                <a:solidFill>
                  <a:schemeClr val="accent4"/>
                </a:solidFill>
              </a:rPr>
              <a:t>خلّي كل بِن مطابق لقواعد ROBOTSS</a:t>
            </a:r>
            <a:endParaRPr lang="ar-SY" sz="1700" dirty="0"/>
          </a:p>
        </p:txBody>
      </p:sp>
      <p:sp>
        <p:nvSpPr>
          <p:cNvPr id="12" name="Step badge 4"/>
          <p:cNvSpPr/>
          <p:nvPr/>
        </p:nvSpPr>
        <p:spPr>
          <a:xfrm>
            <a:off x="8138160" y="3794760"/>
            <a:ext cx="548640" cy="548640"/>
          </a:xfrm>
          <a:prstGeom prst="ellipse">
            <a:avLst/>
          </a:prstGeom>
          <a:solidFill>
            <a:schemeClr val="accent1"/>
          </a:solidFill>
          <a:ln/>
        </p:spPr>
      </p:sp>
      <p:sp>
        <p:nvSpPr>
          <p:cNvPr id="13" name="Step number 4"/>
          <p:cNvSpPr txBox="1"/>
          <p:nvPr/>
        </p:nvSpPr>
        <p:spPr>
          <a:xfrm>
            <a:off x="8138160" y="3794760"/>
            <a:ext cx="548640" cy="548640"/>
          </a:xfrm>
          <a:prstGeom prst="rect">
            <a:avLst/>
          </a:prstGeom>
          <a:noFill/>
          <a:ln/>
        </p:spPr>
        <p:txBody>
          <a:bodyPr wrap="square" lIns="0" tIns="0" rIns="0" bIns="0" rtlCol="0" anchor="ctr"/>
          <a:lstStyle/>
          <a:p>
            <a:pPr rtl="1" algn="ctr" indent="0" marL="0">
              <a:buNone/>
            </a:pPr>
            <a:r>
              <a:rPr lang="ar-SY" altLang="en-US" sz="2000" b="1" dirty="0">
                <a:solidFill>
                  <a:schemeClr val="bg1"/>
                </a:solidFill>
              </a:rPr>
              <a:t>4</a:t>
            </a:r>
            <a:endParaRPr lang="ar-SY" sz="2000" dirty="0"/>
          </a:p>
        </p:txBody>
      </p:sp>
      <p:sp>
        <p:nvSpPr>
          <p:cNvPr id="14" name="Step 4"/>
          <p:cNvSpPr txBox="1"/>
          <p:nvPr/>
        </p:nvSpPr>
        <p:spPr>
          <a:xfrm>
            <a:off x="3291840" y="3730752"/>
            <a:ext cx="4572000" cy="685800"/>
          </a:xfrm>
          <a:prstGeom prst="rect">
            <a:avLst/>
          </a:prstGeom>
          <a:noFill/>
          <a:ln/>
        </p:spPr>
        <p:txBody>
          <a:bodyPr wrap="square" lIns="0" tIns="0" rIns="0" bIns="0" rtlCol="0" anchor="ctr"/>
          <a:lstStyle/>
          <a:p>
            <a:pPr rtl="1" algn="r" indent="0" marL="0">
              <a:buNone/>
            </a:pPr>
            <a:r>
              <a:rPr lang="ar-SY" altLang="en-US" sz="1700" b="1" dirty="0">
                <a:solidFill>
                  <a:schemeClr val="tx1"/>
                </a:solidFill>
              </a:rPr>
              <a:t>بلّش شغلك</a:t>
            </a:r>
            <a:endParaRPr lang="ar-SY" sz="1700" dirty="0"/>
          </a:p>
          <a:p>
            <a:pPr rtl="1" algn="r" indent="0" marL="0">
              <a:buNone/>
            </a:pPr>
            <a:r>
              <a:rPr lang="ar-SY" altLang="en-US" sz="1400" dirty="0">
                <a:solidFill>
                  <a:schemeClr val="accent4"/>
                </a:solidFill>
              </a:rPr>
              <a:t>بعد دقيقة، أو لمّا يصير الوجّ مطابق لـ ROBOTSS</a:t>
            </a:r>
            <a:endParaRPr lang="ar-SY"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خلال الـ FFF، ممنوع</a:t>
            </a:r>
            <a:endParaRPr lang="ar-SY" sz="2800" dirty="0"/>
          </a:p>
        </p:txBody>
      </p:sp>
      <p:sp>
        <p:nvSpPr>
          <p:cNvPr id="3" name="Dont card 1"/>
          <p:cNvSpPr/>
          <p:nvPr/>
        </p:nvSpPr>
        <p:spPr>
          <a:xfrm>
            <a:off x="6995160" y="1325880"/>
            <a:ext cx="1691640" cy="2194560"/>
          </a:xfrm>
          <a:prstGeom prst="roundRect">
            <a:avLst>
              <a:gd name="adj" fmla="val 5405"/>
            </a:avLst>
          </a:prstGeom>
          <a:solidFill>
            <a:srgbClr val="FBECEC"/>
          </a:solidFill>
          <a:ln/>
        </p:spPr>
      </p:sp>
      <p:pic>
        <p:nvPicPr>
          <p:cNvPr id="4" name="Dont icon 1" descr="preencoded.png">    </p:cNvPr>
          <p:cNvPicPr>
            <a:picLocks noChangeAspect="1"/>
          </p:cNvPicPr>
          <p:nvPr/>
        </p:nvPicPr>
        <p:blipFill>
          <a:blip r:embed="rId1"/>
          <a:stretch>
            <a:fillRect/>
          </a:stretch>
        </p:blipFill>
        <p:spPr>
          <a:xfrm>
            <a:off x="8001000" y="1554480"/>
            <a:ext cx="457200" cy="457200"/>
          </a:xfrm>
          <a:prstGeom prst="rect">
            <a:avLst/>
          </a:prstGeom>
        </p:spPr>
      </p:pic>
      <p:pic>
        <p:nvPicPr>
          <p:cNvPr id="5" name="Ban icon 1" descr="preencoded.png">    </p:cNvPr>
          <p:cNvPicPr>
            <a:picLocks noChangeAspect="1"/>
          </p:cNvPicPr>
          <p:nvPr/>
        </p:nvPicPr>
        <p:blipFill>
          <a:blip r:embed="rId2"/>
          <a:stretch>
            <a:fillRect/>
          </a:stretch>
        </p:blipFill>
        <p:spPr>
          <a:xfrm>
            <a:off x="7223760" y="1554480"/>
            <a:ext cx="365760" cy="365760"/>
          </a:xfrm>
          <a:prstGeom prst="rect">
            <a:avLst/>
          </a:prstGeom>
        </p:spPr>
      </p:pic>
      <p:sp>
        <p:nvSpPr>
          <p:cNvPr id="6" name="Dont text 1"/>
          <p:cNvSpPr txBox="1"/>
          <p:nvPr/>
        </p:nvSpPr>
        <p:spPr>
          <a:xfrm>
            <a:off x="7178040" y="2194560"/>
            <a:ext cx="1280160" cy="1234440"/>
          </a:xfrm>
          <a:prstGeom prst="rect">
            <a:avLst/>
          </a:prstGeom>
          <a:noFill/>
          <a:ln/>
        </p:spPr>
        <p:txBody>
          <a:bodyPr wrap="square" lIns="0" tIns="0" rIns="0" bIns="0" rtlCol="0" anchor="t"/>
          <a:lstStyle/>
          <a:p>
            <a:pPr rtl="1" algn="r" indent="0" marL="0">
              <a:buNone/>
            </a:pPr>
            <a:r>
              <a:rPr lang="ar-SY" altLang="en-US" sz="2000" b="1" dirty="0">
                <a:solidFill>
                  <a:schemeClr val="accent3"/>
                </a:solidFill>
              </a:rPr>
              <a:t>تعمل سكان</a:t>
            </a:r>
            <a:endParaRPr lang="ar-SY" sz="2000" dirty="0"/>
          </a:p>
          <a:p>
            <a:pPr rtl="1" algn="r" indent="0" marL="0">
              <a:buNone/>
            </a:pPr>
            <a:r>
              <a:rPr lang="ar-SY" altLang="en-US" sz="1400" dirty="0">
                <a:solidFill>
                  <a:schemeClr val="tx1"/>
                </a:solidFill>
              </a:rPr>
              <a:t>لأي قطعة بالتوتات أو البِنات</a:t>
            </a:r>
            <a:endParaRPr lang="ar-SY" sz="2000" dirty="0"/>
          </a:p>
        </p:txBody>
      </p:sp>
      <p:sp>
        <p:nvSpPr>
          <p:cNvPr id="7" name="Dont card 2"/>
          <p:cNvSpPr/>
          <p:nvPr/>
        </p:nvSpPr>
        <p:spPr>
          <a:xfrm>
            <a:off x="5166360" y="1325880"/>
            <a:ext cx="1691640" cy="2194560"/>
          </a:xfrm>
          <a:prstGeom prst="roundRect">
            <a:avLst>
              <a:gd name="adj" fmla="val 5405"/>
            </a:avLst>
          </a:prstGeom>
          <a:solidFill>
            <a:srgbClr val="FBECEC"/>
          </a:solidFill>
          <a:ln/>
        </p:spPr>
      </p:sp>
      <p:pic>
        <p:nvPicPr>
          <p:cNvPr id="8" name="Dont icon 2" descr="preencoded.png">    </p:cNvPr>
          <p:cNvPicPr>
            <a:picLocks noChangeAspect="1"/>
          </p:cNvPicPr>
          <p:nvPr/>
        </p:nvPicPr>
        <p:blipFill>
          <a:blip r:embed="rId3"/>
          <a:stretch>
            <a:fillRect/>
          </a:stretch>
        </p:blipFill>
        <p:spPr>
          <a:xfrm>
            <a:off x="6172200" y="1554480"/>
            <a:ext cx="457200" cy="457200"/>
          </a:xfrm>
          <a:prstGeom prst="rect">
            <a:avLst/>
          </a:prstGeom>
        </p:spPr>
      </p:pic>
      <p:pic>
        <p:nvPicPr>
          <p:cNvPr id="9" name="Ban icon 2" descr="preencoded.png">    </p:cNvPr>
          <p:cNvPicPr>
            <a:picLocks noChangeAspect="1"/>
          </p:cNvPicPr>
          <p:nvPr/>
        </p:nvPicPr>
        <p:blipFill>
          <a:blip r:embed="rId4"/>
          <a:stretch>
            <a:fillRect/>
          </a:stretch>
        </p:blipFill>
        <p:spPr>
          <a:xfrm>
            <a:off x="5394960" y="1554480"/>
            <a:ext cx="365760" cy="365760"/>
          </a:xfrm>
          <a:prstGeom prst="rect">
            <a:avLst/>
          </a:prstGeom>
        </p:spPr>
      </p:pic>
      <p:sp>
        <p:nvSpPr>
          <p:cNvPr id="10" name="Dont text 2"/>
          <p:cNvSpPr txBox="1"/>
          <p:nvPr/>
        </p:nvSpPr>
        <p:spPr>
          <a:xfrm>
            <a:off x="5349240" y="2194560"/>
            <a:ext cx="1280160" cy="1234440"/>
          </a:xfrm>
          <a:prstGeom prst="rect">
            <a:avLst/>
          </a:prstGeom>
          <a:noFill/>
          <a:ln/>
        </p:spPr>
        <p:txBody>
          <a:bodyPr wrap="square" lIns="0" tIns="0" rIns="0" bIns="0" rtlCol="0" anchor="t"/>
          <a:lstStyle/>
          <a:p>
            <a:pPr rtl="1" algn="r" indent="0" marL="0">
              <a:buNone/>
            </a:pPr>
            <a:r>
              <a:rPr lang="ar-SY" altLang="en-US" sz="2000" b="1" dirty="0">
                <a:solidFill>
                  <a:schemeClr val="accent3"/>
                </a:solidFill>
              </a:rPr>
              <a:t>تنقل</a:t>
            </a:r>
            <a:endParaRPr lang="ar-SY" sz="2000" dirty="0"/>
          </a:p>
          <a:p>
            <a:pPr rtl="1" algn="r" indent="0" marL="0">
              <a:buNone/>
            </a:pPr>
            <a:r>
              <a:rPr lang="ar-SY" altLang="en-US" sz="1400" dirty="0">
                <a:solidFill>
                  <a:schemeClr val="tx1"/>
                </a:solidFill>
              </a:rPr>
              <a:t>قطع لبِن تاني</a:t>
            </a:r>
            <a:endParaRPr lang="ar-SY" sz="2000" dirty="0"/>
          </a:p>
        </p:txBody>
      </p:sp>
      <p:sp>
        <p:nvSpPr>
          <p:cNvPr id="11" name="Dont card 3"/>
          <p:cNvSpPr/>
          <p:nvPr/>
        </p:nvSpPr>
        <p:spPr>
          <a:xfrm>
            <a:off x="3337560" y="1325880"/>
            <a:ext cx="1691640" cy="2194560"/>
          </a:xfrm>
          <a:prstGeom prst="roundRect">
            <a:avLst>
              <a:gd name="adj" fmla="val 5405"/>
            </a:avLst>
          </a:prstGeom>
          <a:solidFill>
            <a:srgbClr val="FBECEC"/>
          </a:solidFill>
          <a:ln/>
        </p:spPr>
      </p:sp>
      <p:pic>
        <p:nvPicPr>
          <p:cNvPr id="12" name="Dont icon 3" descr="preencoded.png">    </p:cNvPr>
          <p:cNvPicPr>
            <a:picLocks noChangeAspect="1"/>
          </p:cNvPicPr>
          <p:nvPr/>
        </p:nvPicPr>
        <p:blipFill>
          <a:blip r:embed="rId5"/>
          <a:stretch>
            <a:fillRect/>
          </a:stretch>
        </p:blipFill>
        <p:spPr>
          <a:xfrm>
            <a:off x="4343400" y="1554480"/>
            <a:ext cx="457200" cy="457200"/>
          </a:xfrm>
          <a:prstGeom prst="rect">
            <a:avLst/>
          </a:prstGeom>
        </p:spPr>
      </p:pic>
      <p:pic>
        <p:nvPicPr>
          <p:cNvPr id="13" name="Ban icon 3" descr="preencoded.png">    </p:cNvPr>
          <p:cNvPicPr>
            <a:picLocks noChangeAspect="1"/>
          </p:cNvPicPr>
          <p:nvPr/>
        </p:nvPicPr>
        <p:blipFill>
          <a:blip r:embed="rId6"/>
          <a:stretch>
            <a:fillRect/>
          </a:stretch>
        </p:blipFill>
        <p:spPr>
          <a:xfrm>
            <a:off x="3566160" y="1554480"/>
            <a:ext cx="365760" cy="365760"/>
          </a:xfrm>
          <a:prstGeom prst="rect">
            <a:avLst/>
          </a:prstGeom>
        </p:spPr>
      </p:pic>
      <p:sp>
        <p:nvSpPr>
          <p:cNvPr id="14" name="Dont text 3"/>
          <p:cNvSpPr txBox="1"/>
          <p:nvPr/>
        </p:nvSpPr>
        <p:spPr>
          <a:xfrm>
            <a:off x="3520440" y="2194560"/>
            <a:ext cx="1280160" cy="1234440"/>
          </a:xfrm>
          <a:prstGeom prst="rect">
            <a:avLst/>
          </a:prstGeom>
          <a:noFill/>
          <a:ln/>
        </p:spPr>
        <p:txBody>
          <a:bodyPr wrap="square" lIns="0" tIns="0" rIns="0" bIns="0" rtlCol="0" anchor="t"/>
          <a:lstStyle/>
          <a:p>
            <a:pPr rtl="1" algn="r" indent="0" marL="0">
              <a:buNone/>
            </a:pPr>
            <a:r>
              <a:rPr lang="ar-SY" altLang="en-US" sz="2000" b="1" dirty="0">
                <a:solidFill>
                  <a:schemeClr val="accent3"/>
                </a:solidFill>
              </a:rPr>
              <a:t>تشيل</a:t>
            </a:r>
            <a:endParaRPr lang="ar-SY" sz="2000" dirty="0"/>
          </a:p>
          <a:p>
            <a:pPr rtl="1" algn="r" indent="0" marL="0">
              <a:buNone/>
            </a:pPr>
            <a:r>
              <a:rPr lang="ar-SY" altLang="en-US" sz="1400" dirty="0">
                <a:solidFill>
                  <a:schemeClr val="tx1"/>
                </a:solidFill>
              </a:rPr>
              <a:t>أي قطعة من البِنات</a:t>
            </a:r>
            <a:endParaRPr lang="ar-SY" sz="2000" dirty="0"/>
          </a:p>
        </p:txBody>
      </p:sp>
      <p:pic>
        <p:nvPicPr>
          <p:cNvPr id="15" name="Check icon" descr="preencoded.png">    </p:cNvPr>
          <p:cNvPicPr>
            <a:picLocks noChangeAspect="1"/>
          </p:cNvPicPr>
          <p:nvPr/>
        </p:nvPicPr>
        <p:blipFill>
          <a:blip r:embed="rId7"/>
          <a:stretch>
            <a:fillRect/>
          </a:stretch>
        </p:blipFill>
        <p:spPr>
          <a:xfrm>
            <a:off x="8321040" y="3886200"/>
            <a:ext cx="365760" cy="365760"/>
          </a:xfrm>
          <a:prstGeom prst="rect">
            <a:avLst/>
          </a:prstGeom>
        </p:spPr>
      </p:pic>
      <p:sp>
        <p:nvSpPr>
          <p:cNvPr id="16" name="Do text"/>
          <p:cNvSpPr txBox="1"/>
          <p:nvPr/>
        </p:nvSpPr>
        <p:spPr>
          <a:xfrm>
            <a:off x="3291840" y="3776472"/>
            <a:ext cx="4846320" cy="594360"/>
          </a:xfrm>
          <a:prstGeom prst="rect">
            <a:avLst/>
          </a:prstGeom>
          <a:noFill/>
          <a:ln/>
        </p:spPr>
        <p:txBody>
          <a:bodyPr wrap="square" lIns="0" tIns="0" rIns="0" bIns="0" rtlCol="0" anchor="ctr"/>
          <a:lstStyle/>
          <a:p>
            <a:pPr rtl="1" algn="r" indent="0" marL="0">
              <a:buNone/>
            </a:pPr>
            <a:r>
              <a:rPr lang="ar-SY" altLang="en-US" sz="1600" b="1" dirty="0">
                <a:solidFill>
                  <a:schemeClr val="accent2"/>
                </a:solidFill>
              </a:rPr>
              <a:t>الـ FFF بس لترتيب الموجود أصلاً بكل بِن.</a:t>
            </a:r>
            <a:endParaRPr lang="ar-SY"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وبعدين كمّل رتّب وانت ماشي</a:t>
            </a:r>
            <a:endParaRPr lang="ar-SY" sz="2800" dirty="0"/>
          </a:p>
        </p:txBody>
      </p:sp>
      <p:sp>
        <p:nvSpPr>
          <p:cNvPr id="3" name="Quote card"/>
          <p:cNvSpPr/>
          <p:nvPr/>
        </p:nvSpPr>
        <p:spPr>
          <a:xfrm>
            <a:off x="3291840" y="1325880"/>
            <a:ext cx="5394960" cy="1188720"/>
          </a:xfrm>
          <a:prstGeom prst="roundRect">
            <a:avLst>
              <a:gd name="adj" fmla="val 7692"/>
            </a:avLst>
          </a:prstGeom>
          <a:solidFill>
            <a:schemeClr val="bg1"/>
          </a:solidFill>
          <a:ln/>
        </p:spPr>
      </p:sp>
      <p:pic>
        <p:nvPicPr>
          <p:cNvPr id="4" name="Redo icon" descr="preencoded.png">    </p:cNvPr>
          <p:cNvPicPr>
            <a:picLocks noChangeAspect="1"/>
          </p:cNvPicPr>
          <p:nvPr/>
        </p:nvPicPr>
        <p:blipFill>
          <a:blip r:embed="rId1"/>
          <a:stretch>
            <a:fillRect/>
          </a:stretch>
        </p:blipFill>
        <p:spPr>
          <a:xfrm>
            <a:off x="8001000" y="1709928"/>
            <a:ext cx="411480" cy="411480"/>
          </a:xfrm>
          <a:prstGeom prst="rect">
            <a:avLst/>
          </a:prstGeom>
        </p:spPr>
      </p:pic>
      <p:sp>
        <p:nvSpPr>
          <p:cNvPr id="5" name="Quote"/>
          <p:cNvSpPr txBox="1"/>
          <p:nvPr/>
        </p:nvSpPr>
        <p:spPr>
          <a:xfrm>
            <a:off x="3474720" y="1325880"/>
            <a:ext cx="4297680" cy="1188720"/>
          </a:xfrm>
          <a:prstGeom prst="rect">
            <a:avLst/>
          </a:prstGeom>
          <a:noFill/>
          <a:ln/>
        </p:spPr>
        <p:txBody>
          <a:bodyPr wrap="square" lIns="0" tIns="0" rIns="0" bIns="0" rtlCol="0" anchor="ctr"/>
          <a:lstStyle/>
          <a:p>
            <a:pPr rtl="1" algn="r" indent="0" marL="0">
              <a:buNone/>
            </a:pPr>
            <a:r>
              <a:rPr lang="ar-SY" altLang="en-US" sz="1800" b="1" dirty="0">
                <a:solidFill>
                  <a:schemeClr val="tx1"/>
                </a:solidFill>
              </a:rPr>
              <a:t>اترك كل بِن أحسن من ما لقيته.</a:t>
            </a:r>
            <a:endParaRPr lang="ar-SY" sz="1800" dirty="0"/>
          </a:p>
          <a:p>
            <a:pPr rtl="1" algn="r" indent="0" marL="0">
              <a:buNone/>
            </a:pPr>
            <a:r>
              <a:rPr lang="ar-SY" altLang="en-US" sz="1400" dirty="0">
                <a:solidFill>
                  <a:schemeClr val="accent4"/>
                </a:solidFill>
              </a:rPr>
              <a:t>كل ما تكون إيدك بالبِن، رتّبه.</a:t>
            </a:r>
            <a:endParaRPr lang="ar-SY" sz="1800" dirty="0"/>
          </a:p>
        </p:txBody>
      </p:sp>
      <p:sp>
        <p:nvSpPr>
          <p:cNvPr id="6" name="Stat 1"/>
          <p:cNvSpPr txBox="1"/>
          <p:nvPr/>
        </p:nvSpPr>
        <p:spPr>
          <a:xfrm>
            <a:off x="6080760" y="2743200"/>
            <a:ext cx="2606040" cy="1463040"/>
          </a:xfrm>
          <a:prstGeom prst="rect">
            <a:avLst/>
          </a:prstGeom>
          <a:noFill/>
          <a:ln/>
        </p:spPr>
        <p:txBody>
          <a:bodyPr wrap="square" lIns="0" tIns="0" rIns="0" bIns="0" rtlCol="0" anchor="t"/>
          <a:lstStyle/>
          <a:p>
            <a:pPr rtl="1" algn="r" indent="0" marL="0">
              <a:buNone/>
            </a:pPr>
            <a:r>
              <a:rPr lang="ar-SY" altLang="en-US" sz="5400" b="1" dirty="0">
                <a:solidFill>
                  <a:schemeClr val="accent1"/>
                </a:solidFill>
              </a:rPr>
              <a:t>15</a:t>
            </a:r>
            <a:endParaRPr lang="ar-SY" sz="5400" dirty="0"/>
          </a:p>
          <a:p>
            <a:pPr rtl="1" algn="r" indent="0" marL="0">
              <a:buNone/>
            </a:pPr>
            <a:r>
              <a:rPr lang="ar-SY" altLang="en-US" sz="1500" dirty="0">
                <a:solidFill>
                  <a:schemeClr val="accent4"/>
                </a:solidFill>
              </a:rPr>
              <a:t>أوديت FFF بكل شيفت</a:t>
            </a:r>
            <a:endParaRPr lang="ar-SY" sz="5400" dirty="0"/>
          </a:p>
        </p:txBody>
      </p:sp>
      <p:sp>
        <p:nvSpPr>
          <p:cNvPr id="7" name="Stat 2"/>
          <p:cNvSpPr txBox="1"/>
          <p:nvPr/>
        </p:nvSpPr>
        <p:spPr>
          <a:xfrm>
            <a:off x="3291840" y="2743200"/>
            <a:ext cx="2606040" cy="1463040"/>
          </a:xfrm>
          <a:prstGeom prst="rect">
            <a:avLst/>
          </a:prstGeom>
          <a:noFill/>
          <a:ln/>
        </p:spPr>
        <p:txBody>
          <a:bodyPr wrap="square" lIns="0" tIns="0" rIns="0" bIns="0" rtlCol="0" anchor="t"/>
          <a:lstStyle/>
          <a:p>
            <a:pPr rtl="1" algn="r" indent="0" marL="0">
              <a:buNone/>
            </a:pPr>
            <a:r>
              <a:rPr lang="ar-SY" altLang="en-US" sz="5400" b="1" dirty="0">
                <a:solidFill>
                  <a:schemeClr val="accent1"/>
                </a:solidFill>
              </a:rPr>
              <a:t>90%+</a:t>
            </a:r>
            <a:endParaRPr lang="ar-SY" sz="5400" dirty="0"/>
          </a:p>
          <a:p>
            <a:pPr rtl="1" algn="r" indent="0" marL="0">
              <a:buNone/>
            </a:pPr>
            <a:r>
              <a:rPr lang="ar-SY" altLang="en-US" sz="1500" dirty="0">
                <a:solidFill>
                  <a:schemeClr val="accent4"/>
                </a:solidFill>
              </a:rPr>
              <a:t>هدف الالتزام اليومي</a:t>
            </a:r>
            <a:endParaRPr lang="ar-SY" sz="5400" dirty="0"/>
          </a:p>
        </p:txBody>
      </p:sp>
      <p:sp>
        <p:nvSpPr>
          <p:cNvPr id="8" name="Caption"/>
          <p:cNvSpPr txBox="1"/>
          <p:nvPr/>
        </p:nvSpPr>
        <p:spPr>
          <a:xfrm>
            <a:off x="3291840" y="4343400"/>
            <a:ext cx="5394960" cy="320040"/>
          </a:xfrm>
          <a:prstGeom prst="rect">
            <a:avLst/>
          </a:prstGeom>
          <a:noFill/>
          <a:ln/>
        </p:spPr>
        <p:txBody>
          <a:bodyPr wrap="square" lIns="0" tIns="0" rIns="0" bIns="0" rtlCol="0" anchor="ctr"/>
          <a:lstStyle/>
          <a:p>
            <a:pPr rtl="1" algn="r" indent="0" marL="0">
              <a:buNone/>
            </a:pPr>
            <a:r>
              <a:rPr lang="ar-SY" altLang="en-US" sz="1200" dirty="0">
                <a:solidFill>
                  <a:srgbClr val="7A8795"/>
                </a:solidFill>
              </a:rPr>
              <a:t>الأوديت بيعمله ICQA والـ Ops والـ L&amp;D، مع فيدباك بأرضه</a:t>
            </a:r>
            <a:endParaRPr lang="ar-SY"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228600" y="502920"/>
            <a:ext cx="6400800" cy="320040"/>
          </a:xfrm>
          <a:prstGeom prst="rect">
            <a:avLst/>
          </a:prstGeom>
          <a:noFill/>
          <a:ln/>
        </p:spPr>
        <p:txBody>
          <a:bodyPr wrap="square" lIns="0" tIns="0" rIns="0" bIns="0" rtlCol="0"/>
          <a:lstStyle/>
          <a:p>
            <a:pPr rtl="1" algn="ctr" indent="0" marL="0">
              <a:buNone/>
            </a:pPr>
            <a:r>
              <a:rPr lang="ar-SY" altLang="en-US" sz="1300" b="1" dirty="0">
                <a:solidFill>
                  <a:schemeClr val="accent6"/>
                </a:solidFill>
              </a:rPr>
              <a:t>القسم التاني</a:t>
            </a:r>
            <a:endParaRPr lang="ar-SY" sz="1300" dirty="0"/>
          </a:p>
        </p:txBody>
      </p:sp>
      <p:sp>
        <p:nvSpPr>
          <p:cNvPr id="3" name="Text 1"/>
          <p:cNvSpPr/>
          <p:nvPr>
            <p:ph idx="103" type="title" hasCustomPrompt="1"/>
          </p:nvPr>
        </p:nvSpPr>
        <p:spPr>
          <a:xfrm>
            <a:off x="228600" y="868680"/>
            <a:ext cx="6400800" cy="868680"/>
          </a:xfrm>
          <a:prstGeom prst="rect">
            <a:avLst/>
          </a:prstGeom>
          <a:noFill/>
          <a:ln/>
        </p:spPr>
        <p:txBody>
          <a:bodyPr wrap="square" lIns="0" tIns="0" rIns="0" bIns="0" rtlCol="0" anchor="ctr"/>
          <a:lstStyle/>
          <a:p>
            <a:pPr rtl="1" algn="ctr" indent="0" marL="0">
              <a:buNone/>
            </a:pPr>
            <a:r>
              <a:rPr lang="ar-SY" altLang="en-US" sz="3600" b="1" dirty="0">
                <a:solidFill>
                  <a:schemeClr val="tx1"/>
                </a:solidFill>
              </a:rPr>
              <a:t>ترتيب البِن: ROBOTSS</a:t>
            </a:r>
            <a:endParaRPr lang="ar-SY" sz="3600" dirty="0"/>
          </a:p>
        </p:txBody>
      </p:sp>
      <p:sp>
        <p:nvSpPr>
          <p:cNvPr id="4" name="Text 1"/>
          <p:cNvSpPr/>
          <p:nvPr>
            <p:ph idx="104" type="body" hasCustomPrompt="1"/>
          </p:nvPr>
        </p:nvSpPr>
        <p:spPr>
          <a:xfrm>
            <a:off x="685800" y="1783080"/>
            <a:ext cx="5486400" cy="685800"/>
          </a:xfrm>
          <a:prstGeom prst="rect">
            <a:avLst/>
          </a:prstGeom>
          <a:noFill/>
          <a:ln/>
        </p:spPr>
        <p:txBody>
          <a:bodyPr wrap="square" lIns="0" tIns="0" rIns="0" bIns="0" rtlCol="0" anchor="t"/>
          <a:lstStyle/>
          <a:p>
            <a:pPr rtl="1" algn="ctr" indent="0" marL="0">
              <a:buNone/>
            </a:pPr>
            <a:r>
              <a:rPr lang="ar-SY" altLang="en-US" sz="1600" dirty="0">
                <a:solidFill>
                  <a:schemeClr val="accent4"/>
                </a:solidFill>
              </a:rPr>
              <a:t>سبع قواعد لكل بِن بتلمسه، بالستو والبيك والـ ICQA.</a:t>
            </a:r>
            <a:endParaRPr lang="ar-SY"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سبع قواعد، كلمة وحدة</a:t>
            </a:r>
            <a:endParaRPr lang="ar-SY" sz="2800" dirty="0"/>
          </a:p>
        </p:txBody>
      </p:sp>
      <p:sp>
        <p:nvSpPr>
          <p:cNvPr id="3" name="Tile 1"/>
          <p:cNvSpPr/>
          <p:nvPr/>
        </p:nvSpPr>
        <p:spPr>
          <a:xfrm>
            <a:off x="8010144" y="1417320"/>
            <a:ext cx="676656" cy="868680"/>
          </a:xfrm>
          <a:prstGeom prst="roundRect">
            <a:avLst>
              <a:gd name="adj" fmla="val 13514"/>
            </a:avLst>
          </a:prstGeom>
          <a:solidFill>
            <a:schemeClr val="tx2"/>
          </a:solidFill>
          <a:ln/>
        </p:spPr>
      </p:sp>
      <p:sp>
        <p:nvSpPr>
          <p:cNvPr id="4" name="Letter 1"/>
          <p:cNvSpPr txBox="1"/>
          <p:nvPr/>
        </p:nvSpPr>
        <p:spPr>
          <a:xfrm>
            <a:off x="8010144" y="1417320"/>
            <a:ext cx="676656" cy="868680"/>
          </a:xfrm>
          <a:prstGeom prst="rect">
            <a:avLst/>
          </a:prstGeom>
          <a:noFill/>
          <a:ln/>
        </p:spPr>
        <p:txBody>
          <a:bodyPr wrap="square" lIns="0" tIns="0" rIns="0" bIns="0" rtlCol="0" anchor="ctr"/>
          <a:lstStyle/>
          <a:p>
            <a:pPr rtl="1" algn="ctr" indent="0" marL="0">
              <a:buNone/>
            </a:pPr>
            <a:r>
              <a:rPr lang="ar-SY" altLang="en-US" sz="3600" b="1" dirty="0">
                <a:solidFill>
                  <a:schemeClr val="accent1"/>
                </a:solidFill>
                <a:latin typeface="Arial" pitchFamily="34" charset="0"/>
                <a:ea typeface="Arial" pitchFamily="34" charset="-122"/>
                <a:cs typeface="Arial" pitchFamily="34" charset="-120"/>
              </a:rPr>
              <a:t>R</a:t>
            </a:r>
            <a:endParaRPr lang="ar-SY" sz="3600" dirty="0"/>
          </a:p>
        </p:txBody>
      </p:sp>
      <p:sp>
        <p:nvSpPr>
          <p:cNvPr id="5" name="Label 1"/>
          <p:cNvSpPr txBox="1"/>
          <p:nvPr/>
        </p:nvSpPr>
        <p:spPr>
          <a:xfrm>
            <a:off x="7973568" y="2377440"/>
            <a:ext cx="749808" cy="594360"/>
          </a:xfrm>
          <a:prstGeom prst="rect">
            <a:avLst/>
          </a:prstGeom>
          <a:noFill/>
          <a:ln/>
        </p:spPr>
        <p:txBody>
          <a:bodyPr wrap="square" lIns="0" tIns="0" rIns="0" bIns="0" rtlCol="0" anchor="t"/>
          <a:lstStyle/>
          <a:p>
            <a:pPr rtl="1" algn="ctr" indent="0" marL="0">
              <a:buNone/>
            </a:pPr>
            <a:r>
              <a:rPr lang="ar-SY" altLang="en-US" sz="1200" dirty="0">
                <a:solidFill>
                  <a:schemeClr val="tx1"/>
                </a:solidFill>
              </a:rPr>
              <a:t>حجم البِن المناسب</a:t>
            </a:r>
            <a:endParaRPr lang="ar-SY" sz="1200" dirty="0"/>
          </a:p>
        </p:txBody>
      </p:sp>
      <p:sp>
        <p:nvSpPr>
          <p:cNvPr id="6" name="Tile 2"/>
          <p:cNvSpPr/>
          <p:nvPr/>
        </p:nvSpPr>
        <p:spPr>
          <a:xfrm>
            <a:off x="7223760" y="1417320"/>
            <a:ext cx="676656" cy="868680"/>
          </a:xfrm>
          <a:prstGeom prst="roundRect">
            <a:avLst>
              <a:gd name="adj" fmla="val 13514"/>
            </a:avLst>
          </a:prstGeom>
          <a:solidFill>
            <a:schemeClr val="tx2"/>
          </a:solidFill>
          <a:ln/>
        </p:spPr>
      </p:sp>
      <p:sp>
        <p:nvSpPr>
          <p:cNvPr id="7" name="Letter 2"/>
          <p:cNvSpPr txBox="1"/>
          <p:nvPr/>
        </p:nvSpPr>
        <p:spPr>
          <a:xfrm>
            <a:off x="7223760" y="1417320"/>
            <a:ext cx="676656" cy="868680"/>
          </a:xfrm>
          <a:prstGeom prst="rect">
            <a:avLst/>
          </a:prstGeom>
          <a:noFill/>
          <a:ln/>
        </p:spPr>
        <p:txBody>
          <a:bodyPr wrap="square" lIns="0" tIns="0" rIns="0" bIns="0" rtlCol="0" anchor="ctr"/>
          <a:lstStyle/>
          <a:p>
            <a:pPr rtl="1" algn="ctr" indent="0" marL="0">
              <a:buNone/>
            </a:pPr>
            <a:r>
              <a:rPr lang="ar-SY" altLang="en-US" sz="3600" b="1" dirty="0">
                <a:solidFill>
                  <a:schemeClr val="accent1"/>
                </a:solidFill>
                <a:latin typeface="Arial" pitchFamily="34" charset="0"/>
                <a:ea typeface="Arial" pitchFamily="34" charset="-122"/>
                <a:cs typeface="Arial" pitchFamily="34" charset="-120"/>
              </a:rPr>
              <a:t>O</a:t>
            </a:r>
            <a:endParaRPr lang="ar-SY" sz="3600" dirty="0"/>
          </a:p>
        </p:txBody>
      </p:sp>
      <p:sp>
        <p:nvSpPr>
          <p:cNvPr id="8" name="Label 2"/>
          <p:cNvSpPr txBox="1"/>
          <p:nvPr/>
        </p:nvSpPr>
        <p:spPr>
          <a:xfrm>
            <a:off x="7187184" y="2377440"/>
            <a:ext cx="749808" cy="594360"/>
          </a:xfrm>
          <a:prstGeom prst="rect">
            <a:avLst/>
          </a:prstGeom>
          <a:noFill/>
          <a:ln/>
        </p:spPr>
        <p:txBody>
          <a:bodyPr wrap="square" lIns="0" tIns="0" rIns="0" bIns="0" rtlCol="0" anchor="t"/>
          <a:lstStyle/>
          <a:p>
            <a:pPr rtl="1" algn="ctr" indent="0" marL="0">
              <a:buNone/>
            </a:pPr>
            <a:r>
              <a:rPr lang="ar-SY" altLang="en-US" sz="1200" dirty="0">
                <a:solidFill>
                  <a:schemeClr val="tx1"/>
                </a:solidFill>
              </a:rPr>
              <a:t>ما في شي طالع</a:t>
            </a:r>
            <a:endParaRPr lang="ar-SY" sz="1200" dirty="0"/>
          </a:p>
        </p:txBody>
      </p:sp>
      <p:sp>
        <p:nvSpPr>
          <p:cNvPr id="9" name="Tile 3"/>
          <p:cNvSpPr/>
          <p:nvPr/>
        </p:nvSpPr>
        <p:spPr>
          <a:xfrm>
            <a:off x="6437376" y="1417320"/>
            <a:ext cx="676656" cy="868680"/>
          </a:xfrm>
          <a:prstGeom prst="roundRect">
            <a:avLst>
              <a:gd name="adj" fmla="val 13514"/>
            </a:avLst>
          </a:prstGeom>
          <a:solidFill>
            <a:schemeClr val="tx2"/>
          </a:solidFill>
          <a:ln/>
        </p:spPr>
      </p:sp>
      <p:sp>
        <p:nvSpPr>
          <p:cNvPr id="10" name="Letter 3"/>
          <p:cNvSpPr txBox="1"/>
          <p:nvPr/>
        </p:nvSpPr>
        <p:spPr>
          <a:xfrm>
            <a:off x="6437376" y="1417320"/>
            <a:ext cx="676656" cy="868680"/>
          </a:xfrm>
          <a:prstGeom prst="rect">
            <a:avLst/>
          </a:prstGeom>
          <a:noFill/>
          <a:ln/>
        </p:spPr>
        <p:txBody>
          <a:bodyPr wrap="square" lIns="0" tIns="0" rIns="0" bIns="0" rtlCol="0" anchor="ctr"/>
          <a:lstStyle/>
          <a:p>
            <a:pPr rtl="1" algn="ctr" indent="0" marL="0">
              <a:buNone/>
            </a:pPr>
            <a:r>
              <a:rPr lang="ar-SY" altLang="en-US" sz="3600" b="1" dirty="0">
                <a:solidFill>
                  <a:schemeClr val="accent1"/>
                </a:solidFill>
                <a:latin typeface="Arial" pitchFamily="34" charset="0"/>
                <a:ea typeface="Arial" pitchFamily="34" charset="-122"/>
                <a:cs typeface="Arial" pitchFamily="34" charset="-120"/>
              </a:rPr>
              <a:t>B</a:t>
            </a:r>
            <a:endParaRPr lang="ar-SY" sz="3600" dirty="0"/>
          </a:p>
        </p:txBody>
      </p:sp>
      <p:sp>
        <p:nvSpPr>
          <p:cNvPr id="11" name="Label 3"/>
          <p:cNvSpPr txBox="1"/>
          <p:nvPr/>
        </p:nvSpPr>
        <p:spPr>
          <a:xfrm>
            <a:off x="6400800" y="2377440"/>
            <a:ext cx="749808" cy="594360"/>
          </a:xfrm>
          <a:prstGeom prst="rect">
            <a:avLst/>
          </a:prstGeom>
          <a:noFill/>
          <a:ln/>
        </p:spPr>
        <p:txBody>
          <a:bodyPr wrap="square" lIns="0" tIns="0" rIns="0" bIns="0" rtlCol="0" anchor="t"/>
          <a:lstStyle/>
          <a:p>
            <a:pPr rtl="1" algn="ctr" indent="0" marL="0">
              <a:buNone/>
            </a:pPr>
            <a:r>
              <a:rPr lang="ar-SY" altLang="en-US" sz="1200" dirty="0">
                <a:solidFill>
                  <a:schemeClr val="tx1"/>
                </a:solidFill>
              </a:rPr>
              <a:t>ما تسكّر عالقطع</a:t>
            </a:r>
            <a:endParaRPr lang="ar-SY" sz="1200" dirty="0"/>
          </a:p>
        </p:txBody>
      </p:sp>
      <p:sp>
        <p:nvSpPr>
          <p:cNvPr id="12" name="Tile 4"/>
          <p:cNvSpPr/>
          <p:nvPr/>
        </p:nvSpPr>
        <p:spPr>
          <a:xfrm>
            <a:off x="5650992" y="1417320"/>
            <a:ext cx="676656" cy="868680"/>
          </a:xfrm>
          <a:prstGeom prst="roundRect">
            <a:avLst>
              <a:gd name="adj" fmla="val 13514"/>
            </a:avLst>
          </a:prstGeom>
          <a:solidFill>
            <a:schemeClr val="tx2"/>
          </a:solidFill>
          <a:ln/>
        </p:spPr>
      </p:sp>
      <p:sp>
        <p:nvSpPr>
          <p:cNvPr id="13" name="Letter 4"/>
          <p:cNvSpPr txBox="1"/>
          <p:nvPr/>
        </p:nvSpPr>
        <p:spPr>
          <a:xfrm>
            <a:off x="5650992" y="1417320"/>
            <a:ext cx="676656" cy="868680"/>
          </a:xfrm>
          <a:prstGeom prst="rect">
            <a:avLst/>
          </a:prstGeom>
          <a:noFill/>
          <a:ln/>
        </p:spPr>
        <p:txBody>
          <a:bodyPr wrap="square" lIns="0" tIns="0" rIns="0" bIns="0" rtlCol="0" anchor="ctr"/>
          <a:lstStyle/>
          <a:p>
            <a:pPr rtl="1" algn="ctr" indent="0" marL="0">
              <a:buNone/>
            </a:pPr>
            <a:r>
              <a:rPr lang="ar-SY" altLang="en-US" sz="3600" b="1" dirty="0">
                <a:solidFill>
                  <a:schemeClr val="accent1"/>
                </a:solidFill>
                <a:latin typeface="Arial" pitchFamily="34" charset="0"/>
                <a:ea typeface="Arial" pitchFamily="34" charset="-122"/>
                <a:cs typeface="Arial" pitchFamily="34" charset="-120"/>
              </a:rPr>
              <a:t>O</a:t>
            </a:r>
            <a:endParaRPr lang="ar-SY" sz="3600" dirty="0"/>
          </a:p>
        </p:txBody>
      </p:sp>
      <p:sp>
        <p:nvSpPr>
          <p:cNvPr id="14" name="Label 4"/>
          <p:cNvSpPr txBox="1"/>
          <p:nvPr/>
        </p:nvSpPr>
        <p:spPr>
          <a:xfrm>
            <a:off x="5614416" y="2377440"/>
            <a:ext cx="749808" cy="594360"/>
          </a:xfrm>
          <a:prstGeom prst="rect">
            <a:avLst/>
          </a:prstGeom>
          <a:noFill/>
          <a:ln/>
        </p:spPr>
        <p:txBody>
          <a:bodyPr wrap="square" lIns="0" tIns="0" rIns="0" bIns="0" rtlCol="0" anchor="t"/>
          <a:lstStyle/>
          <a:p>
            <a:pPr rtl="1" algn="ctr" indent="0" marL="0">
              <a:buNone/>
            </a:pPr>
            <a:r>
              <a:rPr lang="ar-SY" altLang="en-US" sz="1200" dirty="0">
                <a:solidFill>
                  <a:schemeClr val="tx1"/>
                </a:solidFill>
              </a:rPr>
              <a:t>ما تحشي البِن</a:t>
            </a:r>
            <a:endParaRPr lang="ar-SY" sz="1200" dirty="0"/>
          </a:p>
        </p:txBody>
      </p:sp>
      <p:sp>
        <p:nvSpPr>
          <p:cNvPr id="15" name="Tile 5"/>
          <p:cNvSpPr/>
          <p:nvPr/>
        </p:nvSpPr>
        <p:spPr>
          <a:xfrm>
            <a:off x="4864608" y="1417320"/>
            <a:ext cx="676656" cy="868680"/>
          </a:xfrm>
          <a:prstGeom prst="roundRect">
            <a:avLst>
              <a:gd name="adj" fmla="val 13514"/>
            </a:avLst>
          </a:prstGeom>
          <a:solidFill>
            <a:schemeClr val="tx2"/>
          </a:solidFill>
          <a:ln/>
        </p:spPr>
      </p:sp>
      <p:sp>
        <p:nvSpPr>
          <p:cNvPr id="16" name="Letter 5"/>
          <p:cNvSpPr txBox="1"/>
          <p:nvPr/>
        </p:nvSpPr>
        <p:spPr>
          <a:xfrm>
            <a:off x="4864608" y="1417320"/>
            <a:ext cx="676656" cy="868680"/>
          </a:xfrm>
          <a:prstGeom prst="rect">
            <a:avLst/>
          </a:prstGeom>
          <a:noFill/>
          <a:ln/>
        </p:spPr>
        <p:txBody>
          <a:bodyPr wrap="square" lIns="0" tIns="0" rIns="0" bIns="0" rtlCol="0" anchor="ctr"/>
          <a:lstStyle/>
          <a:p>
            <a:pPr rtl="1" algn="ctr" indent="0" marL="0">
              <a:buNone/>
            </a:pPr>
            <a:r>
              <a:rPr lang="ar-SY" altLang="en-US" sz="3600" b="1" dirty="0">
                <a:solidFill>
                  <a:schemeClr val="accent1"/>
                </a:solidFill>
                <a:latin typeface="Arial" pitchFamily="34" charset="0"/>
                <a:ea typeface="Arial" pitchFamily="34" charset="-122"/>
                <a:cs typeface="Arial" pitchFamily="34" charset="-120"/>
              </a:rPr>
              <a:t>T</a:t>
            </a:r>
            <a:endParaRPr lang="ar-SY" sz="3600" dirty="0"/>
          </a:p>
        </p:txBody>
      </p:sp>
      <p:sp>
        <p:nvSpPr>
          <p:cNvPr id="17" name="Label 5"/>
          <p:cNvSpPr txBox="1"/>
          <p:nvPr/>
        </p:nvSpPr>
        <p:spPr>
          <a:xfrm>
            <a:off x="4828032" y="2377440"/>
            <a:ext cx="749808" cy="594360"/>
          </a:xfrm>
          <a:prstGeom prst="rect">
            <a:avLst/>
          </a:prstGeom>
          <a:noFill/>
          <a:ln/>
        </p:spPr>
        <p:txBody>
          <a:bodyPr wrap="square" lIns="0" tIns="0" rIns="0" bIns="0" rtlCol="0" anchor="t"/>
          <a:lstStyle/>
          <a:p>
            <a:pPr rtl="1" algn="ctr" indent="0" marL="0">
              <a:buNone/>
            </a:pPr>
            <a:r>
              <a:rPr lang="ar-SY" altLang="en-US" sz="1200" dirty="0">
                <a:solidFill>
                  <a:schemeClr val="tx1"/>
                </a:solidFill>
              </a:rPr>
              <a:t>العناوين لبرّا</a:t>
            </a:r>
            <a:endParaRPr lang="ar-SY" sz="1200" dirty="0"/>
          </a:p>
        </p:txBody>
      </p:sp>
      <p:sp>
        <p:nvSpPr>
          <p:cNvPr id="18" name="Tile 6"/>
          <p:cNvSpPr/>
          <p:nvPr/>
        </p:nvSpPr>
        <p:spPr>
          <a:xfrm>
            <a:off x="4078224" y="1417320"/>
            <a:ext cx="676656" cy="868680"/>
          </a:xfrm>
          <a:prstGeom prst="roundRect">
            <a:avLst>
              <a:gd name="adj" fmla="val 13514"/>
            </a:avLst>
          </a:prstGeom>
          <a:solidFill>
            <a:schemeClr val="tx2"/>
          </a:solidFill>
          <a:ln/>
        </p:spPr>
      </p:sp>
      <p:sp>
        <p:nvSpPr>
          <p:cNvPr id="19" name="Letter 6"/>
          <p:cNvSpPr txBox="1"/>
          <p:nvPr/>
        </p:nvSpPr>
        <p:spPr>
          <a:xfrm>
            <a:off x="4078224" y="1417320"/>
            <a:ext cx="676656" cy="868680"/>
          </a:xfrm>
          <a:prstGeom prst="rect">
            <a:avLst/>
          </a:prstGeom>
          <a:noFill/>
          <a:ln/>
        </p:spPr>
        <p:txBody>
          <a:bodyPr wrap="square" lIns="0" tIns="0" rIns="0" bIns="0" rtlCol="0" anchor="ctr"/>
          <a:lstStyle/>
          <a:p>
            <a:pPr rtl="1" algn="ctr" indent="0" marL="0">
              <a:buNone/>
            </a:pPr>
            <a:r>
              <a:rPr lang="ar-SY" altLang="en-US" sz="3600" b="1" dirty="0">
                <a:solidFill>
                  <a:schemeClr val="accent1"/>
                </a:solidFill>
                <a:latin typeface="Arial" pitchFamily="34" charset="0"/>
                <a:ea typeface="Arial" pitchFamily="34" charset="-122"/>
                <a:cs typeface="Arial" pitchFamily="34" charset="-120"/>
              </a:rPr>
              <a:t>S</a:t>
            </a:r>
            <a:endParaRPr lang="ar-SY" sz="3600" dirty="0"/>
          </a:p>
        </p:txBody>
      </p:sp>
      <p:sp>
        <p:nvSpPr>
          <p:cNvPr id="20" name="Label 6"/>
          <p:cNvSpPr txBox="1"/>
          <p:nvPr/>
        </p:nvSpPr>
        <p:spPr>
          <a:xfrm>
            <a:off x="4041648" y="2377440"/>
            <a:ext cx="749808" cy="594360"/>
          </a:xfrm>
          <a:prstGeom prst="rect">
            <a:avLst/>
          </a:prstGeom>
          <a:noFill/>
          <a:ln/>
        </p:spPr>
        <p:txBody>
          <a:bodyPr wrap="square" lIns="0" tIns="0" rIns="0" bIns="0" rtlCol="0" anchor="t"/>
          <a:lstStyle/>
          <a:p>
            <a:pPr rtl="1" algn="ctr" indent="0" marL="0">
              <a:buNone/>
            </a:pPr>
            <a:r>
              <a:rPr lang="ar-SY" altLang="en-US" sz="1200" dirty="0">
                <a:solidFill>
                  <a:schemeClr val="tx1"/>
                </a:solidFill>
              </a:rPr>
              <a:t>الترصيص</a:t>
            </a:r>
            <a:endParaRPr lang="ar-SY" sz="1200" dirty="0"/>
          </a:p>
        </p:txBody>
      </p:sp>
      <p:sp>
        <p:nvSpPr>
          <p:cNvPr id="21" name="Tile 7"/>
          <p:cNvSpPr/>
          <p:nvPr/>
        </p:nvSpPr>
        <p:spPr>
          <a:xfrm>
            <a:off x="3291840" y="1417320"/>
            <a:ext cx="676656" cy="868680"/>
          </a:xfrm>
          <a:prstGeom prst="roundRect">
            <a:avLst>
              <a:gd name="adj" fmla="val 13514"/>
            </a:avLst>
          </a:prstGeom>
          <a:solidFill>
            <a:schemeClr val="tx2"/>
          </a:solidFill>
          <a:ln/>
        </p:spPr>
      </p:sp>
      <p:sp>
        <p:nvSpPr>
          <p:cNvPr id="22" name="Letter 7"/>
          <p:cNvSpPr txBox="1"/>
          <p:nvPr/>
        </p:nvSpPr>
        <p:spPr>
          <a:xfrm>
            <a:off x="3291840" y="1417320"/>
            <a:ext cx="676656" cy="868680"/>
          </a:xfrm>
          <a:prstGeom prst="rect">
            <a:avLst/>
          </a:prstGeom>
          <a:noFill/>
          <a:ln/>
        </p:spPr>
        <p:txBody>
          <a:bodyPr wrap="square" lIns="0" tIns="0" rIns="0" bIns="0" rtlCol="0" anchor="ctr"/>
          <a:lstStyle/>
          <a:p>
            <a:pPr rtl="1" algn="ctr" indent="0" marL="0">
              <a:buNone/>
            </a:pPr>
            <a:r>
              <a:rPr lang="ar-SY" altLang="en-US" sz="3600" b="1" dirty="0">
                <a:solidFill>
                  <a:schemeClr val="accent1"/>
                </a:solidFill>
                <a:latin typeface="Arial" pitchFamily="34" charset="0"/>
                <a:ea typeface="Arial" pitchFamily="34" charset="-122"/>
                <a:cs typeface="Arial" pitchFamily="34" charset="-120"/>
              </a:rPr>
              <a:t>S</a:t>
            </a:r>
            <a:endParaRPr lang="ar-SY" sz="3600" dirty="0"/>
          </a:p>
        </p:txBody>
      </p:sp>
      <p:sp>
        <p:nvSpPr>
          <p:cNvPr id="23" name="Label 7"/>
          <p:cNvSpPr txBox="1"/>
          <p:nvPr/>
        </p:nvSpPr>
        <p:spPr>
          <a:xfrm>
            <a:off x="3255264" y="2377440"/>
            <a:ext cx="749808" cy="594360"/>
          </a:xfrm>
          <a:prstGeom prst="rect">
            <a:avLst/>
          </a:prstGeom>
          <a:noFill/>
          <a:ln/>
        </p:spPr>
        <p:txBody>
          <a:bodyPr wrap="square" lIns="0" tIns="0" rIns="0" bIns="0" rtlCol="0" anchor="t"/>
          <a:lstStyle/>
          <a:p>
            <a:pPr rtl="1" algn="ctr" indent="0" marL="0">
              <a:buNone/>
            </a:pPr>
            <a:r>
              <a:rPr lang="ar-SY" altLang="en-US" sz="1200" dirty="0">
                <a:solidFill>
                  <a:schemeClr val="tx1"/>
                </a:solidFill>
              </a:rPr>
              <a:t>القطع المتشابهة</a:t>
            </a:r>
            <a:endParaRPr lang="ar-SY" sz="1200" dirty="0"/>
          </a:p>
        </p:txBody>
      </p:sp>
      <p:sp>
        <p:nvSpPr>
          <p:cNvPr id="24" name="Why card"/>
          <p:cNvSpPr/>
          <p:nvPr/>
        </p:nvSpPr>
        <p:spPr>
          <a:xfrm>
            <a:off x="3291840" y="3429000"/>
            <a:ext cx="5394960" cy="1097280"/>
          </a:xfrm>
          <a:prstGeom prst="roundRect">
            <a:avLst>
              <a:gd name="adj" fmla="val 8333"/>
            </a:avLst>
          </a:prstGeom>
          <a:solidFill>
            <a:schemeClr val="bg1"/>
          </a:solidFill>
          <a:ln/>
        </p:spPr>
      </p:sp>
      <p:sp>
        <p:nvSpPr>
          <p:cNvPr id="25" name="Why text"/>
          <p:cNvSpPr txBox="1"/>
          <p:nvPr/>
        </p:nvSpPr>
        <p:spPr>
          <a:xfrm>
            <a:off x="3566160" y="3429000"/>
            <a:ext cx="4846320" cy="1097280"/>
          </a:xfrm>
          <a:prstGeom prst="rect">
            <a:avLst/>
          </a:prstGeom>
          <a:noFill/>
          <a:ln/>
        </p:spPr>
        <p:txBody>
          <a:bodyPr wrap="square" lIns="0" tIns="0" rIns="0" bIns="0" rtlCol="0" anchor="ctr"/>
          <a:lstStyle/>
          <a:p>
            <a:pPr rtl="1" algn="r" indent="0" marL="0">
              <a:buNone/>
            </a:pPr>
            <a:r>
              <a:rPr lang="ar-SY" altLang="en-US" sz="1500" b="1" dirty="0">
                <a:solidFill>
                  <a:schemeClr val="tx1"/>
                </a:solidFill>
              </a:rPr>
              <a:t>ليش مهم: </a:t>
            </a:r>
            <a:pPr rtl="1" algn="r" indent="0" marL="0">
              <a:buNone/>
            </a:pPr>
            <a:r>
              <a:rPr lang="ar-SY" altLang="en-US" sz="1500" dirty="0">
                <a:solidFill>
                  <a:schemeClr val="accent4"/>
                </a:solidFill>
              </a:rPr>
              <a:t>البيكرز بيلاقوا القطع أسرع، البِن بيساع أكتر، وما بيوقع شي لمّا يتحرك البود.</a:t>
            </a:r>
            <a:endParaRPr lang="ar-SY"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حجم البِن المناسب (R)</a:t>
            </a:r>
            <a:endParaRPr lang="ar-SY" sz="2800" dirty="0"/>
          </a:p>
        </p:txBody>
      </p:sp>
      <p:sp>
        <p:nvSpPr>
          <p:cNvPr id="3" name="Wrong panel"/>
          <p:cNvSpPr/>
          <p:nvPr/>
        </p:nvSpPr>
        <p:spPr>
          <a:xfrm>
            <a:off x="608076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Right bin size: wrong example. A tiny item in a big bin wastes space">    </p:cNvPr>
          <p:cNvPicPr>
            <a:picLocks noChangeAspect="1"/>
          </p:cNvPicPr>
          <p:nvPr/>
        </p:nvPicPr>
        <p:blipFill>
          <a:blip r:embed="rId1"/>
          <a:stretch>
            <a:fillRect/>
          </a:stretch>
        </p:blipFill>
        <p:spPr>
          <a:xfrm>
            <a:off x="6357011" y="1417320"/>
            <a:ext cx="2053538" cy="2103120"/>
          </a:xfrm>
          <a:prstGeom prst="rect">
            <a:avLst/>
          </a:prstGeom>
        </p:spPr>
      </p:pic>
      <p:sp>
        <p:nvSpPr>
          <p:cNvPr id="5" name="Wrong caption"/>
          <p:cNvSpPr txBox="1"/>
          <p:nvPr/>
        </p:nvSpPr>
        <p:spPr>
          <a:xfrm>
            <a:off x="621792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chemeClr val="accent3"/>
                </a:solidFill>
              </a:rPr>
              <a:t>غلط: </a:t>
            </a:r>
            <a:pPr rtl="1" algn="ctr" indent="0" marL="0">
              <a:buNone/>
            </a:pPr>
            <a:r>
              <a:rPr lang="ar-SY" altLang="en-US" sz="1300" dirty="0">
                <a:solidFill>
                  <a:schemeClr val="tx1"/>
                </a:solidFill>
              </a:rPr>
              <a:t>قطعة صغيرة ببِن كبير، مساحة ضايعة</a:t>
            </a:r>
            <a:endParaRPr lang="ar-SY" sz="1300" dirty="0"/>
          </a:p>
        </p:txBody>
      </p:sp>
      <p:sp>
        <p:nvSpPr>
          <p:cNvPr id="6" name="Right panel"/>
          <p:cNvSpPr/>
          <p:nvPr/>
        </p:nvSpPr>
        <p:spPr>
          <a:xfrm>
            <a:off x="329184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Right bin size: right example. The item suits the size of the bin">    </p:cNvPr>
          <p:cNvPicPr>
            <a:picLocks noChangeAspect="1"/>
          </p:cNvPicPr>
          <p:nvPr/>
        </p:nvPicPr>
        <p:blipFill>
          <a:blip r:embed="rId2"/>
          <a:stretch>
            <a:fillRect/>
          </a:stretch>
        </p:blipFill>
        <p:spPr>
          <a:xfrm>
            <a:off x="3524707" y="1417320"/>
            <a:ext cx="2140307" cy="2103120"/>
          </a:xfrm>
          <a:prstGeom prst="rect">
            <a:avLst/>
          </a:prstGeom>
        </p:spPr>
      </p:pic>
      <p:sp>
        <p:nvSpPr>
          <p:cNvPr id="8" name="Right caption"/>
          <p:cNvSpPr txBox="1"/>
          <p:nvPr/>
        </p:nvSpPr>
        <p:spPr>
          <a:xfrm>
            <a:off x="342900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rgbClr val="2E7D32"/>
                </a:solidFill>
              </a:rPr>
              <a:t>صح: </a:t>
            </a:r>
            <a:pPr rtl="1" algn="ctr" indent="0" marL="0">
              <a:buNone/>
            </a:pPr>
            <a:r>
              <a:rPr lang="ar-SY" altLang="en-US" sz="1300" dirty="0">
                <a:solidFill>
                  <a:schemeClr val="tx1"/>
                </a:solidFill>
              </a:rPr>
              <a:t>القطعة مناسبة لحجم البِن</a:t>
            </a:r>
            <a:endParaRPr lang="ar-SY" sz="1300" dirty="0"/>
          </a:p>
        </p:txBody>
      </p:sp>
      <p:sp>
        <p:nvSpPr>
          <p:cNvPr id="9" name="Rule card"/>
          <p:cNvSpPr/>
          <p:nvPr/>
        </p:nvSpPr>
        <p:spPr>
          <a:xfrm>
            <a:off x="3291840" y="4251960"/>
            <a:ext cx="5394960" cy="566928"/>
          </a:xfrm>
          <a:prstGeom prst="roundRect">
            <a:avLst>
              <a:gd name="adj" fmla="val 16129"/>
            </a:avLst>
          </a:prstGeom>
          <a:solidFill>
            <a:schemeClr val="tx2"/>
          </a:solidFill>
          <a:ln/>
        </p:spPr>
      </p:sp>
      <p:sp>
        <p:nvSpPr>
          <p:cNvPr id="10" name="Rule text"/>
          <p:cNvSpPr txBox="1"/>
          <p:nvPr/>
        </p:nvSpPr>
        <p:spPr>
          <a:xfrm>
            <a:off x="3520440" y="4251960"/>
            <a:ext cx="4937760" cy="566928"/>
          </a:xfrm>
          <a:prstGeom prst="rect">
            <a:avLst/>
          </a:prstGeom>
          <a:noFill/>
          <a:ln/>
        </p:spPr>
        <p:txBody>
          <a:bodyPr wrap="square" lIns="0" tIns="0" rIns="0" bIns="0" rtlCol="0" anchor="ctr"/>
          <a:lstStyle/>
          <a:p>
            <a:pPr rtl="1" algn="r" indent="0" marL="0">
              <a:buNone/>
            </a:pPr>
            <a:r>
              <a:rPr lang="ar-SY" altLang="en-US" sz="1400" b="1" dirty="0">
                <a:solidFill>
                  <a:schemeClr val="bg1"/>
                </a:solidFill>
              </a:rPr>
              <a:t>استعمل أصغر بِن ممكن، وحطّ القطعة حسب طولها أول شي.</a:t>
            </a:r>
            <a:endParaRPr lang="ar-SY"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ما في شي طالع (O)</a:t>
            </a:r>
            <a:endParaRPr lang="ar-SY" sz="2800" dirty="0"/>
          </a:p>
        </p:txBody>
      </p:sp>
      <p:sp>
        <p:nvSpPr>
          <p:cNvPr id="3" name="Wrong panel"/>
          <p:cNvSpPr/>
          <p:nvPr/>
        </p:nvSpPr>
        <p:spPr>
          <a:xfrm>
            <a:off x="608076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No overhang: wrong example. The box sticks out past the bin edge">    </p:cNvPr>
          <p:cNvPicPr>
            <a:picLocks noChangeAspect="1"/>
          </p:cNvPicPr>
          <p:nvPr/>
        </p:nvPicPr>
        <p:blipFill>
          <a:blip r:embed="rId1"/>
          <a:stretch>
            <a:fillRect/>
          </a:stretch>
        </p:blipFill>
        <p:spPr>
          <a:xfrm>
            <a:off x="6323688" y="1417320"/>
            <a:ext cx="2120184" cy="2103120"/>
          </a:xfrm>
          <a:prstGeom prst="rect">
            <a:avLst/>
          </a:prstGeom>
        </p:spPr>
      </p:pic>
      <p:sp>
        <p:nvSpPr>
          <p:cNvPr id="5" name="Wrong caption"/>
          <p:cNvSpPr txBox="1"/>
          <p:nvPr/>
        </p:nvSpPr>
        <p:spPr>
          <a:xfrm>
            <a:off x="621792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chemeClr val="accent3"/>
                </a:solidFill>
              </a:rPr>
              <a:t>غلط: </a:t>
            </a:r>
            <a:pPr rtl="1" algn="ctr" indent="0" marL="0">
              <a:buNone/>
            </a:pPr>
            <a:r>
              <a:rPr lang="ar-SY" altLang="en-US" sz="1300" dirty="0">
                <a:solidFill>
                  <a:schemeClr val="tx1"/>
                </a:solidFill>
              </a:rPr>
              <a:t>الكرتونة طالعة برّا حرف البِن</a:t>
            </a:r>
            <a:endParaRPr lang="ar-SY" sz="1300" dirty="0"/>
          </a:p>
        </p:txBody>
      </p:sp>
      <p:sp>
        <p:nvSpPr>
          <p:cNvPr id="6" name="Right panel"/>
          <p:cNvSpPr/>
          <p:nvPr/>
        </p:nvSpPr>
        <p:spPr>
          <a:xfrm>
            <a:off x="329184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No overhang: right example. Everything sits fully inside the bin">    </p:cNvPr>
          <p:cNvPicPr>
            <a:picLocks noChangeAspect="1"/>
          </p:cNvPicPr>
          <p:nvPr/>
        </p:nvPicPr>
        <p:blipFill>
          <a:blip r:embed="rId2"/>
          <a:stretch>
            <a:fillRect/>
          </a:stretch>
        </p:blipFill>
        <p:spPr>
          <a:xfrm>
            <a:off x="3567052" y="1417320"/>
            <a:ext cx="2055616" cy="2103120"/>
          </a:xfrm>
          <a:prstGeom prst="rect">
            <a:avLst/>
          </a:prstGeom>
        </p:spPr>
      </p:pic>
      <p:sp>
        <p:nvSpPr>
          <p:cNvPr id="8" name="Right caption"/>
          <p:cNvSpPr txBox="1"/>
          <p:nvPr/>
        </p:nvSpPr>
        <p:spPr>
          <a:xfrm>
            <a:off x="342900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rgbClr val="2E7D32"/>
                </a:solidFill>
              </a:rPr>
              <a:t>صح: </a:t>
            </a:r>
            <a:pPr rtl="1" algn="ctr" indent="0" marL="0">
              <a:buNone/>
            </a:pPr>
            <a:r>
              <a:rPr lang="ar-SY" altLang="en-US" sz="1300" dirty="0">
                <a:solidFill>
                  <a:schemeClr val="tx1"/>
                </a:solidFill>
              </a:rPr>
              <a:t>كل شي جوّا البِن تماماً</a:t>
            </a:r>
            <a:endParaRPr lang="ar-SY" sz="1300" dirty="0"/>
          </a:p>
        </p:txBody>
      </p:sp>
      <p:sp>
        <p:nvSpPr>
          <p:cNvPr id="9" name="Rule card"/>
          <p:cNvSpPr/>
          <p:nvPr/>
        </p:nvSpPr>
        <p:spPr>
          <a:xfrm>
            <a:off x="3291840" y="4251960"/>
            <a:ext cx="5394960" cy="566928"/>
          </a:xfrm>
          <a:prstGeom prst="roundRect">
            <a:avLst>
              <a:gd name="adj" fmla="val 16129"/>
            </a:avLst>
          </a:prstGeom>
          <a:solidFill>
            <a:schemeClr val="tx2"/>
          </a:solidFill>
          <a:ln/>
        </p:spPr>
      </p:sp>
      <p:sp>
        <p:nvSpPr>
          <p:cNvPr id="10" name="Rule text"/>
          <p:cNvSpPr txBox="1"/>
          <p:nvPr/>
        </p:nvSpPr>
        <p:spPr>
          <a:xfrm>
            <a:off x="3520440" y="4251960"/>
            <a:ext cx="4937760" cy="566928"/>
          </a:xfrm>
          <a:prstGeom prst="rect">
            <a:avLst/>
          </a:prstGeom>
          <a:noFill/>
          <a:ln/>
        </p:spPr>
        <p:txBody>
          <a:bodyPr wrap="square" lIns="0" tIns="0" rIns="0" bIns="0" rtlCol="0" anchor="ctr"/>
          <a:lstStyle/>
          <a:p>
            <a:pPr rtl="1" algn="r" indent="0" marL="0">
              <a:buNone/>
            </a:pPr>
            <a:r>
              <a:rPr lang="ar-SY" altLang="en-US" sz="1400" b="1" dirty="0">
                <a:solidFill>
                  <a:schemeClr val="bg1"/>
                </a:solidFill>
              </a:rPr>
              <a:t>كل القطع لازم تكون جوّا البِن. الشي الطالع بيعمل عوائق للدرايف وحوادث للبودات.</a:t>
            </a:r>
            <a:endParaRPr lang="ar-SY"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ما تسكّر عالقطع (B)</a:t>
            </a:r>
            <a:endParaRPr lang="ar-SY" sz="2800" dirty="0"/>
          </a:p>
        </p:txBody>
      </p:sp>
      <p:sp>
        <p:nvSpPr>
          <p:cNvPr id="3" name="Wrong panel"/>
          <p:cNvSpPr/>
          <p:nvPr/>
        </p:nvSpPr>
        <p:spPr>
          <a:xfrm>
            <a:off x="608076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Blocking: wrong example. A flat item in front hides the items behind it">    </p:cNvPr>
          <p:cNvPicPr>
            <a:picLocks noChangeAspect="1"/>
          </p:cNvPicPr>
          <p:nvPr/>
        </p:nvPicPr>
        <p:blipFill>
          <a:blip r:embed="rId1"/>
          <a:stretch>
            <a:fillRect/>
          </a:stretch>
        </p:blipFill>
        <p:spPr>
          <a:xfrm>
            <a:off x="6330117" y="1417320"/>
            <a:ext cx="2107326" cy="2103120"/>
          </a:xfrm>
          <a:prstGeom prst="rect">
            <a:avLst/>
          </a:prstGeom>
        </p:spPr>
      </p:pic>
      <p:sp>
        <p:nvSpPr>
          <p:cNvPr id="5" name="Wrong caption"/>
          <p:cNvSpPr txBox="1"/>
          <p:nvPr/>
        </p:nvSpPr>
        <p:spPr>
          <a:xfrm>
            <a:off x="621792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chemeClr val="accent3"/>
                </a:solidFill>
              </a:rPr>
              <a:t>غلط: </a:t>
            </a:r>
            <a:pPr rtl="1" algn="ctr" indent="0" marL="0">
              <a:buNone/>
            </a:pPr>
            <a:r>
              <a:rPr lang="ar-SY" altLang="en-US" sz="1300" dirty="0">
                <a:solidFill>
                  <a:schemeClr val="tx1"/>
                </a:solidFill>
              </a:rPr>
              <a:t>قطعة مسطّحة قدّام مخبّية اللي وراها</a:t>
            </a:r>
            <a:endParaRPr lang="ar-SY" sz="1300" dirty="0"/>
          </a:p>
        </p:txBody>
      </p:sp>
      <p:sp>
        <p:nvSpPr>
          <p:cNvPr id="6" name="Right panel"/>
          <p:cNvSpPr/>
          <p:nvPr/>
        </p:nvSpPr>
        <p:spPr>
          <a:xfrm>
            <a:off x="329184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Blocking: right example. Every item is visible from the front">    </p:cNvPr>
          <p:cNvPicPr>
            <a:picLocks noChangeAspect="1"/>
          </p:cNvPicPr>
          <p:nvPr/>
        </p:nvPicPr>
        <p:blipFill>
          <a:blip r:embed="rId2"/>
          <a:stretch>
            <a:fillRect/>
          </a:stretch>
        </p:blipFill>
        <p:spPr>
          <a:xfrm>
            <a:off x="3534888" y="1417320"/>
            <a:ext cx="2119945" cy="2103120"/>
          </a:xfrm>
          <a:prstGeom prst="rect">
            <a:avLst/>
          </a:prstGeom>
        </p:spPr>
      </p:pic>
      <p:sp>
        <p:nvSpPr>
          <p:cNvPr id="8" name="Right caption"/>
          <p:cNvSpPr txBox="1"/>
          <p:nvPr/>
        </p:nvSpPr>
        <p:spPr>
          <a:xfrm>
            <a:off x="342900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rgbClr val="2E7D32"/>
                </a:solidFill>
              </a:rPr>
              <a:t>صح: </a:t>
            </a:r>
            <a:pPr rtl="1" algn="ctr" indent="0" marL="0">
              <a:buNone/>
            </a:pPr>
            <a:r>
              <a:rPr lang="ar-SY" altLang="en-US" sz="1300" dirty="0">
                <a:solidFill>
                  <a:schemeClr val="tx1"/>
                </a:solidFill>
              </a:rPr>
              <a:t>كل قطعة مبيّنة من قدّام</a:t>
            </a:r>
            <a:endParaRPr lang="ar-SY" sz="1300" dirty="0"/>
          </a:p>
        </p:txBody>
      </p:sp>
      <p:sp>
        <p:nvSpPr>
          <p:cNvPr id="9" name="Rule card"/>
          <p:cNvSpPr/>
          <p:nvPr/>
        </p:nvSpPr>
        <p:spPr>
          <a:xfrm>
            <a:off x="3291840" y="4251960"/>
            <a:ext cx="5394960" cy="566928"/>
          </a:xfrm>
          <a:prstGeom prst="roundRect">
            <a:avLst>
              <a:gd name="adj" fmla="val 16129"/>
            </a:avLst>
          </a:prstGeom>
          <a:solidFill>
            <a:schemeClr val="tx2"/>
          </a:solidFill>
          <a:ln/>
        </p:spPr>
      </p:sp>
      <p:sp>
        <p:nvSpPr>
          <p:cNvPr id="10" name="Rule text"/>
          <p:cNvSpPr txBox="1"/>
          <p:nvPr/>
        </p:nvSpPr>
        <p:spPr>
          <a:xfrm>
            <a:off x="3520440" y="4251960"/>
            <a:ext cx="4937760" cy="566928"/>
          </a:xfrm>
          <a:prstGeom prst="rect">
            <a:avLst/>
          </a:prstGeom>
          <a:noFill/>
          <a:ln/>
        </p:spPr>
        <p:txBody>
          <a:bodyPr wrap="square" lIns="0" tIns="0" rIns="0" bIns="0" rtlCol="0" anchor="ctr"/>
          <a:lstStyle/>
          <a:p>
            <a:pPr rtl="1" algn="r" indent="0" marL="0">
              <a:buNone/>
            </a:pPr>
            <a:r>
              <a:rPr lang="ar-SY" altLang="en-US" sz="1400" b="1" dirty="0">
                <a:solidFill>
                  <a:schemeClr val="bg1"/>
                </a:solidFill>
              </a:rPr>
              <a:t>لا تسكّر عالقطع الصغيرة بقطع أكبر. وقّف القطع المسطّحة.</a:t>
            </a:r>
            <a:endParaRPr lang="ar-SY"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ما تحشي البِن (O)</a:t>
            </a:r>
            <a:endParaRPr lang="ar-SY" sz="2800" dirty="0"/>
          </a:p>
        </p:txBody>
      </p:sp>
      <p:sp>
        <p:nvSpPr>
          <p:cNvPr id="3" name="Wrong panel"/>
          <p:cNvSpPr/>
          <p:nvPr/>
        </p:nvSpPr>
        <p:spPr>
          <a:xfrm>
            <a:off x="608076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Overstuffing: wrong example. Items forced in, the bin is bulging">    </p:cNvPr>
          <p:cNvPicPr>
            <a:picLocks noChangeAspect="1"/>
          </p:cNvPicPr>
          <p:nvPr/>
        </p:nvPicPr>
        <p:blipFill>
          <a:blip r:embed="rId1"/>
          <a:stretch>
            <a:fillRect/>
          </a:stretch>
        </p:blipFill>
        <p:spPr>
          <a:xfrm>
            <a:off x="6243293" y="1417320"/>
            <a:ext cx="2280974" cy="2103120"/>
          </a:xfrm>
          <a:prstGeom prst="rect">
            <a:avLst/>
          </a:prstGeom>
        </p:spPr>
      </p:pic>
      <p:sp>
        <p:nvSpPr>
          <p:cNvPr id="5" name="Wrong caption"/>
          <p:cNvSpPr txBox="1"/>
          <p:nvPr/>
        </p:nvSpPr>
        <p:spPr>
          <a:xfrm>
            <a:off x="621792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chemeClr val="accent3"/>
                </a:solidFill>
              </a:rPr>
              <a:t>غلط: </a:t>
            </a:r>
            <a:pPr rtl="1" algn="ctr" indent="0" marL="0">
              <a:buNone/>
            </a:pPr>
            <a:r>
              <a:rPr lang="ar-SY" altLang="en-US" sz="1300" dirty="0">
                <a:solidFill>
                  <a:schemeClr val="tx1"/>
                </a:solidFill>
              </a:rPr>
              <a:t>قطع محشورة بالقوة، والبِن منفوخ</a:t>
            </a:r>
            <a:endParaRPr lang="ar-SY" sz="1300" dirty="0"/>
          </a:p>
        </p:txBody>
      </p:sp>
      <p:sp>
        <p:nvSpPr>
          <p:cNvPr id="6" name="Right panel"/>
          <p:cNvSpPr/>
          <p:nvPr/>
        </p:nvSpPr>
        <p:spPr>
          <a:xfrm>
            <a:off x="329184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Overstuffing: right example. Items fit with room to pick">    </p:cNvPr>
          <p:cNvPicPr>
            <a:picLocks noChangeAspect="1"/>
          </p:cNvPicPr>
          <p:nvPr/>
        </p:nvPicPr>
        <p:blipFill>
          <a:blip r:embed="rId2"/>
          <a:stretch>
            <a:fillRect/>
          </a:stretch>
        </p:blipFill>
        <p:spPr>
          <a:xfrm>
            <a:off x="3458819" y="1417320"/>
            <a:ext cx="2272081" cy="2103120"/>
          </a:xfrm>
          <a:prstGeom prst="rect">
            <a:avLst/>
          </a:prstGeom>
        </p:spPr>
      </p:pic>
      <p:sp>
        <p:nvSpPr>
          <p:cNvPr id="8" name="Right caption"/>
          <p:cNvSpPr txBox="1"/>
          <p:nvPr/>
        </p:nvSpPr>
        <p:spPr>
          <a:xfrm>
            <a:off x="342900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rgbClr val="2E7D32"/>
                </a:solidFill>
              </a:rPr>
              <a:t>صح: </a:t>
            </a:r>
            <a:pPr rtl="1" algn="ctr" indent="0" marL="0">
              <a:buNone/>
            </a:pPr>
            <a:r>
              <a:rPr lang="ar-SY" altLang="en-US" sz="1300" dirty="0">
                <a:solidFill>
                  <a:schemeClr val="tx1"/>
                </a:solidFill>
              </a:rPr>
              <a:t>القطع مرتاحة وفي مجال للبيك</a:t>
            </a:r>
            <a:endParaRPr lang="ar-SY" sz="1300" dirty="0"/>
          </a:p>
        </p:txBody>
      </p:sp>
      <p:sp>
        <p:nvSpPr>
          <p:cNvPr id="9" name="Rule card"/>
          <p:cNvSpPr/>
          <p:nvPr/>
        </p:nvSpPr>
        <p:spPr>
          <a:xfrm>
            <a:off x="3291840" y="4251960"/>
            <a:ext cx="5394960" cy="566928"/>
          </a:xfrm>
          <a:prstGeom prst="roundRect">
            <a:avLst>
              <a:gd name="adj" fmla="val 16129"/>
            </a:avLst>
          </a:prstGeom>
          <a:solidFill>
            <a:schemeClr val="tx2"/>
          </a:solidFill>
          <a:ln/>
        </p:spPr>
      </p:sp>
      <p:sp>
        <p:nvSpPr>
          <p:cNvPr id="10" name="Rule text"/>
          <p:cNvSpPr txBox="1"/>
          <p:nvPr/>
        </p:nvSpPr>
        <p:spPr>
          <a:xfrm>
            <a:off x="3520440" y="4251960"/>
            <a:ext cx="4937760" cy="566928"/>
          </a:xfrm>
          <a:prstGeom prst="rect">
            <a:avLst/>
          </a:prstGeom>
          <a:noFill/>
          <a:ln/>
        </p:spPr>
        <p:txBody>
          <a:bodyPr wrap="square" lIns="0" tIns="0" rIns="0" bIns="0" rtlCol="0" anchor="ctr"/>
          <a:lstStyle/>
          <a:p>
            <a:pPr rtl="1" algn="r" indent="0" marL="0">
              <a:buNone/>
            </a:pPr>
            <a:r>
              <a:rPr lang="ar-SY" altLang="en-US" sz="1400" b="1" dirty="0">
                <a:solidFill>
                  <a:schemeClr val="bg1"/>
                </a:solidFill>
              </a:rPr>
              <a:t>لا تعبّي البِن زيادة. الحشر بالقوة بيخرّب بضاعة الزبون.</a:t>
            </a:r>
            <a:endParaRPr lang="ar-SY"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العناوين لبرّا (T)</a:t>
            </a:r>
            <a:endParaRPr lang="ar-SY" sz="2800" dirty="0"/>
          </a:p>
        </p:txBody>
      </p:sp>
      <p:sp>
        <p:nvSpPr>
          <p:cNvPr id="3" name="Wrong panel"/>
          <p:cNvSpPr/>
          <p:nvPr/>
        </p:nvSpPr>
        <p:spPr>
          <a:xfrm>
            <a:off x="608076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Titles out: wrong example. Spines face in, so titles can't be read">    </p:cNvPr>
          <p:cNvPicPr>
            <a:picLocks noChangeAspect="1"/>
          </p:cNvPicPr>
          <p:nvPr/>
        </p:nvPicPr>
        <p:blipFill>
          <a:blip r:embed="rId1"/>
          <a:stretch>
            <a:fillRect/>
          </a:stretch>
        </p:blipFill>
        <p:spPr>
          <a:xfrm>
            <a:off x="6215634" y="1417320"/>
            <a:ext cx="2336292" cy="2103120"/>
          </a:xfrm>
          <a:prstGeom prst="rect">
            <a:avLst/>
          </a:prstGeom>
        </p:spPr>
      </p:pic>
      <p:sp>
        <p:nvSpPr>
          <p:cNvPr id="5" name="Wrong caption"/>
          <p:cNvSpPr txBox="1"/>
          <p:nvPr/>
        </p:nvSpPr>
        <p:spPr>
          <a:xfrm>
            <a:off x="621792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chemeClr val="accent3"/>
                </a:solidFill>
              </a:rPr>
              <a:t>غلط: </a:t>
            </a:r>
            <a:pPr rtl="1" algn="ctr" indent="0" marL="0">
              <a:buNone/>
            </a:pPr>
            <a:r>
              <a:rPr lang="ar-SY" altLang="en-US" sz="1300" dirty="0">
                <a:solidFill>
                  <a:schemeClr val="tx1"/>
                </a:solidFill>
              </a:rPr>
              <a:t>ضهر الكتب لجوّا، العناوين ما بتنقرا</a:t>
            </a:r>
            <a:endParaRPr lang="ar-SY" sz="1300" dirty="0"/>
          </a:p>
        </p:txBody>
      </p:sp>
      <p:sp>
        <p:nvSpPr>
          <p:cNvPr id="6" name="Right panel"/>
          <p:cNvSpPr/>
          <p:nvPr/>
        </p:nvSpPr>
        <p:spPr>
          <a:xfrm>
            <a:off x="329184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Titles out: right example. Spines face out, titles easy to read">    </p:cNvPr>
          <p:cNvPicPr>
            <a:picLocks noChangeAspect="1"/>
          </p:cNvPicPr>
          <p:nvPr/>
        </p:nvPicPr>
        <p:blipFill>
          <a:blip r:embed="rId2"/>
          <a:stretch>
            <a:fillRect/>
          </a:stretch>
        </p:blipFill>
        <p:spPr>
          <a:xfrm>
            <a:off x="3431286" y="1417320"/>
            <a:ext cx="2327148" cy="2103120"/>
          </a:xfrm>
          <a:prstGeom prst="rect">
            <a:avLst/>
          </a:prstGeom>
        </p:spPr>
      </p:pic>
      <p:sp>
        <p:nvSpPr>
          <p:cNvPr id="8" name="Right caption"/>
          <p:cNvSpPr txBox="1"/>
          <p:nvPr/>
        </p:nvSpPr>
        <p:spPr>
          <a:xfrm>
            <a:off x="342900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rgbClr val="2E7D32"/>
                </a:solidFill>
              </a:rPr>
              <a:t>صح: </a:t>
            </a:r>
            <a:pPr rtl="1" algn="ctr" indent="0" marL="0">
              <a:buNone/>
            </a:pPr>
            <a:r>
              <a:rPr lang="ar-SY" altLang="en-US" sz="1300" dirty="0">
                <a:solidFill>
                  <a:schemeClr val="tx1"/>
                </a:solidFill>
              </a:rPr>
              <a:t>ضهر الكتب لبرّا، العناوين واضحة</a:t>
            </a:r>
            <a:endParaRPr lang="ar-SY" sz="1300" dirty="0"/>
          </a:p>
        </p:txBody>
      </p:sp>
      <p:sp>
        <p:nvSpPr>
          <p:cNvPr id="9" name="Rule card"/>
          <p:cNvSpPr/>
          <p:nvPr/>
        </p:nvSpPr>
        <p:spPr>
          <a:xfrm>
            <a:off x="3291840" y="4251960"/>
            <a:ext cx="5394960" cy="566928"/>
          </a:xfrm>
          <a:prstGeom prst="roundRect">
            <a:avLst>
              <a:gd name="adj" fmla="val 16129"/>
            </a:avLst>
          </a:prstGeom>
          <a:solidFill>
            <a:schemeClr val="tx2"/>
          </a:solidFill>
          <a:ln/>
        </p:spPr>
      </p:sp>
      <p:sp>
        <p:nvSpPr>
          <p:cNvPr id="10" name="Rule text"/>
          <p:cNvSpPr txBox="1"/>
          <p:nvPr/>
        </p:nvSpPr>
        <p:spPr>
          <a:xfrm>
            <a:off x="3520440" y="4251960"/>
            <a:ext cx="4937760" cy="566928"/>
          </a:xfrm>
          <a:prstGeom prst="rect">
            <a:avLst/>
          </a:prstGeom>
          <a:noFill/>
          <a:ln/>
        </p:spPr>
        <p:txBody>
          <a:bodyPr wrap="square" lIns="0" tIns="0" rIns="0" bIns="0" rtlCol="0" anchor="ctr"/>
          <a:lstStyle/>
          <a:p>
            <a:pPr rtl="1" algn="r" indent="0" marL="0">
              <a:buNone/>
            </a:pPr>
            <a:r>
              <a:rPr lang="ar-SY" altLang="en-US" sz="1400" b="1" dirty="0">
                <a:solidFill>
                  <a:schemeClr val="bg1"/>
                </a:solidFill>
              </a:rPr>
              <a:t>الكتب والـ DVD بتنحط وضهرها لبرّا.</a:t>
            </a:r>
            <a:endParaRPr lang="ar-SY"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الترصيص (S)</a:t>
            </a:r>
            <a:endParaRPr lang="ar-SY" sz="2800" dirty="0"/>
          </a:p>
        </p:txBody>
      </p:sp>
      <p:sp>
        <p:nvSpPr>
          <p:cNvPr id="3" name="Wrong panel"/>
          <p:cNvSpPr/>
          <p:nvPr/>
        </p:nvSpPr>
        <p:spPr>
          <a:xfrm>
            <a:off x="608076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Stacking: wrong example. Different items stacked on top of each other">    </p:cNvPr>
          <p:cNvPicPr>
            <a:picLocks noChangeAspect="1"/>
          </p:cNvPicPr>
          <p:nvPr/>
        </p:nvPicPr>
        <p:blipFill>
          <a:blip r:embed="rId1"/>
          <a:stretch>
            <a:fillRect/>
          </a:stretch>
        </p:blipFill>
        <p:spPr>
          <a:xfrm>
            <a:off x="6246837" y="1417320"/>
            <a:ext cx="2273886" cy="2103120"/>
          </a:xfrm>
          <a:prstGeom prst="rect">
            <a:avLst/>
          </a:prstGeom>
        </p:spPr>
      </p:pic>
      <p:sp>
        <p:nvSpPr>
          <p:cNvPr id="5" name="Wrong caption"/>
          <p:cNvSpPr txBox="1"/>
          <p:nvPr/>
        </p:nvSpPr>
        <p:spPr>
          <a:xfrm>
            <a:off x="621792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chemeClr val="accent3"/>
                </a:solidFill>
              </a:rPr>
              <a:t>غلط: </a:t>
            </a:r>
            <a:pPr rtl="1" algn="ctr" indent="0" marL="0">
              <a:buNone/>
            </a:pPr>
            <a:r>
              <a:rPr lang="ar-SY" altLang="en-US" sz="1300" dirty="0">
                <a:solidFill>
                  <a:schemeClr val="tx1"/>
                </a:solidFill>
              </a:rPr>
              <a:t>قطع مختلفة مرصوصة فوق بعض</a:t>
            </a:r>
            <a:endParaRPr lang="ar-SY" sz="1300" dirty="0"/>
          </a:p>
        </p:txBody>
      </p:sp>
      <p:sp>
        <p:nvSpPr>
          <p:cNvPr id="6" name="Right panel"/>
          <p:cNvSpPr/>
          <p:nvPr/>
        </p:nvSpPr>
        <p:spPr>
          <a:xfrm>
            <a:off x="329184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Stacking: right example. Items stand side by side, below the bands">    </p:cNvPr>
          <p:cNvPicPr>
            <a:picLocks noChangeAspect="1"/>
          </p:cNvPicPr>
          <p:nvPr/>
        </p:nvPicPr>
        <p:blipFill>
          <a:blip r:embed="rId2"/>
          <a:stretch>
            <a:fillRect/>
          </a:stretch>
        </p:blipFill>
        <p:spPr>
          <a:xfrm>
            <a:off x="3475892" y="1417320"/>
            <a:ext cx="2237935" cy="2103120"/>
          </a:xfrm>
          <a:prstGeom prst="rect">
            <a:avLst/>
          </a:prstGeom>
        </p:spPr>
      </p:pic>
      <p:sp>
        <p:nvSpPr>
          <p:cNvPr id="8" name="Right caption"/>
          <p:cNvSpPr txBox="1"/>
          <p:nvPr/>
        </p:nvSpPr>
        <p:spPr>
          <a:xfrm>
            <a:off x="342900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rgbClr val="2E7D32"/>
                </a:solidFill>
              </a:rPr>
              <a:t>صح: </a:t>
            </a:r>
            <a:pPr rtl="1" algn="ctr" indent="0" marL="0">
              <a:buNone/>
            </a:pPr>
            <a:r>
              <a:rPr lang="ar-SY" altLang="en-US" sz="1300" dirty="0">
                <a:solidFill>
                  <a:schemeClr val="tx1"/>
                </a:solidFill>
              </a:rPr>
              <a:t>القطع واقفة جنب بعض، تحت الأحزمة</a:t>
            </a:r>
            <a:endParaRPr lang="ar-SY" sz="1300" dirty="0"/>
          </a:p>
        </p:txBody>
      </p:sp>
      <p:sp>
        <p:nvSpPr>
          <p:cNvPr id="9" name="Rule card"/>
          <p:cNvSpPr/>
          <p:nvPr/>
        </p:nvSpPr>
        <p:spPr>
          <a:xfrm>
            <a:off x="3291840" y="4251960"/>
            <a:ext cx="5394960" cy="566928"/>
          </a:xfrm>
          <a:prstGeom prst="roundRect">
            <a:avLst>
              <a:gd name="adj" fmla="val 16129"/>
            </a:avLst>
          </a:prstGeom>
          <a:solidFill>
            <a:schemeClr val="tx2"/>
          </a:solidFill>
          <a:ln/>
        </p:spPr>
      </p:sp>
      <p:sp>
        <p:nvSpPr>
          <p:cNvPr id="10" name="Rule text"/>
          <p:cNvSpPr txBox="1"/>
          <p:nvPr/>
        </p:nvSpPr>
        <p:spPr>
          <a:xfrm>
            <a:off x="3520440" y="4251960"/>
            <a:ext cx="4937760" cy="566928"/>
          </a:xfrm>
          <a:prstGeom prst="rect">
            <a:avLst/>
          </a:prstGeom>
          <a:noFill/>
          <a:ln/>
        </p:spPr>
        <p:txBody>
          <a:bodyPr wrap="square" lIns="0" tIns="0" rIns="0" bIns="0" rtlCol="0" anchor="ctr"/>
          <a:lstStyle/>
          <a:p>
            <a:pPr rtl="1" algn="r" indent="0" marL="0">
              <a:buNone/>
            </a:pPr>
            <a:r>
              <a:rPr lang="ar-SY" altLang="en-US" sz="1400" b="1" dirty="0">
                <a:solidFill>
                  <a:schemeClr val="bg1"/>
                </a:solidFill>
              </a:rPr>
              <a:t>رصّ بس نفس الـ ASIN، إذا إلها جهتين مسطّحين، وخلّيها تحت الأحزمة.</a:t>
            </a:r>
            <a:endParaRPr lang="ar-SY"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القطع المتشابهة (S)</a:t>
            </a:r>
            <a:endParaRPr lang="ar-SY" sz="2800" dirty="0"/>
          </a:p>
        </p:txBody>
      </p:sp>
      <p:sp>
        <p:nvSpPr>
          <p:cNvPr id="3" name="Wrong panel"/>
          <p:cNvSpPr/>
          <p:nvPr/>
        </p:nvSpPr>
        <p:spPr>
          <a:xfrm>
            <a:off x="608076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Similar items: wrong example. Two look-alike items share one bin">    </p:cNvPr>
          <p:cNvPicPr>
            <a:picLocks noChangeAspect="1"/>
          </p:cNvPicPr>
          <p:nvPr/>
        </p:nvPicPr>
        <p:blipFill>
          <a:blip r:embed="rId1"/>
          <a:stretch>
            <a:fillRect/>
          </a:stretch>
        </p:blipFill>
        <p:spPr>
          <a:xfrm>
            <a:off x="6232071" y="1417320"/>
            <a:ext cx="2303417" cy="2103120"/>
          </a:xfrm>
          <a:prstGeom prst="rect">
            <a:avLst/>
          </a:prstGeom>
        </p:spPr>
      </p:pic>
      <p:sp>
        <p:nvSpPr>
          <p:cNvPr id="5" name="Wrong caption"/>
          <p:cNvSpPr txBox="1"/>
          <p:nvPr/>
        </p:nvSpPr>
        <p:spPr>
          <a:xfrm>
            <a:off x="621792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chemeClr val="accent3"/>
                </a:solidFill>
              </a:rPr>
              <a:t>غلط: </a:t>
            </a:r>
            <a:pPr rtl="1" algn="ctr" indent="0" marL="0">
              <a:buNone/>
            </a:pPr>
            <a:r>
              <a:rPr lang="ar-SY" altLang="en-US" sz="1300" dirty="0">
                <a:solidFill>
                  <a:schemeClr val="tx1"/>
                </a:solidFill>
              </a:rPr>
              <a:t>قطعتين متل بعض بنفس البِن</a:t>
            </a:r>
            <a:endParaRPr lang="ar-SY" sz="1300" dirty="0"/>
          </a:p>
        </p:txBody>
      </p:sp>
      <p:sp>
        <p:nvSpPr>
          <p:cNvPr id="6" name="Right panel"/>
          <p:cNvSpPr/>
          <p:nvPr/>
        </p:nvSpPr>
        <p:spPr>
          <a:xfrm>
            <a:off x="329184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Similar items: right example. Look-alikes are kept in different bins">    </p:cNvPr>
          <p:cNvPicPr>
            <a:picLocks noChangeAspect="1"/>
          </p:cNvPicPr>
          <p:nvPr/>
        </p:nvPicPr>
        <p:blipFill>
          <a:blip r:embed="rId2"/>
          <a:stretch>
            <a:fillRect/>
          </a:stretch>
        </p:blipFill>
        <p:spPr>
          <a:xfrm>
            <a:off x="3443151" y="1417320"/>
            <a:ext cx="2303417" cy="2103120"/>
          </a:xfrm>
          <a:prstGeom prst="rect">
            <a:avLst/>
          </a:prstGeom>
        </p:spPr>
      </p:pic>
      <p:sp>
        <p:nvSpPr>
          <p:cNvPr id="8" name="Right caption"/>
          <p:cNvSpPr txBox="1"/>
          <p:nvPr/>
        </p:nvSpPr>
        <p:spPr>
          <a:xfrm>
            <a:off x="342900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rgbClr val="2E7D32"/>
                </a:solidFill>
              </a:rPr>
              <a:t>صح: </a:t>
            </a:r>
            <a:pPr rtl="1" algn="ctr" indent="0" marL="0">
              <a:buNone/>
            </a:pPr>
            <a:r>
              <a:rPr lang="ar-SY" altLang="en-US" sz="1300" dirty="0">
                <a:solidFill>
                  <a:schemeClr val="tx1"/>
                </a:solidFill>
              </a:rPr>
              <a:t>القطع المتشابهة كل وحدة ببِن</a:t>
            </a:r>
            <a:endParaRPr lang="ar-SY" sz="1300" dirty="0"/>
          </a:p>
        </p:txBody>
      </p:sp>
      <p:sp>
        <p:nvSpPr>
          <p:cNvPr id="9" name="Rule card"/>
          <p:cNvSpPr/>
          <p:nvPr/>
        </p:nvSpPr>
        <p:spPr>
          <a:xfrm>
            <a:off x="3291840" y="4251960"/>
            <a:ext cx="5394960" cy="566928"/>
          </a:xfrm>
          <a:prstGeom prst="roundRect">
            <a:avLst>
              <a:gd name="adj" fmla="val 16129"/>
            </a:avLst>
          </a:prstGeom>
          <a:solidFill>
            <a:schemeClr val="tx2"/>
          </a:solidFill>
          <a:ln/>
        </p:spPr>
      </p:sp>
      <p:sp>
        <p:nvSpPr>
          <p:cNvPr id="10" name="Rule text"/>
          <p:cNvSpPr txBox="1"/>
          <p:nvPr/>
        </p:nvSpPr>
        <p:spPr>
          <a:xfrm>
            <a:off x="3520440" y="4251960"/>
            <a:ext cx="4937760" cy="566928"/>
          </a:xfrm>
          <a:prstGeom prst="rect">
            <a:avLst/>
          </a:prstGeom>
          <a:noFill/>
          <a:ln/>
        </p:spPr>
        <p:txBody>
          <a:bodyPr wrap="square" lIns="0" tIns="0" rIns="0" bIns="0" rtlCol="0" anchor="ctr"/>
          <a:lstStyle/>
          <a:p>
            <a:pPr rtl="1" algn="r" indent="0" marL="0">
              <a:buNone/>
            </a:pPr>
            <a:r>
              <a:rPr lang="ar-SY" altLang="en-US" sz="1400" b="1" dirty="0">
                <a:solidFill>
                  <a:schemeClr val="bg1"/>
                </a:solidFill>
              </a:rPr>
              <a:t>استعمل طريقة الكروس. السيستم مو دايماً بينبّهك عالقطع المتشابهة.</a:t>
            </a:r>
            <a:endParaRPr lang="ar-SY"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شيفتك، بِن ببِن</a:t>
            </a:r>
            <a:endParaRPr lang="ar-SY" sz="2800" dirty="0"/>
          </a:p>
        </p:txBody>
      </p:sp>
      <p:sp>
        <p:nvSpPr>
          <p:cNvPr id="3" name="Recap circle 1"/>
          <p:cNvSpPr/>
          <p:nvPr/>
        </p:nvSpPr>
        <p:spPr>
          <a:xfrm>
            <a:off x="7406640" y="1371600"/>
            <a:ext cx="868680" cy="868680"/>
          </a:xfrm>
          <a:prstGeom prst="ellipse">
            <a:avLst/>
          </a:prstGeom>
          <a:solidFill>
            <a:schemeClr val="accent1"/>
          </a:solidFill>
          <a:ln/>
        </p:spPr>
      </p:sp>
      <p:pic>
        <p:nvPicPr>
          <p:cNvPr id="4" name="Recap icon 1" descr="preencoded.png">    </p:cNvPr>
          <p:cNvPicPr>
            <a:picLocks noChangeAspect="1"/>
          </p:cNvPicPr>
          <p:nvPr/>
        </p:nvPicPr>
        <p:blipFill>
          <a:blip r:embed="rId1"/>
          <a:stretch>
            <a:fillRect/>
          </a:stretch>
        </p:blipFill>
        <p:spPr>
          <a:xfrm>
            <a:off x="7626096" y="1591056"/>
            <a:ext cx="429768" cy="429768"/>
          </a:xfrm>
          <a:prstGeom prst="rect">
            <a:avLst/>
          </a:prstGeom>
        </p:spPr>
      </p:pic>
      <p:sp>
        <p:nvSpPr>
          <p:cNvPr id="5" name="Recap text 1"/>
          <p:cNvSpPr txBox="1"/>
          <p:nvPr/>
        </p:nvSpPr>
        <p:spPr>
          <a:xfrm>
            <a:off x="6995160" y="2423160"/>
            <a:ext cx="1691640" cy="1097280"/>
          </a:xfrm>
          <a:prstGeom prst="rect">
            <a:avLst/>
          </a:prstGeom>
          <a:noFill/>
          <a:ln/>
        </p:spPr>
        <p:txBody>
          <a:bodyPr wrap="square" lIns="0" tIns="0" rIns="0" bIns="0" rtlCol="0" anchor="t"/>
          <a:lstStyle/>
          <a:p>
            <a:pPr rtl="1" algn="ctr" indent="0" marL="0">
              <a:buNone/>
            </a:pPr>
            <a:r>
              <a:rPr lang="ar-SY" altLang="en-US" sz="1300" dirty="0">
                <a:solidFill>
                  <a:schemeClr val="accent4"/>
                </a:solidFill>
              </a:rPr>
              <a:t>ببداية الشيفت وبعد الاستراحات</a:t>
            </a:r>
            <a:endParaRPr lang="ar-SY" sz="1300" dirty="0"/>
          </a:p>
          <a:p>
            <a:pPr rtl="1" algn="ctr" indent="0" marL="0">
              <a:buNone/>
            </a:pPr>
            <a:r>
              <a:rPr lang="ar-SY" altLang="en-US" sz="1700" b="1" dirty="0">
                <a:solidFill>
                  <a:schemeClr val="tx1"/>
                </a:solidFill>
              </a:rPr>
              <a:t>FFF لمدة دقيقة</a:t>
            </a:r>
            <a:endParaRPr lang="ar-SY" sz="1300" dirty="0"/>
          </a:p>
        </p:txBody>
      </p:sp>
      <p:pic>
        <p:nvPicPr>
          <p:cNvPr id="6" name="Arrow 1" descr="preencoded.png">    </p:cNvPr>
          <p:cNvPicPr>
            <a:picLocks noChangeAspect="1"/>
          </p:cNvPicPr>
          <p:nvPr/>
        </p:nvPicPr>
        <p:blipFill>
          <a:blip r:embed="rId2"/>
          <a:stretch>
            <a:fillRect/>
          </a:stretch>
        </p:blipFill>
        <p:spPr>
          <a:xfrm>
            <a:off x="6748272" y="1664208"/>
            <a:ext cx="274320" cy="274320"/>
          </a:xfrm>
          <a:prstGeom prst="rect">
            <a:avLst/>
          </a:prstGeom>
        </p:spPr>
      </p:pic>
      <p:sp>
        <p:nvSpPr>
          <p:cNvPr id="7" name="Recap circle 2"/>
          <p:cNvSpPr/>
          <p:nvPr/>
        </p:nvSpPr>
        <p:spPr>
          <a:xfrm>
            <a:off x="5577840" y="1371600"/>
            <a:ext cx="868680" cy="868680"/>
          </a:xfrm>
          <a:prstGeom prst="ellipse">
            <a:avLst/>
          </a:prstGeom>
          <a:solidFill>
            <a:schemeClr val="accent1"/>
          </a:solidFill>
          <a:ln/>
        </p:spPr>
      </p:sp>
      <p:pic>
        <p:nvPicPr>
          <p:cNvPr id="8" name="Recap icon 2" descr="preencoded.png">    </p:cNvPr>
          <p:cNvPicPr>
            <a:picLocks noChangeAspect="1"/>
          </p:cNvPicPr>
          <p:nvPr/>
        </p:nvPicPr>
        <p:blipFill>
          <a:blip r:embed="rId3"/>
          <a:stretch>
            <a:fillRect/>
          </a:stretch>
        </p:blipFill>
        <p:spPr>
          <a:xfrm>
            <a:off x="5797296" y="1591056"/>
            <a:ext cx="429768" cy="429768"/>
          </a:xfrm>
          <a:prstGeom prst="rect">
            <a:avLst/>
          </a:prstGeom>
        </p:spPr>
      </p:pic>
      <p:sp>
        <p:nvSpPr>
          <p:cNvPr id="9" name="Recap text 2"/>
          <p:cNvSpPr txBox="1"/>
          <p:nvPr/>
        </p:nvSpPr>
        <p:spPr>
          <a:xfrm>
            <a:off x="5166360" y="2423160"/>
            <a:ext cx="1691640" cy="1097280"/>
          </a:xfrm>
          <a:prstGeom prst="rect">
            <a:avLst/>
          </a:prstGeom>
          <a:noFill/>
          <a:ln/>
        </p:spPr>
        <p:txBody>
          <a:bodyPr wrap="square" lIns="0" tIns="0" rIns="0" bIns="0" rtlCol="0" anchor="t"/>
          <a:lstStyle/>
          <a:p>
            <a:pPr rtl="1" algn="ctr" indent="0" marL="0">
              <a:buNone/>
            </a:pPr>
            <a:r>
              <a:rPr lang="ar-SY" altLang="en-US" sz="1300" dirty="0">
                <a:solidFill>
                  <a:schemeClr val="accent4"/>
                </a:solidFill>
              </a:rPr>
              <a:t>كل بِن بتلمسه</a:t>
            </a:r>
            <a:endParaRPr lang="ar-SY" sz="1300" dirty="0"/>
          </a:p>
          <a:p>
            <a:pPr rtl="1" algn="ctr" indent="0" marL="0">
              <a:buNone/>
            </a:pPr>
            <a:r>
              <a:rPr lang="ar-SY" altLang="en-US" sz="1700" b="1" dirty="0">
                <a:solidFill>
                  <a:schemeClr val="tx1"/>
                </a:solidFill>
              </a:rPr>
              <a:t>طبّق ROBOTSS</a:t>
            </a:r>
            <a:endParaRPr lang="ar-SY" sz="1300" dirty="0"/>
          </a:p>
        </p:txBody>
      </p:sp>
      <p:pic>
        <p:nvPicPr>
          <p:cNvPr id="10" name="Arrow 2" descr="preencoded.png">    </p:cNvPr>
          <p:cNvPicPr>
            <a:picLocks noChangeAspect="1"/>
          </p:cNvPicPr>
          <p:nvPr/>
        </p:nvPicPr>
        <p:blipFill>
          <a:blip r:embed="rId4"/>
          <a:stretch>
            <a:fillRect/>
          </a:stretch>
        </p:blipFill>
        <p:spPr>
          <a:xfrm>
            <a:off x="4919472" y="1664208"/>
            <a:ext cx="274320" cy="274320"/>
          </a:xfrm>
          <a:prstGeom prst="rect">
            <a:avLst/>
          </a:prstGeom>
        </p:spPr>
      </p:pic>
      <p:sp>
        <p:nvSpPr>
          <p:cNvPr id="11" name="Recap circle 3"/>
          <p:cNvSpPr/>
          <p:nvPr/>
        </p:nvSpPr>
        <p:spPr>
          <a:xfrm>
            <a:off x="3749040" y="1371600"/>
            <a:ext cx="868680" cy="868680"/>
          </a:xfrm>
          <a:prstGeom prst="ellipse">
            <a:avLst/>
          </a:prstGeom>
          <a:solidFill>
            <a:schemeClr val="accent1"/>
          </a:solidFill>
          <a:ln/>
        </p:spPr>
      </p:sp>
      <p:pic>
        <p:nvPicPr>
          <p:cNvPr id="12" name="Recap icon 3" descr="preencoded.png">    </p:cNvPr>
          <p:cNvPicPr>
            <a:picLocks noChangeAspect="1"/>
          </p:cNvPicPr>
          <p:nvPr/>
        </p:nvPicPr>
        <p:blipFill>
          <a:blip r:embed="rId5"/>
          <a:stretch>
            <a:fillRect/>
          </a:stretch>
        </p:blipFill>
        <p:spPr>
          <a:xfrm>
            <a:off x="3968496" y="1591056"/>
            <a:ext cx="429768" cy="429768"/>
          </a:xfrm>
          <a:prstGeom prst="rect">
            <a:avLst/>
          </a:prstGeom>
        </p:spPr>
      </p:pic>
      <p:sp>
        <p:nvSpPr>
          <p:cNvPr id="13" name="Recap text 3"/>
          <p:cNvSpPr txBox="1"/>
          <p:nvPr/>
        </p:nvSpPr>
        <p:spPr>
          <a:xfrm>
            <a:off x="3337560" y="2423160"/>
            <a:ext cx="1691640" cy="1097280"/>
          </a:xfrm>
          <a:prstGeom prst="rect">
            <a:avLst/>
          </a:prstGeom>
          <a:noFill/>
          <a:ln/>
        </p:spPr>
        <p:txBody>
          <a:bodyPr wrap="square" lIns="0" tIns="0" rIns="0" bIns="0" rtlCol="0" anchor="t"/>
          <a:lstStyle/>
          <a:p>
            <a:pPr rtl="1" algn="ctr" indent="0" marL="0">
              <a:buNone/>
            </a:pPr>
            <a:r>
              <a:rPr lang="ar-SY" altLang="en-US" sz="1300" dirty="0">
                <a:solidFill>
                  <a:schemeClr val="accent4"/>
                </a:solidFill>
              </a:rPr>
              <a:t>طول الشيفت</a:t>
            </a:r>
            <a:endParaRPr lang="ar-SY" sz="1300" dirty="0"/>
          </a:p>
          <a:p>
            <a:pPr rtl="1" algn="ctr" indent="0" marL="0">
              <a:buNone/>
            </a:pPr>
            <a:r>
              <a:rPr lang="ar-SY" altLang="en-US" sz="1700" b="1" dirty="0">
                <a:solidFill>
                  <a:schemeClr val="tx1"/>
                </a:solidFill>
              </a:rPr>
              <a:t>رتّب وانت ماشي</a:t>
            </a:r>
            <a:endParaRPr lang="ar-SY" sz="1300" dirty="0"/>
          </a:p>
        </p:txBody>
      </p:sp>
      <p:sp>
        <p:nvSpPr>
          <p:cNvPr id="14" name="Goal card"/>
          <p:cNvSpPr/>
          <p:nvPr/>
        </p:nvSpPr>
        <p:spPr>
          <a:xfrm>
            <a:off x="3291840" y="3749040"/>
            <a:ext cx="5394960" cy="777240"/>
          </a:xfrm>
          <a:prstGeom prst="roundRect">
            <a:avLst>
              <a:gd name="adj" fmla="val 11765"/>
            </a:avLst>
          </a:prstGeom>
          <a:solidFill>
            <a:schemeClr val="tx2"/>
          </a:solidFill>
          <a:ln/>
        </p:spPr>
      </p:sp>
      <p:sp>
        <p:nvSpPr>
          <p:cNvPr id="15" name="Goal text"/>
          <p:cNvSpPr txBox="1"/>
          <p:nvPr/>
        </p:nvSpPr>
        <p:spPr>
          <a:xfrm>
            <a:off x="3566160" y="3749040"/>
            <a:ext cx="4846320" cy="777240"/>
          </a:xfrm>
          <a:prstGeom prst="rect">
            <a:avLst/>
          </a:prstGeom>
          <a:noFill/>
          <a:ln/>
        </p:spPr>
        <p:txBody>
          <a:bodyPr wrap="square" lIns="0" tIns="0" rIns="0" bIns="0" rtlCol="0" anchor="ctr"/>
          <a:lstStyle/>
          <a:p>
            <a:pPr rtl="1" algn="r" indent="0" marL="0">
              <a:buNone/>
            </a:pPr>
            <a:r>
              <a:rPr lang="ar-SY" altLang="en-US" sz="1600" b="1" dirty="0">
                <a:solidFill>
                  <a:srgbClr val="9EDFF7"/>
                </a:solidFill>
              </a:rPr>
              <a:t>الهدف: </a:t>
            </a:r>
            <a:pPr rtl="1" algn="r" indent="0" marL="0">
              <a:buNone/>
            </a:pPr>
            <a:r>
              <a:rPr lang="ar-SY" altLang="en-US" sz="1600" dirty="0">
                <a:solidFill>
                  <a:schemeClr val="bg1"/>
                </a:solidFill>
              </a:rPr>
              <a:t>قطع أقل عم توقع، wAPMT أقل، وزباين مبسوطين.</a:t>
            </a:r>
            <a:endParaRPr lang="ar-SY"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Closing title"/>
          <p:cNvSpPr txBox="1"/>
          <p:nvPr/>
        </p:nvSpPr>
        <p:spPr>
          <a:xfrm>
            <a:off x="1371600" y="411480"/>
            <a:ext cx="6400800" cy="640080"/>
          </a:xfrm>
          <a:prstGeom prst="rect">
            <a:avLst/>
          </a:prstGeom>
          <a:noFill/>
          <a:ln/>
        </p:spPr>
        <p:txBody>
          <a:bodyPr wrap="square" lIns="0" tIns="0" rIns="0" bIns="0" rtlCol="0" anchor="ctr"/>
          <a:lstStyle/>
          <a:p>
            <a:pPr rtl="1" algn="ctr" indent="0" marL="0">
              <a:buNone/>
            </a:pPr>
            <a:r>
              <a:rPr lang="ar-SY" altLang="en-US" sz="3200" dirty="0">
                <a:solidFill>
                  <a:schemeClr val="accent1"/>
                </a:solidFill>
                <a:latin typeface="Arial" pitchFamily="34" charset="0"/>
                <a:ea typeface="Arial" pitchFamily="34" charset="-122"/>
                <a:cs typeface="Arial" pitchFamily="34" charset="-120"/>
              </a:rPr>
              <a:t>تعلّم وخلّيك فضولي</a:t>
            </a:r>
            <a:endParaRPr lang="ar-SY" sz="3200" dirty="0"/>
          </a:p>
        </p:txBody>
      </p:sp>
      <p:sp>
        <p:nvSpPr>
          <p:cNvPr id="3" name="Closing tagline"/>
          <p:cNvSpPr txBox="1"/>
          <p:nvPr/>
        </p:nvSpPr>
        <p:spPr>
          <a:xfrm>
            <a:off x="1371600" y="2651760"/>
            <a:ext cx="6400800" cy="457200"/>
          </a:xfrm>
          <a:prstGeom prst="rect">
            <a:avLst/>
          </a:prstGeom>
          <a:noFill/>
          <a:ln/>
        </p:spPr>
        <p:txBody>
          <a:bodyPr wrap="square" lIns="0" tIns="0" rIns="0" bIns="0" rtlCol="0" anchor="ctr"/>
          <a:lstStyle/>
          <a:p>
            <a:pPr rtl="1" algn="ctr" indent="0" marL="0">
              <a:buNone/>
            </a:pPr>
            <a:r>
              <a:rPr lang="ar-SY" altLang="en-US" sz="1800" b="1" dirty="0">
                <a:solidFill>
                  <a:schemeClr val="tx1"/>
                </a:solidFill>
              </a:rPr>
              <a:t>تصليحات صغيرة. فرق كبير.</a:t>
            </a:r>
            <a:endParaRPr lang="ar-SY" sz="1800" dirty="0"/>
          </a:p>
        </p:txBody>
      </p:sp>
      <p:sp>
        <p:nvSpPr>
          <p:cNvPr id="4" name="Rate label"/>
          <p:cNvSpPr txBox="1"/>
          <p:nvPr/>
        </p:nvSpPr>
        <p:spPr>
          <a:xfrm>
            <a:off x="4754880" y="3429000"/>
            <a:ext cx="1600200" cy="365760"/>
          </a:xfrm>
          <a:prstGeom prst="rect">
            <a:avLst/>
          </a:prstGeom>
          <a:noFill/>
          <a:ln/>
        </p:spPr>
        <p:txBody>
          <a:bodyPr wrap="square" lIns="0" tIns="0" rIns="0" bIns="0" rtlCol="0" anchor="ctr"/>
          <a:lstStyle/>
          <a:p>
            <a:pPr rtl="1" algn="l" indent="0" marL="0">
              <a:buNone/>
            </a:pPr>
            <a:r>
              <a:rPr lang="ar-SY" altLang="en-US" sz="1600" dirty="0">
                <a:solidFill>
                  <a:schemeClr val="tx1"/>
                </a:solidFill>
              </a:rPr>
              <a:t>قيّم هالفيديو</a:t>
            </a:r>
            <a:endParaRPr lang="ar-SY" sz="1600" dirty="0"/>
          </a:p>
        </p:txBody>
      </p:sp>
      <p:pic>
        <p:nvPicPr>
          <p:cNvPr id="5" name="Star 1" descr="preencoded.png">    </p:cNvPr>
          <p:cNvPicPr>
            <a:picLocks noChangeAspect="1"/>
          </p:cNvPicPr>
          <p:nvPr/>
        </p:nvPicPr>
        <p:blipFill>
          <a:blip r:embed="rId1"/>
          <a:stretch>
            <a:fillRect/>
          </a:stretch>
        </p:blipFill>
        <p:spPr>
          <a:xfrm>
            <a:off x="4343400" y="3474720"/>
            <a:ext cx="274320" cy="274320"/>
          </a:xfrm>
          <a:prstGeom prst="rect">
            <a:avLst/>
          </a:prstGeom>
        </p:spPr>
      </p:pic>
      <p:pic>
        <p:nvPicPr>
          <p:cNvPr id="6" name="Star 2" descr="preencoded.png">    </p:cNvPr>
          <p:cNvPicPr>
            <a:picLocks noChangeAspect="1"/>
          </p:cNvPicPr>
          <p:nvPr/>
        </p:nvPicPr>
        <p:blipFill>
          <a:blip r:embed="rId2"/>
          <a:stretch>
            <a:fillRect/>
          </a:stretch>
        </p:blipFill>
        <p:spPr>
          <a:xfrm>
            <a:off x="3995928" y="3474720"/>
            <a:ext cx="274320" cy="274320"/>
          </a:xfrm>
          <a:prstGeom prst="rect">
            <a:avLst/>
          </a:prstGeom>
        </p:spPr>
      </p:pic>
      <p:pic>
        <p:nvPicPr>
          <p:cNvPr id="7" name="Star 3" descr="preencoded.png">    </p:cNvPr>
          <p:cNvPicPr>
            <a:picLocks noChangeAspect="1"/>
          </p:cNvPicPr>
          <p:nvPr/>
        </p:nvPicPr>
        <p:blipFill>
          <a:blip r:embed="rId3"/>
          <a:stretch>
            <a:fillRect/>
          </a:stretch>
        </p:blipFill>
        <p:spPr>
          <a:xfrm>
            <a:off x="3648456" y="3474720"/>
            <a:ext cx="274320" cy="274320"/>
          </a:xfrm>
          <a:prstGeom prst="rect">
            <a:avLst/>
          </a:prstGeom>
        </p:spPr>
      </p:pic>
      <p:pic>
        <p:nvPicPr>
          <p:cNvPr id="8" name="Star 4" descr="preencoded.png">    </p:cNvPr>
          <p:cNvPicPr>
            <a:picLocks noChangeAspect="1"/>
          </p:cNvPicPr>
          <p:nvPr/>
        </p:nvPicPr>
        <p:blipFill>
          <a:blip r:embed="rId4"/>
          <a:stretch>
            <a:fillRect/>
          </a:stretch>
        </p:blipFill>
        <p:spPr>
          <a:xfrm>
            <a:off x="3300984" y="3474720"/>
            <a:ext cx="274320" cy="274320"/>
          </a:xfrm>
          <a:prstGeom prst="rect">
            <a:avLst/>
          </a:prstGeom>
        </p:spPr>
      </p:pic>
      <p:pic>
        <p:nvPicPr>
          <p:cNvPr id="9" name="Star 5" descr="preencoded.png">    </p:cNvPr>
          <p:cNvPicPr>
            <a:picLocks noChangeAspect="1"/>
          </p:cNvPicPr>
          <p:nvPr/>
        </p:nvPicPr>
        <p:blipFill>
          <a:blip r:embed="rId5"/>
          <a:stretch>
            <a:fillRect/>
          </a:stretch>
        </p:blipFill>
        <p:spPr>
          <a:xfrm>
            <a:off x="2953512" y="3474720"/>
            <a:ext cx="274320" cy="274320"/>
          </a:xfrm>
          <a:prstGeom prst="rect">
            <a:avLst/>
          </a:prstGeom>
        </p:spPr>
      </p:pic>
    </p:spTree>
  </p:cSld>
  <p:clrMapOvr>
    <a:masterClrMapping/>
  </p:clrMapOvr>
</p:sld>
</file>

<file path=ppt/theme/theme1.xml><?xml version="1.0" encoding="utf-8"?>
<a:theme xmlns:a="http://schemas.openxmlformats.org/drawingml/2006/main" name="L&amp;D Field Team">
  <a:themeElements>
    <a:clrScheme name="L&amp;D Field Team">
      <a:dk1>
        <a:srgbClr val="121921"/>
      </a:dk1>
      <a:lt1>
        <a:srgbClr val="FFFFFF"/>
      </a:lt1>
      <a:dk2>
        <a:srgbClr val="37475A"/>
      </a:dk2>
      <a:lt2>
        <a:srgbClr val="F5F6FA"/>
      </a:lt2>
      <a:accent1>
        <a:srgbClr val="02A6E1"/>
      </a:accent1>
      <a:accent2>
        <a:srgbClr val="1E8C7E"/>
      </a:accent2>
      <a:accent3>
        <a:srgbClr val="D64545"/>
      </a:accent3>
      <a:accent4>
        <a:srgbClr val="5B6B7B"/>
      </a:accent4>
      <a:accent5>
        <a:srgbClr val="FFB400"/>
      </a:accent5>
      <a:accent6>
        <a:srgbClr val="0B6E99"/>
      </a:accent6>
      <a:hlink>
        <a:srgbClr val="0B6E99"/>
      </a:hlink>
      <a:folHlink>
        <a:srgbClr val="5B6B7B"/>
      </a:folHlink>
    </a:clrScheme>
    <a:fontScheme name="L&amp;D Field Tea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Amnesty Coaching - Stow: First Face Fix and ROBOTSS</dc:title>
  <dc:subject>wAPMT coaching campaign</dc:subject>
  <dc:creator>PptxGenJS</dc:creator>
  <cp:lastModifiedBy>PptxGenJS</cp:lastModifiedBy>
  <cp:revision>1</cp:revision>
  <dcterms:created xsi:type="dcterms:W3CDTF">2026-10-12T14:48:22Z</dcterms:created>
  <dcterms:modified xsi:type="dcterms:W3CDTF">2026-10-12T14:48:22Z</dcterms:modified>
</cp:coreProperties>
</file>