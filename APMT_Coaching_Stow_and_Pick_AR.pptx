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51d03a6-98df-ea80-1964-b4c662b28b16}">
          <p14:sldIdLst>
            <p14:sldId id="256"/>
            <p14:sldId id="257"/>
            <p14:sldId id="258"/>
            <p14:sldId id="259"/>
            <p14:sldId id="260"/>
          </p14:sldIdLst>
        </p14:section>
        <p14:section name="First Face Fix" id="{24b250af-d87b-c08f-b170-771bdaec2a69}">
          <p14:sldIdLst>
            <p14:sldId id="261"/>
            <p14:sldId id="262"/>
            <p14:sldId id="263"/>
            <p14:sldId id="264"/>
            <p14:sldId id="265"/>
          </p14:sldIdLst>
        </p14:section>
        <p14:section name="ROBOTSS" id="{621990a6-24f9-b54f-b0e3-17ef644675f2}">
          <p14:sldIdLst>
            <p14:sldId id="266"/>
            <p14:sldId id="267"/>
            <p14:sldId id="268"/>
            <p14:sldId id="269"/>
            <p14:sldId id="270"/>
            <p14:sldId id="271"/>
            <p14:sldId id="272"/>
            <p14:sldId id="273"/>
            <p14:sldId id="274"/>
          </p14:sldIdLst>
        </p14:section>
        <p14:section name="Pick" id="{69d9dff2-1dfb-5441-f690-7e654b8cac0f}">
          <p14:sldIdLst>
            <p14:sldId id="275"/>
          </p14:sldIdLst>
        </p14:section>
        <p14:section name="Wrap-up" id="{797c53cd-fc63-0c95-4c8e-e788dd3d73f7}">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جميعاً، وشكراً إنكن عطيتوني كم دقيقة من وقتكن. هالفيديو إلنا كلنا، للستورز وللبيكرز. رح نحكي شو اللي فعلاً بينحسب أمنستي وشو لأ، وبعدين عن الفيرست فيس فيكس وقواعد روبوتس لترتيب البِن، وعادة وحدة زيادة بس للبيكرز. يلّا نبلّش.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طيب، شو يعني أمنستي؟ الأمنستي هي قطعة لازم تكون ببِن جوّا البود، بس فعلياً مو موجودة فيه. يعني انعملّها ستو وما انعملّها بيك لسّا، بس وقعت، أو انتهت عالستيشن أو عالأرض. السيستم لسّا مفكّر إنها بالبِن. هالشي بيعمل غلط بالمخزون تبعنا، وممكن يوصّل لبيك شورت، وهيك منعرّض الزبون للخطر.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الأمنستي بتطلع بمكانين. أمنستي الأرض، لمّا القطع توقع من البودات على أرض الروبوتات. وأمنستي الستيشن، لمّا القطع تضل عالستيشن. التنين إلهن نفس السبب. سوء ترتيب البِن هو السبب رقم واحد للأمنستي، والخبر المنيح إنو ترتيب البِن كلّه بإيدنا.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هون الفرق المهم. الأمنستي بس للقطع اللي انعملّها ستو ببِن جوّا البود، وما انعملّها بيك لسّا. إذا وحدة منهن مو ببِنها، بتروح عالأمنستي. إذا لقيت قطعة ما انعملّها ستو لسّا، يعني لسّا مكانها بتوت أو كارت الستو، هي مو أمنستي. خدها عالإنباوند بروبلم سولف. وإذا لقيت قطعة انعملّها بيك، يعني مكانها بتوت، أو بلوكيشن الريبِن، أو بالشوت، كمان مو أمنستي. خدها عالأوتباوند بروبلم سولف. لمّا منحطّ هالقطع بالأمنستي، منكبّر رقم الدبليو إيه بي إم تي عالفاضي، ومنخبّي المشكلة الحقيقية اللي لازم تنحل.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يعني لمّا تلاقي قطعة مو بمكانها، اسأل حالك سؤالين. أول شي: انعملّها ستو ولّا لأ؟ إذا لأ، هي إنباوند بروبلم سولف. وإذا إي، اسأل: انعملّها بيك ولّا لأ؟ إذا لأ، هي أمنستي. وإذا إي، هي أوتباوند بروبلم سولف.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خلّينا نبلّش بالقسم الأول: فيرست فيس فيكس، أو إف إف إف. هالقسم لموظفين الستو والآي سي كيو إيه. يا بيكرز، خلّيكن معنا، لأنو قواعد روبوتس بالقسم التاني إلكن كمان.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فيرست فيس فيكس هو إجراء ثابت منرتّب فيه البِنات بأول وجّ بود بيوصل عالستيشن تبعك. بياخد دقيقة وحدة بس. بتعمله ببداية الشيفت، ومرّة تانية بعد كل استراحة. وهو لكل موظفين الستو والآي سي كيو إيه.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هيك بتعمله بأربع خطوات. واحد: فوت عالستيشن، سجّل دخول، اختار البروسس باث، وتأكد إنو الستيشن جاهزة. اتنين: لمّا يوصل أول وجّ بود، اشتغل من فوق لتحت، متل الستو سنيك بالزبط. تلاتة: رتّب كل بِن لحتى يكون مطابق لقواعد روبوتس، رح نحكي عنها بعد شوي. أربعة: بلّش الشغل المطلوب منك بعد دقيقة، أو أول ما يصير الوجّ مطابق لروبوتس.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تلات شغلات ممنوع تعملها قبل أو خلال الفيرست فيس فيكس. لا تعمل سكان لأي قطعة بالتوتات أو البِنات. لا تنقل قطع لبِن تاني. ولا تشيل أي قطعة من البِنات. الفيرست فيس فيكس بس لترتيب الموجود أصلاً بكل بِن، منشان المخزون يضل بالزبط وين السيستم متوقّعه.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الفيرست فيس فيكس بيخلّي الشيفت يبلّش نضيف، بس القصة ما بتوقف هون. كل ما تكون إيدك ببِن، رتّبه وانت ماشي. إذا كل واحد فينا ترك كل بِن أحسن شوي من ما لقاه، القطع ما رح توقع والبود عم يتحرك. منشيّك عالفيرست فيس فيكس بخمسطعش أوديت عالأقل بكل شيفت، وهدفنا تسعين بالمية التزام أو أكتر، والفيدباك بيوصلك فوراً.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هلّق القسم التاني: القواعد اللي بتستعملها خلال الفيرست فيس فيكس، وكل مرّة بتلمس فيها بِن. اسمها روبوتس.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روبوتس يعني سبع قواعد. آر، حجم البِن المناسب. أو، ما في شي طالع لبرّا. بي، ما تسكّر عالقطع. أو، ما تحشي البِن. تي، العناوين لبرّا. إس، الترصيص. وإس، القطع المتشابهة. إذا مشيت عليها، البيكرز بيلاقوا القطع أسرع، البِن بيساع أكتر، وما بيوقع شي لمّا يتحرك البود. يلّا نشوفها وحدة وحدة.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آر يعني حجم البِن المناسب. على اليمين، قطعة صغيرة لحالها ببِن كبير. هيك المساحة بتضيع، والقطع الصغيرة بتضيع كمان. على اليسار، القطعة مناسبة لحجم البِن. دايماً اعمل ستو بأصغر بِن بتساع فيه القطعة، وحطّها حسب طولها أول شي.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أو يعني ما في شي طالع لبرّا. على اليمين، الكرتونة طالعة برّا حرف البِن. على اليسار، كل شي جوّا تماماً. أي شي طالع ممكن يعلق والبود عم يتحرك، وبيعمل عوائق للدرايف وحتى حوادث للبودات، وهيك بتوصل القطع عالأرض.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بي يعني ما تسكّر عالقطع. على اليمين، قطعة مسطّحة نايمة قدّام ومخبّية كل شي وراها، فالبيكر ما بيشوف شو بدّه. على اليسار، كل قطعة مبيّنة من قدّام. لا تحطّ قطعة كبيرة قدّام قطعة صغيرة، ووقّف القطع المسطّحة لحتى ما تزحط وتطلع من بين الأحزمة.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تاني أو يعني ما تحشي البِن. على اليمين، القطع محشورة بالقوة والبِن منفوخ. على اليسار، كل شي مرتاح وفي مجال للبيك. الحشر بالقوة بيخرّب بضاعة الزبون، والبِن المحشي هو أكتر بِن ممكن يكبّ.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تي يعني العناوين لبرّا. على اليمين، ضهر الكتب لجوّا، فالبيكر ما بيقدر يقرا العناوين. على اليسار، ضهر الكتب لبرّا والعناوين واضحة. دايماً اعمل ستو للكتب والدي في دي وضهرها لبرّا، لحتى البيكرز يلاقوها دغري.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إس يعني الترصيص. على اليمين، قطع مختلفة مرصوصة فوق بعض. على اليسار، واقفين جنب بعض، تحت الأحزمة. رصّ بس قطع من نفس الأيسن، وبس إذا إلها جهتين مسطّحين عالأقل، ودايماً خلّيها تحت الأحزمة.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آخر إس يعني القطع المتشابهة. على اليمين، كبلين شكلهن تقريباً متل بعض، واحد متر واتنين متر، بنفس البِن، فالبيكر بسهولة ممكن ياخد الغلط. على اليسار، كل قطعة من المتشابهين ببِن. استعمل طريقة الكروس للقطع المتشابهة، لأنو السيستم مو دايماً رح ينبّهك عالشاشة.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وعادة وحدة زيادة، بس للبيكرز: الوَن بيس فلو. اشتغل بقطعة وحدة بكل مرّة، وبإيديك التنتين. خود قطعة وحدة، اعملها سكان مرّة وحدة، وحطّها بالتوت قبل ما ترجع تمدّ إيدك عالبِن. مع الـ بود ريليز أوبتيمايزيشن، البود ممكن يفلّ وانت لسّا عم تشتغل بالقطع، وأي شي بيضل بيصير أمنستي ستيشن.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يعني باختصار. الستو والآي سي كيو إيه: ببداية الشيفت وبعد كل استراحة، اعملوا الفيرست فيس فيكس بدقيقة. الكل: على كل بِن بتلمسه، طبّق روبوتس ورتّب وانت ماشي. البيكرز: قطعة وحدة بكل مرّة. ولمّا تلاقي قطعة مو بمكانها، اسأل السؤالين قبل ما تقول عنها أمنستي. هيك الدبليو إيه بي إم تي تبعنا بيضل دقيق، القطع ما بتوقع، وزباينا بيوصلهن اللي طلبوه.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التصليحات الصغيرة بتعمل فرق كبير. شكراً عالمتابعة، وشكراً لأنك عم تهتم بكل بِن، كل مرّة. إذا عندك أي سؤال، احكي مع البروسس غايد، أو الإيريا مانجر، أو فريق الآي سي كيو إيه. وإذا بتريد، خود ثانية وقيّم هالفيديو.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2880360" y="2606040"/>
            <a:ext cx="1097280" cy="1225296"/>
          </a:xfrm>
          <a:prstGeom prst="rect">
            <a:avLst/>
          </a:prstGeom>
        </p:spPr>
      </p:pic>
      <p:sp>
        <p:nvSpPr>
          <p:cNvPr id="4" name="Text 1"/>
          <p:cNvSpPr/>
          <p:nvPr>
            <p:ph idx="102" type="body" hasCustomPrompt="1"/>
          </p:nvPr>
        </p:nvSpPr>
        <p:spPr>
          <a:xfrm>
            <a:off x="228600" y="502920"/>
            <a:ext cx="6400800" cy="320040"/>
          </a:xfrm>
          <a:prstGeom prst="rect">
            <a:avLst/>
          </a:prstGeom>
          <a:noFill/>
          <a:ln/>
        </p:spPr>
        <p:txBody>
          <a:bodyPr wrap="square" rtlCol="0"/>
          <a:lstStyle>
            <a:lvl1pPr rtl="1" algn="ctr" indent="0" marL="0">
              <a:buNone/>
              <a:defRPr lang="ar-SY" altLang="en-US" sz="1300" b="1" dirty="0">
                <a:solidFill>
                  <a:schemeClr val="accent6"/>
                </a:solidFill>
              </a:defRPr>
            </a:lvl1pPr>
          </a:lstStyle>
          <a:p>
            <a:pPr algn="ctr" indent="0" marL="0">
              <a:buNone/>
            </a:pPr>
            <a:endParaRPr lang="ar-SY" sz="1300" dirty="0"/>
          </a:p>
        </p:txBody>
      </p:sp>
      <p:sp>
        <p:nvSpPr>
          <p:cNvPr id="5" name="Text 1"/>
          <p:cNvSpPr/>
          <p:nvPr>
            <p:ph idx="103" type="title" hasCustomPrompt="1"/>
          </p:nvPr>
        </p:nvSpPr>
        <p:spPr>
          <a:xfrm>
            <a:off x="228600" y="868680"/>
            <a:ext cx="6400800" cy="868680"/>
          </a:xfrm>
          <a:prstGeom prst="rect">
            <a:avLst/>
          </a:prstGeom>
          <a:noFill/>
          <a:ln/>
        </p:spPr>
        <p:txBody>
          <a:bodyPr wrap="square" rtlCol="0"/>
          <a:lstStyle>
            <a:lvl1pPr rtl="1" algn="ctr" indent="0" marL="0">
              <a:buNone/>
              <a:defRPr lang="ar-SY" altLang="en-US" sz="3600" b="1" dirty="0">
                <a:solidFill>
                  <a:schemeClr val="tx1"/>
                </a:solidFill>
              </a:defRPr>
            </a:lvl1pPr>
          </a:lstStyle>
          <a:p>
            <a:pPr algn="ctr" indent="0" marL="0">
              <a:buNone/>
            </a:pPr>
            <a:endParaRPr lang="ar-SY" sz="3600" dirty="0"/>
          </a:p>
        </p:txBody>
      </p:sp>
      <p:sp>
        <p:nvSpPr>
          <p:cNvPr id="6" name="Text 1"/>
          <p:cNvSpPr/>
          <p:nvPr>
            <p:ph idx="104" type="body" hasCustomPrompt="1"/>
          </p:nvPr>
        </p:nvSpPr>
        <p:spPr>
          <a:xfrm>
            <a:off x="685800" y="1783080"/>
            <a:ext cx="5486400" cy="685800"/>
          </a:xfrm>
          <a:prstGeom prst="rect">
            <a:avLst/>
          </a:prstGeom>
          <a:noFill/>
          <a:ln/>
        </p:spPr>
        <p:txBody>
          <a:bodyPr wrap="square" rtlCol="0"/>
          <a:lstStyle>
            <a:lvl1pPr rtl="1" algn="ctr" indent="0" marL="0">
              <a:buNone/>
              <a:defRPr lang="ar-SY" altLang="en-US" sz="1600" dirty="0">
                <a:solidFill>
                  <a:schemeClr val="accent4"/>
                </a:solidFill>
              </a:defRPr>
            </a:lvl1pPr>
          </a:lstStyle>
          <a:p>
            <a:pPr algn="ctr" indent="0" marL="0">
              <a:buNone/>
            </a:pPr>
            <a:endParaRPr lang="ar-SY"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25512" y="109728"/>
            <a:ext cx="1417320" cy="434340"/>
          </a:xfrm>
          <a:prstGeom prst="rect">
            <a:avLst/>
          </a:prstGeom>
        </p:spPr>
      </p:pic>
      <p:sp>
        <p:nvSpPr>
          <p:cNvPr id="3" name="Text 0"/>
          <p:cNvSpPr/>
          <p:nvPr>
            <p:ph idx="101" type="title" hasCustomPrompt="1"/>
          </p:nvPr>
        </p:nvSpPr>
        <p:spPr>
          <a:xfrm>
            <a:off x="3291840" y="640080"/>
            <a:ext cx="5394960" cy="548640"/>
          </a:xfrm>
          <a:prstGeom prst="rect">
            <a:avLst/>
          </a:prstGeom>
          <a:noFill/>
          <a:ln/>
        </p:spPr>
        <p:txBody>
          <a:bodyPr wrap="square" rtlCol="0"/>
          <a:lstStyle>
            <a:lvl1pPr rtl="1" algn="r" indent="0" marL="0">
              <a:buNone/>
              <a:defRPr lang="ar-SY" altLang="en-US" sz="2800" b="1" dirty="0">
                <a:solidFill>
                  <a:schemeClr val="tx1"/>
                </a:solidFill>
              </a:defRPr>
            </a:lvl1pPr>
          </a:lstStyle>
          <a:p>
            <a:pPr algn="r" indent="0" marL="0">
              <a:buNone/>
            </a:pPr>
            <a:endParaRPr lang="ar-SY"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كوتشينغ wAPMT  |  ستو وبيك</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كل بِن، كل مرّة</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شو بينحسب أمنستي، First Face Fix، وقواعد ROBOTSS</a:t>
            </a:r>
            <a:endParaRPr lang="ar-SY"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شو يعني أمنستي؟</a:t>
            </a:r>
            <a:endParaRPr lang="ar-SY" sz="2800" dirty="0"/>
          </a:p>
        </p:txBody>
      </p:sp>
      <p:sp>
        <p:nvSpPr>
          <p:cNvPr id="3" name="Definition"/>
          <p:cNvSpPr txBox="1"/>
          <p:nvPr/>
        </p:nvSpPr>
        <p:spPr>
          <a:xfrm>
            <a:off x="3291840" y="1280160"/>
            <a:ext cx="5394960" cy="548640"/>
          </a:xfrm>
          <a:prstGeom prst="rect">
            <a:avLst/>
          </a:prstGeom>
          <a:noFill/>
          <a:ln/>
        </p:spPr>
        <p:txBody>
          <a:bodyPr wrap="square" lIns="0" tIns="0" rIns="0" bIns="0" rtlCol="0" anchor="ctr"/>
          <a:lstStyle/>
          <a:p>
            <a:pPr rtl="1" algn="r" indent="0" marL="0">
              <a:buNone/>
            </a:pPr>
            <a:r>
              <a:rPr lang="ar-SY" altLang="en-US" sz="1800" i="1" dirty="0">
                <a:solidFill>
                  <a:schemeClr val="accent6"/>
                </a:solidFill>
              </a:rPr>
              <a:t>قطعة لازم تكون بِبِن جوّا البود بعد ما انعملّها ستو، بس فعلياً مو موجودة فيه.</a:t>
            </a:r>
            <a:endParaRPr lang="ar-SY" sz="1800" dirty="0"/>
          </a:p>
        </p:txBody>
      </p:sp>
      <p:sp>
        <p:nvSpPr>
          <p:cNvPr id="4" name="Icon circle 1"/>
          <p:cNvSpPr/>
          <p:nvPr/>
        </p:nvSpPr>
        <p:spPr>
          <a:xfrm>
            <a:off x="804672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8211312" y="2176272"/>
            <a:ext cx="310896" cy="310896"/>
          </a:xfrm>
          <a:prstGeom prst="rect">
            <a:avLst/>
          </a:prstGeom>
        </p:spPr>
      </p:pic>
      <p:sp>
        <p:nvSpPr>
          <p:cNvPr id="6" name="Row 1"/>
          <p:cNvSpPr txBox="1"/>
          <p:nvPr/>
        </p:nvSpPr>
        <p:spPr>
          <a:xfrm>
            <a:off x="3291840" y="19933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مكانها ببِن انعملّه ستو</a:t>
            </a:r>
            <a:endParaRPr lang="ar-SY" sz="1700" dirty="0"/>
          </a:p>
          <a:p>
            <a:pPr rtl="1" algn="r" indent="0" marL="0">
              <a:buNone/>
            </a:pPr>
            <a:r>
              <a:rPr lang="ar-SY" altLang="en-US" sz="1400" dirty="0">
                <a:solidFill>
                  <a:schemeClr val="accent4"/>
                </a:solidFill>
              </a:rPr>
              <a:t>انعملّها ستو وما انعملّها بيك لسّا</a:t>
            </a:r>
            <a:endParaRPr lang="ar-SY" sz="1700" dirty="0"/>
          </a:p>
        </p:txBody>
      </p:sp>
      <p:sp>
        <p:nvSpPr>
          <p:cNvPr id="7" name="Icon circle 2"/>
          <p:cNvSpPr/>
          <p:nvPr/>
        </p:nvSpPr>
        <p:spPr>
          <a:xfrm>
            <a:off x="804672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8211312" y="3090672"/>
            <a:ext cx="310896" cy="310896"/>
          </a:xfrm>
          <a:prstGeom prst="rect">
            <a:avLst/>
          </a:prstGeom>
        </p:spPr>
      </p:pic>
      <p:sp>
        <p:nvSpPr>
          <p:cNvPr id="9" name="Row 2"/>
          <p:cNvSpPr txBox="1"/>
          <p:nvPr/>
        </p:nvSpPr>
        <p:spPr>
          <a:xfrm>
            <a:off x="3291840" y="29077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فعلياً مو موجودة بمكانها</a:t>
            </a:r>
            <a:endParaRPr lang="ar-SY" sz="1700" dirty="0"/>
          </a:p>
          <a:p>
            <a:pPr rtl="1" algn="r" indent="0" marL="0">
              <a:buNone/>
            </a:pPr>
            <a:r>
              <a:rPr lang="ar-SY" altLang="en-US" sz="1400" dirty="0">
                <a:solidFill>
                  <a:schemeClr val="accent4"/>
                </a:solidFill>
              </a:rPr>
              <a:t>وقعت، أو انتهت عالستيشن أو عالأرض</a:t>
            </a:r>
            <a:endParaRPr lang="ar-SY" sz="1700" dirty="0"/>
          </a:p>
        </p:txBody>
      </p:sp>
      <p:sp>
        <p:nvSpPr>
          <p:cNvPr id="10" name="Icon circle 3"/>
          <p:cNvSpPr/>
          <p:nvPr/>
        </p:nvSpPr>
        <p:spPr>
          <a:xfrm>
            <a:off x="804672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8211312" y="4005072"/>
            <a:ext cx="310896" cy="310896"/>
          </a:xfrm>
          <a:prstGeom prst="rect">
            <a:avLst/>
          </a:prstGeom>
        </p:spPr>
      </p:pic>
      <p:sp>
        <p:nvSpPr>
          <p:cNvPr id="12" name="Row 3"/>
          <p:cNvSpPr txBox="1"/>
          <p:nvPr/>
        </p:nvSpPr>
        <p:spPr>
          <a:xfrm>
            <a:off x="3291840" y="38221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بتعرّض الزبون للخطر</a:t>
            </a:r>
            <a:endParaRPr lang="ar-SY" sz="1700" dirty="0"/>
          </a:p>
          <a:p>
            <a:pPr rtl="1" algn="r" indent="0" marL="0">
              <a:buNone/>
            </a:pPr>
            <a:r>
              <a:rPr lang="ar-SY" altLang="en-US" sz="1400" dirty="0">
                <a:solidFill>
                  <a:schemeClr val="accent4"/>
                </a:solidFill>
              </a:rPr>
              <a:t>زيادة بالسيستم ممكن تعمل بيك شورت</a:t>
            </a:r>
            <a:endParaRPr lang="ar-SY"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من وين بتجي الأمنستي</a:t>
            </a:r>
            <a:endParaRPr lang="ar-SY" sz="2800" dirty="0"/>
          </a:p>
        </p:txBody>
      </p:sp>
      <p:sp>
        <p:nvSpPr>
          <p:cNvPr id="3" name="Card 1"/>
          <p:cNvSpPr/>
          <p:nvPr/>
        </p:nvSpPr>
        <p:spPr>
          <a:xfrm>
            <a:off x="608076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8046720" y="1508760"/>
            <a:ext cx="411480" cy="411480"/>
          </a:xfrm>
          <a:prstGeom prst="rect">
            <a:avLst/>
          </a:prstGeom>
        </p:spPr>
      </p:pic>
      <p:sp>
        <p:nvSpPr>
          <p:cNvPr id="5" name="Card text 1"/>
          <p:cNvSpPr txBox="1"/>
          <p:nvPr/>
        </p:nvSpPr>
        <p:spPr>
          <a:xfrm>
            <a:off x="6263640" y="2011680"/>
            <a:ext cx="2194560" cy="1005840"/>
          </a:xfrm>
          <a:prstGeom prst="rect">
            <a:avLst/>
          </a:prstGeom>
          <a:noFill/>
          <a:ln/>
        </p:spPr>
        <p:txBody>
          <a:bodyPr wrap="square" lIns="0" tIns="0" rIns="0" bIns="0" rtlCol="0" anchor="t"/>
          <a:lstStyle/>
          <a:p>
            <a:pPr rtl="1" algn="r" indent="0" marL="0">
              <a:buNone/>
            </a:pPr>
            <a:r>
              <a:rPr lang="ar-SY" altLang="en-US" sz="1800" b="1" dirty="0">
                <a:solidFill>
                  <a:schemeClr val="tx1"/>
                </a:solidFill>
              </a:rPr>
              <a:t>أمنستي الأرض</a:t>
            </a:r>
            <a:endParaRPr lang="ar-SY" sz="1800" dirty="0"/>
          </a:p>
          <a:p>
            <a:pPr rtl="1" algn="r" indent="0" marL="0">
              <a:buNone/>
            </a:pPr>
            <a:r>
              <a:rPr lang="ar-SY" altLang="en-US" sz="1400" dirty="0">
                <a:solidFill>
                  <a:schemeClr val="accent4"/>
                </a:solidFill>
              </a:rPr>
              <a:t>قطع بتوقع من البودات عأرض الروبوتات وهي عم تتحرك</a:t>
            </a:r>
            <a:endParaRPr lang="ar-SY" sz="1800" dirty="0"/>
          </a:p>
        </p:txBody>
      </p:sp>
      <p:sp>
        <p:nvSpPr>
          <p:cNvPr id="6" name="Card 2"/>
          <p:cNvSpPr/>
          <p:nvPr/>
        </p:nvSpPr>
        <p:spPr>
          <a:xfrm>
            <a:off x="329184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525780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rtl="1" algn="r" indent="0" marL="0">
              <a:buNone/>
            </a:pPr>
            <a:r>
              <a:rPr lang="ar-SY" altLang="en-US" sz="1800" b="1" dirty="0">
                <a:solidFill>
                  <a:schemeClr val="tx1"/>
                </a:solidFill>
              </a:rPr>
              <a:t>أمنستي الستيشن</a:t>
            </a:r>
            <a:endParaRPr lang="ar-SY" sz="1800" dirty="0"/>
          </a:p>
          <a:p>
            <a:pPr rtl="1" algn="r" indent="0" marL="0">
              <a:buNone/>
            </a:pPr>
            <a:r>
              <a:rPr lang="ar-SY" altLang="en-US" sz="1400" dirty="0">
                <a:solidFill>
                  <a:schemeClr val="accent4"/>
                </a:solidFill>
              </a:rPr>
              <a:t>قطع بتضل عالستيشن لمّا يفلّ البود</a:t>
            </a:r>
            <a:endParaRPr lang="ar-SY" sz="1800" dirty="0"/>
          </a:p>
        </p:txBody>
      </p:sp>
      <p:sp>
        <p:nvSpPr>
          <p:cNvPr id="9" name="Callout"/>
          <p:cNvSpPr/>
          <p:nvPr/>
        </p:nvSpPr>
        <p:spPr>
          <a:xfrm>
            <a:off x="3291840" y="3383280"/>
            <a:ext cx="5394960" cy="1143000"/>
          </a:xfrm>
          <a:prstGeom prst="roundRect">
            <a:avLst>
              <a:gd name="adj" fmla="val 8000"/>
            </a:avLst>
          </a:prstGeom>
          <a:solidFill>
            <a:schemeClr val="tx2"/>
          </a:solidFill>
          <a:ln/>
        </p:spPr>
      </p:sp>
      <p:sp>
        <p:nvSpPr>
          <p:cNvPr id="10" name="Callout text"/>
          <p:cNvSpPr txBox="1"/>
          <p:nvPr/>
        </p:nvSpPr>
        <p:spPr>
          <a:xfrm>
            <a:off x="3566160" y="3383280"/>
            <a:ext cx="4846320" cy="1143000"/>
          </a:xfrm>
          <a:prstGeom prst="rect">
            <a:avLst/>
          </a:prstGeom>
          <a:noFill/>
          <a:ln/>
        </p:spPr>
        <p:txBody>
          <a:bodyPr wrap="square" lIns="0" tIns="0" rIns="0" bIns="0" rtlCol="0" anchor="ctr"/>
          <a:lstStyle/>
          <a:p>
            <a:pPr rtl="1" algn="r" indent="0" marL="0">
              <a:buNone/>
            </a:pPr>
            <a:r>
              <a:rPr lang="ar-SY" altLang="en-US" sz="1800" b="1" dirty="0">
                <a:solidFill>
                  <a:schemeClr val="bg1"/>
                </a:solidFill>
              </a:rPr>
              <a:t>سوء ترتيب البِن هو السبب رقم 1 للأمنستي.</a:t>
            </a:r>
            <a:endParaRPr lang="ar-SY" sz="1800" dirty="0"/>
          </a:p>
          <a:p>
            <a:pPr rtl="1" algn="r" indent="0" marL="0">
              <a:buNone/>
            </a:pPr>
            <a:r>
              <a:rPr lang="ar-SY" altLang="en-US" sz="1500" dirty="0">
                <a:solidFill>
                  <a:srgbClr val="9EDFF7"/>
                </a:solidFill>
              </a:rPr>
              <a:t>والترتيب المنيح بإيد كل واحد فينا.</a:t>
            </a:r>
            <a:endParaRPr lang="ar-SY"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أمنستي ولّا بروبلم سولف؟</a:t>
            </a:r>
            <a:endParaRPr lang="ar-SY" sz="2800" dirty="0"/>
          </a:p>
        </p:txBody>
      </p:sp>
      <p:sp>
        <p:nvSpPr>
          <p:cNvPr id="3" name="Column card 1"/>
          <p:cNvSpPr/>
          <p:nvPr/>
        </p:nvSpPr>
        <p:spPr>
          <a:xfrm>
            <a:off x="6995160" y="1325880"/>
            <a:ext cx="1691640" cy="2697480"/>
          </a:xfrm>
          <a:prstGeom prst="roundRect">
            <a:avLst>
              <a:gd name="adj" fmla="val 5405"/>
            </a:avLst>
          </a:prstGeom>
          <a:solidFill>
            <a:schemeClr val="bg1"/>
          </a:solidFill>
          <a:ln/>
        </p:spPr>
      </p:sp>
      <p:pic>
        <p:nvPicPr>
          <p:cNvPr id="4" name="Column icon 1" descr="preencoded.png">    </p:cNvPr>
          <p:cNvPicPr>
            <a:picLocks noChangeAspect="1"/>
          </p:cNvPicPr>
          <p:nvPr/>
        </p:nvPicPr>
        <p:blipFill>
          <a:blip r:embed="rId1"/>
          <a:stretch>
            <a:fillRect/>
          </a:stretch>
        </p:blipFill>
        <p:spPr>
          <a:xfrm>
            <a:off x="8238744" y="1463040"/>
            <a:ext cx="310896" cy="310896"/>
          </a:xfrm>
          <a:prstGeom prst="rect">
            <a:avLst/>
          </a:prstGeom>
        </p:spPr>
      </p:pic>
      <p:sp>
        <p:nvSpPr>
          <p:cNvPr id="5" name="Column tag 1"/>
          <p:cNvSpPr txBox="1"/>
          <p:nvPr/>
        </p:nvSpPr>
        <p:spPr>
          <a:xfrm>
            <a:off x="7059168" y="1463040"/>
            <a:ext cx="1097280" cy="310896"/>
          </a:xfrm>
          <a:prstGeom prst="rect">
            <a:avLst/>
          </a:prstGeom>
          <a:noFill/>
          <a:ln/>
        </p:spPr>
        <p:txBody>
          <a:bodyPr wrap="square" lIns="0" tIns="0" rIns="0" bIns="0" rtlCol="0" anchor="ctr"/>
          <a:lstStyle/>
          <a:p>
            <a:pPr rtl="1" algn="r" indent="0" marL="0">
              <a:buNone/>
            </a:pPr>
            <a:r>
              <a:rPr lang="ar-SY" altLang="en-US" sz="1100" b="1" dirty="0">
                <a:solidFill>
                  <a:schemeClr val="accent6"/>
                </a:solidFill>
              </a:rPr>
              <a:t>أمنستي</a:t>
            </a:r>
            <a:endParaRPr lang="ar-SY" sz="1100" dirty="0"/>
          </a:p>
        </p:txBody>
      </p:sp>
      <p:sp>
        <p:nvSpPr>
          <p:cNvPr id="6" name="Column text 1"/>
          <p:cNvSpPr txBox="1"/>
          <p:nvPr/>
        </p:nvSpPr>
        <p:spPr>
          <a:xfrm>
            <a:off x="7086600" y="1874520"/>
            <a:ext cx="1463040" cy="1600200"/>
          </a:xfrm>
          <a:prstGeom prst="rect">
            <a:avLst/>
          </a:prstGeom>
          <a:noFill/>
          <a:ln/>
        </p:spPr>
        <p:txBody>
          <a:bodyPr wrap="square" lIns="0" tIns="0" rIns="0" bIns="0" rtlCol="0" anchor="t"/>
          <a:lstStyle/>
          <a:p>
            <a:pPr rtl="1" algn="r" indent="0" marL="0">
              <a:spcAft>
                <a:spcPts val="300"/>
              </a:spcAft>
              <a:buNone/>
            </a:pPr>
            <a:r>
              <a:rPr lang="ar-SY" altLang="en-US" sz="1400" b="1" dirty="0">
                <a:solidFill>
                  <a:schemeClr val="tx1"/>
                </a:solidFill>
              </a:rPr>
              <a:t>انعملّها ستو، وما انعملّها بيك لسّا</a:t>
            </a:r>
            <a:endParaRPr lang="ar-SY" sz="1400" dirty="0"/>
          </a:p>
          <a:p>
            <a:pPr rtl="1" algn="r" marL="127000" indent="-127000">
              <a:spcAft>
                <a:spcPts val="300"/>
              </a:spcAft>
              <a:buSzPct val="100000"/>
              <a:buChar char="•"/>
            </a:pPr>
            <a:r>
              <a:rPr lang="ar-SY" altLang="en-US" sz="1200" dirty="0">
                <a:solidFill>
                  <a:schemeClr val="accent4"/>
                </a:solidFill>
              </a:rPr>
              <a:t>مكانها ببِن جوّا البود</a:t>
            </a:r>
            <a:endParaRPr lang="ar-SY" sz="1400" dirty="0"/>
          </a:p>
          <a:p>
            <a:pPr rtl="1" algn="r" marL="127000" indent="-127000">
              <a:spcAft>
                <a:spcPts val="300"/>
              </a:spcAft>
              <a:buSzPct val="100000"/>
              <a:buChar char="•"/>
            </a:pPr>
            <a:r>
              <a:rPr lang="ar-SY" altLang="en-US" sz="1200" dirty="0">
                <a:solidFill>
                  <a:schemeClr val="accent4"/>
                </a:solidFill>
              </a:rPr>
              <a:t>وقعت أو ناقصة من هالبِن</a:t>
            </a:r>
            <a:endParaRPr lang="ar-SY" sz="1400" dirty="0"/>
          </a:p>
        </p:txBody>
      </p:sp>
      <p:sp>
        <p:nvSpPr>
          <p:cNvPr id="7" name="Column action 1"/>
          <p:cNvSpPr txBox="1"/>
          <p:nvPr/>
        </p:nvSpPr>
        <p:spPr>
          <a:xfrm>
            <a:off x="7086600" y="3520440"/>
            <a:ext cx="1463040" cy="411480"/>
          </a:xfrm>
          <a:prstGeom prst="rect">
            <a:avLst/>
          </a:prstGeom>
          <a:noFill/>
          <a:ln/>
        </p:spPr>
        <p:txBody>
          <a:bodyPr wrap="square" lIns="0" tIns="0" rIns="0" bIns="0" rtlCol="0" anchor="ctr"/>
          <a:lstStyle/>
          <a:p>
            <a:pPr rtl="1" algn="r" indent="0" marL="0">
              <a:buNone/>
            </a:pPr>
            <a:r>
              <a:rPr lang="ar-SY" altLang="en-US" sz="1300" b="1" dirty="0">
                <a:solidFill>
                  <a:schemeClr val="accent6"/>
                </a:solidFill>
              </a:rPr>
              <a:t>بتروح عالأمنستي</a:t>
            </a:r>
            <a:endParaRPr lang="ar-SY" sz="1300" dirty="0"/>
          </a:p>
        </p:txBody>
      </p:sp>
      <p:sp>
        <p:nvSpPr>
          <p:cNvPr id="8" name="Column card 2"/>
          <p:cNvSpPr/>
          <p:nvPr/>
        </p:nvSpPr>
        <p:spPr>
          <a:xfrm>
            <a:off x="5143500" y="1325880"/>
            <a:ext cx="1691640" cy="2697480"/>
          </a:xfrm>
          <a:prstGeom prst="roundRect">
            <a:avLst>
              <a:gd name="adj" fmla="val 5405"/>
            </a:avLst>
          </a:prstGeom>
          <a:solidFill>
            <a:srgbClr val="FBECEC"/>
          </a:solidFill>
          <a:ln/>
        </p:spPr>
      </p:sp>
      <p:pic>
        <p:nvPicPr>
          <p:cNvPr id="9" name="Column icon 2" descr="preencoded.png">    </p:cNvPr>
          <p:cNvPicPr>
            <a:picLocks noChangeAspect="1"/>
          </p:cNvPicPr>
          <p:nvPr/>
        </p:nvPicPr>
        <p:blipFill>
          <a:blip r:embed="rId2"/>
          <a:stretch>
            <a:fillRect/>
          </a:stretch>
        </p:blipFill>
        <p:spPr>
          <a:xfrm>
            <a:off x="6387084" y="1463040"/>
            <a:ext cx="310896" cy="310896"/>
          </a:xfrm>
          <a:prstGeom prst="rect">
            <a:avLst/>
          </a:prstGeom>
        </p:spPr>
      </p:pic>
      <p:sp>
        <p:nvSpPr>
          <p:cNvPr id="10" name="Column tag 2"/>
          <p:cNvSpPr txBox="1"/>
          <p:nvPr/>
        </p:nvSpPr>
        <p:spPr>
          <a:xfrm>
            <a:off x="5207508" y="1463040"/>
            <a:ext cx="1097280" cy="310896"/>
          </a:xfrm>
          <a:prstGeom prst="rect">
            <a:avLst/>
          </a:prstGeom>
          <a:noFill/>
          <a:ln/>
        </p:spPr>
        <p:txBody>
          <a:bodyPr wrap="square" lIns="0" tIns="0" rIns="0" bIns="0" rtlCol="0" anchor="ctr"/>
          <a:lstStyle/>
          <a:p>
            <a:pPr rtl="1" algn="r" indent="0" marL="0">
              <a:buNone/>
            </a:pPr>
            <a:r>
              <a:rPr lang="ar-SY" altLang="en-US" sz="1100" b="1" dirty="0">
                <a:solidFill>
                  <a:schemeClr val="accent3"/>
                </a:solidFill>
              </a:rPr>
              <a:t>مو أمنستي</a:t>
            </a:r>
            <a:endParaRPr lang="ar-SY" sz="1100" dirty="0"/>
          </a:p>
        </p:txBody>
      </p:sp>
      <p:sp>
        <p:nvSpPr>
          <p:cNvPr id="11" name="Column text 2"/>
          <p:cNvSpPr txBox="1"/>
          <p:nvPr/>
        </p:nvSpPr>
        <p:spPr>
          <a:xfrm>
            <a:off x="5234940" y="1874520"/>
            <a:ext cx="1463040" cy="1600200"/>
          </a:xfrm>
          <a:prstGeom prst="rect">
            <a:avLst/>
          </a:prstGeom>
          <a:noFill/>
          <a:ln/>
        </p:spPr>
        <p:txBody>
          <a:bodyPr wrap="square" lIns="0" tIns="0" rIns="0" bIns="0" rtlCol="0" anchor="t"/>
          <a:lstStyle/>
          <a:p>
            <a:pPr rtl="1" algn="r" indent="0" marL="0">
              <a:spcAft>
                <a:spcPts val="300"/>
              </a:spcAft>
              <a:buNone/>
            </a:pPr>
            <a:r>
              <a:rPr lang="ar-SY" altLang="en-US" sz="1400" b="1" dirty="0">
                <a:solidFill>
                  <a:schemeClr val="tx1"/>
                </a:solidFill>
              </a:rPr>
              <a:t>ما انعملّها ستو لسّا</a:t>
            </a:r>
            <a:endParaRPr lang="ar-SY" sz="1400" dirty="0"/>
          </a:p>
          <a:p>
            <a:pPr rtl="1" algn="r" marL="127000" indent="-127000">
              <a:spcAft>
                <a:spcPts val="300"/>
              </a:spcAft>
              <a:buSzPct val="100000"/>
              <a:buChar char="•"/>
            </a:pPr>
            <a:r>
              <a:rPr lang="ar-SY" altLang="en-US" sz="1200" dirty="0">
                <a:solidFill>
                  <a:schemeClr val="accent4"/>
                </a:solidFill>
              </a:rPr>
              <a:t>لسّا مكانها بتوت أو كارت الستو</a:t>
            </a:r>
            <a:endParaRPr lang="ar-SY" sz="1400" dirty="0"/>
          </a:p>
          <a:p>
            <a:pPr rtl="1" algn="r" marL="127000" indent="-127000">
              <a:spcAft>
                <a:spcPts val="300"/>
              </a:spcAft>
              <a:buSzPct val="100000"/>
              <a:buChar char="•"/>
            </a:pPr>
            <a:r>
              <a:rPr lang="ar-SY" altLang="en-US" sz="1200" dirty="0">
                <a:solidFill>
                  <a:schemeClr val="accent4"/>
                </a:solidFill>
              </a:rPr>
              <a:t>وقعت أو انتركت قبل ما ينعملّها ستو</a:t>
            </a:r>
            <a:endParaRPr lang="ar-SY" sz="1400" dirty="0"/>
          </a:p>
        </p:txBody>
      </p:sp>
      <p:sp>
        <p:nvSpPr>
          <p:cNvPr id="12" name="Column action 2"/>
          <p:cNvSpPr txBox="1"/>
          <p:nvPr/>
        </p:nvSpPr>
        <p:spPr>
          <a:xfrm>
            <a:off x="5234940" y="3520440"/>
            <a:ext cx="1463040" cy="411480"/>
          </a:xfrm>
          <a:prstGeom prst="rect">
            <a:avLst/>
          </a:prstGeom>
          <a:noFill/>
          <a:ln/>
        </p:spPr>
        <p:txBody>
          <a:bodyPr wrap="square" lIns="0" tIns="0" rIns="0" bIns="0" rtlCol="0" anchor="ctr"/>
          <a:lstStyle/>
          <a:p>
            <a:pPr rtl="1" algn="r" indent="0" marL="0">
              <a:buNone/>
            </a:pPr>
            <a:r>
              <a:rPr lang="ar-SY" altLang="en-US" sz="1300" b="1" dirty="0">
                <a:solidFill>
                  <a:schemeClr val="accent3"/>
                </a:solidFill>
              </a:rPr>
              <a:t>إنباوند بروبلم سولف</a:t>
            </a:r>
            <a:endParaRPr lang="ar-SY" sz="1300" dirty="0"/>
          </a:p>
        </p:txBody>
      </p:sp>
      <p:sp>
        <p:nvSpPr>
          <p:cNvPr id="13" name="Column card 3"/>
          <p:cNvSpPr/>
          <p:nvPr/>
        </p:nvSpPr>
        <p:spPr>
          <a:xfrm>
            <a:off x="3291840" y="1325880"/>
            <a:ext cx="1691640" cy="2697480"/>
          </a:xfrm>
          <a:prstGeom prst="roundRect">
            <a:avLst>
              <a:gd name="adj" fmla="val 5405"/>
            </a:avLst>
          </a:prstGeom>
          <a:solidFill>
            <a:srgbClr val="FBECEC"/>
          </a:solidFill>
          <a:ln/>
        </p:spPr>
      </p:sp>
      <p:pic>
        <p:nvPicPr>
          <p:cNvPr id="14" name="Column icon 3" descr="preencoded.png">    </p:cNvPr>
          <p:cNvPicPr>
            <a:picLocks noChangeAspect="1"/>
          </p:cNvPicPr>
          <p:nvPr/>
        </p:nvPicPr>
        <p:blipFill>
          <a:blip r:embed="rId3"/>
          <a:stretch>
            <a:fillRect/>
          </a:stretch>
        </p:blipFill>
        <p:spPr>
          <a:xfrm>
            <a:off x="4535424" y="1463040"/>
            <a:ext cx="310896" cy="310896"/>
          </a:xfrm>
          <a:prstGeom prst="rect">
            <a:avLst/>
          </a:prstGeom>
        </p:spPr>
      </p:pic>
      <p:sp>
        <p:nvSpPr>
          <p:cNvPr id="15" name="Column tag 3"/>
          <p:cNvSpPr txBox="1"/>
          <p:nvPr/>
        </p:nvSpPr>
        <p:spPr>
          <a:xfrm>
            <a:off x="3355848" y="1463040"/>
            <a:ext cx="1097280" cy="310896"/>
          </a:xfrm>
          <a:prstGeom prst="rect">
            <a:avLst/>
          </a:prstGeom>
          <a:noFill/>
          <a:ln/>
        </p:spPr>
        <p:txBody>
          <a:bodyPr wrap="square" lIns="0" tIns="0" rIns="0" bIns="0" rtlCol="0" anchor="ctr"/>
          <a:lstStyle/>
          <a:p>
            <a:pPr rtl="1" algn="r" indent="0" marL="0">
              <a:buNone/>
            </a:pPr>
            <a:r>
              <a:rPr lang="ar-SY" altLang="en-US" sz="1100" b="1" dirty="0">
                <a:solidFill>
                  <a:schemeClr val="accent3"/>
                </a:solidFill>
              </a:rPr>
              <a:t>مو أمنستي</a:t>
            </a:r>
            <a:endParaRPr lang="ar-SY" sz="1100" dirty="0"/>
          </a:p>
        </p:txBody>
      </p:sp>
      <p:sp>
        <p:nvSpPr>
          <p:cNvPr id="16" name="Column text 3"/>
          <p:cNvSpPr txBox="1"/>
          <p:nvPr/>
        </p:nvSpPr>
        <p:spPr>
          <a:xfrm>
            <a:off x="3383280" y="1874520"/>
            <a:ext cx="1463040" cy="1600200"/>
          </a:xfrm>
          <a:prstGeom prst="rect">
            <a:avLst/>
          </a:prstGeom>
          <a:noFill/>
          <a:ln/>
        </p:spPr>
        <p:txBody>
          <a:bodyPr wrap="square" lIns="0" tIns="0" rIns="0" bIns="0" rtlCol="0" anchor="t"/>
          <a:lstStyle/>
          <a:p>
            <a:pPr rtl="1" algn="r" indent="0" marL="0">
              <a:spcAft>
                <a:spcPts val="300"/>
              </a:spcAft>
              <a:buNone/>
            </a:pPr>
            <a:r>
              <a:rPr lang="ar-SY" altLang="en-US" sz="1400" b="1" dirty="0">
                <a:solidFill>
                  <a:schemeClr val="tx1"/>
                </a:solidFill>
              </a:rPr>
              <a:t>انعملّها بيك</a:t>
            </a:r>
            <a:endParaRPr lang="ar-SY" sz="1400" dirty="0"/>
          </a:p>
          <a:p>
            <a:pPr rtl="1" algn="r" marL="127000" indent="-127000">
              <a:spcAft>
                <a:spcPts val="300"/>
              </a:spcAft>
              <a:buSzPct val="100000"/>
              <a:buChar char="•"/>
            </a:pPr>
            <a:r>
              <a:rPr lang="ar-SY" altLang="en-US" sz="1200" dirty="0">
                <a:solidFill>
                  <a:schemeClr val="accent4"/>
                </a:solidFill>
              </a:rPr>
              <a:t>مكانها بتوت، أو بلوكيشن الريبِن، أو بالشوت</a:t>
            </a:r>
            <a:endParaRPr lang="ar-SY" sz="1400" dirty="0"/>
          </a:p>
          <a:p>
            <a:pPr rtl="1" algn="r" marL="127000" indent="-127000">
              <a:spcAft>
                <a:spcPts val="300"/>
              </a:spcAft>
              <a:buSzPct val="100000"/>
              <a:buChar char="•"/>
            </a:pPr>
            <a:r>
              <a:rPr lang="ar-SY" altLang="en-US" sz="1200" dirty="0">
                <a:solidFill>
                  <a:schemeClr val="accent4"/>
                </a:solidFill>
              </a:rPr>
              <a:t>وقعت أو انحطّت بمكان غلط</a:t>
            </a:r>
            <a:endParaRPr lang="ar-SY" sz="1400" dirty="0"/>
          </a:p>
        </p:txBody>
      </p:sp>
      <p:sp>
        <p:nvSpPr>
          <p:cNvPr id="17" name="Column action 3"/>
          <p:cNvSpPr txBox="1"/>
          <p:nvPr/>
        </p:nvSpPr>
        <p:spPr>
          <a:xfrm>
            <a:off x="3383280" y="3520440"/>
            <a:ext cx="1463040" cy="411480"/>
          </a:xfrm>
          <a:prstGeom prst="rect">
            <a:avLst/>
          </a:prstGeom>
          <a:noFill/>
          <a:ln/>
        </p:spPr>
        <p:txBody>
          <a:bodyPr wrap="square" lIns="0" tIns="0" rIns="0" bIns="0" rtlCol="0" anchor="ctr"/>
          <a:lstStyle/>
          <a:p>
            <a:pPr rtl="1" algn="r" indent="0" marL="0">
              <a:buNone/>
            </a:pPr>
            <a:r>
              <a:rPr lang="ar-SY" altLang="en-US" sz="1300" b="1" dirty="0">
                <a:solidFill>
                  <a:schemeClr val="accent3"/>
                </a:solidFill>
              </a:rPr>
              <a:t>أوتباوند بروبلم سولف</a:t>
            </a:r>
            <a:endParaRPr lang="ar-SY" sz="1300" dirty="0"/>
          </a:p>
        </p:txBody>
      </p:sp>
      <p:sp>
        <p:nvSpPr>
          <p:cNvPr id="18" name="Inflate callout"/>
          <p:cNvSpPr/>
          <p:nvPr/>
        </p:nvSpPr>
        <p:spPr>
          <a:xfrm>
            <a:off x="3291840" y="4114800"/>
            <a:ext cx="5394960" cy="548640"/>
          </a:xfrm>
          <a:prstGeom prst="roundRect">
            <a:avLst>
              <a:gd name="adj" fmla="val 16667"/>
            </a:avLst>
          </a:prstGeom>
          <a:solidFill>
            <a:schemeClr val="tx2"/>
          </a:solidFill>
          <a:ln/>
        </p:spPr>
      </p:sp>
      <p:sp>
        <p:nvSpPr>
          <p:cNvPr id="19" name="Inflate text"/>
          <p:cNvSpPr txBox="1"/>
          <p:nvPr/>
        </p:nvSpPr>
        <p:spPr>
          <a:xfrm>
            <a:off x="3566160" y="4114800"/>
            <a:ext cx="4846320" cy="548640"/>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بس القطع اللي انعملّها ستو وما انعملّها بيك هي أمنستي. غير هيك بيكبّر wAPMT عالفاضي.</a:t>
            </a:r>
            <a:endParaRPr lang="ar-SY"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سؤالين بتسألهن لحالك</a:t>
            </a:r>
            <a:endParaRPr lang="ar-SY" sz="2800" dirty="0"/>
          </a:p>
        </p:txBody>
      </p:sp>
      <p:sp>
        <p:nvSpPr>
          <p:cNvPr id="3" name="Start box"/>
          <p:cNvSpPr/>
          <p:nvPr/>
        </p:nvSpPr>
        <p:spPr>
          <a:xfrm>
            <a:off x="4617720" y="1325880"/>
            <a:ext cx="2743200" cy="411480"/>
          </a:xfrm>
          <a:prstGeom prst="roundRect">
            <a:avLst>
              <a:gd name="adj" fmla="val 22222"/>
            </a:avLst>
          </a:prstGeom>
          <a:solidFill>
            <a:schemeClr val="tx2"/>
          </a:solidFill>
          <a:ln/>
        </p:spPr>
      </p:sp>
      <p:sp>
        <p:nvSpPr>
          <p:cNvPr id="4" name="Start box text"/>
          <p:cNvSpPr txBox="1"/>
          <p:nvPr/>
        </p:nvSpPr>
        <p:spPr>
          <a:xfrm>
            <a:off x="4617720" y="1325880"/>
            <a:ext cx="2743200" cy="411480"/>
          </a:xfrm>
          <a:prstGeom prst="rect">
            <a:avLst/>
          </a:prstGeom>
          <a:noFill/>
          <a:ln/>
        </p:spPr>
        <p:txBody>
          <a:bodyPr wrap="square" lIns="0" tIns="0" rIns="0" bIns="0" rtlCol="0" anchor="ctr"/>
          <a:lstStyle/>
          <a:p>
            <a:pPr rtl="1" algn="ctr" indent="0" marL="0">
              <a:buNone/>
            </a:pPr>
            <a:r>
              <a:rPr lang="ar-SY" altLang="en-US" sz="1400" dirty="0">
                <a:solidFill>
                  <a:schemeClr val="bg1"/>
                </a:solidFill>
              </a:rPr>
              <a:t>لقيت قطعة مو بمكانها</a:t>
            </a:r>
            <a:endParaRPr lang="ar-SY" sz="1400" dirty="0"/>
          </a:p>
        </p:txBody>
      </p:sp>
      <p:sp>
        <p:nvSpPr>
          <p:cNvPr id="5" name="Line start"/>
          <p:cNvSpPr/>
          <p:nvPr/>
        </p:nvSpPr>
        <p:spPr>
          <a:xfrm>
            <a:off x="5989320" y="1737360"/>
            <a:ext cx="0" cy="182880"/>
          </a:xfrm>
          <a:prstGeom prst="line">
            <a:avLst/>
          </a:prstGeom>
          <a:noFill/>
          <a:ln w="25400">
            <a:solidFill>
              <a:srgbClr val="9AA6B2"/>
            </a:solidFill>
            <a:prstDash val="solid"/>
          </a:ln>
        </p:spPr>
      </p:sp>
      <p:sp>
        <p:nvSpPr>
          <p:cNvPr id="6" name="Question 1"/>
          <p:cNvSpPr/>
          <p:nvPr/>
        </p:nvSpPr>
        <p:spPr>
          <a:xfrm>
            <a:off x="4617720" y="1920240"/>
            <a:ext cx="2743200" cy="457200"/>
          </a:xfrm>
          <a:prstGeom prst="roundRect">
            <a:avLst>
              <a:gd name="adj" fmla="val 20000"/>
            </a:avLst>
          </a:prstGeom>
          <a:solidFill>
            <a:schemeClr val="accent1"/>
          </a:solidFill>
          <a:ln/>
        </p:spPr>
      </p:sp>
      <p:sp>
        <p:nvSpPr>
          <p:cNvPr id="7" name="Question 1 text"/>
          <p:cNvSpPr txBox="1"/>
          <p:nvPr/>
        </p:nvSpPr>
        <p:spPr>
          <a:xfrm>
            <a:off x="4617720" y="1920240"/>
            <a:ext cx="2743200" cy="457200"/>
          </a:xfrm>
          <a:prstGeom prst="rect">
            <a:avLst/>
          </a:prstGeom>
          <a:noFill/>
          <a:ln/>
        </p:spPr>
        <p:txBody>
          <a:bodyPr wrap="square" lIns="0" tIns="0" rIns="0" bIns="0" rtlCol="0" anchor="ctr"/>
          <a:lstStyle/>
          <a:p>
            <a:pPr rtl="1" algn="ctr" indent="0" marL="0">
              <a:buNone/>
            </a:pPr>
            <a:r>
              <a:rPr lang="ar-SY" altLang="en-US" sz="1500" b="1" dirty="0">
                <a:solidFill>
                  <a:schemeClr val="bg1"/>
                </a:solidFill>
              </a:rPr>
              <a:t>انعملّها ستو ولّا لأ؟</a:t>
            </a:r>
            <a:endParaRPr lang="ar-SY" sz="1500" dirty="0"/>
          </a:p>
        </p:txBody>
      </p:sp>
      <p:sp>
        <p:nvSpPr>
          <p:cNvPr id="8" name="Line Q1 no a"/>
          <p:cNvSpPr/>
          <p:nvPr/>
        </p:nvSpPr>
        <p:spPr>
          <a:xfrm>
            <a:off x="7360920" y="2148840"/>
            <a:ext cx="480060" cy="0"/>
          </a:xfrm>
          <a:prstGeom prst="line">
            <a:avLst/>
          </a:prstGeom>
          <a:noFill/>
          <a:ln w="25400">
            <a:solidFill>
              <a:srgbClr val="9AA6B2"/>
            </a:solidFill>
            <a:prstDash val="solid"/>
          </a:ln>
        </p:spPr>
      </p:sp>
      <p:sp>
        <p:nvSpPr>
          <p:cNvPr id="9" name="Line Q1 no b"/>
          <p:cNvSpPr/>
          <p:nvPr/>
        </p:nvSpPr>
        <p:spPr>
          <a:xfrm>
            <a:off x="7840980" y="2148840"/>
            <a:ext cx="0" cy="1280160"/>
          </a:xfrm>
          <a:prstGeom prst="line">
            <a:avLst/>
          </a:prstGeom>
          <a:noFill/>
          <a:ln w="25400">
            <a:solidFill>
              <a:srgbClr val="9AA6B2"/>
            </a:solidFill>
            <a:prstDash val="solid"/>
          </a:ln>
        </p:spPr>
      </p:sp>
      <p:sp>
        <p:nvSpPr>
          <p:cNvPr id="10" name="Line Q1 yes"/>
          <p:cNvSpPr/>
          <p:nvPr/>
        </p:nvSpPr>
        <p:spPr>
          <a:xfrm>
            <a:off x="4846320" y="2377440"/>
            <a:ext cx="0" cy="228600"/>
          </a:xfrm>
          <a:prstGeom prst="line">
            <a:avLst/>
          </a:prstGeom>
          <a:noFill/>
          <a:ln w="25400">
            <a:solidFill>
              <a:srgbClr val="9AA6B2"/>
            </a:solidFill>
            <a:prstDash val="solid"/>
          </a:ln>
        </p:spPr>
      </p:sp>
      <p:sp>
        <p:nvSpPr>
          <p:cNvPr id="11" name="Q1 no label"/>
          <p:cNvSpPr txBox="1"/>
          <p:nvPr/>
        </p:nvSpPr>
        <p:spPr>
          <a:xfrm>
            <a:off x="7406640" y="1892808"/>
            <a:ext cx="411480" cy="228600"/>
          </a:xfrm>
          <a:prstGeom prst="rect">
            <a:avLst/>
          </a:prstGeom>
          <a:noFill/>
          <a:ln/>
        </p:spPr>
        <p:txBody>
          <a:bodyPr wrap="square" lIns="0" tIns="0" rIns="0" bIns="0" rtlCol="0" anchor="ctr"/>
          <a:lstStyle/>
          <a:p>
            <a:pPr rtl="1" algn="r" indent="0" marL="0">
              <a:buNone/>
            </a:pPr>
            <a:r>
              <a:rPr lang="ar-SY" altLang="en-US" sz="1100" b="1" dirty="0">
                <a:solidFill>
                  <a:schemeClr val="accent4"/>
                </a:solidFill>
              </a:rPr>
              <a:t>لأ</a:t>
            </a:r>
            <a:endParaRPr lang="ar-SY" sz="1100" dirty="0"/>
          </a:p>
        </p:txBody>
      </p:sp>
      <p:sp>
        <p:nvSpPr>
          <p:cNvPr id="12" name="Q1 yes label"/>
          <p:cNvSpPr txBox="1"/>
          <p:nvPr/>
        </p:nvSpPr>
        <p:spPr>
          <a:xfrm>
            <a:off x="4315968" y="2377440"/>
            <a:ext cx="457200" cy="228600"/>
          </a:xfrm>
          <a:prstGeom prst="rect">
            <a:avLst/>
          </a:prstGeom>
          <a:noFill/>
          <a:ln/>
        </p:spPr>
        <p:txBody>
          <a:bodyPr wrap="square" lIns="0" tIns="0" rIns="0" bIns="0" rtlCol="0" anchor="ctr"/>
          <a:lstStyle/>
          <a:p>
            <a:pPr rtl="1" algn="r" indent="0" marL="0">
              <a:buNone/>
            </a:pPr>
            <a:r>
              <a:rPr lang="ar-SY" altLang="en-US" sz="1100" b="1" dirty="0">
                <a:solidFill>
                  <a:schemeClr val="accent4"/>
                </a:solidFill>
              </a:rPr>
              <a:t>إي</a:t>
            </a:r>
            <a:endParaRPr lang="ar-SY" sz="1100" dirty="0"/>
          </a:p>
        </p:txBody>
      </p:sp>
      <p:sp>
        <p:nvSpPr>
          <p:cNvPr id="13" name="Question 2"/>
          <p:cNvSpPr/>
          <p:nvPr/>
        </p:nvSpPr>
        <p:spPr>
          <a:xfrm>
            <a:off x="3291840" y="2606040"/>
            <a:ext cx="3108960" cy="457200"/>
          </a:xfrm>
          <a:prstGeom prst="roundRect">
            <a:avLst>
              <a:gd name="adj" fmla="val 20000"/>
            </a:avLst>
          </a:prstGeom>
          <a:solidFill>
            <a:schemeClr val="accent1"/>
          </a:solidFill>
          <a:ln/>
        </p:spPr>
      </p:sp>
      <p:sp>
        <p:nvSpPr>
          <p:cNvPr id="14" name="Question 2 text"/>
          <p:cNvSpPr txBox="1"/>
          <p:nvPr/>
        </p:nvSpPr>
        <p:spPr>
          <a:xfrm>
            <a:off x="3291840" y="2606040"/>
            <a:ext cx="3108960" cy="457200"/>
          </a:xfrm>
          <a:prstGeom prst="rect">
            <a:avLst/>
          </a:prstGeom>
          <a:noFill/>
          <a:ln/>
        </p:spPr>
        <p:txBody>
          <a:bodyPr wrap="square" lIns="0" tIns="0" rIns="0" bIns="0" rtlCol="0" anchor="ctr"/>
          <a:lstStyle/>
          <a:p>
            <a:pPr rtl="1" algn="ctr" indent="0" marL="0">
              <a:buNone/>
            </a:pPr>
            <a:r>
              <a:rPr lang="ar-SY" altLang="en-US" sz="1500" b="1" dirty="0">
                <a:solidFill>
                  <a:schemeClr val="bg1"/>
                </a:solidFill>
              </a:rPr>
              <a:t>انعملّها بيك ولّا لأ؟</a:t>
            </a:r>
            <a:endParaRPr lang="ar-SY" sz="1500" dirty="0"/>
          </a:p>
        </p:txBody>
      </p:sp>
      <p:sp>
        <p:nvSpPr>
          <p:cNvPr id="15" name="Line Q2 a"/>
          <p:cNvSpPr/>
          <p:nvPr/>
        </p:nvSpPr>
        <p:spPr>
          <a:xfrm>
            <a:off x="4846320" y="3063240"/>
            <a:ext cx="0" cy="182880"/>
          </a:xfrm>
          <a:prstGeom prst="line">
            <a:avLst/>
          </a:prstGeom>
          <a:noFill/>
          <a:ln w="25400">
            <a:solidFill>
              <a:srgbClr val="9AA6B2"/>
            </a:solidFill>
            <a:prstDash val="solid"/>
          </a:ln>
        </p:spPr>
      </p:sp>
      <p:sp>
        <p:nvSpPr>
          <p:cNvPr id="16" name="Line Q2 b"/>
          <p:cNvSpPr/>
          <p:nvPr/>
        </p:nvSpPr>
        <p:spPr>
          <a:xfrm>
            <a:off x="4137660" y="3246120"/>
            <a:ext cx="1851660" cy="0"/>
          </a:xfrm>
          <a:prstGeom prst="line">
            <a:avLst/>
          </a:prstGeom>
          <a:noFill/>
          <a:ln w="25400">
            <a:solidFill>
              <a:srgbClr val="9AA6B2"/>
            </a:solidFill>
            <a:prstDash val="solid"/>
          </a:ln>
        </p:spPr>
      </p:sp>
      <p:sp>
        <p:nvSpPr>
          <p:cNvPr id="17" name="Line Q2 c"/>
          <p:cNvSpPr/>
          <p:nvPr/>
        </p:nvSpPr>
        <p:spPr>
          <a:xfrm>
            <a:off x="5989320" y="3246120"/>
            <a:ext cx="0" cy="182880"/>
          </a:xfrm>
          <a:prstGeom prst="line">
            <a:avLst/>
          </a:prstGeom>
          <a:noFill/>
          <a:ln w="25400">
            <a:solidFill>
              <a:srgbClr val="9AA6B2"/>
            </a:solidFill>
            <a:prstDash val="solid"/>
          </a:ln>
        </p:spPr>
      </p:sp>
      <p:sp>
        <p:nvSpPr>
          <p:cNvPr id="18" name="Line Q2 d"/>
          <p:cNvSpPr/>
          <p:nvPr/>
        </p:nvSpPr>
        <p:spPr>
          <a:xfrm>
            <a:off x="4137660" y="3246120"/>
            <a:ext cx="0" cy="182880"/>
          </a:xfrm>
          <a:prstGeom prst="line">
            <a:avLst/>
          </a:prstGeom>
          <a:noFill/>
          <a:ln w="25400">
            <a:solidFill>
              <a:srgbClr val="9AA6B2"/>
            </a:solidFill>
            <a:prstDash val="solid"/>
          </a:ln>
        </p:spPr>
      </p:sp>
      <p:sp>
        <p:nvSpPr>
          <p:cNvPr id="19" name="Leaf 1"/>
          <p:cNvSpPr/>
          <p:nvPr/>
        </p:nvSpPr>
        <p:spPr>
          <a:xfrm>
            <a:off x="6995160" y="3429000"/>
            <a:ext cx="1691640" cy="1188720"/>
          </a:xfrm>
          <a:prstGeom prst="roundRect">
            <a:avLst>
              <a:gd name="adj" fmla="val 7692"/>
            </a:avLst>
          </a:prstGeom>
          <a:solidFill>
            <a:srgbClr val="FBECEC"/>
          </a:solidFill>
          <a:ln/>
        </p:spPr>
      </p:sp>
      <p:sp>
        <p:nvSpPr>
          <p:cNvPr id="20" name="Leaf text 1"/>
          <p:cNvSpPr txBox="1"/>
          <p:nvPr/>
        </p:nvSpPr>
        <p:spPr>
          <a:xfrm>
            <a:off x="7086600" y="3429000"/>
            <a:ext cx="1508760" cy="1188720"/>
          </a:xfrm>
          <a:prstGeom prst="rect">
            <a:avLst/>
          </a:prstGeom>
          <a:noFill/>
          <a:ln/>
        </p:spPr>
        <p:txBody>
          <a:bodyPr wrap="square" lIns="0" tIns="0" rIns="0" bIns="0" rtlCol="0" anchor="ctr"/>
          <a:lstStyle/>
          <a:p>
            <a:pPr rtl="1" algn="ctr" indent="0" marL="0">
              <a:buNone/>
            </a:pPr>
            <a:r>
              <a:rPr lang="ar-SY" altLang="en-US" sz="1200" dirty="0">
                <a:solidFill>
                  <a:schemeClr val="accent4"/>
                </a:solidFill>
              </a:rPr>
              <a:t>ما انعملّها ستو لسّا</a:t>
            </a:r>
            <a:endParaRPr lang="ar-SY" sz="1200" dirty="0"/>
          </a:p>
          <a:p>
            <a:pPr rtl="1" algn="ctr" indent="0" marL="0">
              <a:buNone/>
            </a:pPr>
            <a:r>
              <a:rPr lang="ar-SY" altLang="en-US" sz="1500" b="1" dirty="0">
                <a:solidFill>
                  <a:schemeClr val="accent3"/>
                </a:solidFill>
              </a:rPr>
              <a:t>إنباوند بروبلم سولف</a:t>
            </a:r>
            <a:endParaRPr lang="ar-SY" sz="1200" dirty="0"/>
          </a:p>
        </p:txBody>
      </p:sp>
      <p:sp>
        <p:nvSpPr>
          <p:cNvPr id="21" name="Leaf 2"/>
          <p:cNvSpPr/>
          <p:nvPr/>
        </p:nvSpPr>
        <p:spPr>
          <a:xfrm>
            <a:off x="5143500" y="3429000"/>
            <a:ext cx="1691640" cy="1188720"/>
          </a:xfrm>
          <a:prstGeom prst="roundRect">
            <a:avLst>
              <a:gd name="adj" fmla="val 7692"/>
            </a:avLst>
          </a:prstGeom>
          <a:solidFill>
            <a:schemeClr val="bg1"/>
          </a:solidFill>
          <a:ln/>
        </p:spPr>
      </p:sp>
      <p:sp>
        <p:nvSpPr>
          <p:cNvPr id="22" name="Leaf text 2"/>
          <p:cNvSpPr txBox="1"/>
          <p:nvPr/>
        </p:nvSpPr>
        <p:spPr>
          <a:xfrm>
            <a:off x="5234940" y="3429000"/>
            <a:ext cx="1508760" cy="1188720"/>
          </a:xfrm>
          <a:prstGeom prst="rect">
            <a:avLst/>
          </a:prstGeom>
          <a:noFill/>
          <a:ln/>
        </p:spPr>
        <p:txBody>
          <a:bodyPr wrap="square" lIns="0" tIns="0" rIns="0" bIns="0" rtlCol="0" anchor="ctr"/>
          <a:lstStyle/>
          <a:p>
            <a:pPr rtl="1" algn="ctr" indent="0" marL="0">
              <a:buNone/>
            </a:pPr>
            <a:r>
              <a:rPr lang="ar-SY" altLang="en-US" sz="1200" dirty="0">
                <a:solidFill>
                  <a:schemeClr val="accent4"/>
                </a:solidFill>
              </a:rPr>
              <a:t>انعملّها ستو، وما انعملّها بيك لسّا</a:t>
            </a:r>
            <a:endParaRPr lang="ar-SY" sz="1200" dirty="0"/>
          </a:p>
          <a:p>
            <a:pPr rtl="1" algn="ctr" indent="0" marL="0">
              <a:buNone/>
            </a:pPr>
            <a:r>
              <a:rPr lang="ar-SY" altLang="en-US" sz="1500" b="1" dirty="0">
                <a:solidFill>
                  <a:schemeClr val="accent6"/>
                </a:solidFill>
              </a:rPr>
              <a:t>أمنستي</a:t>
            </a:r>
            <a:endParaRPr lang="ar-SY" sz="1200" dirty="0"/>
          </a:p>
        </p:txBody>
      </p:sp>
      <p:sp>
        <p:nvSpPr>
          <p:cNvPr id="23" name="Leaf 3"/>
          <p:cNvSpPr/>
          <p:nvPr/>
        </p:nvSpPr>
        <p:spPr>
          <a:xfrm>
            <a:off x="3291840" y="3429000"/>
            <a:ext cx="1691640" cy="1188720"/>
          </a:xfrm>
          <a:prstGeom prst="roundRect">
            <a:avLst>
              <a:gd name="adj" fmla="val 7692"/>
            </a:avLst>
          </a:prstGeom>
          <a:solidFill>
            <a:srgbClr val="FBECEC"/>
          </a:solidFill>
          <a:ln/>
        </p:spPr>
      </p:sp>
      <p:sp>
        <p:nvSpPr>
          <p:cNvPr id="24" name="Leaf text 3"/>
          <p:cNvSpPr txBox="1"/>
          <p:nvPr/>
        </p:nvSpPr>
        <p:spPr>
          <a:xfrm>
            <a:off x="3383280" y="3429000"/>
            <a:ext cx="1508760" cy="1188720"/>
          </a:xfrm>
          <a:prstGeom prst="rect">
            <a:avLst/>
          </a:prstGeom>
          <a:noFill/>
          <a:ln/>
        </p:spPr>
        <p:txBody>
          <a:bodyPr wrap="square" lIns="0" tIns="0" rIns="0" bIns="0" rtlCol="0" anchor="ctr"/>
          <a:lstStyle/>
          <a:p>
            <a:pPr rtl="1" algn="ctr" indent="0" marL="0">
              <a:buNone/>
            </a:pPr>
            <a:r>
              <a:rPr lang="ar-SY" altLang="en-US" sz="1200" dirty="0">
                <a:solidFill>
                  <a:schemeClr val="accent4"/>
                </a:solidFill>
              </a:rPr>
              <a:t>انعملّها بيك</a:t>
            </a:r>
            <a:endParaRPr lang="ar-SY" sz="1200" dirty="0"/>
          </a:p>
          <a:p>
            <a:pPr rtl="1" algn="ctr" indent="0" marL="0">
              <a:buNone/>
            </a:pPr>
            <a:r>
              <a:rPr lang="ar-SY" altLang="en-US" sz="1500" b="1" dirty="0">
                <a:solidFill>
                  <a:schemeClr val="accent3"/>
                </a:solidFill>
              </a:rPr>
              <a:t>أوتباوند بروبلم سولف</a:t>
            </a:r>
            <a:endParaRPr lang="ar-SY"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القسم الأول</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First Face Fix</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دقيقة وحدة. أول وجّ من البود. ببداية كل شيفت وبعد كل استراحة.</a:t>
            </a:r>
            <a:endParaRPr lang="ar-SY"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شو هو First Face Fix؟</a:t>
            </a:r>
            <a:endParaRPr lang="ar-SY" sz="2800" dirty="0"/>
          </a:p>
        </p:txBody>
      </p:sp>
      <p:sp>
        <p:nvSpPr>
          <p:cNvPr id="3" name="Stat card"/>
          <p:cNvSpPr/>
          <p:nvPr/>
        </p:nvSpPr>
        <p:spPr>
          <a:xfrm>
            <a:off x="6675120" y="1325880"/>
            <a:ext cx="2011680" cy="3200400"/>
          </a:xfrm>
          <a:prstGeom prst="roundRect">
            <a:avLst>
              <a:gd name="adj" fmla="val 4545"/>
            </a:avLst>
          </a:prstGeom>
          <a:solidFill>
            <a:schemeClr val="tx2"/>
          </a:solidFill>
          <a:ln/>
        </p:spPr>
      </p:sp>
      <p:sp>
        <p:nvSpPr>
          <p:cNvPr id="4" name="Stat"/>
          <p:cNvSpPr txBox="1"/>
          <p:nvPr/>
        </p:nvSpPr>
        <p:spPr>
          <a:xfrm>
            <a:off x="6903720" y="1325880"/>
            <a:ext cx="1554480" cy="3200400"/>
          </a:xfrm>
          <a:prstGeom prst="rect">
            <a:avLst/>
          </a:prstGeom>
          <a:noFill/>
          <a:ln/>
        </p:spPr>
        <p:txBody>
          <a:bodyPr wrap="square" lIns="0" tIns="0" rIns="0" bIns="0" rtlCol="0" anchor="ctr"/>
          <a:lstStyle/>
          <a:p>
            <a:pPr rtl="1" algn="r" indent="0" marL="0">
              <a:buNone/>
            </a:pPr>
            <a:r>
              <a:rPr lang="ar-SY" altLang="en-US" sz="7200" b="1" dirty="0">
                <a:solidFill>
                  <a:schemeClr val="accent1"/>
                </a:solidFill>
              </a:rPr>
              <a:t>1</a:t>
            </a:r>
            <a:endParaRPr lang="ar-SY" sz="7200" dirty="0"/>
          </a:p>
          <a:p>
            <a:pPr rtl="1" algn="r" indent="0" marL="0">
              <a:buNone/>
            </a:pPr>
            <a:r>
              <a:rPr lang="ar-SY" altLang="en-US" sz="1600" dirty="0">
                <a:solidFill>
                  <a:schemeClr val="bg1"/>
                </a:solidFill>
              </a:rPr>
              <a:t>دقيقة لترتّب أول وجّ من البود</a:t>
            </a:r>
            <a:endParaRPr lang="ar-SY" sz="7200" dirty="0"/>
          </a:p>
        </p:txBody>
      </p:sp>
      <p:pic>
        <p:nvPicPr>
          <p:cNvPr id="5" name="Fact icon 1" descr="preencoded.png">    </p:cNvPr>
          <p:cNvPicPr>
            <a:picLocks noChangeAspect="1"/>
          </p:cNvPicPr>
          <p:nvPr/>
        </p:nvPicPr>
        <p:blipFill>
          <a:blip r:embed="rId1"/>
          <a:stretch>
            <a:fillRect/>
          </a:stretch>
        </p:blipFill>
        <p:spPr>
          <a:xfrm>
            <a:off x="6053328" y="1444752"/>
            <a:ext cx="347472" cy="347472"/>
          </a:xfrm>
          <a:prstGeom prst="rect">
            <a:avLst/>
          </a:prstGeom>
        </p:spPr>
      </p:pic>
      <p:sp>
        <p:nvSpPr>
          <p:cNvPr id="6" name="Fact 1"/>
          <p:cNvSpPr txBox="1"/>
          <p:nvPr/>
        </p:nvSpPr>
        <p:spPr>
          <a:xfrm>
            <a:off x="3291840" y="1371600"/>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إيمتى</a:t>
            </a:r>
            <a:endParaRPr lang="ar-SY" sz="1700" dirty="0"/>
          </a:p>
          <a:p>
            <a:pPr rtl="1" algn="r" indent="0" marL="0">
              <a:buNone/>
            </a:pPr>
            <a:r>
              <a:rPr lang="ar-SY" altLang="en-US" sz="1400" dirty="0">
                <a:solidFill>
                  <a:schemeClr val="accent4"/>
                </a:solidFill>
              </a:rPr>
              <a:t>ببداية الشيفت وبعد كل استراحة</a:t>
            </a:r>
            <a:endParaRPr lang="ar-SY" sz="1700" dirty="0"/>
          </a:p>
        </p:txBody>
      </p:sp>
      <p:pic>
        <p:nvPicPr>
          <p:cNvPr id="7" name="Fact icon 2" descr="preencoded.png">    </p:cNvPr>
          <p:cNvPicPr>
            <a:picLocks noChangeAspect="1"/>
          </p:cNvPicPr>
          <p:nvPr/>
        </p:nvPicPr>
        <p:blipFill>
          <a:blip r:embed="rId2"/>
          <a:stretch>
            <a:fillRect/>
          </a:stretch>
        </p:blipFill>
        <p:spPr>
          <a:xfrm>
            <a:off x="6053328" y="2514600"/>
            <a:ext cx="347472" cy="347472"/>
          </a:xfrm>
          <a:prstGeom prst="rect">
            <a:avLst/>
          </a:prstGeom>
        </p:spPr>
      </p:pic>
      <p:sp>
        <p:nvSpPr>
          <p:cNvPr id="8" name="Fact 2"/>
          <p:cNvSpPr txBox="1"/>
          <p:nvPr/>
        </p:nvSpPr>
        <p:spPr>
          <a:xfrm>
            <a:off x="3291840" y="2441448"/>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شو</a:t>
            </a:r>
            <a:endParaRPr lang="ar-SY" sz="1700" dirty="0"/>
          </a:p>
          <a:p>
            <a:pPr rtl="1" algn="r" indent="0" marL="0">
              <a:buNone/>
            </a:pPr>
            <a:r>
              <a:rPr lang="ar-SY" altLang="en-US" sz="1400" dirty="0">
                <a:solidFill>
                  <a:schemeClr val="accent4"/>
                </a:solidFill>
              </a:rPr>
              <a:t>أول وجّ بود بيوصل عالستيشن تبعك</a:t>
            </a:r>
            <a:endParaRPr lang="ar-SY" sz="1700" dirty="0"/>
          </a:p>
        </p:txBody>
      </p:sp>
      <p:pic>
        <p:nvPicPr>
          <p:cNvPr id="9" name="Fact icon 3" descr="preencoded.png">    </p:cNvPr>
          <p:cNvPicPr>
            <a:picLocks noChangeAspect="1"/>
          </p:cNvPicPr>
          <p:nvPr/>
        </p:nvPicPr>
        <p:blipFill>
          <a:blip r:embed="rId3"/>
          <a:stretch>
            <a:fillRect/>
          </a:stretch>
        </p:blipFill>
        <p:spPr>
          <a:xfrm>
            <a:off x="6053328" y="3584448"/>
            <a:ext cx="347472" cy="347472"/>
          </a:xfrm>
          <a:prstGeom prst="rect">
            <a:avLst/>
          </a:prstGeom>
        </p:spPr>
      </p:pic>
      <p:sp>
        <p:nvSpPr>
          <p:cNvPr id="10" name="Fact 3"/>
          <p:cNvSpPr txBox="1"/>
          <p:nvPr/>
        </p:nvSpPr>
        <p:spPr>
          <a:xfrm>
            <a:off x="3291840" y="3511296"/>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مين</a:t>
            </a:r>
            <a:endParaRPr lang="ar-SY" sz="1700" dirty="0"/>
          </a:p>
          <a:p>
            <a:pPr rtl="1" algn="r" indent="0" marL="0">
              <a:buNone/>
            </a:pPr>
            <a:r>
              <a:rPr lang="ar-SY" altLang="en-US" sz="1400" dirty="0">
                <a:solidFill>
                  <a:schemeClr val="accent4"/>
                </a:solidFill>
              </a:rPr>
              <a:t>كل موظفين الستو والـ ICQA</a:t>
            </a:r>
            <a:endParaRPr lang="ar-SY"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كيف تعمل FFF بـ 4 خطوات</a:t>
            </a:r>
            <a:endParaRPr lang="ar-SY" sz="2800" dirty="0"/>
          </a:p>
        </p:txBody>
      </p:sp>
      <p:sp>
        <p:nvSpPr>
          <p:cNvPr id="3" name="Step badge 1"/>
          <p:cNvSpPr/>
          <p:nvPr/>
        </p:nvSpPr>
        <p:spPr>
          <a:xfrm>
            <a:off x="8138160" y="1325880"/>
            <a:ext cx="548640" cy="548640"/>
          </a:xfrm>
          <a:prstGeom prst="ellipse">
            <a:avLst/>
          </a:prstGeom>
          <a:solidFill>
            <a:schemeClr val="accent1"/>
          </a:solidFill>
          <a:ln/>
        </p:spPr>
      </p:sp>
      <p:sp>
        <p:nvSpPr>
          <p:cNvPr id="4" name="Step number 1"/>
          <p:cNvSpPr txBox="1"/>
          <p:nvPr/>
        </p:nvSpPr>
        <p:spPr>
          <a:xfrm>
            <a:off x="8138160" y="132588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1</a:t>
            </a:r>
            <a:endParaRPr lang="ar-SY" sz="2000" dirty="0"/>
          </a:p>
        </p:txBody>
      </p:sp>
      <p:sp>
        <p:nvSpPr>
          <p:cNvPr id="5" name="Step 1"/>
          <p:cNvSpPr txBox="1"/>
          <p:nvPr/>
        </p:nvSpPr>
        <p:spPr>
          <a:xfrm>
            <a:off x="3291840" y="126187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جهّز حالك</a:t>
            </a:r>
            <a:endParaRPr lang="ar-SY" sz="1700" dirty="0"/>
          </a:p>
          <a:p>
            <a:pPr rtl="1" algn="r" indent="0" marL="0">
              <a:buNone/>
            </a:pPr>
            <a:r>
              <a:rPr lang="ar-SY" altLang="en-US" sz="1400" dirty="0">
                <a:solidFill>
                  <a:schemeClr val="accent4"/>
                </a:solidFill>
              </a:rPr>
              <a:t>سجّل دخول، اختار البروسس باث، وشيّك عالستيشن</a:t>
            </a:r>
            <a:endParaRPr lang="ar-SY" sz="1700" dirty="0"/>
          </a:p>
        </p:txBody>
      </p:sp>
      <p:sp>
        <p:nvSpPr>
          <p:cNvPr id="6" name="Step badge 2"/>
          <p:cNvSpPr/>
          <p:nvPr/>
        </p:nvSpPr>
        <p:spPr>
          <a:xfrm>
            <a:off x="8138160" y="2148840"/>
            <a:ext cx="548640" cy="548640"/>
          </a:xfrm>
          <a:prstGeom prst="ellipse">
            <a:avLst/>
          </a:prstGeom>
          <a:solidFill>
            <a:schemeClr val="accent1"/>
          </a:solidFill>
          <a:ln/>
        </p:spPr>
      </p:sp>
      <p:sp>
        <p:nvSpPr>
          <p:cNvPr id="7" name="Step number 2"/>
          <p:cNvSpPr txBox="1"/>
          <p:nvPr/>
        </p:nvSpPr>
        <p:spPr>
          <a:xfrm>
            <a:off x="8138160" y="214884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2</a:t>
            </a:r>
            <a:endParaRPr lang="ar-SY" sz="2000" dirty="0"/>
          </a:p>
        </p:txBody>
      </p:sp>
      <p:sp>
        <p:nvSpPr>
          <p:cNvPr id="8" name="Step 2"/>
          <p:cNvSpPr txBox="1"/>
          <p:nvPr/>
        </p:nvSpPr>
        <p:spPr>
          <a:xfrm>
            <a:off x="3291840" y="208483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اشتغل من فوق لتحت</a:t>
            </a:r>
            <a:endParaRPr lang="ar-SY" sz="1700" dirty="0"/>
          </a:p>
          <a:p>
            <a:pPr rtl="1" algn="r" indent="0" marL="0">
              <a:buNone/>
            </a:pPr>
            <a:r>
              <a:rPr lang="ar-SY" altLang="en-US" sz="1400" dirty="0">
                <a:solidFill>
                  <a:schemeClr val="accent4"/>
                </a:solidFill>
              </a:rPr>
              <a:t>بلّش من فوق الوجّ ومشي متل الستو سنيك</a:t>
            </a:r>
            <a:endParaRPr lang="ar-SY" sz="1700" dirty="0"/>
          </a:p>
        </p:txBody>
      </p:sp>
      <p:sp>
        <p:nvSpPr>
          <p:cNvPr id="9" name="Step badge 3"/>
          <p:cNvSpPr/>
          <p:nvPr/>
        </p:nvSpPr>
        <p:spPr>
          <a:xfrm>
            <a:off x="8138160" y="2971800"/>
            <a:ext cx="548640" cy="548640"/>
          </a:xfrm>
          <a:prstGeom prst="ellipse">
            <a:avLst/>
          </a:prstGeom>
          <a:solidFill>
            <a:schemeClr val="accent1"/>
          </a:solidFill>
          <a:ln/>
        </p:spPr>
      </p:sp>
      <p:sp>
        <p:nvSpPr>
          <p:cNvPr id="10" name="Step number 3"/>
          <p:cNvSpPr txBox="1"/>
          <p:nvPr/>
        </p:nvSpPr>
        <p:spPr>
          <a:xfrm>
            <a:off x="8138160" y="297180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3</a:t>
            </a:r>
            <a:endParaRPr lang="ar-SY" sz="2000" dirty="0"/>
          </a:p>
        </p:txBody>
      </p:sp>
      <p:sp>
        <p:nvSpPr>
          <p:cNvPr id="11" name="Step 3"/>
          <p:cNvSpPr txBox="1"/>
          <p:nvPr/>
        </p:nvSpPr>
        <p:spPr>
          <a:xfrm>
            <a:off x="3291840" y="290779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رتّب كل بِن</a:t>
            </a:r>
            <a:endParaRPr lang="ar-SY" sz="1700" dirty="0"/>
          </a:p>
          <a:p>
            <a:pPr rtl="1" algn="r" indent="0" marL="0">
              <a:buNone/>
            </a:pPr>
            <a:r>
              <a:rPr lang="ar-SY" altLang="en-US" sz="1400" dirty="0">
                <a:solidFill>
                  <a:schemeClr val="accent4"/>
                </a:solidFill>
              </a:rPr>
              <a:t>خلّي كل بِن مطابق لقواعد ROBOTSS</a:t>
            </a:r>
            <a:endParaRPr lang="ar-SY" sz="1700" dirty="0"/>
          </a:p>
        </p:txBody>
      </p:sp>
      <p:sp>
        <p:nvSpPr>
          <p:cNvPr id="12" name="Step badge 4"/>
          <p:cNvSpPr/>
          <p:nvPr/>
        </p:nvSpPr>
        <p:spPr>
          <a:xfrm>
            <a:off x="8138160" y="3794760"/>
            <a:ext cx="548640" cy="548640"/>
          </a:xfrm>
          <a:prstGeom prst="ellipse">
            <a:avLst/>
          </a:prstGeom>
          <a:solidFill>
            <a:schemeClr val="accent1"/>
          </a:solidFill>
          <a:ln/>
        </p:spPr>
      </p:sp>
      <p:sp>
        <p:nvSpPr>
          <p:cNvPr id="13" name="Step number 4"/>
          <p:cNvSpPr txBox="1"/>
          <p:nvPr/>
        </p:nvSpPr>
        <p:spPr>
          <a:xfrm>
            <a:off x="8138160" y="3794760"/>
            <a:ext cx="548640" cy="548640"/>
          </a:xfrm>
          <a:prstGeom prst="rect">
            <a:avLst/>
          </a:prstGeom>
          <a:noFill/>
          <a:ln/>
        </p:spPr>
        <p:txBody>
          <a:bodyPr wrap="square" lIns="0" tIns="0" rIns="0" bIns="0" rtlCol="0" anchor="ctr"/>
          <a:lstStyle/>
          <a:p>
            <a:pPr rtl="1" algn="ctr" indent="0" marL="0">
              <a:buNone/>
            </a:pPr>
            <a:r>
              <a:rPr lang="ar-SY" altLang="en-US" sz="2000" b="1" dirty="0">
                <a:solidFill>
                  <a:schemeClr val="bg1"/>
                </a:solidFill>
              </a:rPr>
              <a:t>4</a:t>
            </a:r>
            <a:endParaRPr lang="ar-SY" sz="2000" dirty="0"/>
          </a:p>
        </p:txBody>
      </p:sp>
      <p:sp>
        <p:nvSpPr>
          <p:cNvPr id="14" name="Step 4"/>
          <p:cNvSpPr txBox="1"/>
          <p:nvPr/>
        </p:nvSpPr>
        <p:spPr>
          <a:xfrm>
            <a:off x="3291840" y="3730752"/>
            <a:ext cx="457200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بلّش شغلك</a:t>
            </a:r>
            <a:endParaRPr lang="ar-SY" sz="1700" dirty="0"/>
          </a:p>
          <a:p>
            <a:pPr rtl="1" algn="r" indent="0" marL="0">
              <a:buNone/>
            </a:pPr>
            <a:r>
              <a:rPr lang="ar-SY" altLang="en-US" sz="1400" dirty="0">
                <a:solidFill>
                  <a:schemeClr val="accent4"/>
                </a:solidFill>
              </a:rPr>
              <a:t>بعد دقيقة، أو لمّا يصير الوجّ مطابق لـ ROBOTSS</a:t>
            </a:r>
            <a:endParaRPr lang="ar-SY"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خلال الـ FFF، ممنوع</a:t>
            </a:r>
            <a:endParaRPr lang="ar-SY" sz="2800" dirty="0"/>
          </a:p>
        </p:txBody>
      </p:sp>
      <p:sp>
        <p:nvSpPr>
          <p:cNvPr id="3" name="Dont card 1"/>
          <p:cNvSpPr/>
          <p:nvPr/>
        </p:nvSpPr>
        <p:spPr>
          <a:xfrm>
            <a:off x="699516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80010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7223760" y="1554480"/>
            <a:ext cx="365760" cy="365760"/>
          </a:xfrm>
          <a:prstGeom prst="rect">
            <a:avLst/>
          </a:prstGeom>
        </p:spPr>
      </p:pic>
      <p:sp>
        <p:nvSpPr>
          <p:cNvPr id="6" name="Dont text 1"/>
          <p:cNvSpPr txBox="1"/>
          <p:nvPr/>
        </p:nvSpPr>
        <p:spPr>
          <a:xfrm>
            <a:off x="7178040" y="2194560"/>
            <a:ext cx="1280160" cy="1234440"/>
          </a:xfrm>
          <a:prstGeom prst="rect">
            <a:avLst/>
          </a:prstGeom>
          <a:noFill/>
          <a:ln/>
        </p:spPr>
        <p:txBody>
          <a:bodyPr wrap="square" lIns="0" tIns="0" rIns="0" bIns="0" rtlCol="0" anchor="t"/>
          <a:lstStyle/>
          <a:p>
            <a:pPr rtl="1" algn="r" indent="0" marL="0">
              <a:buNone/>
            </a:pPr>
            <a:r>
              <a:rPr lang="ar-SY" altLang="en-US" sz="2000" b="1" dirty="0">
                <a:solidFill>
                  <a:schemeClr val="accent3"/>
                </a:solidFill>
              </a:rPr>
              <a:t>تعمل سكان</a:t>
            </a:r>
            <a:endParaRPr lang="ar-SY" sz="2000" dirty="0"/>
          </a:p>
          <a:p>
            <a:pPr rtl="1" algn="r" indent="0" marL="0">
              <a:buNone/>
            </a:pPr>
            <a:r>
              <a:rPr lang="ar-SY" altLang="en-US" sz="1400" dirty="0">
                <a:solidFill>
                  <a:schemeClr val="tx1"/>
                </a:solidFill>
              </a:rPr>
              <a:t>لأي قطعة بالتوتات أو البِنات</a:t>
            </a:r>
            <a:endParaRPr lang="ar-SY" sz="2000" dirty="0"/>
          </a:p>
        </p:txBody>
      </p:sp>
      <p:sp>
        <p:nvSpPr>
          <p:cNvPr id="7" name="Dont card 2"/>
          <p:cNvSpPr/>
          <p:nvPr/>
        </p:nvSpPr>
        <p:spPr>
          <a:xfrm>
            <a:off x="516636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61722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5394960" y="1554480"/>
            <a:ext cx="365760" cy="365760"/>
          </a:xfrm>
          <a:prstGeom prst="rect">
            <a:avLst/>
          </a:prstGeom>
        </p:spPr>
      </p:pic>
      <p:sp>
        <p:nvSpPr>
          <p:cNvPr id="10" name="Dont text 2"/>
          <p:cNvSpPr txBox="1"/>
          <p:nvPr/>
        </p:nvSpPr>
        <p:spPr>
          <a:xfrm>
            <a:off x="5349240" y="2194560"/>
            <a:ext cx="1280160" cy="1234440"/>
          </a:xfrm>
          <a:prstGeom prst="rect">
            <a:avLst/>
          </a:prstGeom>
          <a:noFill/>
          <a:ln/>
        </p:spPr>
        <p:txBody>
          <a:bodyPr wrap="square" lIns="0" tIns="0" rIns="0" bIns="0" rtlCol="0" anchor="t"/>
          <a:lstStyle/>
          <a:p>
            <a:pPr rtl="1" algn="r" indent="0" marL="0">
              <a:buNone/>
            </a:pPr>
            <a:r>
              <a:rPr lang="ar-SY" altLang="en-US" sz="2000" b="1" dirty="0">
                <a:solidFill>
                  <a:schemeClr val="accent3"/>
                </a:solidFill>
              </a:rPr>
              <a:t>تنقل</a:t>
            </a:r>
            <a:endParaRPr lang="ar-SY" sz="2000" dirty="0"/>
          </a:p>
          <a:p>
            <a:pPr rtl="1" algn="r" indent="0" marL="0">
              <a:buNone/>
            </a:pPr>
            <a:r>
              <a:rPr lang="ar-SY" altLang="en-US" sz="1400" dirty="0">
                <a:solidFill>
                  <a:schemeClr val="tx1"/>
                </a:solidFill>
              </a:rPr>
              <a:t>قطع لبِن تاني</a:t>
            </a:r>
            <a:endParaRPr lang="ar-SY" sz="2000" dirty="0"/>
          </a:p>
        </p:txBody>
      </p:sp>
      <p:sp>
        <p:nvSpPr>
          <p:cNvPr id="11" name="Dont card 3"/>
          <p:cNvSpPr/>
          <p:nvPr/>
        </p:nvSpPr>
        <p:spPr>
          <a:xfrm>
            <a:off x="333756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3566160" y="1554480"/>
            <a:ext cx="365760" cy="365760"/>
          </a:xfrm>
          <a:prstGeom prst="rect">
            <a:avLst/>
          </a:prstGeom>
        </p:spPr>
      </p:pic>
      <p:sp>
        <p:nvSpPr>
          <p:cNvPr id="14" name="Dont text 3"/>
          <p:cNvSpPr txBox="1"/>
          <p:nvPr/>
        </p:nvSpPr>
        <p:spPr>
          <a:xfrm>
            <a:off x="3520440" y="2194560"/>
            <a:ext cx="1280160" cy="1234440"/>
          </a:xfrm>
          <a:prstGeom prst="rect">
            <a:avLst/>
          </a:prstGeom>
          <a:noFill/>
          <a:ln/>
        </p:spPr>
        <p:txBody>
          <a:bodyPr wrap="square" lIns="0" tIns="0" rIns="0" bIns="0" rtlCol="0" anchor="t"/>
          <a:lstStyle/>
          <a:p>
            <a:pPr rtl="1" algn="r" indent="0" marL="0">
              <a:buNone/>
            </a:pPr>
            <a:r>
              <a:rPr lang="ar-SY" altLang="en-US" sz="2000" b="1" dirty="0">
                <a:solidFill>
                  <a:schemeClr val="accent3"/>
                </a:solidFill>
              </a:rPr>
              <a:t>تشيل</a:t>
            </a:r>
            <a:endParaRPr lang="ar-SY" sz="2000" dirty="0"/>
          </a:p>
          <a:p>
            <a:pPr rtl="1" algn="r" indent="0" marL="0">
              <a:buNone/>
            </a:pPr>
            <a:r>
              <a:rPr lang="ar-SY" altLang="en-US" sz="1400" dirty="0">
                <a:solidFill>
                  <a:schemeClr val="tx1"/>
                </a:solidFill>
              </a:rPr>
              <a:t>أي قطعة من البِنات</a:t>
            </a:r>
            <a:endParaRPr lang="ar-SY" sz="2000" dirty="0"/>
          </a:p>
        </p:txBody>
      </p:sp>
      <p:pic>
        <p:nvPicPr>
          <p:cNvPr id="15" name="Check icon" descr="preencoded.png">    </p:cNvPr>
          <p:cNvPicPr>
            <a:picLocks noChangeAspect="1"/>
          </p:cNvPicPr>
          <p:nvPr/>
        </p:nvPicPr>
        <p:blipFill>
          <a:blip r:embed="rId7"/>
          <a:stretch>
            <a:fillRect/>
          </a:stretch>
        </p:blipFill>
        <p:spPr>
          <a:xfrm>
            <a:off x="8321040" y="3886200"/>
            <a:ext cx="365760" cy="365760"/>
          </a:xfrm>
          <a:prstGeom prst="rect">
            <a:avLst/>
          </a:prstGeom>
        </p:spPr>
      </p:pic>
      <p:sp>
        <p:nvSpPr>
          <p:cNvPr id="16" name="Do text"/>
          <p:cNvSpPr txBox="1"/>
          <p:nvPr/>
        </p:nvSpPr>
        <p:spPr>
          <a:xfrm>
            <a:off x="3291840" y="3776472"/>
            <a:ext cx="4846320" cy="594360"/>
          </a:xfrm>
          <a:prstGeom prst="rect">
            <a:avLst/>
          </a:prstGeom>
          <a:noFill/>
          <a:ln/>
        </p:spPr>
        <p:txBody>
          <a:bodyPr wrap="square" lIns="0" tIns="0" rIns="0" bIns="0" rtlCol="0" anchor="ctr"/>
          <a:lstStyle/>
          <a:p>
            <a:pPr rtl="1" algn="r" indent="0" marL="0">
              <a:buNone/>
            </a:pPr>
            <a:r>
              <a:rPr lang="ar-SY" altLang="en-US" sz="1600" b="1" dirty="0">
                <a:solidFill>
                  <a:schemeClr val="accent2"/>
                </a:solidFill>
              </a:rPr>
              <a:t>الـ FFF بس لترتيب الموجود أصلاً بكل بِن.</a:t>
            </a:r>
            <a:endParaRPr lang="ar-SY"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وبعدين كمّل رتّب وانت ماشي</a:t>
            </a:r>
            <a:endParaRPr lang="ar-SY" sz="2800" dirty="0"/>
          </a:p>
        </p:txBody>
      </p:sp>
      <p:sp>
        <p:nvSpPr>
          <p:cNvPr id="3" name="Quote card"/>
          <p:cNvSpPr/>
          <p:nvPr/>
        </p:nvSpPr>
        <p:spPr>
          <a:xfrm>
            <a:off x="329184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8001000" y="1709928"/>
            <a:ext cx="411480" cy="411480"/>
          </a:xfrm>
          <a:prstGeom prst="rect">
            <a:avLst/>
          </a:prstGeom>
        </p:spPr>
      </p:pic>
      <p:sp>
        <p:nvSpPr>
          <p:cNvPr id="5" name="Quote"/>
          <p:cNvSpPr txBox="1"/>
          <p:nvPr/>
        </p:nvSpPr>
        <p:spPr>
          <a:xfrm>
            <a:off x="3474720" y="1325880"/>
            <a:ext cx="4297680" cy="1188720"/>
          </a:xfrm>
          <a:prstGeom prst="rect">
            <a:avLst/>
          </a:prstGeom>
          <a:noFill/>
          <a:ln/>
        </p:spPr>
        <p:txBody>
          <a:bodyPr wrap="square" lIns="0" tIns="0" rIns="0" bIns="0" rtlCol="0" anchor="ctr"/>
          <a:lstStyle/>
          <a:p>
            <a:pPr rtl="1" algn="r" indent="0" marL="0">
              <a:buNone/>
            </a:pPr>
            <a:r>
              <a:rPr lang="ar-SY" altLang="en-US" sz="1800" b="1" dirty="0">
                <a:solidFill>
                  <a:schemeClr val="tx1"/>
                </a:solidFill>
              </a:rPr>
              <a:t>اترك كل بِن أحسن من ما لقيته.</a:t>
            </a:r>
            <a:endParaRPr lang="ar-SY" sz="1800" dirty="0"/>
          </a:p>
          <a:p>
            <a:pPr rtl="1" algn="r" indent="0" marL="0">
              <a:buNone/>
            </a:pPr>
            <a:r>
              <a:rPr lang="ar-SY" altLang="en-US" sz="1400" dirty="0">
                <a:solidFill>
                  <a:schemeClr val="accent4"/>
                </a:solidFill>
              </a:rPr>
              <a:t>كل ما تكون إيدك بالبِن، رتّبه.</a:t>
            </a:r>
            <a:endParaRPr lang="ar-SY" sz="1800" dirty="0"/>
          </a:p>
        </p:txBody>
      </p:sp>
      <p:sp>
        <p:nvSpPr>
          <p:cNvPr id="6" name="Stat 1"/>
          <p:cNvSpPr txBox="1"/>
          <p:nvPr/>
        </p:nvSpPr>
        <p:spPr>
          <a:xfrm>
            <a:off x="6080760" y="2743200"/>
            <a:ext cx="2606040" cy="1463040"/>
          </a:xfrm>
          <a:prstGeom prst="rect">
            <a:avLst/>
          </a:prstGeom>
          <a:noFill/>
          <a:ln/>
        </p:spPr>
        <p:txBody>
          <a:bodyPr wrap="square" lIns="0" tIns="0" rIns="0" bIns="0" rtlCol="0" anchor="t"/>
          <a:lstStyle/>
          <a:p>
            <a:pPr rtl="1" algn="r" indent="0" marL="0">
              <a:buNone/>
            </a:pPr>
            <a:r>
              <a:rPr lang="ar-SY" altLang="en-US" sz="5400" b="1" dirty="0">
                <a:solidFill>
                  <a:schemeClr val="accent1"/>
                </a:solidFill>
              </a:rPr>
              <a:t>15</a:t>
            </a:r>
            <a:endParaRPr lang="ar-SY" sz="5400" dirty="0"/>
          </a:p>
          <a:p>
            <a:pPr rtl="1" algn="r" indent="0" marL="0">
              <a:buNone/>
            </a:pPr>
            <a:r>
              <a:rPr lang="ar-SY" altLang="en-US" sz="1500" dirty="0">
                <a:solidFill>
                  <a:schemeClr val="accent4"/>
                </a:solidFill>
              </a:rPr>
              <a:t>أوديت FFF بكل شيفت</a:t>
            </a:r>
            <a:endParaRPr lang="ar-SY" sz="5400" dirty="0"/>
          </a:p>
        </p:txBody>
      </p:sp>
      <p:sp>
        <p:nvSpPr>
          <p:cNvPr id="7" name="Stat 2"/>
          <p:cNvSpPr txBox="1"/>
          <p:nvPr/>
        </p:nvSpPr>
        <p:spPr>
          <a:xfrm>
            <a:off x="3291840" y="2743200"/>
            <a:ext cx="2606040" cy="1463040"/>
          </a:xfrm>
          <a:prstGeom prst="rect">
            <a:avLst/>
          </a:prstGeom>
          <a:noFill/>
          <a:ln/>
        </p:spPr>
        <p:txBody>
          <a:bodyPr wrap="square" lIns="0" tIns="0" rIns="0" bIns="0" rtlCol="0" anchor="t"/>
          <a:lstStyle/>
          <a:p>
            <a:pPr rtl="1" algn="r" indent="0" marL="0">
              <a:buNone/>
            </a:pPr>
            <a:r>
              <a:rPr lang="ar-SY" altLang="en-US" sz="5400" b="1" dirty="0">
                <a:solidFill>
                  <a:schemeClr val="accent1"/>
                </a:solidFill>
              </a:rPr>
              <a:t>90%+</a:t>
            </a:r>
            <a:endParaRPr lang="ar-SY" sz="5400" dirty="0"/>
          </a:p>
          <a:p>
            <a:pPr rtl="1" algn="r" indent="0" marL="0">
              <a:buNone/>
            </a:pPr>
            <a:r>
              <a:rPr lang="ar-SY" altLang="en-US" sz="1500" dirty="0">
                <a:solidFill>
                  <a:schemeClr val="accent4"/>
                </a:solidFill>
              </a:rPr>
              <a:t>هدف الالتزام اليومي</a:t>
            </a:r>
            <a:endParaRPr lang="ar-SY" sz="5400" dirty="0"/>
          </a:p>
        </p:txBody>
      </p:sp>
      <p:sp>
        <p:nvSpPr>
          <p:cNvPr id="8" name="Caption"/>
          <p:cNvSpPr txBox="1"/>
          <p:nvPr/>
        </p:nvSpPr>
        <p:spPr>
          <a:xfrm>
            <a:off x="3291840" y="4343400"/>
            <a:ext cx="5394960" cy="320040"/>
          </a:xfrm>
          <a:prstGeom prst="rect">
            <a:avLst/>
          </a:prstGeom>
          <a:noFill/>
          <a:ln/>
        </p:spPr>
        <p:txBody>
          <a:bodyPr wrap="square" lIns="0" tIns="0" rIns="0" bIns="0" rtlCol="0" anchor="ctr"/>
          <a:lstStyle/>
          <a:p>
            <a:pPr rtl="1" algn="r" indent="0" marL="0">
              <a:buNone/>
            </a:pPr>
            <a:r>
              <a:rPr lang="ar-SY" altLang="en-US" sz="1200" dirty="0">
                <a:solidFill>
                  <a:srgbClr val="7A8795"/>
                </a:solidFill>
              </a:rPr>
              <a:t>الأوديت بيعمله ICQA والـ Ops والـ L&amp;D، مع فيدباك بأرضه</a:t>
            </a:r>
            <a:endParaRPr lang="ar-SY"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القسم التاني</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ترتيب البِن: ROBOTSS</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سبع قواعد لكل بِن بتلمسه، بالستو والبيك والـ ICQA.</a:t>
            </a:r>
            <a:endParaRPr lang="ar-SY"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سبع قواعد، كلمة وحدة</a:t>
            </a:r>
            <a:endParaRPr lang="ar-SY" sz="2800" dirty="0"/>
          </a:p>
        </p:txBody>
      </p:sp>
      <p:sp>
        <p:nvSpPr>
          <p:cNvPr id="3" name="Tile 1"/>
          <p:cNvSpPr/>
          <p:nvPr/>
        </p:nvSpPr>
        <p:spPr>
          <a:xfrm>
            <a:off x="8010144" y="1417320"/>
            <a:ext cx="676656" cy="868680"/>
          </a:xfrm>
          <a:prstGeom prst="roundRect">
            <a:avLst>
              <a:gd name="adj" fmla="val 13514"/>
            </a:avLst>
          </a:prstGeom>
          <a:solidFill>
            <a:schemeClr val="tx2"/>
          </a:solidFill>
          <a:ln/>
        </p:spPr>
      </p:sp>
      <p:sp>
        <p:nvSpPr>
          <p:cNvPr id="4" name="Letter 1"/>
          <p:cNvSpPr txBox="1"/>
          <p:nvPr/>
        </p:nvSpPr>
        <p:spPr>
          <a:xfrm>
            <a:off x="8010144"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R</a:t>
            </a:r>
            <a:endParaRPr lang="ar-SY" sz="3600" dirty="0"/>
          </a:p>
        </p:txBody>
      </p:sp>
      <p:sp>
        <p:nvSpPr>
          <p:cNvPr id="5" name="Label 1"/>
          <p:cNvSpPr txBox="1"/>
          <p:nvPr/>
        </p:nvSpPr>
        <p:spPr>
          <a:xfrm>
            <a:off x="7973568"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حجم البِن المناسب</a:t>
            </a:r>
            <a:endParaRPr lang="ar-SY" sz="1200" dirty="0"/>
          </a:p>
        </p:txBody>
      </p:sp>
      <p:sp>
        <p:nvSpPr>
          <p:cNvPr id="6" name="Tile 2"/>
          <p:cNvSpPr/>
          <p:nvPr/>
        </p:nvSpPr>
        <p:spPr>
          <a:xfrm>
            <a:off x="7223760" y="1417320"/>
            <a:ext cx="676656" cy="868680"/>
          </a:xfrm>
          <a:prstGeom prst="roundRect">
            <a:avLst>
              <a:gd name="adj" fmla="val 13514"/>
            </a:avLst>
          </a:prstGeom>
          <a:solidFill>
            <a:schemeClr val="tx2"/>
          </a:solidFill>
          <a:ln/>
        </p:spPr>
      </p:sp>
      <p:sp>
        <p:nvSpPr>
          <p:cNvPr id="7" name="Letter 2"/>
          <p:cNvSpPr txBox="1"/>
          <p:nvPr/>
        </p:nvSpPr>
        <p:spPr>
          <a:xfrm>
            <a:off x="7223760"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O</a:t>
            </a:r>
            <a:endParaRPr lang="ar-SY" sz="3600" dirty="0"/>
          </a:p>
        </p:txBody>
      </p:sp>
      <p:sp>
        <p:nvSpPr>
          <p:cNvPr id="8" name="Label 2"/>
          <p:cNvSpPr txBox="1"/>
          <p:nvPr/>
        </p:nvSpPr>
        <p:spPr>
          <a:xfrm>
            <a:off x="7187184"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ما في شي طالع</a:t>
            </a:r>
            <a:endParaRPr lang="ar-SY" sz="1200" dirty="0"/>
          </a:p>
        </p:txBody>
      </p:sp>
      <p:sp>
        <p:nvSpPr>
          <p:cNvPr id="9" name="Tile 3"/>
          <p:cNvSpPr/>
          <p:nvPr/>
        </p:nvSpPr>
        <p:spPr>
          <a:xfrm>
            <a:off x="6437376" y="1417320"/>
            <a:ext cx="676656" cy="868680"/>
          </a:xfrm>
          <a:prstGeom prst="roundRect">
            <a:avLst>
              <a:gd name="adj" fmla="val 13514"/>
            </a:avLst>
          </a:prstGeom>
          <a:solidFill>
            <a:schemeClr val="tx2"/>
          </a:solidFill>
          <a:ln/>
        </p:spPr>
      </p:sp>
      <p:sp>
        <p:nvSpPr>
          <p:cNvPr id="10" name="Letter 3"/>
          <p:cNvSpPr txBox="1"/>
          <p:nvPr/>
        </p:nvSpPr>
        <p:spPr>
          <a:xfrm>
            <a:off x="6437376"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B</a:t>
            </a:r>
            <a:endParaRPr lang="ar-SY" sz="3600" dirty="0"/>
          </a:p>
        </p:txBody>
      </p:sp>
      <p:sp>
        <p:nvSpPr>
          <p:cNvPr id="11" name="Label 3"/>
          <p:cNvSpPr txBox="1"/>
          <p:nvPr/>
        </p:nvSpPr>
        <p:spPr>
          <a:xfrm>
            <a:off x="6400800"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ما تسكّر عالقطع</a:t>
            </a:r>
            <a:endParaRPr lang="ar-SY" sz="1200" dirty="0"/>
          </a:p>
        </p:txBody>
      </p:sp>
      <p:sp>
        <p:nvSpPr>
          <p:cNvPr id="12" name="Tile 4"/>
          <p:cNvSpPr/>
          <p:nvPr/>
        </p:nvSpPr>
        <p:spPr>
          <a:xfrm>
            <a:off x="5650992" y="1417320"/>
            <a:ext cx="676656" cy="868680"/>
          </a:xfrm>
          <a:prstGeom prst="roundRect">
            <a:avLst>
              <a:gd name="adj" fmla="val 13514"/>
            </a:avLst>
          </a:prstGeom>
          <a:solidFill>
            <a:schemeClr val="tx2"/>
          </a:solidFill>
          <a:ln/>
        </p:spPr>
      </p:sp>
      <p:sp>
        <p:nvSpPr>
          <p:cNvPr id="13" name="Letter 4"/>
          <p:cNvSpPr txBox="1"/>
          <p:nvPr/>
        </p:nvSpPr>
        <p:spPr>
          <a:xfrm>
            <a:off x="5650992"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O</a:t>
            </a:r>
            <a:endParaRPr lang="ar-SY" sz="3600" dirty="0"/>
          </a:p>
        </p:txBody>
      </p:sp>
      <p:sp>
        <p:nvSpPr>
          <p:cNvPr id="14" name="Label 4"/>
          <p:cNvSpPr txBox="1"/>
          <p:nvPr/>
        </p:nvSpPr>
        <p:spPr>
          <a:xfrm>
            <a:off x="5614416"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ما تحشي البِن</a:t>
            </a:r>
            <a:endParaRPr lang="ar-SY" sz="1200" dirty="0"/>
          </a:p>
        </p:txBody>
      </p:sp>
      <p:sp>
        <p:nvSpPr>
          <p:cNvPr id="15" name="Tile 5"/>
          <p:cNvSpPr/>
          <p:nvPr/>
        </p:nvSpPr>
        <p:spPr>
          <a:xfrm>
            <a:off x="4864608" y="1417320"/>
            <a:ext cx="676656" cy="868680"/>
          </a:xfrm>
          <a:prstGeom prst="roundRect">
            <a:avLst>
              <a:gd name="adj" fmla="val 13514"/>
            </a:avLst>
          </a:prstGeom>
          <a:solidFill>
            <a:schemeClr val="tx2"/>
          </a:solidFill>
          <a:ln/>
        </p:spPr>
      </p:sp>
      <p:sp>
        <p:nvSpPr>
          <p:cNvPr id="16" name="Letter 5"/>
          <p:cNvSpPr txBox="1"/>
          <p:nvPr/>
        </p:nvSpPr>
        <p:spPr>
          <a:xfrm>
            <a:off x="4864608"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T</a:t>
            </a:r>
            <a:endParaRPr lang="ar-SY" sz="3600" dirty="0"/>
          </a:p>
        </p:txBody>
      </p:sp>
      <p:sp>
        <p:nvSpPr>
          <p:cNvPr id="17" name="Label 5"/>
          <p:cNvSpPr txBox="1"/>
          <p:nvPr/>
        </p:nvSpPr>
        <p:spPr>
          <a:xfrm>
            <a:off x="4828032"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العناوين لبرّا</a:t>
            </a:r>
            <a:endParaRPr lang="ar-SY" sz="1200" dirty="0"/>
          </a:p>
        </p:txBody>
      </p:sp>
      <p:sp>
        <p:nvSpPr>
          <p:cNvPr id="18" name="Tile 6"/>
          <p:cNvSpPr/>
          <p:nvPr/>
        </p:nvSpPr>
        <p:spPr>
          <a:xfrm>
            <a:off x="4078224" y="1417320"/>
            <a:ext cx="676656" cy="868680"/>
          </a:xfrm>
          <a:prstGeom prst="roundRect">
            <a:avLst>
              <a:gd name="adj" fmla="val 13514"/>
            </a:avLst>
          </a:prstGeom>
          <a:solidFill>
            <a:schemeClr val="tx2"/>
          </a:solidFill>
          <a:ln/>
        </p:spPr>
      </p:sp>
      <p:sp>
        <p:nvSpPr>
          <p:cNvPr id="19" name="Letter 6"/>
          <p:cNvSpPr txBox="1"/>
          <p:nvPr/>
        </p:nvSpPr>
        <p:spPr>
          <a:xfrm>
            <a:off x="4078224"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S</a:t>
            </a:r>
            <a:endParaRPr lang="ar-SY" sz="3600" dirty="0"/>
          </a:p>
        </p:txBody>
      </p:sp>
      <p:sp>
        <p:nvSpPr>
          <p:cNvPr id="20" name="Label 6"/>
          <p:cNvSpPr txBox="1"/>
          <p:nvPr/>
        </p:nvSpPr>
        <p:spPr>
          <a:xfrm>
            <a:off x="4041648"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الترصيص</a:t>
            </a:r>
            <a:endParaRPr lang="ar-SY" sz="1200" dirty="0"/>
          </a:p>
        </p:txBody>
      </p:sp>
      <p:sp>
        <p:nvSpPr>
          <p:cNvPr id="21" name="Tile 7"/>
          <p:cNvSpPr/>
          <p:nvPr/>
        </p:nvSpPr>
        <p:spPr>
          <a:xfrm>
            <a:off x="3291840" y="1417320"/>
            <a:ext cx="676656" cy="868680"/>
          </a:xfrm>
          <a:prstGeom prst="roundRect">
            <a:avLst>
              <a:gd name="adj" fmla="val 13514"/>
            </a:avLst>
          </a:prstGeom>
          <a:solidFill>
            <a:schemeClr val="tx2"/>
          </a:solidFill>
          <a:ln/>
        </p:spPr>
      </p:sp>
      <p:sp>
        <p:nvSpPr>
          <p:cNvPr id="22" name="Letter 7"/>
          <p:cNvSpPr txBox="1"/>
          <p:nvPr/>
        </p:nvSpPr>
        <p:spPr>
          <a:xfrm>
            <a:off x="3291840" y="1417320"/>
            <a:ext cx="676656" cy="868680"/>
          </a:xfrm>
          <a:prstGeom prst="rect">
            <a:avLst/>
          </a:prstGeom>
          <a:noFill/>
          <a:ln/>
        </p:spPr>
        <p:txBody>
          <a:bodyPr wrap="square" lIns="0" tIns="0" rIns="0" bIns="0" rtlCol="0" anchor="ctr"/>
          <a:lstStyle/>
          <a:p>
            <a:pPr rtl="1" algn="ctr" indent="0" marL="0">
              <a:buNone/>
            </a:pPr>
            <a:r>
              <a:rPr lang="ar-SY" altLang="en-US" sz="3600" b="1" dirty="0">
                <a:solidFill>
                  <a:schemeClr val="accent1"/>
                </a:solidFill>
                <a:latin typeface="Arial" pitchFamily="34" charset="0"/>
                <a:ea typeface="Arial" pitchFamily="34" charset="-122"/>
                <a:cs typeface="Arial" pitchFamily="34" charset="-120"/>
              </a:rPr>
              <a:t>S</a:t>
            </a:r>
            <a:endParaRPr lang="ar-SY" sz="3600" dirty="0"/>
          </a:p>
        </p:txBody>
      </p:sp>
      <p:sp>
        <p:nvSpPr>
          <p:cNvPr id="23" name="Label 7"/>
          <p:cNvSpPr txBox="1"/>
          <p:nvPr/>
        </p:nvSpPr>
        <p:spPr>
          <a:xfrm>
            <a:off x="3255264" y="2377440"/>
            <a:ext cx="749808" cy="594360"/>
          </a:xfrm>
          <a:prstGeom prst="rect">
            <a:avLst/>
          </a:prstGeom>
          <a:noFill/>
          <a:ln/>
        </p:spPr>
        <p:txBody>
          <a:bodyPr wrap="square" lIns="0" tIns="0" rIns="0" bIns="0" rtlCol="0" anchor="t"/>
          <a:lstStyle/>
          <a:p>
            <a:pPr rtl="1" algn="ctr" indent="0" marL="0">
              <a:buNone/>
            </a:pPr>
            <a:r>
              <a:rPr lang="ar-SY" altLang="en-US" sz="1200" dirty="0">
                <a:solidFill>
                  <a:schemeClr val="tx1"/>
                </a:solidFill>
              </a:rPr>
              <a:t>القطع المتشابهة</a:t>
            </a:r>
            <a:endParaRPr lang="ar-SY" sz="1200" dirty="0"/>
          </a:p>
        </p:txBody>
      </p:sp>
      <p:sp>
        <p:nvSpPr>
          <p:cNvPr id="24" name="Why card"/>
          <p:cNvSpPr/>
          <p:nvPr/>
        </p:nvSpPr>
        <p:spPr>
          <a:xfrm>
            <a:off x="3291840" y="3429000"/>
            <a:ext cx="5394960" cy="1097280"/>
          </a:xfrm>
          <a:prstGeom prst="roundRect">
            <a:avLst>
              <a:gd name="adj" fmla="val 8333"/>
            </a:avLst>
          </a:prstGeom>
          <a:solidFill>
            <a:schemeClr val="bg1"/>
          </a:solidFill>
          <a:ln/>
        </p:spPr>
      </p:sp>
      <p:sp>
        <p:nvSpPr>
          <p:cNvPr id="25" name="Why text"/>
          <p:cNvSpPr txBox="1"/>
          <p:nvPr/>
        </p:nvSpPr>
        <p:spPr>
          <a:xfrm>
            <a:off x="3566160" y="3429000"/>
            <a:ext cx="4846320" cy="1097280"/>
          </a:xfrm>
          <a:prstGeom prst="rect">
            <a:avLst/>
          </a:prstGeom>
          <a:noFill/>
          <a:ln/>
        </p:spPr>
        <p:txBody>
          <a:bodyPr wrap="square" lIns="0" tIns="0" rIns="0" bIns="0" rtlCol="0" anchor="ctr"/>
          <a:lstStyle/>
          <a:p>
            <a:pPr rtl="1" algn="r" indent="0" marL="0">
              <a:buNone/>
            </a:pPr>
            <a:r>
              <a:rPr lang="ar-SY" altLang="en-US" sz="1500" b="1" dirty="0">
                <a:solidFill>
                  <a:schemeClr val="tx1"/>
                </a:solidFill>
              </a:rPr>
              <a:t>ليش مهم: </a:t>
            </a:r>
            <a:pPr rtl="1" algn="r" indent="0" marL="0">
              <a:buNone/>
            </a:pPr>
            <a:r>
              <a:rPr lang="ar-SY" altLang="en-US" sz="1500" dirty="0">
                <a:solidFill>
                  <a:schemeClr val="accent4"/>
                </a:solidFill>
              </a:rPr>
              <a:t>البيكرز بيلاقوا القطع أسرع، البِن بيساع أكتر، وما بيوقع شي لمّا يتحرك البود.</a:t>
            </a:r>
            <a:endParaRPr lang="ar-SY"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حجم البِن المناسب (R)</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Right bin size: wrong example. A tiny item in a big bin wastes space">    </p:cNvPr>
          <p:cNvPicPr>
            <a:picLocks noChangeAspect="1"/>
          </p:cNvPicPr>
          <p:nvPr/>
        </p:nvPicPr>
        <p:blipFill>
          <a:blip r:embed="rId1"/>
          <a:stretch>
            <a:fillRect/>
          </a:stretch>
        </p:blipFill>
        <p:spPr>
          <a:xfrm>
            <a:off x="6357011" y="1417320"/>
            <a:ext cx="2053538"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قطعة صغيرة ببِن كبير، مساحة ضايعة</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Right bin size: right example. The item suits the size of the bin">    </p:cNvPr>
          <p:cNvPicPr>
            <a:picLocks noChangeAspect="1"/>
          </p:cNvPicPr>
          <p:nvPr/>
        </p:nvPicPr>
        <p:blipFill>
          <a:blip r:embed="rId2"/>
          <a:stretch>
            <a:fillRect/>
          </a:stretch>
        </p:blipFill>
        <p:spPr>
          <a:xfrm>
            <a:off x="3524707" y="1417320"/>
            <a:ext cx="2140307"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القطعة مناسبة لحجم البِن</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استعمل أصغر بِن ممكن، وحطّ القطعة حسب طولها أول شي.</a:t>
            </a:r>
            <a:endParaRPr lang="ar-SY"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في شي طالع (O)</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6323688" y="1417320"/>
            <a:ext cx="2120184"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الكرتونة طالعة برّا حرف البِن</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67052" y="1417320"/>
            <a:ext cx="2055616"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كل شي جوّا البِن تماماً</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كل القطع لازم تكون جوّا البِن. الشي الطالع بيعمل عوائق للدرايف وحوادث للبودات.</a:t>
            </a:r>
            <a:endParaRPr lang="ar-SY"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تسكّر عالقطع (B)</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6330117" y="1417320"/>
            <a:ext cx="2107326"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قطعة مسطّحة قدّام مخبّية اللي وراها</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534888" y="1417320"/>
            <a:ext cx="2119945"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كل قطعة مبيّنة من قدّام</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لا تسكّر عالقطع الصغيرة بقطع أكبر. وقّف القطع المسطّحة.</a:t>
            </a:r>
            <a:endParaRPr lang="ar-SY"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تحشي البِن (O)</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243293" y="1417320"/>
            <a:ext cx="2280974"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 محشورة بالقوة، والبِن منفوخ</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58819" y="1417320"/>
            <a:ext cx="2272081"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مرتاحة وفي مجال للبيك</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لا تعبّي البِن زيادة. الحشر بالقوة بيخرّب بضاعة الزبون.</a:t>
            </a:r>
            <a:endParaRPr lang="ar-SY"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العناوين لبرّا (T)</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Titles out: wrong example. Spines face in, so titles can't be read">    </p:cNvPr>
          <p:cNvPicPr>
            <a:picLocks noChangeAspect="1"/>
          </p:cNvPicPr>
          <p:nvPr/>
        </p:nvPicPr>
        <p:blipFill>
          <a:blip r:embed="rId1"/>
          <a:stretch>
            <a:fillRect/>
          </a:stretch>
        </p:blipFill>
        <p:spPr>
          <a:xfrm>
            <a:off x="6215634" y="1417320"/>
            <a:ext cx="2336292"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ضهر الكتب لجوّا، العناوين ما بتنقرا</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Titles out: right example. Spines face out, titles easy to read">    </p:cNvPr>
          <p:cNvPicPr>
            <a:picLocks noChangeAspect="1"/>
          </p:cNvPicPr>
          <p:nvPr/>
        </p:nvPicPr>
        <p:blipFill>
          <a:blip r:embed="rId2"/>
          <a:stretch>
            <a:fillRect/>
          </a:stretch>
        </p:blipFill>
        <p:spPr>
          <a:xfrm>
            <a:off x="3431286" y="1417320"/>
            <a:ext cx="2327148"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ضهر الكتب لبرّا، العناوين واضحة</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الكتب والـ DVD بتنحط وضهرها لبرّا.</a:t>
            </a:r>
            <a:endParaRPr lang="ar-SY"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الترصيص (S)</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46837" y="1417320"/>
            <a:ext cx="2273886"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 مختلفة مرصوصة فوق بعض</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75892" y="1417320"/>
            <a:ext cx="2237935"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واقفة جنب بعض، تحت الأحزمة</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رصّ بس نفس الـ ASIN، إذا إلها جهتين مسطّحين، وخلّيها تحت الأحزمة.</a:t>
            </a:r>
            <a:endParaRPr lang="ar-SY"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القطع المتشابهة (S)</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imilar items: wrong example. Two look-alike items share one bin">    </p:cNvPr>
          <p:cNvPicPr>
            <a:picLocks noChangeAspect="1"/>
          </p:cNvPicPr>
          <p:nvPr/>
        </p:nvPicPr>
        <p:blipFill>
          <a:blip r:embed="rId1"/>
          <a:stretch>
            <a:fillRect/>
          </a:stretch>
        </p:blipFill>
        <p:spPr>
          <a:xfrm>
            <a:off x="6232071" y="1417320"/>
            <a:ext cx="2303417"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قطعتين متل بعض بنفس البِن</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imilar items: right example. Look-alikes are kept in different bins">    </p:cNvPr>
          <p:cNvPicPr>
            <a:picLocks noChangeAspect="1"/>
          </p:cNvPicPr>
          <p:nvPr/>
        </p:nvPicPr>
        <p:blipFill>
          <a:blip r:embed="rId2"/>
          <a:stretch>
            <a:fillRect/>
          </a:stretch>
        </p:blipFill>
        <p:spPr>
          <a:xfrm>
            <a:off x="3443151" y="1417320"/>
            <a:ext cx="2303417"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المتشابهة كل وحدة ببِن</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استعمل طريقة الكروس. السيستم مو دايماً بينبّهك عالقطع المتشابهة.</a:t>
            </a:r>
            <a:endParaRPr lang="ar-SY"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للبيكرز: قطعة وحدة بكل مرّة</a:t>
            </a:r>
            <a:endParaRPr lang="ar-SY" sz="2800" dirty="0"/>
          </a:p>
        </p:txBody>
      </p:sp>
      <p:sp>
        <p:nvSpPr>
          <p:cNvPr id="3" name="Stat card"/>
          <p:cNvSpPr/>
          <p:nvPr/>
        </p:nvSpPr>
        <p:spPr>
          <a:xfrm>
            <a:off x="6675120" y="1325880"/>
            <a:ext cx="2011680" cy="3200400"/>
          </a:xfrm>
          <a:prstGeom prst="roundRect">
            <a:avLst>
              <a:gd name="adj" fmla="val 4545"/>
            </a:avLst>
          </a:prstGeom>
          <a:solidFill>
            <a:schemeClr val="tx2"/>
          </a:solidFill>
          <a:ln/>
        </p:spPr>
      </p:sp>
      <p:sp>
        <p:nvSpPr>
          <p:cNvPr id="4" name="Stat"/>
          <p:cNvSpPr txBox="1"/>
          <p:nvPr/>
        </p:nvSpPr>
        <p:spPr>
          <a:xfrm>
            <a:off x="6903720" y="1325880"/>
            <a:ext cx="1554480" cy="3200400"/>
          </a:xfrm>
          <a:prstGeom prst="rect">
            <a:avLst/>
          </a:prstGeom>
          <a:noFill/>
          <a:ln/>
        </p:spPr>
        <p:txBody>
          <a:bodyPr wrap="square" lIns="0" tIns="0" rIns="0" bIns="0" rtlCol="0" anchor="ctr"/>
          <a:lstStyle/>
          <a:p>
            <a:pPr rtl="1" algn="r" indent="0" marL="0">
              <a:buNone/>
            </a:pPr>
            <a:r>
              <a:rPr lang="ar-SY" altLang="en-US" sz="7200" b="1" dirty="0">
                <a:solidFill>
                  <a:schemeClr val="accent1"/>
                </a:solidFill>
              </a:rPr>
              <a:t>1</a:t>
            </a:r>
            <a:endParaRPr lang="ar-SY" sz="7200" dirty="0"/>
          </a:p>
          <a:p>
            <a:pPr rtl="1" algn="r" indent="0" marL="0">
              <a:buNone/>
            </a:pPr>
            <a:r>
              <a:rPr lang="ar-SY" altLang="en-US" sz="1600" dirty="0">
                <a:solidFill>
                  <a:schemeClr val="bg1"/>
                </a:solidFill>
              </a:rPr>
              <a:t>قطعة بإيدك بكل مرّة</a:t>
            </a:r>
            <a:endParaRPr lang="ar-SY" sz="7200" dirty="0"/>
          </a:p>
        </p:txBody>
      </p:sp>
      <p:pic>
        <p:nvPicPr>
          <p:cNvPr id="5" name="Flow icon 1" descr="preencoded.png">    </p:cNvPr>
          <p:cNvPicPr>
            <a:picLocks noChangeAspect="1"/>
          </p:cNvPicPr>
          <p:nvPr/>
        </p:nvPicPr>
        <p:blipFill>
          <a:blip r:embed="rId1"/>
          <a:stretch>
            <a:fillRect/>
          </a:stretch>
        </p:blipFill>
        <p:spPr>
          <a:xfrm>
            <a:off x="6053328" y="1444752"/>
            <a:ext cx="347472" cy="347472"/>
          </a:xfrm>
          <a:prstGeom prst="rect">
            <a:avLst/>
          </a:prstGeom>
        </p:spPr>
      </p:pic>
      <p:sp>
        <p:nvSpPr>
          <p:cNvPr id="6" name="Flow 1"/>
          <p:cNvSpPr txBox="1"/>
          <p:nvPr/>
        </p:nvSpPr>
        <p:spPr>
          <a:xfrm>
            <a:off x="3291840" y="1371600"/>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خود قطعة وحدة</a:t>
            </a:r>
            <a:endParaRPr lang="ar-SY" sz="1700" dirty="0"/>
          </a:p>
          <a:p>
            <a:pPr rtl="1" algn="r" indent="0" marL="0">
              <a:buNone/>
            </a:pPr>
            <a:r>
              <a:rPr lang="ar-SY" altLang="en-US" sz="1400" dirty="0">
                <a:solidFill>
                  <a:schemeClr val="accent4"/>
                </a:solidFill>
              </a:rPr>
              <a:t>اعمل بيك لقطعة وحدة، بإيديك التنتين</a:t>
            </a:r>
            <a:endParaRPr lang="ar-SY" sz="1700" dirty="0"/>
          </a:p>
        </p:txBody>
      </p:sp>
      <p:pic>
        <p:nvPicPr>
          <p:cNvPr id="7" name="Flow icon 2" descr="preencoded.png">    </p:cNvPr>
          <p:cNvPicPr>
            <a:picLocks noChangeAspect="1"/>
          </p:cNvPicPr>
          <p:nvPr/>
        </p:nvPicPr>
        <p:blipFill>
          <a:blip r:embed="rId2"/>
          <a:stretch>
            <a:fillRect/>
          </a:stretch>
        </p:blipFill>
        <p:spPr>
          <a:xfrm>
            <a:off x="6053328" y="2514600"/>
            <a:ext cx="347472" cy="347472"/>
          </a:xfrm>
          <a:prstGeom prst="rect">
            <a:avLst/>
          </a:prstGeom>
        </p:spPr>
      </p:pic>
      <p:sp>
        <p:nvSpPr>
          <p:cNvPr id="8" name="Flow 2"/>
          <p:cNvSpPr txBox="1"/>
          <p:nvPr/>
        </p:nvSpPr>
        <p:spPr>
          <a:xfrm>
            <a:off x="3291840" y="2441448"/>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اعملها سكان مرّة وحدة</a:t>
            </a:r>
            <a:endParaRPr lang="ar-SY" sz="1700" dirty="0"/>
          </a:p>
          <a:p>
            <a:pPr rtl="1" algn="r" indent="0" marL="0">
              <a:buNone/>
            </a:pPr>
            <a:r>
              <a:rPr lang="ar-SY" altLang="en-US" sz="1400" dirty="0">
                <a:solidFill>
                  <a:schemeClr val="accent4"/>
                </a:solidFill>
              </a:rPr>
              <a:t>قطعة وحدة، سكان واحد</a:t>
            </a:r>
            <a:endParaRPr lang="ar-SY" sz="1700" dirty="0"/>
          </a:p>
        </p:txBody>
      </p:sp>
      <p:pic>
        <p:nvPicPr>
          <p:cNvPr id="9" name="Flow icon 3" descr="preencoded.png">    </p:cNvPr>
          <p:cNvPicPr>
            <a:picLocks noChangeAspect="1"/>
          </p:cNvPicPr>
          <p:nvPr/>
        </p:nvPicPr>
        <p:blipFill>
          <a:blip r:embed="rId3"/>
          <a:stretch>
            <a:fillRect/>
          </a:stretch>
        </p:blipFill>
        <p:spPr>
          <a:xfrm>
            <a:off x="6053328" y="3584448"/>
            <a:ext cx="347472" cy="347472"/>
          </a:xfrm>
          <a:prstGeom prst="rect">
            <a:avLst/>
          </a:prstGeom>
        </p:spPr>
      </p:pic>
      <p:sp>
        <p:nvSpPr>
          <p:cNvPr id="10" name="Flow 3"/>
          <p:cNvSpPr txBox="1"/>
          <p:nvPr/>
        </p:nvSpPr>
        <p:spPr>
          <a:xfrm>
            <a:off x="3291840" y="3511296"/>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حطّها بالتوت تبعك</a:t>
            </a:r>
            <a:endParaRPr lang="ar-SY" sz="1700" dirty="0"/>
          </a:p>
          <a:p>
            <a:pPr rtl="1" algn="r" indent="0" marL="0">
              <a:buNone/>
            </a:pPr>
            <a:r>
              <a:rPr lang="ar-SY" altLang="en-US" sz="1400" dirty="0">
                <a:solidFill>
                  <a:schemeClr val="accent4"/>
                </a:solidFill>
              </a:rPr>
              <a:t>قبل ما ترجع تمدّ إيدك عالبِن</a:t>
            </a:r>
            <a:endParaRPr lang="ar-SY"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بِن ببِن، كل شيفت</a:t>
            </a:r>
            <a:endParaRPr lang="ar-SY" sz="2800" dirty="0"/>
          </a:p>
        </p:txBody>
      </p:sp>
      <p:sp>
        <p:nvSpPr>
          <p:cNvPr id="3" name="Recap circle 1"/>
          <p:cNvSpPr/>
          <p:nvPr/>
        </p:nvSpPr>
        <p:spPr>
          <a:xfrm>
            <a:off x="740664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7626096" y="1591056"/>
            <a:ext cx="429768" cy="429768"/>
          </a:xfrm>
          <a:prstGeom prst="rect">
            <a:avLst/>
          </a:prstGeom>
        </p:spPr>
      </p:pic>
      <p:sp>
        <p:nvSpPr>
          <p:cNvPr id="5" name="Recap text 1"/>
          <p:cNvSpPr txBox="1"/>
          <p:nvPr/>
        </p:nvSpPr>
        <p:spPr>
          <a:xfrm>
            <a:off x="69951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الستو والـ ICQA، ببداية الشيفت</a:t>
            </a:r>
            <a:endParaRPr lang="ar-SY" sz="1300" dirty="0"/>
          </a:p>
          <a:p>
            <a:pPr rtl="1" algn="ctr" indent="0" marL="0">
              <a:buNone/>
            </a:pPr>
            <a:r>
              <a:rPr lang="ar-SY" altLang="en-US" sz="1700" b="1" dirty="0">
                <a:solidFill>
                  <a:schemeClr val="tx1"/>
                </a:solidFill>
              </a:rPr>
              <a:t>FFF لمدة دقيقة</a:t>
            </a:r>
            <a:endParaRPr lang="ar-SY" sz="1300" dirty="0"/>
          </a:p>
        </p:txBody>
      </p:sp>
      <p:pic>
        <p:nvPicPr>
          <p:cNvPr id="6" name="Arrow 1" descr="preencoded.png">    </p:cNvPr>
          <p:cNvPicPr>
            <a:picLocks noChangeAspect="1"/>
          </p:cNvPicPr>
          <p:nvPr/>
        </p:nvPicPr>
        <p:blipFill>
          <a:blip r:embed="rId2"/>
          <a:stretch>
            <a:fillRect/>
          </a:stretch>
        </p:blipFill>
        <p:spPr>
          <a:xfrm>
            <a:off x="6748272" y="1664208"/>
            <a:ext cx="274320" cy="274320"/>
          </a:xfrm>
          <a:prstGeom prst="rect">
            <a:avLst/>
          </a:prstGeom>
        </p:spPr>
      </p:pic>
      <p:sp>
        <p:nvSpPr>
          <p:cNvPr id="7" name="Recap circle 2"/>
          <p:cNvSpPr/>
          <p:nvPr/>
        </p:nvSpPr>
        <p:spPr>
          <a:xfrm>
            <a:off x="557784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5797296" y="1591056"/>
            <a:ext cx="429768" cy="429768"/>
          </a:xfrm>
          <a:prstGeom prst="rect">
            <a:avLst/>
          </a:prstGeom>
        </p:spPr>
      </p:pic>
      <p:sp>
        <p:nvSpPr>
          <p:cNvPr id="9" name="Recap text 2"/>
          <p:cNvSpPr txBox="1"/>
          <p:nvPr/>
        </p:nvSpPr>
        <p:spPr>
          <a:xfrm>
            <a:off x="51663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كل بِن بتلمسه</a:t>
            </a:r>
            <a:endParaRPr lang="ar-SY" sz="1300" dirty="0"/>
          </a:p>
          <a:p>
            <a:pPr rtl="1" algn="ctr" indent="0" marL="0">
              <a:buNone/>
            </a:pPr>
            <a:r>
              <a:rPr lang="ar-SY" altLang="en-US" sz="1700" b="1" dirty="0">
                <a:solidFill>
                  <a:schemeClr val="tx1"/>
                </a:solidFill>
              </a:rPr>
              <a:t>ROBOTSS، ورتّب وانت ماشي</a:t>
            </a:r>
            <a:endParaRPr lang="ar-SY" sz="1300" dirty="0"/>
          </a:p>
        </p:txBody>
      </p:sp>
      <p:pic>
        <p:nvPicPr>
          <p:cNvPr id="10" name="Arrow 2" descr="preencoded.png">    </p:cNvPr>
          <p:cNvPicPr>
            <a:picLocks noChangeAspect="1"/>
          </p:cNvPicPr>
          <p:nvPr/>
        </p:nvPicPr>
        <p:blipFill>
          <a:blip r:embed="rId4"/>
          <a:stretch>
            <a:fillRect/>
          </a:stretch>
        </p:blipFill>
        <p:spPr>
          <a:xfrm>
            <a:off x="4919472" y="1664208"/>
            <a:ext cx="274320" cy="274320"/>
          </a:xfrm>
          <a:prstGeom prst="rect">
            <a:avLst/>
          </a:prstGeom>
        </p:spPr>
      </p:pic>
      <p:sp>
        <p:nvSpPr>
          <p:cNvPr id="11" name="Recap circle 3"/>
          <p:cNvSpPr/>
          <p:nvPr/>
        </p:nvSpPr>
        <p:spPr>
          <a:xfrm>
            <a:off x="374904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3968496" y="1591056"/>
            <a:ext cx="429768" cy="429768"/>
          </a:xfrm>
          <a:prstGeom prst="rect">
            <a:avLst/>
          </a:prstGeom>
        </p:spPr>
      </p:pic>
      <p:sp>
        <p:nvSpPr>
          <p:cNvPr id="13" name="Recap text 3"/>
          <p:cNvSpPr txBox="1"/>
          <p:nvPr/>
        </p:nvSpPr>
        <p:spPr>
          <a:xfrm>
            <a:off x="33375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لقيت قطعة؟</a:t>
            </a:r>
            <a:endParaRPr lang="ar-SY" sz="1300" dirty="0"/>
          </a:p>
          <a:p>
            <a:pPr rtl="1" algn="ctr" indent="0" marL="0">
              <a:buNone/>
            </a:pPr>
            <a:r>
              <a:rPr lang="ar-SY" altLang="en-US" sz="1700" b="1" dirty="0">
                <a:solidFill>
                  <a:schemeClr val="tx1"/>
                </a:solidFill>
              </a:rPr>
              <a:t>أمنستي ولّا بروبلم سولف؟</a:t>
            </a:r>
            <a:endParaRPr lang="ar-SY" sz="1300" dirty="0"/>
          </a:p>
        </p:txBody>
      </p:sp>
      <p:sp>
        <p:nvSpPr>
          <p:cNvPr id="14" name="Goal card"/>
          <p:cNvSpPr/>
          <p:nvPr/>
        </p:nvSpPr>
        <p:spPr>
          <a:xfrm>
            <a:off x="3291840" y="3749040"/>
            <a:ext cx="5394960" cy="777240"/>
          </a:xfrm>
          <a:prstGeom prst="roundRect">
            <a:avLst>
              <a:gd name="adj" fmla="val 11765"/>
            </a:avLst>
          </a:prstGeom>
          <a:solidFill>
            <a:schemeClr val="tx2"/>
          </a:solidFill>
          <a:ln/>
        </p:spPr>
      </p:sp>
      <p:sp>
        <p:nvSpPr>
          <p:cNvPr id="15" name="Goal text"/>
          <p:cNvSpPr txBox="1"/>
          <p:nvPr/>
        </p:nvSpPr>
        <p:spPr>
          <a:xfrm>
            <a:off x="3566160" y="3749040"/>
            <a:ext cx="4846320" cy="777240"/>
          </a:xfrm>
          <a:prstGeom prst="rect">
            <a:avLst/>
          </a:prstGeom>
          <a:noFill/>
          <a:ln/>
        </p:spPr>
        <p:txBody>
          <a:bodyPr wrap="square" lIns="0" tIns="0" rIns="0" bIns="0" rtlCol="0" anchor="ctr"/>
          <a:lstStyle/>
          <a:p>
            <a:pPr rtl="1" algn="r" indent="0" marL="0">
              <a:buNone/>
            </a:pPr>
            <a:r>
              <a:rPr lang="ar-SY" altLang="en-US" sz="1600" b="1" dirty="0">
                <a:solidFill>
                  <a:srgbClr val="9EDFF7"/>
                </a:solidFill>
              </a:rPr>
              <a:t>الهدف: </a:t>
            </a:r>
            <a:pPr rtl="1" algn="r" indent="0" marL="0">
              <a:buNone/>
            </a:pPr>
            <a:r>
              <a:rPr lang="ar-SY" altLang="en-US" sz="1600" dirty="0">
                <a:solidFill>
                  <a:schemeClr val="bg1"/>
                </a:solidFill>
              </a:rPr>
              <a:t>wAPMT دقيق، قطع أقل عم توقع، وزباين مبسوطين.</a:t>
            </a:r>
            <a:endParaRPr lang="ar-SY"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rtl="1" algn="ctr" indent="0" marL="0">
              <a:buNone/>
            </a:pPr>
            <a:r>
              <a:rPr lang="ar-SY" altLang="en-US" sz="3200" dirty="0">
                <a:solidFill>
                  <a:schemeClr val="accent1"/>
                </a:solidFill>
                <a:latin typeface="Arial" pitchFamily="34" charset="0"/>
                <a:ea typeface="Arial" pitchFamily="34" charset="-122"/>
                <a:cs typeface="Arial" pitchFamily="34" charset="-120"/>
              </a:rPr>
              <a:t>تعلّم وخلّيك فضولي</a:t>
            </a:r>
            <a:endParaRPr lang="ar-SY"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rtl="1" algn="ctr" indent="0" marL="0">
              <a:buNone/>
            </a:pPr>
            <a:r>
              <a:rPr lang="ar-SY" altLang="en-US" sz="1800" b="1" dirty="0">
                <a:solidFill>
                  <a:schemeClr val="tx1"/>
                </a:solidFill>
              </a:rPr>
              <a:t>تصليحات صغيرة. فرق كبير.</a:t>
            </a:r>
            <a:endParaRPr lang="ar-SY" sz="1800" dirty="0"/>
          </a:p>
        </p:txBody>
      </p:sp>
      <p:sp>
        <p:nvSpPr>
          <p:cNvPr id="4" name="Rate label"/>
          <p:cNvSpPr txBox="1"/>
          <p:nvPr/>
        </p:nvSpPr>
        <p:spPr>
          <a:xfrm>
            <a:off x="4754880" y="3429000"/>
            <a:ext cx="1600200" cy="365760"/>
          </a:xfrm>
          <a:prstGeom prst="rect">
            <a:avLst/>
          </a:prstGeom>
          <a:noFill/>
          <a:ln/>
        </p:spPr>
        <p:txBody>
          <a:bodyPr wrap="square" lIns="0" tIns="0" rIns="0" bIns="0" rtlCol="0" anchor="ctr"/>
          <a:lstStyle/>
          <a:p>
            <a:pPr rtl="1" algn="l" indent="0" marL="0">
              <a:buNone/>
            </a:pPr>
            <a:r>
              <a:rPr lang="ar-SY" altLang="en-US" sz="1600" dirty="0">
                <a:solidFill>
                  <a:schemeClr val="tx1"/>
                </a:solidFill>
              </a:rPr>
              <a:t>قيّم هالفيديو</a:t>
            </a:r>
            <a:endParaRPr lang="ar-SY" sz="1600" dirty="0"/>
          </a:p>
        </p:txBody>
      </p:sp>
      <p:pic>
        <p:nvPicPr>
          <p:cNvPr id="5" name="Star 1" descr="preencoded.png">    </p:cNvPr>
          <p:cNvPicPr>
            <a:picLocks noChangeAspect="1"/>
          </p:cNvPicPr>
          <p:nvPr/>
        </p:nvPicPr>
        <p:blipFill>
          <a:blip r:embed="rId1"/>
          <a:stretch>
            <a:fillRect/>
          </a:stretch>
        </p:blipFill>
        <p:spPr>
          <a:xfrm>
            <a:off x="434340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3995928"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3648456"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3300984"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2953512"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Stow: First Face Fix and ROBOTSS</dc:title>
  <dc:subject>wAPMT coaching campaign</dc:subject>
  <dc:creator>PptxGenJS</dc:creator>
  <cp:lastModifiedBy>PptxGenJS</cp:lastModifiedBy>
  <cp:revision>1</cp:revision>
  <dcterms:created xsi:type="dcterms:W3CDTF">2026-10-12T14:51:41Z</dcterms:created>
  <dcterms:modified xsi:type="dcterms:W3CDTF">2026-10-12T14:51:41Z</dcterms:modified>
</cp:coreProperties>
</file>