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4a788d2-f048-b92d-b847-ba0c93d3ecce}">
          <p14:sldIdLst>
            <p14:sldId id="256"/>
            <p14:sldId id="257"/>
            <p14:sldId id="258"/>
            <p14:sldId id="259"/>
            <p14:sldId id="260"/>
          </p14:sldIdLst>
        </p14:section>
        <p14:section name="Bin etiquette" id="{2bbd884c-486c-1fbc-2e36-f10001f603e4}">
          <p14:sldIdLst>
            <p14:sldId id="261"/>
            <p14:sldId id="262"/>
            <p14:sldId id="263"/>
            <p14:sldId id="264"/>
            <p14:sldId id="265"/>
            <p14:sldId id="266"/>
          </p14:sldIdLst>
        </p14:section>
        <p14:section name="Wrap-up" id="{4277e96c-7736-7149-ef6c-d72ad12dd44f}">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جميعاً، وشكراً إنكن عطيتوني كم دقيقة من وقتكن. هالفيديو لفريق البيك تو ريبِن. رح نحكي عن شغلتين: شو اللي فعلاً بينحسب أمنستي وشو لأ، وكيف بتحافظ عالبِنات كل مرّة بتكون إيدك فيها. يلّا نبلّش.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طيب، شو يعني أمنستي؟ الأمنستي هي قطعة لازم تكون ببِن جوّا البود، بس فعلياً مو موجودة فيه. يعني انعملّها ستو وما انعملّها بيك لسّا، بس وقعت، أو انتهت عالستيشن أو عالأرض. السيستم لسّا مفكّر إنها بالبِن. هالشي بيعمل غلط بالمخزون تبعنا، وممكن يوصّل لبيك شورت، وهيك منعرّض الزبون للخطر.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الأمنستي بتطلع بمكانين. أمنستي الأرض، لمّا القطع توقع من البودات على أرض الروبوتات. وأمنستي الستيشن، لمّا القطع تضل عالستيشن. التنين إلهن نفس السبب. سوء ترتيب البِن هو السبب رقم واحد للأمنستي، والخبر المنيح إنو ترتيب البِن كلّه بإيدنا.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هون الفرق المهم. الأمنستي بس للقطع اللي ما انعملّها بيك لسّا: مكانها ببِن جوّا البود، وهي مو فيه. هدول بيروحوا عالأمنستي. بس إذا لقيت قطعة انعملّها بيك، يعني مكانها بتوت، أو بلوكيشن الريبِن، أو بالشوت، ووقعت أو انحطّت بمكان غلط، هي مو أمنستي. هي قطعة أوتباوند بروبلم سولف. لمّا منحطّ قطع انعملّها بيك بالأمنستي، منكبّر رقم الدبليو إيه بي إم تي عالفاضي، ومنخبّي مشكلة الأوتباوند الحقيقية اللي لازم تنحل.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يعني لمّا تلاقي قطعة مو بمكانها، اسأل حالك سؤال واحد: انعملّها بيك ولّا لأ؟ إذا الجواب لأ، ومكانها ببِن جوّا البود، هي أمنستي. وإذا الجواب إي، ومكانها بتوت، أو بالريبِن، أو بالشوت، هي مو أمنستي. خدها عالأوتباوند بروبلم سولف.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هلّق خلّينا نحكي عن ترتيب البِن. كبيكر، إيدك بالبِنات طول الشيفت، فإلك دور كبير بإنك توقّف الأمنستي قبل ما تصير.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شي، الوَن بيس فلو. اشتغل بقطعة وحدة بكل مرّة، وبإيديك التنتين. خود قطعة وحدة، اعملها سكان مرّة وحدة، وحطّها بالتوت قبل ما ترجع تمدّ إيدك عالبِن. مع الـ بود ريليز أوبتيمايزيشن، البود ممكن يفلّ وانت لسّا عم تشتغل بالقطع، وأي شي بيضل بيصير أمنستي ستيشن.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تاني شي، رتّب وانت ماشي. كل ما تكون إيدك ببِن، استعمل قواعد روبوتس لتتركه أحسن من ما لقيته. شوف أول مثال. على اليمين، الكرتونة طالعة برّا حرف البِن. هاد اسمه أوفرهانغ، وممكن يعلق والبود عم يتحرك. على اليسار، كل شي جوّا تماماً. إذا شفت شي طالع، رجّعه لجوّا.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بعدها، البلوكينغ. على اليمين، قطعة مسطّحة نايمة قدّام ومخبّية كل شي وراها. على اليسار، كل قطعة مبيّنة من قدّام. لا تترك قطع صغيرة مخبّاية ورا الكبار، ووقّف القطع المسطّحة لحتى ما تزحط من بين الأحزمة.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الحشي. على اليمين، القطع محشورة بالقوة والبِن منفوخ. هاد بيخرّب البضاعة، وهو أكتر بِن ممكن يكبّ. على اليسار، كل شي مرتاح وفي مجال للبيك. لا ترجّع قطع بالقوة لبِن مليان أبداً.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والترصيص. على اليمين، قطع مختلفة مرصوصة فوق بعض لعند الأحزمة. على اليسار، واقفين جنب بعض، تحت الأحزمة. خلّي كل شي تحت الأحزمة. كم ثانية منك بيمنعوا القطع توقع والبود عم يتحرك.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يعني هيك التشيك ليست تبعك. لقيت قطعة ما انعملّها بيك لسّا؟ هي أمنستي. لقيت وحدة انعملّها بيك؟ هي أوتباوند بروبلم سولف، مو أمنستي. وعلى كل بِن بتلمسه، اشتغل بقطعة وحدة بكل مرّة ورتّب وانت ماشي. هيك الدبليو إيه بي إم تي تبعنا بيضل دقيق، القطع ما بتوقع، وزباينا بيوصلهن اللي طلبوه.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التصليحات الصغيرة بتعمل فرق كبير. شكراً عالمتابعة، وشكراً لأنك عم تهتم بكل بِن، كل مرّة. إذا عندك أي سؤال، احكي مع البروسس غايد، أو الإيريا مانجر، أو فريق الآي سي كيو إيه. وإذا بتريد، خود ثانية وقيّم هالفيديو.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CEN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chemeClr val="tx2"/>
          </a:solidFill>
          <a:ln/>
        </p:spPr>
      </p:sp>
      <p:pic>
        <p:nvPicPr>
          <p:cNvPr id="3" name="Image 0" descr="preencoded.png">    </p:cNvPr>
          <p:cNvPicPr>
            <a:picLocks noChangeAspect="1"/>
          </p:cNvPicPr>
          <p:nvPr/>
        </p:nvPicPr>
        <p:blipFill>
          <a:blip r:embed="rId1"/>
          <a:stretch>
            <a:fillRect/>
          </a:stretch>
        </p:blipFill>
        <p:spPr>
          <a:xfrm>
            <a:off x="2880360" y="2606040"/>
            <a:ext cx="1097280" cy="1225296"/>
          </a:xfrm>
          <a:prstGeom prst="rect">
            <a:avLst/>
          </a:prstGeom>
        </p:spPr>
      </p:pic>
      <p:sp>
        <p:nvSpPr>
          <p:cNvPr id="4" name="Text 1"/>
          <p:cNvSpPr/>
          <p:nvPr>
            <p:ph idx="102" type="body" hasCustomPrompt="1"/>
          </p:nvPr>
        </p:nvSpPr>
        <p:spPr>
          <a:xfrm>
            <a:off x="228600" y="502920"/>
            <a:ext cx="6400800" cy="320040"/>
          </a:xfrm>
          <a:prstGeom prst="rect">
            <a:avLst/>
          </a:prstGeom>
          <a:noFill/>
          <a:ln/>
        </p:spPr>
        <p:txBody>
          <a:bodyPr wrap="square" rtlCol="0"/>
          <a:lstStyle>
            <a:lvl1pPr rtl="1" algn="ctr" indent="0" marL="0">
              <a:buNone/>
              <a:defRPr lang="ar-SY" altLang="en-US" sz="1300" b="1" dirty="0">
                <a:solidFill>
                  <a:schemeClr val="accent6"/>
                </a:solidFill>
              </a:defRPr>
            </a:lvl1pPr>
          </a:lstStyle>
          <a:p>
            <a:pPr algn="ctr" indent="0" marL="0">
              <a:buNone/>
            </a:pPr>
            <a:endParaRPr lang="ar-SY" sz="1300" dirty="0"/>
          </a:p>
        </p:txBody>
      </p:sp>
      <p:sp>
        <p:nvSpPr>
          <p:cNvPr id="5" name="Text 1"/>
          <p:cNvSpPr/>
          <p:nvPr>
            <p:ph idx="103" type="title" hasCustomPrompt="1"/>
          </p:nvPr>
        </p:nvSpPr>
        <p:spPr>
          <a:xfrm>
            <a:off x="228600" y="868680"/>
            <a:ext cx="6400800" cy="868680"/>
          </a:xfrm>
          <a:prstGeom prst="rect">
            <a:avLst/>
          </a:prstGeom>
          <a:noFill/>
          <a:ln/>
        </p:spPr>
        <p:txBody>
          <a:bodyPr wrap="square" rtlCol="0"/>
          <a:lstStyle>
            <a:lvl1pPr rtl="1" algn="ctr" indent="0" marL="0">
              <a:buNone/>
              <a:defRPr lang="ar-SY" altLang="en-US" sz="3600" b="1" dirty="0">
                <a:solidFill>
                  <a:schemeClr val="tx1"/>
                </a:solidFill>
              </a:defRPr>
            </a:lvl1pPr>
          </a:lstStyle>
          <a:p>
            <a:pPr algn="ctr" indent="0" marL="0">
              <a:buNone/>
            </a:pPr>
            <a:endParaRPr lang="ar-SY" sz="3600" dirty="0"/>
          </a:p>
        </p:txBody>
      </p:sp>
      <p:sp>
        <p:nvSpPr>
          <p:cNvPr id="6" name="Text 1"/>
          <p:cNvSpPr/>
          <p:nvPr>
            <p:ph idx="104" type="body" hasCustomPrompt="1"/>
          </p:nvPr>
        </p:nvSpPr>
        <p:spPr>
          <a:xfrm>
            <a:off x="685800" y="1783080"/>
            <a:ext cx="5486400" cy="685800"/>
          </a:xfrm>
          <a:prstGeom prst="rect">
            <a:avLst/>
          </a:prstGeom>
          <a:noFill/>
          <a:ln/>
        </p:spPr>
        <p:txBody>
          <a:bodyPr wrap="square" rtlCol="0"/>
          <a:lstStyle>
            <a:lvl1pPr rtl="1" algn="ctr" indent="0" marL="0">
              <a:buNone/>
              <a:defRPr lang="ar-SY" altLang="en-US" sz="1600" dirty="0">
                <a:solidFill>
                  <a:schemeClr val="accent4"/>
                </a:solidFill>
              </a:defRPr>
            </a:lvl1pPr>
          </a:lstStyle>
          <a:p>
            <a:pPr algn="ctr" indent="0" marL="0">
              <a:buNone/>
            </a:pPr>
            <a:endParaRPr lang="ar-SY"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25512" y="109728"/>
            <a:ext cx="1417320" cy="434340"/>
          </a:xfrm>
          <a:prstGeom prst="rect">
            <a:avLst/>
          </a:prstGeom>
        </p:spPr>
      </p:pic>
      <p:sp>
        <p:nvSpPr>
          <p:cNvPr id="3" name="Text 0"/>
          <p:cNvSpPr/>
          <p:nvPr>
            <p:ph idx="101" type="title" hasCustomPrompt="1"/>
          </p:nvPr>
        </p:nvSpPr>
        <p:spPr>
          <a:xfrm>
            <a:off x="3291840" y="640080"/>
            <a:ext cx="5394960" cy="548640"/>
          </a:xfrm>
          <a:prstGeom prst="rect">
            <a:avLst/>
          </a:prstGeom>
          <a:noFill/>
          <a:ln/>
        </p:spPr>
        <p:txBody>
          <a:bodyPr wrap="square" rtlCol="0"/>
          <a:lstStyle>
            <a:lvl1pPr rtl="1" algn="r" indent="0" marL="0">
              <a:buNone/>
              <a:defRPr lang="ar-SY" altLang="en-US" sz="2800" b="1" dirty="0">
                <a:solidFill>
                  <a:schemeClr val="tx1"/>
                </a:solidFill>
              </a:defRPr>
            </a:lvl1pPr>
          </a:lstStyle>
          <a:p>
            <a:pPr algn="r" indent="0" marL="0">
              <a:buNone/>
            </a:pPr>
            <a:endParaRPr lang="ar-SY"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234440"/>
            <a:ext cx="1097280" cy="12252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228600" y="502920"/>
            <a:ext cx="6400800" cy="320040"/>
          </a:xfrm>
          <a:prstGeom prst="rect">
            <a:avLst/>
          </a:prstGeom>
          <a:noFill/>
          <a:ln/>
        </p:spPr>
        <p:txBody>
          <a:bodyPr wrap="square" lIns="0" tIns="0" rIns="0" bIns="0" rtlCol="0"/>
          <a:lstStyle/>
          <a:p>
            <a:pPr rtl="1" algn="ctr" indent="0" marL="0">
              <a:buNone/>
            </a:pPr>
            <a:r>
              <a:rPr lang="ar-SY" altLang="en-US" sz="1300" b="1" dirty="0">
                <a:solidFill>
                  <a:schemeClr val="accent6"/>
                </a:solidFill>
              </a:rPr>
              <a:t>كوتشينغ wAPMT  |  بيك تو ريبِن</a:t>
            </a:r>
            <a:endParaRPr lang="ar-SY" sz="1300" dirty="0"/>
          </a:p>
        </p:txBody>
      </p:sp>
      <p:sp>
        <p:nvSpPr>
          <p:cNvPr id="3" name="Text 1"/>
          <p:cNvSpPr/>
          <p:nvPr>
            <p:ph idx="103" type="title" hasCustomPrompt="1"/>
          </p:nvPr>
        </p:nvSpPr>
        <p:spPr>
          <a:xfrm>
            <a:off x="228600" y="868680"/>
            <a:ext cx="6400800" cy="868680"/>
          </a:xfrm>
          <a:prstGeom prst="rect">
            <a:avLst/>
          </a:prstGeom>
          <a:noFill/>
          <a:ln/>
        </p:spPr>
        <p:txBody>
          <a:bodyPr wrap="square" lIns="0" tIns="0" rIns="0" bIns="0" rtlCol="0" anchor="ctr"/>
          <a:lstStyle/>
          <a:p>
            <a:pPr rtl="1" algn="ctr" indent="0" marL="0">
              <a:buNone/>
            </a:pPr>
            <a:r>
              <a:rPr lang="ar-SY" altLang="en-US" sz="3600" b="1" dirty="0">
                <a:solidFill>
                  <a:schemeClr val="tx1"/>
                </a:solidFill>
              </a:rPr>
              <a:t>كل بِن، كل مرّة</a:t>
            </a:r>
            <a:endParaRPr lang="ar-SY" sz="3600" dirty="0"/>
          </a:p>
        </p:txBody>
      </p:sp>
      <p:sp>
        <p:nvSpPr>
          <p:cNvPr id="4" name="Text 1"/>
          <p:cNvSpPr/>
          <p:nvPr>
            <p:ph idx="104" type="body" hasCustomPrompt="1"/>
          </p:nvPr>
        </p:nvSpPr>
        <p:spPr>
          <a:xfrm>
            <a:off x="685800" y="1783080"/>
            <a:ext cx="5486400" cy="685800"/>
          </a:xfrm>
          <a:prstGeom prst="rect">
            <a:avLst/>
          </a:prstGeom>
          <a:noFill/>
          <a:ln/>
        </p:spPr>
        <p:txBody>
          <a:bodyPr wrap="square" lIns="0" tIns="0" rIns="0" bIns="0" rtlCol="0" anchor="t"/>
          <a:lstStyle/>
          <a:p>
            <a:pPr rtl="1" algn="ctr" indent="0" marL="0">
              <a:buNone/>
            </a:pPr>
            <a:r>
              <a:rPr lang="ar-SY" altLang="en-US" sz="1600" dirty="0">
                <a:solidFill>
                  <a:schemeClr val="accent4"/>
                </a:solidFill>
              </a:rPr>
              <a:t>شو اللي فعلاً بينحسب أمنستي، وكيف البيكرز بيحافظوا عالبِنات</a:t>
            </a:r>
            <a:endParaRPr lang="ar-SY"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شو يعني أمنستي؟</a:t>
            </a:r>
            <a:endParaRPr lang="ar-SY" sz="2800" dirty="0"/>
          </a:p>
        </p:txBody>
      </p:sp>
      <p:sp>
        <p:nvSpPr>
          <p:cNvPr id="3" name="Definition"/>
          <p:cNvSpPr txBox="1"/>
          <p:nvPr/>
        </p:nvSpPr>
        <p:spPr>
          <a:xfrm>
            <a:off x="3291840" y="1280160"/>
            <a:ext cx="5394960" cy="548640"/>
          </a:xfrm>
          <a:prstGeom prst="rect">
            <a:avLst/>
          </a:prstGeom>
          <a:noFill/>
          <a:ln/>
        </p:spPr>
        <p:txBody>
          <a:bodyPr wrap="square" lIns="0" tIns="0" rIns="0" bIns="0" rtlCol="0" anchor="ctr"/>
          <a:lstStyle/>
          <a:p>
            <a:pPr rtl="1" algn="r" indent="0" marL="0">
              <a:buNone/>
            </a:pPr>
            <a:r>
              <a:rPr lang="ar-SY" altLang="en-US" sz="1800" i="1" dirty="0">
                <a:solidFill>
                  <a:schemeClr val="accent6"/>
                </a:solidFill>
              </a:rPr>
              <a:t>قطعة لازم تكون بِبِن جوّا البود بعد ما انعملّها ستو، بس فعلياً مو موجودة فيه.</a:t>
            </a:r>
            <a:endParaRPr lang="ar-SY" sz="1800" dirty="0"/>
          </a:p>
        </p:txBody>
      </p:sp>
      <p:sp>
        <p:nvSpPr>
          <p:cNvPr id="4" name="Icon circle 1"/>
          <p:cNvSpPr/>
          <p:nvPr/>
        </p:nvSpPr>
        <p:spPr>
          <a:xfrm>
            <a:off x="8046720" y="2011680"/>
            <a:ext cx="640080" cy="640080"/>
          </a:xfrm>
          <a:prstGeom prst="ellipse">
            <a:avLst/>
          </a:prstGeom>
          <a:solidFill>
            <a:schemeClr val="bg1"/>
          </a:solidFill>
          <a:ln/>
        </p:spPr>
      </p:sp>
      <p:pic>
        <p:nvPicPr>
          <p:cNvPr id="5" name="Icon 1" descr="preencoded.png">    </p:cNvPr>
          <p:cNvPicPr>
            <a:picLocks noChangeAspect="1"/>
          </p:cNvPicPr>
          <p:nvPr/>
        </p:nvPicPr>
        <p:blipFill>
          <a:blip r:embed="rId1"/>
          <a:stretch>
            <a:fillRect/>
          </a:stretch>
        </p:blipFill>
        <p:spPr>
          <a:xfrm>
            <a:off x="8211312" y="2176272"/>
            <a:ext cx="310896" cy="310896"/>
          </a:xfrm>
          <a:prstGeom prst="rect">
            <a:avLst/>
          </a:prstGeom>
        </p:spPr>
      </p:pic>
      <p:sp>
        <p:nvSpPr>
          <p:cNvPr id="6" name="Row 1"/>
          <p:cNvSpPr txBox="1"/>
          <p:nvPr/>
        </p:nvSpPr>
        <p:spPr>
          <a:xfrm>
            <a:off x="3291840" y="1993392"/>
            <a:ext cx="452628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مكانها ببِن انعملّه ستو</a:t>
            </a:r>
            <a:endParaRPr lang="ar-SY" sz="1700" dirty="0"/>
          </a:p>
          <a:p>
            <a:pPr rtl="1" algn="r" indent="0" marL="0">
              <a:buNone/>
            </a:pPr>
            <a:r>
              <a:rPr lang="ar-SY" altLang="en-US" sz="1400" dirty="0">
                <a:solidFill>
                  <a:schemeClr val="accent4"/>
                </a:solidFill>
              </a:rPr>
              <a:t>انعملّها ستو وما انعملّها بيك لسّا</a:t>
            </a:r>
            <a:endParaRPr lang="ar-SY" sz="1700" dirty="0"/>
          </a:p>
        </p:txBody>
      </p:sp>
      <p:sp>
        <p:nvSpPr>
          <p:cNvPr id="7" name="Icon circle 2"/>
          <p:cNvSpPr/>
          <p:nvPr/>
        </p:nvSpPr>
        <p:spPr>
          <a:xfrm>
            <a:off x="8046720" y="2926080"/>
            <a:ext cx="640080" cy="640080"/>
          </a:xfrm>
          <a:prstGeom prst="ellipse">
            <a:avLst/>
          </a:prstGeom>
          <a:solidFill>
            <a:schemeClr val="bg1"/>
          </a:solidFill>
          <a:ln/>
        </p:spPr>
      </p:sp>
      <p:pic>
        <p:nvPicPr>
          <p:cNvPr id="8" name="Icon 2" descr="preencoded.png">    </p:cNvPr>
          <p:cNvPicPr>
            <a:picLocks noChangeAspect="1"/>
          </p:cNvPicPr>
          <p:nvPr/>
        </p:nvPicPr>
        <p:blipFill>
          <a:blip r:embed="rId2"/>
          <a:stretch>
            <a:fillRect/>
          </a:stretch>
        </p:blipFill>
        <p:spPr>
          <a:xfrm>
            <a:off x="8211312" y="3090672"/>
            <a:ext cx="310896" cy="310896"/>
          </a:xfrm>
          <a:prstGeom prst="rect">
            <a:avLst/>
          </a:prstGeom>
        </p:spPr>
      </p:pic>
      <p:sp>
        <p:nvSpPr>
          <p:cNvPr id="9" name="Row 2"/>
          <p:cNvSpPr txBox="1"/>
          <p:nvPr/>
        </p:nvSpPr>
        <p:spPr>
          <a:xfrm>
            <a:off x="3291840" y="2907792"/>
            <a:ext cx="452628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فعلياً مو موجودة بمكانها</a:t>
            </a:r>
            <a:endParaRPr lang="ar-SY" sz="1700" dirty="0"/>
          </a:p>
          <a:p>
            <a:pPr rtl="1" algn="r" indent="0" marL="0">
              <a:buNone/>
            </a:pPr>
            <a:r>
              <a:rPr lang="ar-SY" altLang="en-US" sz="1400" dirty="0">
                <a:solidFill>
                  <a:schemeClr val="accent4"/>
                </a:solidFill>
              </a:rPr>
              <a:t>وقعت، أو انتهت عالستيشن أو عالأرض</a:t>
            </a:r>
            <a:endParaRPr lang="ar-SY" sz="1700" dirty="0"/>
          </a:p>
        </p:txBody>
      </p:sp>
      <p:sp>
        <p:nvSpPr>
          <p:cNvPr id="10" name="Icon circle 3"/>
          <p:cNvSpPr/>
          <p:nvPr/>
        </p:nvSpPr>
        <p:spPr>
          <a:xfrm>
            <a:off x="8046720" y="3840480"/>
            <a:ext cx="640080" cy="640080"/>
          </a:xfrm>
          <a:prstGeom prst="ellipse">
            <a:avLst/>
          </a:prstGeom>
          <a:solidFill>
            <a:schemeClr val="bg1"/>
          </a:solidFill>
          <a:ln/>
        </p:spPr>
      </p:sp>
      <p:pic>
        <p:nvPicPr>
          <p:cNvPr id="11" name="Icon 3" descr="preencoded.png">    </p:cNvPr>
          <p:cNvPicPr>
            <a:picLocks noChangeAspect="1"/>
          </p:cNvPicPr>
          <p:nvPr/>
        </p:nvPicPr>
        <p:blipFill>
          <a:blip r:embed="rId3"/>
          <a:stretch>
            <a:fillRect/>
          </a:stretch>
        </p:blipFill>
        <p:spPr>
          <a:xfrm>
            <a:off x="8211312" y="4005072"/>
            <a:ext cx="310896" cy="310896"/>
          </a:xfrm>
          <a:prstGeom prst="rect">
            <a:avLst/>
          </a:prstGeom>
        </p:spPr>
      </p:pic>
      <p:sp>
        <p:nvSpPr>
          <p:cNvPr id="12" name="Row 3"/>
          <p:cNvSpPr txBox="1"/>
          <p:nvPr/>
        </p:nvSpPr>
        <p:spPr>
          <a:xfrm>
            <a:off x="3291840" y="3822192"/>
            <a:ext cx="4526280" cy="685800"/>
          </a:xfrm>
          <a:prstGeom prst="rect">
            <a:avLst/>
          </a:prstGeom>
          <a:noFill/>
          <a:ln/>
        </p:spPr>
        <p:txBody>
          <a:bodyPr wrap="square" lIns="0" tIns="0" rIns="0" bIns="0" rtlCol="0" anchor="ctr"/>
          <a:lstStyle/>
          <a:p>
            <a:pPr rtl="1" algn="r" indent="0" marL="0">
              <a:buNone/>
            </a:pPr>
            <a:r>
              <a:rPr lang="ar-SY" altLang="en-US" sz="1700" b="1" dirty="0">
                <a:solidFill>
                  <a:schemeClr val="tx1"/>
                </a:solidFill>
              </a:rPr>
              <a:t>بتعرّض الزبون للخطر</a:t>
            </a:r>
            <a:endParaRPr lang="ar-SY" sz="1700" dirty="0"/>
          </a:p>
          <a:p>
            <a:pPr rtl="1" algn="r" indent="0" marL="0">
              <a:buNone/>
            </a:pPr>
            <a:r>
              <a:rPr lang="ar-SY" altLang="en-US" sz="1400" dirty="0">
                <a:solidFill>
                  <a:schemeClr val="accent4"/>
                </a:solidFill>
              </a:rPr>
              <a:t>زيادة بالسيستم ممكن تعمل بيك شورت</a:t>
            </a:r>
            <a:endParaRPr lang="ar-SY"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من وين بتجي الأمنستي</a:t>
            </a:r>
            <a:endParaRPr lang="ar-SY" sz="2800" dirty="0"/>
          </a:p>
        </p:txBody>
      </p:sp>
      <p:sp>
        <p:nvSpPr>
          <p:cNvPr id="3" name="Card 1"/>
          <p:cNvSpPr/>
          <p:nvPr/>
        </p:nvSpPr>
        <p:spPr>
          <a:xfrm>
            <a:off x="6080760" y="1325880"/>
            <a:ext cx="2606040" cy="1783080"/>
          </a:xfrm>
          <a:prstGeom prst="roundRect">
            <a:avLst>
              <a:gd name="adj" fmla="val 5128"/>
            </a:avLst>
          </a:prstGeom>
          <a:solidFill>
            <a:schemeClr val="bg1"/>
          </a:solidFill>
          <a:ln/>
        </p:spPr>
      </p:sp>
      <p:pic>
        <p:nvPicPr>
          <p:cNvPr id="4" name="Card icon 1" descr="preencoded.png">    </p:cNvPr>
          <p:cNvPicPr>
            <a:picLocks noChangeAspect="1"/>
          </p:cNvPicPr>
          <p:nvPr/>
        </p:nvPicPr>
        <p:blipFill>
          <a:blip r:embed="rId1"/>
          <a:stretch>
            <a:fillRect/>
          </a:stretch>
        </p:blipFill>
        <p:spPr>
          <a:xfrm>
            <a:off x="8046720" y="1508760"/>
            <a:ext cx="411480" cy="411480"/>
          </a:xfrm>
          <a:prstGeom prst="rect">
            <a:avLst/>
          </a:prstGeom>
        </p:spPr>
      </p:pic>
      <p:sp>
        <p:nvSpPr>
          <p:cNvPr id="5" name="Card text 1"/>
          <p:cNvSpPr txBox="1"/>
          <p:nvPr/>
        </p:nvSpPr>
        <p:spPr>
          <a:xfrm>
            <a:off x="6263640" y="2011680"/>
            <a:ext cx="2194560" cy="1005840"/>
          </a:xfrm>
          <a:prstGeom prst="rect">
            <a:avLst/>
          </a:prstGeom>
          <a:noFill/>
          <a:ln/>
        </p:spPr>
        <p:txBody>
          <a:bodyPr wrap="square" lIns="0" tIns="0" rIns="0" bIns="0" rtlCol="0" anchor="t"/>
          <a:lstStyle/>
          <a:p>
            <a:pPr rtl="1" algn="r" indent="0" marL="0">
              <a:buNone/>
            </a:pPr>
            <a:r>
              <a:rPr lang="ar-SY" altLang="en-US" sz="1800" b="1" dirty="0">
                <a:solidFill>
                  <a:schemeClr val="tx1"/>
                </a:solidFill>
              </a:rPr>
              <a:t>أمنستي الأرض</a:t>
            </a:r>
            <a:endParaRPr lang="ar-SY" sz="1800" dirty="0"/>
          </a:p>
          <a:p>
            <a:pPr rtl="1" algn="r" indent="0" marL="0">
              <a:buNone/>
            </a:pPr>
            <a:r>
              <a:rPr lang="ar-SY" altLang="en-US" sz="1400" dirty="0">
                <a:solidFill>
                  <a:schemeClr val="accent4"/>
                </a:solidFill>
              </a:rPr>
              <a:t>قطع بتوقع من البودات عأرض الروبوتات وهي عم تتحرك</a:t>
            </a:r>
            <a:endParaRPr lang="ar-SY" sz="1800" dirty="0"/>
          </a:p>
        </p:txBody>
      </p:sp>
      <p:sp>
        <p:nvSpPr>
          <p:cNvPr id="6" name="Card 2"/>
          <p:cNvSpPr/>
          <p:nvPr/>
        </p:nvSpPr>
        <p:spPr>
          <a:xfrm>
            <a:off x="3291840" y="1325880"/>
            <a:ext cx="2606040" cy="1783080"/>
          </a:xfrm>
          <a:prstGeom prst="roundRect">
            <a:avLst>
              <a:gd name="adj" fmla="val 5128"/>
            </a:avLst>
          </a:prstGeom>
          <a:solidFill>
            <a:schemeClr val="bg1"/>
          </a:solidFill>
          <a:ln/>
        </p:spPr>
      </p:sp>
      <p:pic>
        <p:nvPicPr>
          <p:cNvPr id="7" name="Card icon 2" descr="preencoded.png">    </p:cNvPr>
          <p:cNvPicPr>
            <a:picLocks noChangeAspect="1"/>
          </p:cNvPicPr>
          <p:nvPr/>
        </p:nvPicPr>
        <p:blipFill>
          <a:blip r:embed="rId2"/>
          <a:stretch>
            <a:fillRect/>
          </a:stretch>
        </p:blipFill>
        <p:spPr>
          <a:xfrm>
            <a:off x="5257800" y="1508760"/>
            <a:ext cx="411480" cy="411480"/>
          </a:xfrm>
          <a:prstGeom prst="rect">
            <a:avLst/>
          </a:prstGeom>
        </p:spPr>
      </p:pic>
      <p:sp>
        <p:nvSpPr>
          <p:cNvPr id="8" name="Card text 2"/>
          <p:cNvSpPr txBox="1"/>
          <p:nvPr/>
        </p:nvSpPr>
        <p:spPr>
          <a:xfrm>
            <a:off x="3474720" y="2011680"/>
            <a:ext cx="2194560" cy="1005840"/>
          </a:xfrm>
          <a:prstGeom prst="rect">
            <a:avLst/>
          </a:prstGeom>
          <a:noFill/>
          <a:ln/>
        </p:spPr>
        <p:txBody>
          <a:bodyPr wrap="square" lIns="0" tIns="0" rIns="0" bIns="0" rtlCol="0" anchor="t"/>
          <a:lstStyle/>
          <a:p>
            <a:pPr rtl="1" algn="r" indent="0" marL="0">
              <a:buNone/>
            </a:pPr>
            <a:r>
              <a:rPr lang="ar-SY" altLang="en-US" sz="1800" b="1" dirty="0">
                <a:solidFill>
                  <a:schemeClr val="tx1"/>
                </a:solidFill>
              </a:rPr>
              <a:t>أمنستي الستيشن</a:t>
            </a:r>
            <a:endParaRPr lang="ar-SY" sz="1800" dirty="0"/>
          </a:p>
          <a:p>
            <a:pPr rtl="1" algn="r" indent="0" marL="0">
              <a:buNone/>
            </a:pPr>
            <a:r>
              <a:rPr lang="ar-SY" altLang="en-US" sz="1400" dirty="0">
                <a:solidFill>
                  <a:schemeClr val="accent4"/>
                </a:solidFill>
              </a:rPr>
              <a:t>قطع بتضل عالستيشن لمّا يفلّ البود</a:t>
            </a:r>
            <a:endParaRPr lang="ar-SY" sz="1800" dirty="0"/>
          </a:p>
        </p:txBody>
      </p:sp>
      <p:sp>
        <p:nvSpPr>
          <p:cNvPr id="9" name="Callout"/>
          <p:cNvSpPr/>
          <p:nvPr/>
        </p:nvSpPr>
        <p:spPr>
          <a:xfrm>
            <a:off x="3291840" y="3383280"/>
            <a:ext cx="5394960" cy="1143000"/>
          </a:xfrm>
          <a:prstGeom prst="roundRect">
            <a:avLst>
              <a:gd name="adj" fmla="val 8000"/>
            </a:avLst>
          </a:prstGeom>
          <a:solidFill>
            <a:schemeClr val="tx2"/>
          </a:solidFill>
          <a:ln/>
        </p:spPr>
      </p:sp>
      <p:sp>
        <p:nvSpPr>
          <p:cNvPr id="10" name="Callout text"/>
          <p:cNvSpPr txBox="1"/>
          <p:nvPr/>
        </p:nvSpPr>
        <p:spPr>
          <a:xfrm>
            <a:off x="3566160" y="3383280"/>
            <a:ext cx="4846320" cy="1143000"/>
          </a:xfrm>
          <a:prstGeom prst="rect">
            <a:avLst/>
          </a:prstGeom>
          <a:noFill/>
          <a:ln/>
        </p:spPr>
        <p:txBody>
          <a:bodyPr wrap="square" lIns="0" tIns="0" rIns="0" bIns="0" rtlCol="0" anchor="ctr"/>
          <a:lstStyle/>
          <a:p>
            <a:pPr rtl="1" algn="r" indent="0" marL="0">
              <a:buNone/>
            </a:pPr>
            <a:r>
              <a:rPr lang="ar-SY" altLang="en-US" sz="1800" b="1" dirty="0">
                <a:solidFill>
                  <a:schemeClr val="bg1"/>
                </a:solidFill>
              </a:rPr>
              <a:t>سوء ترتيب البِن هو السبب رقم 1 للأمنستي.</a:t>
            </a:r>
            <a:endParaRPr lang="ar-SY" sz="1800" dirty="0"/>
          </a:p>
          <a:p>
            <a:pPr rtl="1" algn="r" indent="0" marL="0">
              <a:buNone/>
            </a:pPr>
            <a:r>
              <a:rPr lang="ar-SY" altLang="en-US" sz="1500" dirty="0">
                <a:solidFill>
                  <a:srgbClr val="9EDFF7"/>
                </a:solidFill>
              </a:rPr>
              <a:t>والترتيب المنيح بإيد كل واحد فينا.</a:t>
            </a:r>
            <a:endParaRPr lang="ar-SY"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أمنستي ولّا بروبلم سولف؟</a:t>
            </a:r>
            <a:endParaRPr lang="ar-SY" sz="2800" dirty="0"/>
          </a:p>
        </p:txBody>
      </p:sp>
      <p:sp>
        <p:nvSpPr>
          <p:cNvPr id="3" name="Side card 1"/>
          <p:cNvSpPr/>
          <p:nvPr/>
        </p:nvSpPr>
        <p:spPr>
          <a:xfrm>
            <a:off x="6080760" y="1325880"/>
            <a:ext cx="2606040" cy="2514600"/>
          </a:xfrm>
          <a:prstGeom prst="roundRect">
            <a:avLst>
              <a:gd name="adj" fmla="val 3636"/>
            </a:avLst>
          </a:prstGeom>
          <a:solidFill>
            <a:schemeClr val="bg1"/>
          </a:solidFill>
          <a:ln/>
        </p:spPr>
      </p:sp>
      <p:pic>
        <p:nvPicPr>
          <p:cNvPr id="4" name="Side icon 1" descr="preencoded.png">    </p:cNvPr>
          <p:cNvPicPr>
            <a:picLocks noChangeAspect="1"/>
          </p:cNvPicPr>
          <p:nvPr/>
        </p:nvPicPr>
        <p:blipFill>
          <a:blip r:embed="rId1"/>
          <a:stretch>
            <a:fillRect/>
          </a:stretch>
        </p:blipFill>
        <p:spPr>
          <a:xfrm>
            <a:off x="8074152" y="1527048"/>
            <a:ext cx="384048" cy="384048"/>
          </a:xfrm>
          <a:prstGeom prst="rect">
            <a:avLst/>
          </a:prstGeom>
        </p:spPr>
      </p:pic>
      <p:sp>
        <p:nvSpPr>
          <p:cNvPr id="5" name="Side tag 1"/>
          <p:cNvSpPr txBox="1"/>
          <p:nvPr/>
        </p:nvSpPr>
        <p:spPr>
          <a:xfrm>
            <a:off x="6263640" y="1527048"/>
            <a:ext cx="1691640" cy="384048"/>
          </a:xfrm>
          <a:prstGeom prst="rect">
            <a:avLst/>
          </a:prstGeom>
          <a:noFill/>
          <a:ln/>
        </p:spPr>
        <p:txBody>
          <a:bodyPr wrap="square" lIns="0" tIns="0" rIns="0" bIns="0" rtlCol="0" anchor="ctr"/>
          <a:lstStyle/>
          <a:p>
            <a:pPr rtl="1" algn="r" indent="0" marL="0">
              <a:buNone/>
            </a:pPr>
            <a:r>
              <a:rPr lang="ar-SY" altLang="en-US" sz="1300" b="1" dirty="0">
                <a:solidFill>
                  <a:schemeClr val="accent6"/>
                </a:solidFill>
              </a:rPr>
              <a:t>أمنستي</a:t>
            </a:r>
            <a:endParaRPr lang="ar-SY" sz="1300" dirty="0"/>
          </a:p>
        </p:txBody>
      </p:sp>
      <p:sp>
        <p:nvSpPr>
          <p:cNvPr id="6" name="Side text 1"/>
          <p:cNvSpPr txBox="1"/>
          <p:nvPr/>
        </p:nvSpPr>
        <p:spPr>
          <a:xfrm>
            <a:off x="6263640" y="2057400"/>
            <a:ext cx="2194560" cy="1234440"/>
          </a:xfrm>
          <a:prstGeom prst="rect">
            <a:avLst/>
          </a:prstGeom>
          <a:noFill/>
          <a:ln/>
        </p:spPr>
        <p:txBody>
          <a:bodyPr wrap="square" lIns="0" tIns="0" rIns="0" bIns="0" rtlCol="0" anchor="t"/>
          <a:lstStyle/>
          <a:p>
            <a:pPr rtl="1" algn="r" indent="0" marL="0">
              <a:spcAft>
                <a:spcPts val="300"/>
              </a:spcAft>
              <a:buNone/>
            </a:pPr>
            <a:r>
              <a:rPr lang="ar-SY" altLang="en-US" sz="1800" b="1" dirty="0">
                <a:solidFill>
                  <a:schemeClr val="tx1"/>
                </a:solidFill>
              </a:rPr>
              <a:t>انعملّها ستو، وما انعملّها بيك لسّا</a:t>
            </a:r>
            <a:endParaRPr lang="ar-SY" sz="1800" dirty="0"/>
          </a:p>
          <a:p>
            <a:pPr rtl="1" algn="r" marL="342900" indent="-342900">
              <a:spcAft>
                <a:spcPts val="300"/>
              </a:spcAft>
              <a:buSzPct val="100000"/>
              <a:buChar char="•"/>
            </a:pPr>
            <a:r>
              <a:rPr lang="ar-SY" altLang="en-US" sz="1400" dirty="0">
                <a:solidFill>
                  <a:schemeClr val="accent4"/>
                </a:solidFill>
              </a:rPr>
              <a:t>مكانها ببِن جوّا البود</a:t>
            </a:r>
            <a:endParaRPr lang="ar-SY" sz="1800" dirty="0"/>
          </a:p>
          <a:p>
            <a:pPr rtl="1" algn="r" marL="342900" indent="-342900">
              <a:spcAft>
                <a:spcPts val="300"/>
              </a:spcAft>
              <a:buSzPct val="100000"/>
              <a:buChar char="•"/>
            </a:pPr>
            <a:r>
              <a:rPr lang="ar-SY" altLang="en-US" sz="1400" dirty="0">
                <a:solidFill>
                  <a:schemeClr val="accent4"/>
                </a:solidFill>
              </a:rPr>
              <a:t>وقعت أو ناقصة من هالبِن</a:t>
            </a:r>
            <a:endParaRPr lang="ar-SY" sz="1800" dirty="0"/>
          </a:p>
        </p:txBody>
      </p:sp>
      <p:sp>
        <p:nvSpPr>
          <p:cNvPr id="7" name="Side action 1"/>
          <p:cNvSpPr txBox="1"/>
          <p:nvPr/>
        </p:nvSpPr>
        <p:spPr>
          <a:xfrm>
            <a:off x="6263640" y="3355848"/>
            <a:ext cx="2194560" cy="365760"/>
          </a:xfrm>
          <a:prstGeom prst="rect">
            <a:avLst/>
          </a:prstGeom>
          <a:noFill/>
          <a:ln/>
        </p:spPr>
        <p:txBody>
          <a:bodyPr wrap="square" lIns="0" tIns="0" rIns="0" bIns="0" rtlCol="0" anchor="ctr"/>
          <a:lstStyle/>
          <a:p>
            <a:pPr rtl="1" algn="r" indent="0" marL="0">
              <a:buNone/>
            </a:pPr>
            <a:r>
              <a:rPr lang="ar-SY" altLang="en-US" sz="1300" b="1" dirty="0">
                <a:solidFill>
                  <a:schemeClr val="accent6"/>
                </a:solidFill>
              </a:rPr>
              <a:t>← </a:t>
            </a:r>
            <a:pPr rtl="1" algn="r" indent="0" marL="0">
              <a:buNone/>
            </a:pPr>
            <a:r>
              <a:rPr lang="ar-SY" altLang="en-US" sz="1300" b="1" dirty="0">
                <a:solidFill>
                  <a:schemeClr val="accent6"/>
                </a:solidFill>
              </a:rPr>
              <a:t>بتروح عالأمنستي</a:t>
            </a:r>
            <a:endParaRPr lang="ar-SY" sz="1300" dirty="0"/>
          </a:p>
        </p:txBody>
      </p:sp>
      <p:sp>
        <p:nvSpPr>
          <p:cNvPr id="8" name="Side card 2"/>
          <p:cNvSpPr/>
          <p:nvPr/>
        </p:nvSpPr>
        <p:spPr>
          <a:xfrm>
            <a:off x="3291840" y="1325880"/>
            <a:ext cx="2606040" cy="2514600"/>
          </a:xfrm>
          <a:prstGeom prst="roundRect">
            <a:avLst>
              <a:gd name="adj" fmla="val 3636"/>
            </a:avLst>
          </a:prstGeom>
          <a:solidFill>
            <a:srgbClr val="FBECEC"/>
          </a:solidFill>
          <a:ln/>
        </p:spPr>
      </p:sp>
      <p:pic>
        <p:nvPicPr>
          <p:cNvPr id="9" name="Side icon 2" descr="preencoded.png">    </p:cNvPr>
          <p:cNvPicPr>
            <a:picLocks noChangeAspect="1"/>
          </p:cNvPicPr>
          <p:nvPr/>
        </p:nvPicPr>
        <p:blipFill>
          <a:blip r:embed="rId2"/>
          <a:stretch>
            <a:fillRect/>
          </a:stretch>
        </p:blipFill>
        <p:spPr>
          <a:xfrm>
            <a:off x="5285232" y="1527048"/>
            <a:ext cx="384048" cy="384048"/>
          </a:xfrm>
          <a:prstGeom prst="rect">
            <a:avLst/>
          </a:prstGeom>
        </p:spPr>
      </p:pic>
      <p:sp>
        <p:nvSpPr>
          <p:cNvPr id="10" name="Side tag 2"/>
          <p:cNvSpPr txBox="1"/>
          <p:nvPr/>
        </p:nvSpPr>
        <p:spPr>
          <a:xfrm>
            <a:off x="3474720" y="1527048"/>
            <a:ext cx="1691640" cy="384048"/>
          </a:xfrm>
          <a:prstGeom prst="rect">
            <a:avLst/>
          </a:prstGeom>
          <a:noFill/>
          <a:ln/>
        </p:spPr>
        <p:txBody>
          <a:bodyPr wrap="square" lIns="0" tIns="0" rIns="0" bIns="0" rtlCol="0" anchor="ctr"/>
          <a:lstStyle/>
          <a:p>
            <a:pPr rtl="1" algn="r" indent="0" marL="0">
              <a:buNone/>
            </a:pPr>
            <a:r>
              <a:rPr lang="ar-SY" altLang="en-US" sz="1300" b="1" dirty="0">
                <a:solidFill>
                  <a:schemeClr val="accent3"/>
                </a:solidFill>
              </a:rPr>
              <a:t>مو أمنستي</a:t>
            </a:r>
            <a:endParaRPr lang="ar-SY" sz="1300" dirty="0"/>
          </a:p>
        </p:txBody>
      </p:sp>
      <p:sp>
        <p:nvSpPr>
          <p:cNvPr id="11" name="Side text 2"/>
          <p:cNvSpPr txBox="1"/>
          <p:nvPr/>
        </p:nvSpPr>
        <p:spPr>
          <a:xfrm>
            <a:off x="3474720" y="2057400"/>
            <a:ext cx="2194560" cy="1234440"/>
          </a:xfrm>
          <a:prstGeom prst="rect">
            <a:avLst/>
          </a:prstGeom>
          <a:noFill/>
          <a:ln/>
        </p:spPr>
        <p:txBody>
          <a:bodyPr wrap="square" lIns="0" tIns="0" rIns="0" bIns="0" rtlCol="0" anchor="t"/>
          <a:lstStyle/>
          <a:p>
            <a:pPr rtl="1" algn="r" indent="0" marL="0">
              <a:spcAft>
                <a:spcPts val="300"/>
              </a:spcAft>
              <a:buNone/>
            </a:pPr>
            <a:r>
              <a:rPr lang="ar-SY" altLang="en-US" sz="1800" b="1" dirty="0">
                <a:solidFill>
                  <a:schemeClr val="tx1"/>
                </a:solidFill>
              </a:rPr>
              <a:t>انعملّها بيك</a:t>
            </a:r>
            <a:endParaRPr lang="ar-SY" sz="1800" dirty="0"/>
          </a:p>
          <a:p>
            <a:pPr rtl="1" algn="r" marL="342900" indent="-342900">
              <a:spcAft>
                <a:spcPts val="300"/>
              </a:spcAft>
              <a:buSzPct val="100000"/>
              <a:buChar char="•"/>
            </a:pPr>
            <a:r>
              <a:rPr lang="ar-SY" altLang="en-US" sz="1400" dirty="0">
                <a:solidFill>
                  <a:schemeClr val="accent4"/>
                </a:solidFill>
              </a:rPr>
              <a:t>مكانها بتوت، أو بلوكيشن الريبِن، أو بالشوت</a:t>
            </a:r>
            <a:endParaRPr lang="ar-SY" sz="1800" dirty="0"/>
          </a:p>
          <a:p>
            <a:pPr rtl="1" algn="r" marL="342900" indent="-342900">
              <a:spcAft>
                <a:spcPts val="300"/>
              </a:spcAft>
              <a:buSzPct val="100000"/>
              <a:buChar char="•"/>
            </a:pPr>
            <a:r>
              <a:rPr lang="ar-SY" altLang="en-US" sz="1400" dirty="0">
                <a:solidFill>
                  <a:schemeClr val="accent4"/>
                </a:solidFill>
              </a:rPr>
              <a:t>وقعت أو انحطّت بمكان غلط</a:t>
            </a:r>
            <a:endParaRPr lang="ar-SY" sz="1800" dirty="0"/>
          </a:p>
        </p:txBody>
      </p:sp>
      <p:sp>
        <p:nvSpPr>
          <p:cNvPr id="12" name="Side action 2"/>
          <p:cNvSpPr txBox="1"/>
          <p:nvPr/>
        </p:nvSpPr>
        <p:spPr>
          <a:xfrm>
            <a:off x="3474720" y="3355848"/>
            <a:ext cx="2194560" cy="365760"/>
          </a:xfrm>
          <a:prstGeom prst="rect">
            <a:avLst/>
          </a:prstGeom>
          <a:noFill/>
          <a:ln/>
        </p:spPr>
        <p:txBody>
          <a:bodyPr wrap="square" lIns="0" tIns="0" rIns="0" bIns="0" rtlCol="0" anchor="ctr"/>
          <a:lstStyle/>
          <a:p>
            <a:pPr rtl="1" algn="r" indent="0" marL="0">
              <a:buNone/>
            </a:pPr>
            <a:r>
              <a:rPr lang="ar-SY" altLang="en-US" sz="1300" b="1" dirty="0">
                <a:solidFill>
                  <a:schemeClr val="accent3"/>
                </a:solidFill>
              </a:rPr>
              <a:t>← </a:t>
            </a:r>
            <a:pPr rtl="1" algn="r" indent="0" marL="0">
              <a:buNone/>
            </a:pPr>
            <a:r>
              <a:rPr lang="ar-SY" altLang="en-US" sz="1300" b="1" dirty="0">
                <a:solidFill>
                  <a:schemeClr val="accent3"/>
                </a:solidFill>
              </a:rPr>
              <a:t>أوتباوند بروبلم سولف</a:t>
            </a:r>
            <a:endParaRPr lang="ar-SY" sz="1300" dirty="0"/>
          </a:p>
        </p:txBody>
      </p:sp>
      <p:sp>
        <p:nvSpPr>
          <p:cNvPr id="13" name="Inflate callout"/>
          <p:cNvSpPr/>
          <p:nvPr/>
        </p:nvSpPr>
        <p:spPr>
          <a:xfrm>
            <a:off x="3291840" y="3977640"/>
            <a:ext cx="5394960" cy="685800"/>
          </a:xfrm>
          <a:prstGeom prst="roundRect">
            <a:avLst>
              <a:gd name="adj" fmla="val 13333"/>
            </a:avLst>
          </a:prstGeom>
          <a:solidFill>
            <a:schemeClr val="tx2"/>
          </a:solidFill>
          <a:ln/>
        </p:spPr>
      </p:sp>
      <p:sp>
        <p:nvSpPr>
          <p:cNvPr id="14" name="Inflate text"/>
          <p:cNvSpPr txBox="1"/>
          <p:nvPr/>
        </p:nvSpPr>
        <p:spPr>
          <a:xfrm>
            <a:off x="3566160" y="3977640"/>
            <a:ext cx="4846320" cy="685800"/>
          </a:xfrm>
          <a:prstGeom prst="rect">
            <a:avLst/>
          </a:prstGeom>
          <a:noFill/>
          <a:ln/>
        </p:spPr>
        <p:txBody>
          <a:bodyPr wrap="square" lIns="0" tIns="0" rIns="0" bIns="0" rtlCol="0" anchor="ctr"/>
          <a:lstStyle/>
          <a:p>
            <a:pPr rtl="1" algn="r" indent="0" marL="0">
              <a:buNone/>
            </a:pPr>
            <a:r>
              <a:rPr lang="ar-SY" altLang="en-US" sz="1500" b="1" dirty="0">
                <a:solidFill>
                  <a:schemeClr val="bg1"/>
                </a:solidFill>
              </a:rPr>
              <a:t>حطّ القطع اللي انعملّها بيك بالأمنستي بيكبّر wAPMT عالفاضي، وبيخبّي مشكلة الأوتباوند.</a:t>
            </a:r>
            <a:endParaRPr lang="ar-SY"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سؤال واحد بتسأله لحالك</a:t>
            </a:r>
            <a:endParaRPr lang="ar-SY" sz="2800" dirty="0"/>
          </a:p>
        </p:txBody>
      </p:sp>
      <p:sp>
        <p:nvSpPr>
          <p:cNvPr id="3" name="Start box"/>
          <p:cNvSpPr/>
          <p:nvPr/>
        </p:nvSpPr>
        <p:spPr>
          <a:xfrm>
            <a:off x="4617720" y="1325880"/>
            <a:ext cx="2743200" cy="548640"/>
          </a:xfrm>
          <a:prstGeom prst="roundRect">
            <a:avLst>
              <a:gd name="adj" fmla="val 16667"/>
            </a:avLst>
          </a:prstGeom>
          <a:solidFill>
            <a:schemeClr val="tx2"/>
          </a:solidFill>
          <a:ln/>
        </p:spPr>
      </p:sp>
      <p:sp>
        <p:nvSpPr>
          <p:cNvPr id="4" name="Start text"/>
          <p:cNvSpPr txBox="1"/>
          <p:nvPr/>
        </p:nvSpPr>
        <p:spPr>
          <a:xfrm>
            <a:off x="4617720" y="1325880"/>
            <a:ext cx="2743200" cy="548640"/>
          </a:xfrm>
          <a:prstGeom prst="rect">
            <a:avLst/>
          </a:prstGeom>
          <a:noFill/>
          <a:ln/>
        </p:spPr>
        <p:txBody>
          <a:bodyPr wrap="square" lIns="0" tIns="0" rIns="0" bIns="0" rtlCol="0" anchor="ctr"/>
          <a:lstStyle/>
          <a:p>
            <a:pPr rtl="1" algn="ctr" indent="0" marL="0">
              <a:buNone/>
            </a:pPr>
            <a:r>
              <a:rPr lang="ar-SY" altLang="en-US" sz="1500" dirty="0">
                <a:solidFill>
                  <a:schemeClr val="bg1"/>
                </a:solidFill>
              </a:rPr>
              <a:t>لقيت قطعة مو بمكانها</a:t>
            </a:r>
            <a:endParaRPr lang="ar-SY" sz="1500" dirty="0"/>
          </a:p>
        </p:txBody>
      </p:sp>
      <p:sp>
        <p:nvSpPr>
          <p:cNvPr id="5" name="Line 1"/>
          <p:cNvSpPr/>
          <p:nvPr/>
        </p:nvSpPr>
        <p:spPr>
          <a:xfrm>
            <a:off x="5989320" y="1874520"/>
            <a:ext cx="0" cy="228600"/>
          </a:xfrm>
          <a:prstGeom prst="line">
            <a:avLst/>
          </a:prstGeom>
          <a:noFill/>
          <a:ln w="25400">
            <a:solidFill>
              <a:srgbClr val="9AA6B2"/>
            </a:solidFill>
            <a:prstDash val="solid"/>
          </a:ln>
        </p:spPr>
      </p:sp>
      <p:sp>
        <p:nvSpPr>
          <p:cNvPr id="6" name="Question box"/>
          <p:cNvSpPr/>
          <p:nvPr/>
        </p:nvSpPr>
        <p:spPr>
          <a:xfrm>
            <a:off x="4389120" y="2103120"/>
            <a:ext cx="3200400" cy="685800"/>
          </a:xfrm>
          <a:prstGeom prst="roundRect">
            <a:avLst>
              <a:gd name="adj" fmla="val 13333"/>
            </a:avLst>
          </a:prstGeom>
          <a:solidFill>
            <a:schemeClr val="accent1"/>
          </a:solidFill>
          <a:ln/>
        </p:spPr>
      </p:sp>
      <p:sp>
        <p:nvSpPr>
          <p:cNvPr id="7" name="Question text"/>
          <p:cNvSpPr txBox="1"/>
          <p:nvPr/>
        </p:nvSpPr>
        <p:spPr>
          <a:xfrm>
            <a:off x="4389120" y="2103120"/>
            <a:ext cx="3200400" cy="685800"/>
          </a:xfrm>
          <a:prstGeom prst="rect">
            <a:avLst/>
          </a:prstGeom>
          <a:noFill/>
          <a:ln/>
        </p:spPr>
        <p:txBody>
          <a:bodyPr wrap="square" lIns="0" tIns="0" rIns="0" bIns="0" rtlCol="0" anchor="ctr"/>
          <a:lstStyle/>
          <a:p>
            <a:pPr rtl="1" algn="ctr" indent="0" marL="0">
              <a:buNone/>
            </a:pPr>
            <a:r>
              <a:rPr lang="ar-SY" altLang="en-US" sz="1800" b="1" dirty="0">
                <a:solidFill>
                  <a:schemeClr val="bg1"/>
                </a:solidFill>
              </a:rPr>
              <a:t>انعملّها بيك ولّا لأ؟</a:t>
            </a:r>
            <a:endParaRPr lang="ar-SY" sz="1800" dirty="0"/>
          </a:p>
        </p:txBody>
      </p:sp>
      <p:sp>
        <p:nvSpPr>
          <p:cNvPr id="8" name="Line 2"/>
          <p:cNvSpPr/>
          <p:nvPr/>
        </p:nvSpPr>
        <p:spPr>
          <a:xfrm>
            <a:off x="5989320" y="2788920"/>
            <a:ext cx="0" cy="228600"/>
          </a:xfrm>
          <a:prstGeom prst="line">
            <a:avLst/>
          </a:prstGeom>
          <a:noFill/>
          <a:ln w="25400">
            <a:solidFill>
              <a:srgbClr val="9AA6B2"/>
            </a:solidFill>
            <a:prstDash val="solid"/>
          </a:ln>
        </p:spPr>
      </p:sp>
      <p:sp>
        <p:nvSpPr>
          <p:cNvPr id="9" name="Line 3"/>
          <p:cNvSpPr/>
          <p:nvPr/>
        </p:nvSpPr>
        <p:spPr>
          <a:xfrm>
            <a:off x="4617720" y="3017520"/>
            <a:ext cx="2743200" cy="0"/>
          </a:xfrm>
          <a:prstGeom prst="line">
            <a:avLst/>
          </a:prstGeom>
          <a:noFill/>
          <a:ln w="25400">
            <a:solidFill>
              <a:srgbClr val="9AA6B2"/>
            </a:solidFill>
            <a:prstDash val="solid"/>
          </a:ln>
        </p:spPr>
      </p:sp>
      <p:sp>
        <p:nvSpPr>
          <p:cNvPr id="10" name="Line 4"/>
          <p:cNvSpPr/>
          <p:nvPr/>
        </p:nvSpPr>
        <p:spPr>
          <a:xfrm>
            <a:off x="7360920" y="3017520"/>
            <a:ext cx="0" cy="228600"/>
          </a:xfrm>
          <a:prstGeom prst="line">
            <a:avLst/>
          </a:prstGeom>
          <a:noFill/>
          <a:ln w="25400">
            <a:solidFill>
              <a:srgbClr val="9AA6B2"/>
            </a:solidFill>
            <a:prstDash val="solid"/>
          </a:ln>
        </p:spPr>
      </p:sp>
      <p:sp>
        <p:nvSpPr>
          <p:cNvPr id="11" name="Line 5"/>
          <p:cNvSpPr/>
          <p:nvPr/>
        </p:nvSpPr>
        <p:spPr>
          <a:xfrm>
            <a:off x="4617720" y="3017520"/>
            <a:ext cx="0" cy="228600"/>
          </a:xfrm>
          <a:prstGeom prst="line">
            <a:avLst/>
          </a:prstGeom>
          <a:noFill/>
          <a:ln w="25400">
            <a:solidFill>
              <a:srgbClr val="9AA6B2"/>
            </a:solidFill>
            <a:prstDash val="solid"/>
          </a:ln>
        </p:spPr>
      </p:sp>
      <p:sp>
        <p:nvSpPr>
          <p:cNvPr id="12" name="Outcome 1"/>
          <p:cNvSpPr/>
          <p:nvPr/>
        </p:nvSpPr>
        <p:spPr>
          <a:xfrm>
            <a:off x="6035040" y="3246120"/>
            <a:ext cx="2651760" cy="1280160"/>
          </a:xfrm>
          <a:prstGeom prst="roundRect">
            <a:avLst>
              <a:gd name="adj" fmla="val 7143"/>
            </a:avLst>
          </a:prstGeom>
          <a:solidFill>
            <a:schemeClr val="bg1"/>
          </a:solidFill>
          <a:ln/>
        </p:spPr>
      </p:sp>
      <p:sp>
        <p:nvSpPr>
          <p:cNvPr id="13" name="Outcome text 1"/>
          <p:cNvSpPr txBox="1"/>
          <p:nvPr/>
        </p:nvSpPr>
        <p:spPr>
          <a:xfrm>
            <a:off x="6217920" y="3246120"/>
            <a:ext cx="2286000" cy="1280160"/>
          </a:xfrm>
          <a:prstGeom prst="rect">
            <a:avLst/>
          </a:prstGeom>
          <a:noFill/>
          <a:ln/>
        </p:spPr>
        <p:txBody>
          <a:bodyPr wrap="square" lIns="0" tIns="0" rIns="0" bIns="0" rtlCol="0" anchor="ctr"/>
          <a:lstStyle/>
          <a:p>
            <a:pPr rtl="1" algn="ctr" indent="0" marL="0">
              <a:buNone/>
            </a:pPr>
            <a:r>
              <a:rPr lang="ar-SY" altLang="en-US" sz="1300" b="1" dirty="0">
                <a:solidFill>
                  <a:schemeClr val="accent4"/>
                </a:solidFill>
              </a:rPr>
              <a:t>لأ</a:t>
            </a:r>
            <a:endParaRPr lang="ar-SY" sz="1300" dirty="0"/>
          </a:p>
          <a:p>
            <a:pPr rtl="1" algn="ctr" indent="0" marL="0">
              <a:buNone/>
            </a:pPr>
            <a:r>
              <a:rPr lang="ar-SY" altLang="en-US" sz="1800" b="1" dirty="0">
                <a:solidFill>
                  <a:schemeClr val="accent6"/>
                </a:solidFill>
              </a:rPr>
              <a:t>أمنستي</a:t>
            </a:r>
            <a:endParaRPr lang="ar-SY" sz="1300" dirty="0"/>
          </a:p>
          <a:p>
            <a:pPr rtl="1" algn="ctr" indent="0" marL="0">
              <a:buNone/>
            </a:pPr>
            <a:r>
              <a:rPr lang="ar-SY" altLang="en-US" sz="1400" dirty="0">
                <a:solidFill>
                  <a:schemeClr val="tx1"/>
                </a:solidFill>
              </a:rPr>
              <a:t>مكانها ببِن جوّا البود</a:t>
            </a:r>
            <a:endParaRPr lang="ar-SY" sz="1300" dirty="0"/>
          </a:p>
        </p:txBody>
      </p:sp>
      <p:sp>
        <p:nvSpPr>
          <p:cNvPr id="14" name="Outcome 2"/>
          <p:cNvSpPr/>
          <p:nvPr/>
        </p:nvSpPr>
        <p:spPr>
          <a:xfrm>
            <a:off x="3291840" y="3246120"/>
            <a:ext cx="2651760" cy="1280160"/>
          </a:xfrm>
          <a:prstGeom prst="roundRect">
            <a:avLst>
              <a:gd name="adj" fmla="val 7143"/>
            </a:avLst>
          </a:prstGeom>
          <a:solidFill>
            <a:srgbClr val="FBECEC"/>
          </a:solidFill>
          <a:ln/>
        </p:spPr>
      </p:sp>
      <p:sp>
        <p:nvSpPr>
          <p:cNvPr id="15" name="Outcome text 2"/>
          <p:cNvSpPr txBox="1"/>
          <p:nvPr/>
        </p:nvSpPr>
        <p:spPr>
          <a:xfrm>
            <a:off x="3474720" y="3246120"/>
            <a:ext cx="2286000" cy="1280160"/>
          </a:xfrm>
          <a:prstGeom prst="rect">
            <a:avLst/>
          </a:prstGeom>
          <a:noFill/>
          <a:ln/>
        </p:spPr>
        <p:txBody>
          <a:bodyPr wrap="square" lIns="0" tIns="0" rIns="0" bIns="0" rtlCol="0" anchor="ctr"/>
          <a:lstStyle/>
          <a:p>
            <a:pPr rtl="1" algn="ctr" indent="0" marL="0">
              <a:buNone/>
            </a:pPr>
            <a:r>
              <a:rPr lang="ar-SY" altLang="en-US" sz="1300" b="1" dirty="0">
                <a:solidFill>
                  <a:schemeClr val="accent4"/>
                </a:solidFill>
              </a:rPr>
              <a:t>إي</a:t>
            </a:r>
            <a:endParaRPr lang="ar-SY" sz="1300" dirty="0"/>
          </a:p>
          <a:p>
            <a:pPr rtl="1" algn="ctr" indent="0" marL="0">
              <a:buNone/>
            </a:pPr>
            <a:r>
              <a:rPr lang="ar-SY" altLang="en-US" sz="1800" b="1" dirty="0">
                <a:solidFill>
                  <a:schemeClr val="accent3"/>
                </a:solidFill>
              </a:rPr>
              <a:t>أوتباوند بروبلم سولف</a:t>
            </a:r>
            <a:endParaRPr lang="ar-SY" sz="1300" dirty="0"/>
          </a:p>
          <a:p>
            <a:pPr rtl="1" algn="ctr" indent="0" marL="0">
              <a:buNone/>
            </a:pPr>
            <a:r>
              <a:rPr lang="ar-SY" altLang="en-US" sz="1400" dirty="0">
                <a:solidFill>
                  <a:schemeClr val="tx1"/>
                </a:solidFill>
              </a:rPr>
              <a:t>مو أمنستي: مكانها بتوت، أو ريبِن، أو شوت</a:t>
            </a:r>
            <a:endParaRPr lang="ar-SY"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228600" y="502920"/>
            <a:ext cx="6400800" cy="320040"/>
          </a:xfrm>
          <a:prstGeom prst="rect">
            <a:avLst/>
          </a:prstGeom>
          <a:noFill/>
          <a:ln/>
        </p:spPr>
        <p:txBody>
          <a:bodyPr wrap="square" lIns="0" tIns="0" rIns="0" bIns="0" rtlCol="0"/>
          <a:lstStyle/>
          <a:p>
            <a:pPr rtl="1" algn="ctr" indent="0" marL="0">
              <a:buNone/>
            </a:pPr>
            <a:r>
              <a:rPr lang="ar-SY" altLang="en-US" sz="1300" b="1" dirty="0">
                <a:solidFill>
                  <a:schemeClr val="accent6"/>
                </a:solidFill>
              </a:rPr>
              <a:t>هلّق</a:t>
            </a:r>
            <a:endParaRPr lang="ar-SY" sz="1300" dirty="0"/>
          </a:p>
        </p:txBody>
      </p:sp>
      <p:sp>
        <p:nvSpPr>
          <p:cNvPr id="3" name="Text 1"/>
          <p:cNvSpPr/>
          <p:nvPr>
            <p:ph idx="103" type="title" hasCustomPrompt="1"/>
          </p:nvPr>
        </p:nvSpPr>
        <p:spPr>
          <a:xfrm>
            <a:off x="228600" y="868680"/>
            <a:ext cx="6400800" cy="868680"/>
          </a:xfrm>
          <a:prstGeom prst="rect">
            <a:avLst/>
          </a:prstGeom>
          <a:noFill/>
          <a:ln/>
        </p:spPr>
        <p:txBody>
          <a:bodyPr wrap="square" lIns="0" tIns="0" rIns="0" bIns="0" rtlCol="0" anchor="ctr"/>
          <a:lstStyle/>
          <a:p>
            <a:pPr rtl="1" algn="ctr" indent="0" marL="0">
              <a:buNone/>
            </a:pPr>
            <a:r>
              <a:rPr lang="ar-SY" altLang="en-US" sz="3600" b="1" dirty="0">
                <a:solidFill>
                  <a:schemeClr val="tx1"/>
                </a:solidFill>
              </a:rPr>
              <a:t>ترتيب البِن بالبيك</a:t>
            </a:r>
            <a:endParaRPr lang="ar-SY" sz="3600" dirty="0"/>
          </a:p>
        </p:txBody>
      </p:sp>
      <p:sp>
        <p:nvSpPr>
          <p:cNvPr id="4" name="Text 1"/>
          <p:cNvSpPr/>
          <p:nvPr>
            <p:ph idx="104" type="body" hasCustomPrompt="1"/>
          </p:nvPr>
        </p:nvSpPr>
        <p:spPr>
          <a:xfrm>
            <a:off x="685800" y="1783080"/>
            <a:ext cx="5486400" cy="685800"/>
          </a:xfrm>
          <a:prstGeom prst="rect">
            <a:avLst/>
          </a:prstGeom>
          <a:noFill/>
          <a:ln/>
        </p:spPr>
        <p:txBody>
          <a:bodyPr wrap="square" lIns="0" tIns="0" rIns="0" bIns="0" rtlCol="0" anchor="t"/>
          <a:lstStyle/>
          <a:p>
            <a:pPr rtl="1" algn="ctr" indent="0" marL="0">
              <a:buNone/>
            </a:pPr>
            <a:r>
              <a:rPr lang="ar-SY" altLang="en-US" sz="1600" dirty="0">
                <a:solidFill>
                  <a:schemeClr val="accent4"/>
                </a:solidFill>
              </a:rPr>
              <a:t>إيدك بالبِنات طول الشيفت. اترك كل واحد أحسن من ما لقيته.</a:t>
            </a:r>
            <a:endParaRPr lang="ar-SY"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قطعة وحدة بكل مرّة</a:t>
            </a:r>
            <a:endParaRPr lang="ar-SY" sz="2800" dirty="0"/>
          </a:p>
        </p:txBody>
      </p:sp>
      <p:sp>
        <p:nvSpPr>
          <p:cNvPr id="3" name="Stat card"/>
          <p:cNvSpPr/>
          <p:nvPr/>
        </p:nvSpPr>
        <p:spPr>
          <a:xfrm>
            <a:off x="6675120" y="1325880"/>
            <a:ext cx="2011680" cy="3200400"/>
          </a:xfrm>
          <a:prstGeom prst="roundRect">
            <a:avLst>
              <a:gd name="adj" fmla="val 4545"/>
            </a:avLst>
          </a:prstGeom>
          <a:solidFill>
            <a:schemeClr val="tx2"/>
          </a:solidFill>
          <a:ln/>
        </p:spPr>
      </p:sp>
      <p:sp>
        <p:nvSpPr>
          <p:cNvPr id="4" name="Stat"/>
          <p:cNvSpPr txBox="1"/>
          <p:nvPr/>
        </p:nvSpPr>
        <p:spPr>
          <a:xfrm>
            <a:off x="6903720" y="1325880"/>
            <a:ext cx="1554480" cy="3200400"/>
          </a:xfrm>
          <a:prstGeom prst="rect">
            <a:avLst/>
          </a:prstGeom>
          <a:noFill/>
          <a:ln/>
        </p:spPr>
        <p:txBody>
          <a:bodyPr wrap="square" lIns="0" tIns="0" rIns="0" bIns="0" rtlCol="0" anchor="ctr"/>
          <a:lstStyle/>
          <a:p>
            <a:pPr rtl="1" algn="r" indent="0" marL="0">
              <a:buNone/>
            </a:pPr>
            <a:r>
              <a:rPr lang="ar-SY" altLang="en-US" sz="7200" b="1" dirty="0">
                <a:solidFill>
                  <a:schemeClr val="accent1"/>
                </a:solidFill>
              </a:rPr>
              <a:t>1</a:t>
            </a:r>
            <a:endParaRPr lang="ar-SY" sz="7200" dirty="0"/>
          </a:p>
          <a:p>
            <a:pPr rtl="1" algn="r" indent="0" marL="0">
              <a:buNone/>
            </a:pPr>
            <a:r>
              <a:rPr lang="ar-SY" altLang="en-US" sz="1600" dirty="0">
                <a:solidFill>
                  <a:schemeClr val="bg1"/>
                </a:solidFill>
              </a:rPr>
              <a:t>قطعة بإيدك بكل مرّة</a:t>
            </a:r>
            <a:endParaRPr lang="ar-SY" sz="7200" dirty="0"/>
          </a:p>
        </p:txBody>
      </p:sp>
      <p:pic>
        <p:nvPicPr>
          <p:cNvPr id="5" name="Flow icon 1" descr="preencoded.png">    </p:cNvPr>
          <p:cNvPicPr>
            <a:picLocks noChangeAspect="1"/>
          </p:cNvPicPr>
          <p:nvPr/>
        </p:nvPicPr>
        <p:blipFill>
          <a:blip r:embed="rId1"/>
          <a:stretch>
            <a:fillRect/>
          </a:stretch>
        </p:blipFill>
        <p:spPr>
          <a:xfrm>
            <a:off x="6053328" y="1444752"/>
            <a:ext cx="347472" cy="347472"/>
          </a:xfrm>
          <a:prstGeom prst="rect">
            <a:avLst/>
          </a:prstGeom>
        </p:spPr>
      </p:pic>
      <p:sp>
        <p:nvSpPr>
          <p:cNvPr id="6" name="Flow 1"/>
          <p:cNvSpPr txBox="1"/>
          <p:nvPr/>
        </p:nvSpPr>
        <p:spPr>
          <a:xfrm>
            <a:off x="3291840" y="1371600"/>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خود قطعة وحدة</a:t>
            </a:r>
            <a:endParaRPr lang="ar-SY" sz="1700" dirty="0"/>
          </a:p>
          <a:p>
            <a:pPr rtl="1" algn="r" indent="0" marL="0">
              <a:buNone/>
            </a:pPr>
            <a:r>
              <a:rPr lang="ar-SY" altLang="en-US" sz="1400" dirty="0">
                <a:solidFill>
                  <a:schemeClr val="accent4"/>
                </a:solidFill>
              </a:rPr>
              <a:t>اعمل بيك لقطعة وحدة، بإيديك التنتين</a:t>
            </a:r>
            <a:endParaRPr lang="ar-SY" sz="1700" dirty="0"/>
          </a:p>
        </p:txBody>
      </p:sp>
      <p:pic>
        <p:nvPicPr>
          <p:cNvPr id="7" name="Flow icon 2" descr="preencoded.png">    </p:cNvPr>
          <p:cNvPicPr>
            <a:picLocks noChangeAspect="1"/>
          </p:cNvPicPr>
          <p:nvPr/>
        </p:nvPicPr>
        <p:blipFill>
          <a:blip r:embed="rId2"/>
          <a:stretch>
            <a:fillRect/>
          </a:stretch>
        </p:blipFill>
        <p:spPr>
          <a:xfrm>
            <a:off x="6053328" y="2514600"/>
            <a:ext cx="347472" cy="347472"/>
          </a:xfrm>
          <a:prstGeom prst="rect">
            <a:avLst/>
          </a:prstGeom>
        </p:spPr>
      </p:pic>
      <p:sp>
        <p:nvSpPr>
          <p:cNvPr id="8" name="Flow 2"/>
          <p:cNvSpPr txBox="1"/>
          <p:nvPr/>
        </p:nvSpPr>
        <p:spPr>
          <a:xfrm>
            <a:off x="3291840" y="2441448"/>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اعملها سكان مرّة وحدة</a:t>
            </a:r>
            <a:endParaRPr lang="ar-SY" sz="1700" dirty="0"/>
          </a:p>
          <a:p>
            <a:pPr rtl="1" algn="r" indent="0" marL="0">
              <a:buNone/>
            </a:pPr>
            <a:r>
              <a:rPr lang="ar-SY" altLang="en-US" sz="1400" dirty="0">
                <a:solidFill>
                  <a:schemeClr val="accent4"/>
                </a:solidFill>
              </a:rPr>
              <a:t>قطعة وحدة، سكان واحد</a:t>
            </a:r>
            <a:endParaRPr lang="ar-SY" sz="1700" dirty="0"/>
          </a:p>
        </p:txBody>
      </p:sp>
      <p:pic>
        <p:nvPicPr>
          <p:cNvPr id="9" name="Flow icon 3" descr="preencoded.png">    </p:cNvPr>
          <p:cNvPicPr>
            <a:picLocks noChangeAspect="1"/>
          </p:cNvPicPr>
          <p:nvPr/>
        </p:nvPicPr>
        <p:blipFill>
          <a:blip r:embed="rId3"/>
          <a:stretch>
            <a:fillRect/>
          </a:stretch>
        </p:blipFill>
        <p:spPr>
          <a:xfrm>
            <a:off x="6053328" y="3584448"/>
            <a:ext cx="347472" cy="347472"/>
          </a:xfrm>
          <a:prstGeom prst="rect">
            <a:avLst/>
          </a:prstGeom>
        </p:spPr>
      </p:pic>
      <p:sp>
        <p:nvSpPr>
          <p:cNvPr id="10" name="Flow 3"/>
          <p:cNvSpPr txBox="1"/>
          <p:nvPr/>
        </p:nvSpPr>
        <p:spPr>
          <a:xfrm>
            <a:off x="3291840" y="3511296"/>
            <a:ext cx="2606040" cy="868680"/>
          </a:xfrm>
          <a:prstGeom prst="rect">
            <a:avLst/>
          </a:prstGeom>
          <a:noFill/>
          <a:ln/>
        </p:spPr>
        <p:txBody>
          <a:bodyPr wrap="square" lIns="0" tIns="0" rIns="0" bIns="0" rtlCol="0" anchor="t"/>
          <a:lstStyle/>
          <a:p>
            <a:pPr rtl="1" algn="r" indent="0" marL="0">
              <a:buNone/>
            </a:pPr>
            <a:r>
              <a:rPr lang="ar-SY" altLang="en-US" sz="1700" b="1" dirty="0">
                <a:solidFill>
                  <a:schemeClr val="tx1"/>
                </a:solidFill>
              </a:rPr>
              <a:t>حطّها بالتوت تبعك</a:t>
            </a:r>
            <a:endParaRPr lang="ar-SY" sz="1700" dirty="0"/>
          </a:p>
          <a:p>
            <a:pPr rtl="1" algn="r" indent="0" marL="0">
              <a:buNone/>
            </a:pPr>
            <a:r>
              <a:rPr lang="ar-SY" altLang="en-US" sz="1400" dirty="0">
                <a:solidFill>
                  <a:schemeClr val="accent4"/>
                </a:solidFill>
              </a:rPr>
              <a:t>قبل ما ترجع تمدّ إيدك عالبِن</a:t>
            </a:r>
            <a:endParaRPr lang="ar-SY"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ما في شي طالع (O)</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No overhang: wrong example. The box sticks out past the bin edge">    </p:cNvPr>
          <p:cNvPicPr>
            <a:picLocks noChangeAspect="1"/>
          </p:cNvPicPr>
          <p:nvPr/>
        </p:nvPicPr>
        <p:blipFill>
          <a:blip r:embed="rId1"/>
          <a:stretch>
            <a:fillRect/>
          </a:stretch>
        </p:blipFill>
        <p:spPr>
          <a:xfrm>
            <a:off x="6323688" y="1417320"/>
            <a:ext cx="2120184"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الكرتونة طالعة برّا حرف البِن</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No overhang: right example. Everything sits fully inside the bin">    </p:cNvPr>
          <p:cNvPicPr>
            <a:picLocks noChangeAspect="1"/>
          </p:cNvPicPr>
          <p:nvPr/>
        </p:nvPicPr>
        <p:blipFill>
          <a:blip r:embed="rId2"/>
          <a:stretch>
            <a:fillRect/>
          </a:stretch>
        </p:blipFill>
        <p:spPr>
          <a:xfrm>
            <a:off x="3567052" y="1417320"/>
            <a:ext cx="2055616"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كل شي جوّا البِن تماماً</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شفت شي طالع؟ رجّعه لجوّا البِن تماماً.</a:t>
            </a:r>
            <a:endParaRPr lang="ar-SY"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ما تسكّر عالقطع (B)</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Blocking: wrong example. A flat item in front hides the items behind it">    </p:cNvPr>
          <p:cNvPicPr>
            <a:picLocks noChangeAspect="1"/>
          </p:cNvPicPr>
          <p:nvPr/>
        </p:nvPicPr>
        <p:blipFill>
          <a:blip r:embed="rId1"/>
          <a:stretch>
            <a:fillRect/>
          </a:stretch>
        </p:blipFill>
        <p:spPr>
          <a:xfrm>
            <a:off x="6330117" y="1417320"/>
            <a:ext cx="2107326"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قطعة مسطّحة قدّام مخبّية اللي وراها</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Blocking: right example. Every item is visible from the front">    </p:cNvPr>
          <p:cNvPicPr>
            <a:picLocks noChangeAspect="1"/>
          </p:cNvPicPr>
          <p:nvPr/>
        </p:nvPicPr>
        <p:blipFill>
          <a:blip r:embed="rId2"/>
          <a:stretch>
            <a:fillRect/>
          </a:stretch>
        </p:blipFill>
        <p:spPr>
          <a:xfrm>
            <a:off x="3534888" y="1417320"/>
            <a:ext cx="2119945"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كل قطعة مبيّنة من قدّام</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لا تترك قطع صغيرة مخبّاية ورا الكبار، ووقّف القطع المسطّحة.</a:t>
            </a:r>
            <a:endParaRPr lang="ar-SY"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ما تحشي البِن (O)</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Overstuffing: wrong example. Items forced in, the bin is bulging">    </p:cNvPr>
          <p:cNvPicPr>
            <a:picLocks noChangeAspect="1"/>
          </p:cNvPicPr>
          <p:nvPr/>
        </p:nvPicPr>
        <p:blipFill>
          <a:blip r:embed="rId1"/>
          <a:stretch>
            <a:fillRect/>
          </a:stretch>
        </p:blipFill>
        <p:spPr>
          <a:xfrm>
            <a:off x="6243293" y="1417320"/>
            <a:ext cx="2280974"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 محشورة بالقوة، والبِن منفوخ</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Overstuffing: right example. Items fit with room to pick">    </p:cNvPr>
          <p:cNvPicPr>
            <a:picLocks noChangeAspect="1"/>
          </p:cNvPicPr>
          <p:nvPr/>
        </p:nvPicPr>
        <p:blipFill>
          <a:blip r:embed="rId2"/>
          <a:stretch>
            <a:fillRect/>
          </a:stretch>
        </p:blipFill>
        <p:spPr>
          <a:xfrm>
            <a:off x="3458819" y="1417320"/>
            <a:ext cx="2272081"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القطع مرتاحة وفي مجال للبيك</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لا ترجّع قطع بالقوة لبِن مليان.</a:t>
            </a:r>
            <a:endParaRPr lang="ar-SY"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الترصيص (S)</a:t>
            </a:r>
            <a:endParaRPr lang="ar-SY" sz="2800" dirty="0"/>
          </a:p>
        </p:txBody>
      </p:sp>
      <p:sp>
        <p:nvSpPr>
          <p:cNvPr id="3" name="Wrong panel"/>
          <p:cNvSpPr/>
          <p:nvPr/>
        </p:nvSpPr>
        <p:spPr>
          <a:xfrm>
            <a:off x="608076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tacking: wrong example. Different items stacked on top of each other">    </p:cNvPr>
          <p:cNvPicPr>
            <a:picLocks noChangeAspect="1"/>
          </p:cNvPicPr>
          <p:nvPr/>
        </p:nvPicPr>
        <p:blipFill>
          <a:blip r:embed="rId1"/>
          <a:stretch>
            <a:fillRect/>
          </a:stretch>
        </p:blipFill>
        <p:spPr>
          <a:xfrm>
            <a:off x="6246837" y="1417320"/>
            <a:ext cx="2273886" cy="2103120"/>
          </a:xfrm>
          <a:prstGeom prst="rect">
            <a:avLst/>
          </a:prstGeom>
        </p:spPr>
      </p:pic>
      <p:sp>
        <p:nvSpPr>
          <p:cNvPr id="5" name="Wrong caption"/>
          <p:cNvSpPr txBox="1"/>
          <p:nvPr/>
        </p:nvSpPr>
        <p:spPr>
          <a:xfrm>
            <a:off x="621792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chemeClr val="accent3"/>
                </a:solidFill>
              </a:rPr>
              <a:t>غلط: </a:t>
            </a:r>
            <a:pPr rtl="1" algn="ctr" indent="0" marL="0">
              <a:buNone/>
            </a:pPr>
            <a:r>
              <a:rPr lang="ar-SY" altLang="en-US" sz="1300" dirty="0">
                <a:solidFill>
                  <a:schemeClr val="tx1"/>
                </a:solidFill>
              </a:rPr>
              <a:t>قطع مختلفة مرصوصة فوق بعض</a:t>
            </a:r>
            <a:endParaRPr lang="ar-SY" sz="1300" dirty="0"/>
          </a:p>
        </p:txBody>
      </p:sp>
      <p:sp>
        <p:nvSpPr>
          <p:cNvPr id="6" name="Right panel"/>
          <p:cNvSpPr/>
          <p:nvPr/>
        </p:nvSpPr>
        <p:spPr>
          <a:xfrm>
            <a:off x="329184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tacking: right example. Items stand side by side, below the bands">    </p:cNvPr>
          <p:cNvPicPr>
            <a:picLocks noChangeAspect="1"/>
          </p:cNvPicPr>
          <p:nvPr/>
        </p:nvPicPr>
        <p:blipFill>
          <a:blip r:embed="rId2"/>
          <a:stretch>
            <a:fillRect/>
          </a:stretch>
        </p:blipFill>
        <p:spPr>
          <a:xfrm>
            <a:off x="3475892" y="1417320"/>
            <a:ext cx="2237935" cy="2103120"/>
          </a:xfrm>
          <a:prstGeom prst="rect">
            <a:avLst/>
          </a:prstGeom>
        </p:spPr>
      </p:pic>
      <p:sp>
        <p:nvSpPr>
          <p:cNvPr id="8" name="Right caption"/>
          <p:cNvSpPr txBox="1"/>
          <p:nvPr/>
        </p:nvSpPr>
        <p:spPr>
          <a:xfrm>
            <a:off x="3429000" y="3547872"/>
            <a:ext cx="2331720" cy="502920"/>
          </a:xfrm>
          <a:prstGeom prst="rect">
            <a:avLst/>
          </a:prstGeom>
          <a:noFill/>
          <a:ln/>
        </p:spPr>
        <p:txBody>
          <a:bodyPr wrap="square" lIns="0" tIns="0" rIns="0" bIns="0" rtlCol="0" anchor="ctr"/>
          <a:lstStyle/>
          <a:p>
            <a:pPr rtl="1" algn="ctr" indent="0" marL="0">
              <a:buNone/>
            </a:pPr>
            <a:r>
              <a:rPr lang="ar-SY" altLang="en-US" sz="1300" b="1" dirty="0">
                <a:solidFill>
                  <a:srgbClr val="2E7D32"/>
                </a:solidFill>
              </a:rPr>
              <a:t>صح: </a:t>
            </a:r>
            <a:pPr rtl="1" algn="ctr" indent="0" marL="0">
              <a:buNone/>
            </a:pPr>
            <a:r>
              <a:rPr lang="ar-SY" altLang="en-US" sz="1300" dirty="0">
                <a:solidFill>
                  <a:schemeClr val="tx1"/>
                </a:solidFill>
              </a:rPr>
              <a:t>القطع واقفة جنب بعض، تحت الأحزمة</a:t>
            </a:r>
            <a:endParaRPr lang="ar-SY" sz="1300" dirty="0"/>
          </a:p>
        </p:txBody>
      </p:sp>
      <p:sp>
        <p:nvSpPr>
          <p:cNvPr id="9" name="Rule card"/>
          <p:cNvSpPr/>
          <p:nvPr/>
        </p:nvSpPr>
        <p:spPr>
          <a:xfrm>
            <a:off x="3291840" y="4251960"/>
            <a:ext cx="5394960" cy="566928"/>
          </a:xfrm>
          <a:prstGeom prst="roundRect">
            <a:avLst>
              <a:gd name="adj" fmla="val 16129"/>
            </a:avLst>
          </a:prstGeom>
          <a:solidFill>
            <a:schemeClr val="tx2"/>
          </a:solidFill>
          <a:ln/>
        </p:spPr>
      </p:sp>
      <p:sp>
        <p:nvSpPr>
          <p:cNvPr id="10" name="Rule text"/>
          <p:cNvSpPr txBox="1"/>
          <p:nvPr/>
        </p:nvSpPr>
        <p:spPr>
          <a:xfrm>
            <a:off x="3520440" y="4251960"/>
            <a:ext cx="4937760" cy="566928"/>
          </a:xfrm>
          <a:prstGeom prst="rect">
            <a:avLst/>
          </a:prstGeom>
          <a:noFill/>
          <a:ln/>
        </p:spPr>
        <p:txBody>
          <a:bodyPr wrap="square" lIns="0" tIns="0" rIns="0" bIns="0" rtlCol="0" anchor="ctr"/>
          <a:lstStyle/>
          <a:p>
            <a:pPr rtl="1" algn="r" indent="0" marL="0">
              <a:buNone/>
            </a:pPr>
            <a:r>
              <a:rPr lang="ar-SY" altLang="en-US" sz="1400" b="1" dirty="0">
                <a:solidFill>
                  <a:schemeClr val="bg1"/>
                </a:solidFill>
              </a:rPr>
              <a:t>خلّي كل شي تحت الأحزمة.</a:t>
            </a:r>
            <a:endParaRPr lang="ar-SY"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3291840" y="640080"/>
            <a:ext cx="5394960" cy="548640"/>
          </a:xfrm>
          <a:prstGeom prst="rect">
            <a:avLst/>
          </a:prstGeom>
          <a:noFill/>
          <a:ln/>
        </p:spPr>
        <p:txBody>
          <a:bodyPr wrap="square" lIns="0" tIns="0" rIns="0" bIns="0" rtlCol="0" anchor="ctr"/>
          <a:lstStyle/>
          <a:p>
            <a:pPr rtl="1" algn="r" indent="0" marL="0">
              <a:buNone/>
            </a:pPr>
            <a:r>
              <a:rPr lang="ar-SY" altLang="en-US" sz="2800" b="1" dirty="0">
                <a:solidFill>
                  <a:schemeClr val="tx1"/>
                </a:solidFill>
              </a:rPr>
              <a:t>التشيك ليست تبعك بالبيك</a:t>
            </a:r>
            <a:endParaRPr lang="ar-SY" sz="2800" dirty="0"/>
          </a:p>
        </p:txBody>
      </p:sp>
      <p:sp>
        <p:nvSpPr>
          <p:cNvPr id="3" name="Recap circle 1"/>
          <p:cNvSpPr/>
          <p:nvPr/>
        </p:nvSpPr>
        <p:spPr>
          <a:xfrm>
            <a:off x="7406640" y="1371600"/>
            <a:ext cx="868680" cy="868680"/>
          </a:xfrm>
          <a:prstGeom prst="ellipse">
            <a:avLst/>
          </a:prstGeom>
          <a:solidFill>
            <a:schemeClr val="accent1"/>
          </a:solidFill>
          <a:ln/>
        </p:spPr>
      </p:sp>
      <p:pic>
        <p:nvPicPr>
          <p:cNvPr id="4" name="Recap icon 1" descr="preencoded.png">    </p:cNvPr>
          <p:cNvPicPr>
            <a:picLocks noChangeAspect="1"/>
          </p:cNvPicPr>
          <p:nvPr/>
        </p:nvPicPr>
        <p:blipFill>
          <a:blip r:embed="rId1"/>
          <a:stretch>
            <a:fillRect/>
          </a:stretch>
        </p:blipFill>
        <p:spPr>
          <a:xfrm>
            <a:off x="7626096" y="1591056"/>
            <a:ext cx="429768" cy="429768"/>
          </a:xfrm>
          <a:prstGeom prst="rect">
            <a:avLst/>
          </a:prstGeom>
        </p:spPr>
      </p:pic>
      <p:sp>
        <p:nvSpPr>
          <p:cNvPr id="5" name="Recap text 1"/>
          <p:cNvSpPr txBox="1"/>
          <p:nvPr/>
        </p:nvSpPr>
        <p:spPr>
          <a:xfrm>
            <a:off x="6995160" y="2423160"/>
            <a:ext cx="1691640" cy="1097280"/>
          </a:xfrm>
          <a:prstGeom prst="rect">
            <a:avLst/>
          </a:prstGeom>
          <a:noFill/>
          <a:ln/>
        </p:spPr>
        <p:txBody>
          <a:bodyPr wrap="square" lIns="0" tIns="0" rIns="0" bIns="0" rtlCol="0" anchor="t"/>
          <a:lstStyle/>
          <a:p>
            <a:pPr rtl="1" algn="ctr" indent="0" marL="0">
              <a:buNone/>
            </a:pPr>
            <a:r>
              <a:rPr lang="ar-SY" altLang="en-US" sz="1300" dirty="0">
                <a:solidFill>
                  <a:schemeClr val="accent4"/>
                </a:solidFill>
              </a:rPr>
              <a:t>ما انعملّها بيك لسّا</a:t>
            </a:r>
            <a:endParaRPr lang="ar-SY" sz="1300" dirty="0"/>
          </a:p>
          <a:p>
            <a:pPr rtl="1" algn="ctr" indent="0" marL="0">
              <a:buNone/>
            </a:pPr>
            <a:r>
              <a:rPr lang="ar-SY" altLang="en-US" sz="1700" b="1" dirty="0">
                <a:solidFill>
                  <a:schemeClr val="tx1"/>
                </a:solidFill>
              </a:rPr>
              <a:t>أمنستي</a:t>
            </a:r>
            <a:endParaRPr lang="ar-SY" sz="1300" dirty="0"/>
          </a:p>
        </p:txBody>
      </p:sp>
      <p:sp>
        <p:nvSpPr>
          <p:cNvPr id="6" name="Recap circle 2"/>
          <p:cNvSpPr/>
          <p:nvPr/>
        </p:nvSpPr>
        <p:spPr>
          <a:xfrm>
            <a:off x="5577840" y="1371600"/>
            <a:ext cx="868680" cy="868680"/>
          </a:xfrm>
          <a:prstGeom prst="ellipse">
            <a:avLst/>
          </a:prstGeom>
          <a:solidFill>
            <a:schemeClr val="accent1"/>
          </a:solidFill>
          <a:ln/>
        </p:spPr>
      </p:sp>
      <p:pic>
        <p:nvPicPr>
          <p:cNvPr id="7" name="Recap icon 2" descr="preencoded.png">    </p:cNvPr>
          <p:cNvPicPr>
            <a:picLocks noChangeAspect="1"/>
          </p:cNvPicPr>
          <p:nvPr/>
        </p:nvPicPr>
        <p:blipFill>
          <a:blip r:embed="rId2"/>
          <a:stretch>
            <a:fillRect/>
          </a:stretch>
        </p:blipFill>
        <p:spPr>
          <a:xfrm>
            <a:off x="5797296" y="1591056"/>
            <a:ext cx="429768" cy="429768"/>
          </a:xfrm>
          <a:prstGeom prst="rect">
            <a:avLst/>
          </a:prstGeom>
        </p:spPr>
      </p:pic>
      <p:sp>
        <p:nvSpPr>
          <p:cNvPr id="8" name="Recap text 2"/>
          <p:cNvSpPr txBox="1"/>
          <p:nvPr/>
        </p:nvSpPr>
        <p:spPr>
          <a:xfrm>
            <a:off x="5166360" y="2423160"/>
            <a:ext cx="1691640" cy="1097280"/>
          </a:xfrm>
          <a:prstGeom prst="rect">
            <a:avLst/>
          </a:prstGeom>
          <a:noFill/>
          <a:ln/>
        </p:spPr>
        <p:txBody>
          <a:bodyPr wrap="square" lIns="0" tIns="0" rIns="0" bIns="0" rtlCol="0" anchor="t"/>
          <a:lstStyle/>
          <a:p>
            <a:pPr rtl="1" algn="ctr" indent="0" marL="0">
              <a:buNone/>
            </a:pPr>
            <a:r>
              <a:rPr lang="ar-SY" altLang="en-US" sz="1300" dirty="0">
                <a:solidFill>
                  <a:schemeClr val="accent4"/>
                </a:solidFill>
              </a:rPr>
              <a:t>انعملّها بيك</a:t>
            </a:r>
            <a:endParaRPr lang="ar-SY" sz="1300" dirty="0"/>
          </a:p>
          <a:p>
            <a:pPr rtl="1" algn="ctr" indent="0" marL="0">
              <a:buNone/>
            </a:pPr>
            <a:r>
              <a:rPr lang="ar-SY" altLang="en-US" sz="1700" b="1" dirty="0">
                <a:solidFill>
                  <a:schemeClr val="tx1"/>
                </a:solidFill>
              </a:rPr>
              <a:t>أوتباوند بروبلم سولف</a:t>
            </a:r>
            <a:endParaRPr lang="ar-SY" sz="1300" dirty="0"/>
          </a:p>
        </p:txBody>
      </p:sp>
      <p:sp>
        <p:nvSpPr>
          <p:cNvPr id="9" name="Recap circle 3"/>
          <p:cNvSpPr/>
          <p:nvPr/>
        </p:nvSpPr>
        <p:spPr>
          <a:xfrm>
            <a:off x="3749040" y="1371600"/>
            <a:ext cx="868680" cy="868680"/>
          </a:xfrm>
          <a:prstGeom prst="ellipse">
            <a:avLst/>
          </a:prstGeom>
          <a:solidFill>
            <a:schemeClr val="accent1"/>
          </a:solidFill>
          <a:ln/>
        </p:spPr>
      </p:sp>
      <p:pic>
        <p:nvPicPr>
          <p:cNvPr id="10" name="Recap icon 3" descr="preencoded.png">    </p:cNvPr>
          <p:cNvPicPr>
            <a:picLocks noChangeAspect="1"/>
          </p:cNvPicPr>
          <p:nvPr/>
        </p:nvPicPr>
        <p:blipFill>
          <a:blip r:embed="rId3"/>
          <a:stretch>
            <a:fillRect/>
          </a:stretch>
        </p:blipFill>
        <p:spPr>
          <a:xfrm>
            <a:off x="3968496" y="1591056"/>
            <a:ext cx="429768" cy="429768"/>
          </a:xfrm>
          <a:prstGeom prst="rect">
            <a:avLst/>
          </a:prstGeom>
        </p:spPr>
      </p:pic>
      <p:sp>
        <p:nvSpPr>
          <p:cNvPr id="11" name="Recap text 3"/>
          <p:cNvSpPr txBox="1"/>
          <p:nvPr/>
        </p:nvSpPr>
        <p:spPr>
          <a:xfrm>
            <a:off x="3337560" y="2423160"/>
            <a:ext cx="1691640" cy="1097280"/>
          </a:xfrm>
          <a:prstGeom prst="rect">
            <a:avLst/>
          </a:prstGeom>
          <a:noFill/>
          <a:ln/>
        </p:spPr>
        <p:txBody>
          <a:bodyPr wrap="square" lIns="0" tIns="0" rIns="0" bIns="0" rtlCol="0" anchor="t"/>
          <a:lstStyle/>
          <a:p>
            <a:pPr rtl="1" algn="ctr" indent="0" marL="0">
              <a:buNone/>
            </a:pPr>
            <a:r>
              <a:rPr lang="ar-SY" altLang="en-US" sz="1300" dirty="0">
                <a:solidFill>
                  <a:schemeClr val="accent4"/>
                </a:solidFill>
              </a:rPr>
              <a:t>كل بِن بتلمسه</a:t>
            </a:r>
            <a:endParaRPr lang="ar-SY" sz="1300" dirty="0"/>
          </a:p>
          <a:p>
            <a:pPr rtl="1" algn="ctr" indent="0" marL="0">
              <a:buNone/>
            </a:pPr>
            <a:r>
              <a:rPr lang="ar-SY" altLang="en-US" sz="1700" b="1" dirty="0">
                <a:solidFill>
                  <a:schemeClr val="tx1"/>
                </a:solidFill>
              </a:rPr>
              <a:t>وحدة وحدة، ورتّب وانت ماشي</a:t>
            </a:r>
            <a:endParaRPr lang="ar-SY" sz="1300" dirty="0"/>
          </a:p>
        </p:txBody>
      </p:sp>
      <p:sp>
        <p:nvSpPr>
          <p:cNvPr id="12" name="Goal card"/>
          <p:cNvSpPr/>
          <p:nvPr/>
        </p:nvSpPr>
        <p:spPr>
          <a:xfrm>
            <a:off x="3291840" y="3749040"/>
            <a:ext cx="5394960" cy="777240"/>
          </a:xfrm>
          <a:prstGeom prst="roundRect">
            <a:avLst>
              <a:gd name="adj" fmla="val 11765"/>
            </a:avLst>
          </a:prstGeom>
          <a:solidFill>
            <a:schemeClr val="tx2"/>
          </a:solidFill>
          <a:ln/>
        </p:spPr>
      </p:sp>
      <p:sp>
        <p:nvSpPr>
          <p:cNvPr id="13" name="Goal text"/>
          <p:cNvSpPr txBox="1"/>
          <p:nvPr/>
        </p:nvSpPr>
        <p:spPr>
          <a:xfrm>
            <a:off x="3566160" y="3749040"/>
            <a:ext cx="4846320" cy="777240"/>
          </a:xfrm>
          <a:prstGeom prst="rect">
            <a:avLst/>
          </a:prstGeom>
          <a:noFill/>
          <a:ln/>
        </p:spPr>
        <p:txBody>
          <a:bodyPr wrap="square" lIns="0" tIns="0" rIns="0" bIns="0" rtlCol="0" anchor="ctr"/>
          <a:lstStyle/>
          <a:p>
            <a:pPr rtl="1" algn="r" indent="0" marL="0">
              <a:buNone/>
            </a:pPr>
            <a:r>
              <a:rPr lang="ar-SY" altLang="en-US" sz="1600" b="1" dirty="0">
                <a:solidFill>
                  <a:srgbClr val="9EDFF7"/>
                </a:solidFill>
              </a:rPr>
              <a:t>الهدف: </a:t>
            </a:r>
            <a:pPr rtl="1" algn="r" indent="0" marL="0">
              <a:buNone/>
            </a:pPr>
            <a:r>
              <a:rPr lang="ar-SY" altLang="en-US" sz="1600" dirty="0">
                <a:solidFill>
                  <a:schemeClr val="bg1"/>
                </a:solidFill>
              </a:rPr>
              <a:t>wAPMT دقيق، قطع أقل عم توقع، وزباين مبسوطين.</a:t>
            </a:r>
            <a:endParaRPr lang="ar-SY"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losing title"/>
          <p:cNvSpPr txBox="1"/>
          <p:nvPr/>
        </p:nvSpPr>
        <p:spPr>
          <a:xfrm>
            <a:off x="1371600" y="411480"/>
            <a:ext cx="6400800" cy="640080"/>
          </a:xfrm>
          <a:prstGeom prst="rect">
            <a:avLst/>
          </a:prstGeom>
          <a:noFill/>
          <a:ln/>
        </p:spPr>
        <p:txBody>
          <a:bodyPr wrap="square" lIns="0" tIns="0" rIns="0" bIns="0" rtlCol="0" anchor="ctr"/>
          <a:lstStyle/>
          <a:p>
            <a:pPr rtl="1" algn="ctr" indent="0" marL="0">
              <a:buNone/>
            </a:pPr>
            <a:r>
              <a:rPr lang="ar-SY" altLang="en-US" sz="3200" dirty="0">
                <a:solidFill>
                  <a:schemeClr val="accent1"/>
                </a:solidFill>
                <a:latin typeface="Arial" pitchFamily="34" charset="0"/>
                <a:ea typeface="Arial" pitchFamily="34" charset="-122"/>
                <a:cs typeface="Arial" pitchFamily="34" charset="-120"/>
              </a:rPr>
              <a:t>تعلّم وخلّيك فضولي</a:t>
            </a:r>
            <a:endParaRPr lang="ar-SY" sz="3200" dirty="0"/>
          </a:p>
        </p:txBody>
      </p:sp>
      <p:sp>
        <p:nvSpPr>
          <p:cNvPr id="3" name="Closing tagline"/>
          <p:cNvSpPr txBox="1"/>
          <p:nvPr/>
        </p:nvSpPr>
        <p:spPr>
          <a:xfrm>
            <a:off x="1371600" y="2651760"/>
            <a:ext cx="6400800" cy="457200"/>
          </a:xfrm>
          <a:prstGeom prst="rect">
            <a:avLst/>
          </a:prstGeom>
          <a:noFill/>
          <a:ln/>
        </p:spPr>
        <p:txBody>
          <a:bodyPr wrap="square" lIns="0" tIns="0" rIns="0" bIns="0" rtlCol="0" anchor="ctr"/>
          <a:lstStyle/>
          <a:p>
            <a:pPr rtl="1" algn="ctr" indent="0" marL="0">
              <a:buNone/>
            </a:pPr>
            <a:r>
              <a:rPr lang="ar-SY" altLang="en-US" sz="1800" b="1" dirty="0">
                <a:solidFill>
                  <a:schemeClr val="tx1"/>
                </a:solidFill>
              </a:rPr>
              <a:t>تصليحات صغيرة. فرق كبير.</a:t>
            </a:r>
            <a:endParaRPr lang="ar-SY" sz="1800" dirty="0"/>
          </a:p>
        </p:txBody>
      </p:sp>
      <p:sp>
        <p:nvSpPr>
          <p:cNvPr id="4" name="Rate label"/>
          <p:cNvSpPr txBox="1"/>
          <p:nvPr/>
        </p:nvSpPr>
        <p:spPr>
          <a:xfrm>
            <a:off x="4754880" y="3429000"/>
            <a:ext cx="1600200" cy="365760"/>
          </a:xfrm>
          <a:prstGeom prst="rect">
            <a:avLst/>
          </a:prstGeom>
          <a:noFill/>
          <a:ln/>
        </p:spPr>
        <p:txBody>
          <a:bodyPr wrap="square" lIns="0" tIns="0" rIns="0" bIns="0" rtlCol="0" anchor="ctr"/>
          <a:lstStyle/>
          <a:p>
            <a:pPr rtl="1" algn="l" indent="0" marL="0">
              <a:buNone/>
            </a:pPr>
            <a:r>
              <a:rPr lang="ar-SY" altLang="en-US" sz="1600" dirty="0">
                <a:solidFill>
                  <a:schemeClr val="tx1"/>
                </a:solidFill>
              </a:rPr>
              <a:t>قيّم هالفيديو</a:t>
            </a:r>
            <a:endParaRPr lang="ar-SY" sz="1600" dirty="0"/>
          </a:p>
        </p:txBody>
      </p:sp>
      <p:pic>
        <p:nvPicPr>
          <p:cNvPr id="5" name="Star 1" descr="preencoded.png">    </p:cNvPr>
          <p:cNvPicPr>
            <a:picLocks noChangeAspect="1"/>
          </p:cNvPicPr>
          <p:nvPr/>
        </p:nvPicPr>
        <p:blipFill>
          <a:blip r:embed="rId1"/>
          <a:stretch>
            <a:fillRect/>
          </a:stretch>
        </p:blipFill>
        <p:spPr>
          <a:xfrm>
            <a:off x="4343400" y="3474720"/>
            <a:ext cx="274320" cy="274320"/>
          </a:xfrm>
          <a:prstGeom prst="rect">
            <a:avLst/>
          </a:prstGeom>
        </p:spPr>
      </p:pic>
      <p:pic>
        <p:nvPicPr>
          <p:cNvPr id="6" name="Star 2" descr="preencoded.png">    </p:cNvPr>
          <p:cNvPicPr>
            <a:picLocks noChangeAspect="1"/>
          </p:cNvPicPr>
          <p:nvPr/>
        </p:nvPicPr>
        <p:blipFill>
          <a:blip r:embed="rId2"/>
          <a:stretch>
            <a:fillRect/>
          </a:stretch>
        </p:blipFill>
        <p:spPr>
          <a:xfrm>
            <a:off x="3995928" y="3474720"/>
            <a:ext cx="274320" cy="274320"/>
          </a:xfrm>
          <a:prstGeom prst="rect">
            <a:avLst/>
          </a:prstGeom>
        </p:spPr>
      </p:pic>
      <p:pic>
        <p:nvPicPr>
          <p:cNvPr id="7" name="Star 3" descr="preencoded.png">    </p:cNvPr>
          <p:cNvPicPr>
            <a:picLocks noChangeAspect="1"/>
          </p:cNvPicPr>
          <p:nvPr/>
        </p:nvPicPr>
        <p:blipFill>
          <a:blip r:embed="rId3"/>
          <a:stretch>
            <a:fillRect/>
          </a:stretch>
        </p:blipFill>
        <p:spPr>
          <a:xfrm>
            <a:off x="3648456" y="3474720"/>
            <a:ext cx="274320" cy="274320"/>
          </a:xfrm>
          <a:prstGeom prst="rect">
            <a:avLst/>
          </a:prstGeom>
        </p:spPr>
      </p:pic>
      <p:pic>
        <p:nvPicPr>
          <p:cNvPr id="8" name="Star 4" descr="preencoded.png">    </p:cNvPr>
          <p:cNvPicPr>
            <a:picLocks noChangeAspect="1"/>
          </p:cNvPicPr>
          <p:nvPr/>
        </p:nvPicPr>
        <p:blipFill>
          <a:blip r:embed="rId4"/>
          <a:stretch>
            <a:fillRect/>
          </a:stretch>
        </p:blipFill>
        <p:spPr>
          <a:xfrm>
            <a:off x="3300984" y="3474720"/>
            <a:ext cx="274320" cy="274320"/>
          </a:xfrm>
          <a:prstGeom prst="rect">
            <a:avLst/>
          </a:prstGeom>
        </p:spPr>
      </p:pic>
      <p:pic>
        <p:nvPicPr>
          <p:cNvPr id="9" name="Star 5" descr="preencoded.png">    </p:cNvPr>
          <p:cNvPicPr>
            <a:picLocks noChangeAspect="1"/>
          </p:cNvPicPr>
          <p:nvPr/>
        </p:nvPicPr>
        <p:blipFill>
          <a:blip r:embed="rId5"/>
          <a:stretch>
            <a:fillRect/>
          </a:stretch>
        </p:blipFill>
        <p:spPr>
          <a:xfrm>
            <a:off x="2953512" y="3474720"/>
            <a:ext cx="274320" cy="274320"/>
          </a:xfrm>
          <a:prstGeom prst="rect">
            <a:avLst/>
          </a:prstGeom>
        </p:spPr>
      </p:pic>
    </p:spTree>
  </p:cSld>
  <p:clrMapOvr>
    <a:masterClrMapping/>
  </p:clrMapOvr>
</p:sld>
</file>

<file path=ppt/theme/theme1.xml><?xml version="1.0" encoding="utf-8"?>
<a:theme xmlns:a="http://schemas.openxmlformats.org/drawingml/2006/main" name="L&amp;D Field Team">
  <a:themeElements>
    <a:clrScheme name="L&amp;D Field Team">
      <a:dk1>
        <a:srgbClr val="121921"/>
      </a:dk1>
      <a:lt1>
        <a:srgbClr val="FFFFFF"/>
      </a:lt1>
      <a:dk2>
        <a:srgbClr val="37475A"/>
      </a:dk2>
      <a:lt2>
        <a:srgbClr val="F5F6FA"/>
      </a:lt2>
      <a:accent1>
        <a:srgbClr val="02A6E1"/>
      </a:accent1>
      <a:accent2>
        <a:srgbClr val="1E8C7E"/>
      </a:accent2>
      <a:accent3>
        <a:srgbClr val="D64545"/>
      </a:accent3>
      <a:accent4>
        <a:srgbClr val="5B6B7B"/>
      </a:accent4>
      <a:accent5>
        <a:srgbClr val="FFB400"/>
      </a:accent5>
      <a:accent6>
        <a:srgbClr val="0B6E99"/>
      </a:accent6>
      <a:hlink>
        <a:srgbClr val="0B6E99"/>
      </a:hlink>
      <a:folHlink>
        <a:srgbClr val="5B6B7B"/>
      </a:folHlink>
    </a:clrScheme>
    <a:fontScheme name="L&amp;D Field Te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Amnesty Coaching - Pick to Rebin</dc:title>
  <dc:subject>wAPMT coaching campaign</dc:subject>
  <dc:creator>PptxGenJS</dc:creator>
  <cp:lastModifiedBy>PptxGenJS</cp:lastModifiedBy>
  <cp:revision>1</cp:revision>
  <dcterms:created xsi:type="dcterms:W3CDTF">2026-10-12T14:48:24Z</dcterms:created>
  <dcterms:modified xsi:type="dcterms:W3CDTF">2026-10-12T14:48:24Z</dcterms:modified>
</cp:coreProperties>
</file>