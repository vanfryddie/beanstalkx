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76b6b85-f1e2-f429-4020-d67ed7f50d98}">
          <p14:sldIdLst>
            <p14:sldId id="256"/>
            <p14:sldId id="257"/>
            <p14:sldId id="258"/>
            <p14:sldId id="259"/>
            <p14:sldId id="260"/>
          </p14:sldIdLst>
        </p14:section>
        <p14:section name="First Face Fix" id="{123af124-468a-6c08-7440-3f23a17aef78}">
          <p14:sldIdLst>
            <p14:sldId id="261"/>
            <p14:sldId id="262"/>
            <p14:sldId id="263"/>
            <p14:sldId id="264"/>
            <p14:sldId id="265"/>
          </p14:sldIdLst>
        </p14:section>
        <p14:section name="ROBOTSS" id="{481b3c8c-cb00-e81c-d649-0da012ca9721}">
          <p14:sldIdLst>
            <p14:sldId id="266"/>
            <p14:sldId id="267"/>
            <p14:sldId id="268"/>
            <p14:sldId id="269"/>
            <p14:sldId id="270"/>
            <p14:sldId id="271"/>
            <p14:sldId id="272"/>
            <p14:sldId id="273"/>
            <p14:sldId id="274"/>
          </p14:sldIdLst>
        </p14:section>
        <p14:section name="Pick" id="{e89803e7-ba81-0065-208b-91c780a1babe}">
          <p14:sldIdLst>
            <p14:sldId id="275"/>
          </p14:sldIdLst>
        </p14:section>
        <p14:section name="Wrap-up" id="{20b664ed-78da-f7b4-e30b-dab98292e391}">
          <p14:sldIdLst>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and thanks for taking a few minutes with me. This one is for all of us, stowers and pickers. We'll cover what really counts as amnesty, and what doesn't, then First Face Fix and the ROBOTSS bin etiquette rules, plus one habit just for pickers.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amnesty? Amnesty is an item that should be in a stowed pod bin, but isn't physically there. It was stowed to prime and hasn't been picked yet, but it fell out, or ended up at the station or on the floor. The system still thinks it's in the bin. That creates a defect in our inventory, and it can lead to a pick short, which puts our customer at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Amnesty shows up in two places. Floor amnesty is when items fall out of pods onto the robotics floor. Station amnesty is when items are left behind at the station. Both have the same root cause. Poor bin etiquette is the number one cause of amnesty, and the good news is that bin etiquette is completely in our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key distinction. Amnesty is only for items that have been stowed into a pod bin and haven't been picked yet. If one of those isn't in its bin, it goes to amnesty. If you find an item that hasn't been stowed yet, one that still belongs in a stow tote or cart, that's not amnesty. Take it to inbound problem solve. And if you find an item that has already been picked, one that belongs in a tote, at a rebin location or in a chute, that's not amnesty either. Take it to outbound problem solve. Putting these items into amnesty over-inflates our wAPMT and hides the real problem that needs fixing.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when you find an item out of place, ask yourself two questions. First: has it been stowed yet? If not, it's inbound problem solve. If it has, ask: has it already been picked? If not, it's amnesty. If it has, it's outbound problem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part one: First Face Fix, or F F F. This part is for our stow and ICQA associates. Pickers, stay with us, because the ROBOTSS rules in part two are for you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Face Fix is a standard process to fix the bin etiquette of the very first pod face that arrives at your station. It takes just one minute. You do it at the start of your shift, and again after every break. It applies to all Stow and ICQA associates.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to do it in four steps. One: enter your station, log in, choose your process path, and make sure your station is ready. Two: when the first pod face arrives, work from the top to the bottom, just like the stow snake. Three: fix every bin so it meets the ROBOTSS rules, which we'll cover in a moment. Four: start your assigned process after one minute, or as soon as the face meets ROBOTSS.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things you must not do before or during First Face Fix. Don't scan any articles in totes or bins. Don't move articles to a different bin. And don't remove any articles from bins. First Face Fix is only about organizing what's already in each bin, so the inventory stays exactly where the system expects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Face Fix gets your shift off to a clean start, but it doesn't stop there. Whenever your hands are in a bin, fix its etiquette as you go. If every one of us leaves each bin a little better than we found it, units won't fall out as the pod moves. We check First Face Fix with at least fifteen audits per shift, and our target is ninety percent compliance or better, with feedback given to you right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part two: the rules you use during First Face Fix and every time you touch a bin. They're called ROBOTSS.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ROBOTSS stands for seven rules. R, right bin size. O, no overhang. B, blocking. O, overstuffing. T, titles out. S, stacking. And S, similar items. Follow them and pickers find items faster, bins hold more, and nothing falls out when the pod moves. Let's go through them one by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is for right bin size. On the left, a tiny item sits alone in a big bin. That wastes space, and small items get lost. On the right, the item suits the size of the bin. Always stow into the smallest bin the item fits in, and place it by its length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O is no overhang. On the left, the box sticks out past the edge of the bin. On the right, everything sits fully inside. Anything hanging out can catch as the pod moves, causing drive obstructions and even pod crashes, and that's how items end up on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is for blocking. On the left, a flat item lying across the front hides everything behind it, so the picker can't see what they need. On the right, every item is visible from the front. Never put a large item in front of a small one, and stand flat items upright so they can't slide out between the retention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O is overstuffing. On the left, items have been forced in and the bin is bulging. On the right, everything fits with room to pick. Forcing items in damages customer products, and an overstuffed bin is the one most likely to spill.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 is for titles out. On the left, the spines face inward, so the picker can't read the titles. On the right, the spines face out and the titles are easy to read. Always stow books and DVDs spine out, so pickers can find them straight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 is stacking. On the left, different items are piled on top of each other. On the right, they stand side by side, below the bands. Only stack items of the same ASIN, only when they have at least two flat surfaces, and always keep them below the retention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 is similar items. On the left, two cables that look almost the same, one meter and two meters, are in the same bin, so the picker could easily grab the wrong one. On the right, the look-alikes are kept in different bins. Use the cross method for similar items, because the system won't always warn you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one more habit, just for our pickers: one piece flow. Handle one item at a time, with both hands. Take one item, scan it once, and place it in your tote before you reach back into the bin. With Pod Release Optimization, the pod can leave while you're still handling items, and anything left behind becomes station amnesty.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recap. Stowers and ICQA: at shift start and after every break, do your one-minute First Face Fix. Everyone: on every bin you touch, apply ROBOTSS and fix as you go. Pickers: one item at a time. And when you find an item out of place, ask the two questions before you call it amnesty. That keeps our wAPMT accurate, stops units falling, and gets our customers what they ordered.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fixes make a big impact. Thanks for watching, and thanks for looking after every bin, every time. If you have any questions, speak to your Process Guide, your Area Manager, or the ICQA team. And please take a second to rate this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CENE">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0" y="0"/>
            <a:ext cx="2286000" cy="5143500"/>
          </a:xfrm>
          <a:prstGeom prst="rect">
            <a:avLst/>
          </a:prstGeom>
          <a:solidFill>
            <a:schemeClr val="tx2"/>
          </a:solidFill>
          <a:ln/>
        </p:spPr>
      </p:sp>
      <p:pic>
        <p:nvPicPr>
          <p:cNvPr id="3" name="Image 0" descr="preencoded.png">    </p:cNvPr>
          <p:cNvPicPr>
            <a:picLocks noChangeAspect="1"/>
          </p:cNvPicPr>
          <p:nvPr/>
        </p:nvPicPr>
        <p:blipFill>
          <a:blip r:embed="rId1"/>
          <a:stretch>
            <a:fillRect/>
          </a:stretch>
        </p:blipFill>
        <p:spPr>
          <a:xfrm>
            <a:off x="5166360" y="2606040"/>
            <a:ext cx="1097280" cy="1225296"/>
          </a:xfrm>
          <a:prstGeom prst="rect">
            <a:avLst/>
          </a:prstGeom>
        </p:spPr>
      </p:pic>
      <p:sp>
        <p:nvSpPr>
          <p:cNvPr id="4" name="Text 1"/>
          <p:cNvSpPr/>
          <p:nvPr>
            <p:ph idx="102" type="body" hasCustomPrompt="1"/>
          </p:nvPr>
        </p:nvSpPr>
        <p:spPr>
          <a:xfrm>
            <a:off x="2514600" y="502920"/>
            <a:ext cx="6400800" cy="320040"/>
          </a:xfrm>
          <a:prstGeom prst="rect">
            <a:avLst/>
          </a:prstGeom>
          <a:noFill/>
          <a:ln/>
        </p:spPr>
        <p:txBody>
          <a:bodyPr wrap="square" rtlCol="0"/>
          <a:lstStyle>
            <a:lvl1pPr algn="ctr" indent="0" marL="0">
              <a:buNone/>
              <a:defRPr lang="en-US" sz="1300" b="1" spc="300" kern="0" dirty="0">
                <a:solidFill>
                  <a:schemeClr val="accent6"/>
                </a:solidFill>
              </a:defRPr>
            </a:lvl1pPr>
          </a:lstStyle>
          <a:p>
            <a:pPr algn="ctr" indent="0" marL="0">
              <a:buNone/>
            </a:pPr>
            <a:endParaRPr lang="en-US" sz="1300" dirty="0"/>
          </a:p>
        </p:txBody>
      </p:sp>
      <p:sp>
        <p:nvSpPr>
          <p:cNvPr id="5" name="Text 1"/>
          <p:cNvSpPr/>
          <p:nvPr>
            <p:ph idx="103" type="title" hasCustomPrompt="1"/>
          </p:nvPr>
        </p:nvSpPr>
        <p:spPr>
          <a:xfrm>
            <a:off x="2514600" y="868680"/>
            <a:ext cx="6400800" cy="868680"/>
          </a:xfrm>
          <a:prstGeom prst="rect">
            <a:avLst/>
          </a:prstGeom>
          <a:noFill/>
          <a:ln/>
        </p:spPr>
        <p:txBody>
          <a:bodyPr wrap="square" rtlCol="0"/>
          <a:lstStyle>
            <a:lvl1pPr algn="ctr" indent="0" marL="0">
              <a:buNone/>
              <a:defRPr lang="en-US" sz="3600" b="1" dirty="0">
                <a:solidFill>
                  <a:schemeClr val="tx1"/>
                </a:solidFill>
              </a:defRPr>
            </a:lvl1pPr>
          </a:lstStyle>
          <a:p>
            <a:pPr algn="ctr" indent="0" marL="0">
              <a:buNone/>
            </a:pPr>
            <a:endParaRPr lang="en-US" sz="3600" dirty="0"/>
          </a:p>
        </p:txBody>
      </p:sp>
      <p:sp>
        <p:nvSpPr>
          <p:cNvPr id="6" name="Text 1"/>
          <p:cNvSpPr/>
          <p:nvPr>
            <p:ph idx="104" type="body" hasCustomPrompt="1"/>
          </p:nvPr>
        </p:nvSpPr>
        <p:spPr>
          <a:xfrm>
            <a:off x="2971800" y="1783080"/>
            <a:ext cx="5486400" cy="685800"/>
          </a:xfrm>
          <a:prstGeom prst="rect">
            <a:avLst/>
          </a:prstGeom>
          <a:noFill/>
          <a:ln/>
        </p:spPr>
        <p:txBody>
          <a:bodyPr wrap="square" rtlCol="0"/>
          <a:lstStyle>
            <a:lvl1pPr algn="ctr" indent="0" marL="0">
              <a:buNone/>
              <a:defRPr lang="en-US" sz="1600" dirty="0">
                <a:solidFill>
                  <a:schemeClr val="accent4"/>
                </a:solidFill>
              </a:defRPr>
            </a:lvl1pPr>
          </a:lstStyle>
          <a:p>
            <a:pPr algn="ct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01168" y="109728"/>
            <a:ext cx="1417320" cy="434340"/>
          </a:xfrm>
          <a:prstGeom prst="rect">
            <a:avLst/>
          </a:prstGeom>
        </p:spPr>
      </p:pic>
      <p:sp>
        <p:nvSpPr>
          <p:cNvPr id="3" name="Text 0"/>
          <p:cNvSpPr/>
          <p:nvPr>
            <p:ph idx="101" type="title" hasCustomPrompt="1"/>
          </p:nvPr>
        </p:nvSpPr>
        <p:spPr>
          <a:xfrm>
            <a:off x="457200" y="640080"/>
            <a:ext cx="5394960" cy="54864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023360" y="1234440"/>
            <a:ext cx="1097280" cy="122529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3.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3.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3.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4.xml"/><Relationship Id="rId7"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body" hasCustomPrompt="1"/>
          </p:nvPr>
        </p:nvSpPr>
        <p:spPr>
          <a:xfrm>
            <a:off x="2514600" y="502920"/>
            <a:ext cx="6400800" cy="320040"/>
          </a:xfrm>
          <a:prstGeom prst="rect">
            <a:avLst/>
          </a:prstGeom>
          <a:noFill/>
          <a:ln/>
        </p:spPr>
        <p:txBody>
          <a:bodyPr wrap="square" lIns="0" tIns="0" rIns="0" bIns="0" rtlCol="0"/>
          <a:lstStyle/>
          <a:p>
            <a:pPr algn="ctr" indent="0" marL="0">
              <a:buNone/>
            </a:pPr>
            <a:r>
              <a:rPr lang="en-US" sz="1300" b="1" spc="300" kern="0" dirty="0">
                <a:solidFill>
                  <a:schemeClr val="accent6"/>
                </a:solidFill>
              </a:rPr>
              <a:t>wAPMT COACHING  |  STOW &amp; PICK</a:t>
            </a:r>
            <a:endParaRPr lang="en-US" sz="1300" dirty="0"/>
          </a:p>
        </p:txBody>
      </p:sp>
      <p:sp>
        <p:nvSpPr>
          <p:cNvPr id="3" name="Text 1"/>
          <p:cNvSpPr/>
          <p:nvPr>
            <p:ph idx="103" type="title" hasCustomPrompt="1"/>
          </p:nvPr>
        </p:nvSpPr>
        <p:spPr>
          <a:xfrm>
            <a:off x="2514600" y="868680"/>
            <a:ext cx="6400800" cy="868680"/>
          </a:xfrm>
          <a:prstGeom prst="rect">
            <a:avLst/>
          </a:prstGeom>
          <a:noFill/>
          <a:ln/>
        </p:spPr>
        <p:txBody>
          <a:bodyPr wrap="square" lIns="0" tIns="0" rIns="0" bIns="0" rtlCol="0" anchor="ctr"/>
          <a:lstStyle/>
          <a:p>
            <a:pPr algn="ctr" indent="0" marL="0">
              <a:buNone/>
            </a:pPr>
            <a:r>
              <a:rPr lang="en-US" sz="3600" b="1" dirty="0">
                <a:solidFill>
                  <a:schemeClr val="tx1"/>
                </a:solidFill>
              </a:rPr>
              <a:t>Every Bin, Every Time</a:t>
            </a:r>
            <a:endParaRPr lang="en-US" sz="3600" dirty="0"/>
          </a:p>
        </p:txBody>
      </p:sp>
      <p:sp>
        <p:nvSpPr>
          <p:cNvPr id="4" name="Text 1"/>
          <p:cNvSpPr/>
          <p:nvPr>
            <p:ph idx="104" type="body" hasCustomPrompt="1"/>
          </p:nvPr>
        </p:nvSpPr>
        <p:spPr>
          <a:xfrm>
            <a:off x="2971800" y="1783080"/>
            <a:ext cx="5486400" cy="685800"/>
          </a:xfrm>
          <a:prstGeom prst="rect">
            <a:avLst/>
          </a:prstGeom>
          <a:noFill/>
          <a:ln/>
        </p:spPr>
        <p:txBody>
          <a:bodyPr wrap="square" lIns="0" tIns="0" rIns="0" bIns="0" rtlCol="0" anchor="t"/>
          <a:lstStyle/>
          <a:p>
            <a:pPr algn="ctr" indent="0" marL="0">
              <a:buNone/>
            </a:pPr>
            <a:r>
              <a:rPr lang="en-US" sz="1600" dirty="0">
                <a:solidFill>
                  <a:schemeClr val="accent4"/>
                </a:solidFill>
              </a:rPr>
              <a:t>What counts as amnesty, First Face Fix and the ROBOTSS rules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What is amnesty?</a:t>
            </a:r>
            <a:endParaRPr lang="en-US" sz="2800" dirty="0"/>
          </a:p>
        </p:txBody>
      </p:sp>
      <p:sp>
        <p:nvSpPr>
          <p:cNvPr id="3" name="Definition"/>
          <p:cNvSpPr txBox="1"/>
          <p:nvPr/>
        </p:nvSpPr>
        <p:spPr>
          <a:xfrm>
            <a:off x="457200" y="1280160"/>
            <a:ext cx="5394960" cy="548640"/>
          </a:xfrm>
          <a:prstGeom prst="rect">
            <a:avLst/>
          </a:prstGeom>
          <a:noFill/>
          <a:ln/>
        </p:spPr>
        <p:txBody>
          <a:bodyPr wrap="square" lIns="0" tIns="0" rIns="0" bIns="0" rtlCol="0" anchor="ctr"/>
          <a:lstStyle/>
          <a:p>
            <a:pPr indent="0" marL="0">
              <a:buNone/>
            </a:pPr>
            <a:r>
              <a:rPr lang="en-US" sz="1800" i="1" dirty="0">
                <a:solidFill>
                  <a:schemeClr val="accent6"/>
                </a:solidFill>
              </a:rPr>
              <a:t>An item that should be in a stowed pod bin, but is not physically there.</a:t>
            </a:r>
            <a:endParaRPr lang="en-US" sz="1800" dirty="0"/>
          </a:p>
        </p:txBody>
      </p:sp>
      <p:sp>
        <p:nvSpPr>
          <p:cNvPr id="4" name="Icon circle 1"/>
          <p:cNvSpPr/>
          <p:nvPr/>
        </p:nvSpPr>
        <p:spPr>
          <a:xfrm>
            <a:off x="457200" y="2011680"/>
            <a:ext cx="640080" cy="640080"/>
          </a:xfrm>
          <a:prstGeom prst="ellipse">
            <a:avLst/>
          </a:prstGeom>
          <a:solidFill>
            <a:schemeClr val="bg1"/>
          </a:solidFill>
          <a:ln/>
        </p:spPr>
      </p:sp>
      <p:pic>
        <p:nvPicPr>
          <p:cNvPr id="5" name="Icon 1" descr="preencoded.png">    </p:cNvPr>
          <p:cNvPicPr>
            <a:picLocks noChangeAspect="1"/>
          </p:cNvPicPr>
          <p:nvPr/>
        </p:nvPicPr>
        <p:blipFill>
          <a:blip r:embed="rId1"/>
          <a:stretch>
            <a:fillRect/>
          </a:stretch>
        </p:blipFill>
        <p:spPr>
          <a:xfrm>
            <a:off x="621792" y="2176272"/>
            <a:ext cx="310896" cy="310896"/>
          </a:xfrm>
          <a:prstGeom prst="rect">
            <a:avLst/>
          </a:prstGeom>
        </p:spPr>
      </p:pic>
      <p:sp>
        <p:nvSpPr>
          <p:cNvPr id="6" name="Row 1"/>
          <p:cNvSpPr txBox="1"/>
          <p:nvPr/>
        </p:nvSpPr>
        <p:spPr>
          <a:xfrm>
            <a:off x="1325880" y="1993392"/>
            <a:ext cx="4526280" cy="685800"/>
          </a:xfrm>
          <a:prstGeom prst="rect">
            <a:avLst/>
          </a:prstGeom>
          <a:noFill/>
          <a:ln/>
        </p:spPr>
        <p:txBody>
          <a:bodyPr wrap="square" lIns="0" tIns="0" rIns="0" bIns="0" rtlCol="0" anchor="ctr"/>
          <a:lstStyle/>
          <a:p>
            <a:pPr indent="0" marL="0">
              <a:buNone/>
            </a:pPr>
            <a:r>
              <a:rPr lang="en-US" sz="1700" b="1" dirty="0">
                <a:solidFill>
                  <a:schemeClr val="tx1"/>
                </a:solidFill>
              </a:rPr>
              <a:t>It belongs in a stowed bin</a:t>
            </a:r>
            <a:endParaRPr lang="en-US" sz="1700" dirty="0"/>
          </a:p>
          <a:p>
            <a:pPr indent="0" marL="0">
              <a:buNone/>
            </a:pPr>
            <a:r>
              <a:rPr lang="en-US" sz="1400" dirty="0">
                <a:solidFill>
                  <a:schemeClr val="accent4"/>
                </a:solidFill>
              </a:rPr>
              <a:t>Stowed to prime and not picked yet</a:t>
            </a:r>
            <a:endParaRPr lang="en-US" sz="1700" dirty="0"/>
          </a:p>
        </p:txBody>
      </p:sp>
      <p:sp>
        <p:nvSpPr>
          <p:cNvPr id="7" name="Icon circle 2"/>
          <p:cNvSpPr/>
          <p:nvPr/>
        </p:nvSpPr>
        <p:spPr>
          <a:xfrm>
            <a:off x="457200" y="2926080"/>
            <a:ext cx="640080" cy="640080"/>
          </a:xfrm>
          <a:prstGeom prst="ellipse">
            <a:avLst/>
          </a:prstGeom>
          <a:solidFill>
            <a:schemeClr val="bg1"/>
          </a:solidFill>
          <a:ln/>
        </p:spPr>
      </p:sp>
      <p:pic>
        <p:nvPicPr>
          <p:cNvPr id="8" name="Icon 2" descr="preencoded.png">    </p:cNvPr>
          <p:cNvPicPr>
            <a:picLocks noChangeAspect="1"/>
          </p:cNvPicPr>
          <p:nvPr/>
        </p:nvPicPr>
        <p:blipFill>
          <a:blip r:embed="rId2"/>
          <a:stretch>
            <a:fillRect/>
          </a:stretch>
        </p:blipFill>
        <p:spPr>
          <a:xfrm>
            <a:off x="621792" y="3090672"/>
            <a:ext cx="310896" cy="310896"/>
          </a:xfrm>
          <a:prstGeom prst="rect">
            <a:avLst/>
          </a:prstGeom>
        </p:spPr>
      </p:pic>
      <p:sp>
        <p:nvSpPr>
          <p:cNvPr id="9" name="Row 2"/>
          <p:cNvSpPr txBox="1"/>
          <p:nvPr/>
        </p:nvSpPr>
        <p:spPr>
          <a:xfrm>
            <a:off x="1325880" y="2907792"/>
            <a:ext cx="4526280" cy="685800"/>
          </a:xfrm>
          <a:prstGeom prst="rect">
            <a:avLst/>
          </a:prstGeom>
          <a:noFill/>
          <a:ln/>
        </p:spPr>
        <p:txBody>
          <a:bodyPr wrap="square" lIns="0" tIns="0" rIns="0" bIns="0" rtlCol="0" anchor="ctr"/>
          <a:lstStyle/>
          <a:p>
            <a:pPr indent="0" marL="0">
              <a:buNone/>
            </a:pPr>
            <a:r>
              <a:rPr lang="en-US" sz="1700" b="1" dirty="0">
                <a:solidFill>
                  <a:schemeClr val="tx1"/>
                </a:solidFill>
              </a:rPr>
              <a:t>It isn't physically there</a:t>
            </a:r>
            <a:endParaRPr lang="en-US" sz="1700" dirty="0"/>
          </a:p>
          <a:p>
            <a:pPr indent="0" marL="0">
              <a:buNone/>
            </a:pPr>
            <a:r>
              <a:rPr lang="en-US" sz="1400" dirty="0">
                <a:solidFill>
                  <a:schemeClr val="accent4"/>
                </a:solidFill>
              </a:rPr>
              <a:t>It fell, or ended up at the station or on the floor</a:t>
            </a:r>
            <a:endParaRPr lang="en-US" sz="1700" dirty="0"/>
          </a:p>
        </p:txBody>
      </p:sp>
      <p:sp>
        <p:nvSpPr>
          <p:cNvPr id="10" name="Icon circle 3"/>
          <p:cNvSpPr/>
          <p:nvPr/>
        </p:nvSpPr>
        <p:spPr>
          <a:xfrm>
            <a:off x="457200" y="3840480"/>
            <a:ext cx="640080" cy="640080"/>
          </a:xfrm>
          <a:prstGeom prst="ellipse">
            <a:avLst/>
          </a:prstGeom>
          <a:solidFill>
            <a:schemeClr val="bg1"/>
          </a:solidFill>
          <a:ln/>
        </p:spPr>
      </p:sp>
      <p:pic>
        <p:nvPicPr>
          <p:cNvPr id="11" name="Icon 3" descr="preencoded.png">    </p:cNvPr>
          <p:cNvPicPr>
            <a:picLocks noChangeAspect="1"/>
          </p:cNvPicPr>
          <p:nvPr/>
        </p:nvPicPr>
        <p:blipFill>
          <a:blip r:embed="rId3"/>
          <a:stretch>
            <a:fillRect/>
          </a:stretch>
        </p:blipFill>
        <p:spPr>
          <a:xfrm>
            <a:off x="621792" y="4005072"/>
            <a:ext cx="310896" cy="310896"/>
          </a:xfrm>
          <a:prstGeom prst="rect">
            <a:avLst/>
          </a:prstGeom>
        </p:spPr>
      </p:pic>
      <p:sp>
        <p:nvSpPr>
          <p:cNvPr id="12" name="Row 3"/>
          <p:cNvSpPr txBox="1"/>
          <p:nvPr/>
        </p:nvSpPr>
        <p:spPr>
          <a:xfrm>
            <a:off x="1325880" y="3822192"/>
            <a:ext cx="4526280" cy="685800"/>
          </a:xfrm>
          <a:prstGeom prst="rect">
            <a:avLst/>
          </a:prstGeom>
          <a:noFill/>
          <a:ln/>
        </p:spPr>
        <p:txBody>
          <a:bodyPr wrap="square" lIns="0" tIns="0" rIns="0" bIns="0" rtlCol="0" anchor="ctr"/>
          <a:lstStyle/>
          <a:p>
            <a:pPr indent="0" marL="0">
              <a:buNone/>
            </a:pPr>
            <a:r>
              <a:rPr lang="en-US" sz="1700" b="1" dirty="0">
                <a:solidFill>
                  <a:schemeClr val="tx1"/>
                </a:solidFill>
              </a:rPr>
              <a:t>It puts the customer at risk</a:t>
            </a:r>
            <a:endParaRPr lang="en-US" sz="1700" dirty="0"/>
          </a:p>
          <a:p>
            <a:pPr indent="0" marL="0">
              <a:buNone/>
            </a:pPr>
            <a:r>
              <a:rPr lang="en-US" sz="1400" dirty="0">
                <a:solidFill>
                  <a:schemeClr val="accent4"/>
                </a:solidFill>
              </a:rPr>
              <a:t>A virtual overage that can cause a pick short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Where amnesty comes from</a:t>
            </a:r>
            <a:endParaRPr lang="en-US" sz="2800" dirty="0"/>
          </a:p>
        </p:txBody>
      </p:sp>
      <p:sp>
        <p:nvSpPr>
          <p:cNvPr id="3" name="Card 1"/>
          <p:cNvSpPr/>
          <p:nvPr/>
        </p:nvSpPr>
        <p:spPr>
          <a:xfrm>
            <a:off x="457200" y="1325880"/>
            <a:ext cx="2606040" cy="1783080"/>
          </a:xfrm>
          <a:prstGeom prst="roundRect">
            <a:avLst>
              <a:gd name="adj" fmla="val 5128"/>
            </a:avLst>
          </a:prstGeom>
          <a:solidFill>
            <a:schemeClr val="bg1"/>
          </a:solidFill>
          <a:ln/>
        </p:spPr>
      </p:sp>
      <p:pic>
        <p:nvPicPr>
          <p:cNvPr id="4" name="Card icon 1" descr="preencoded.png">    </p:cNvPr>
          <p:cNvPicPr>
            <a:picLocks noChangeAspect="1"/>
          </p:cNvPicPr>
          <p:nvPr/>
        </p:nvPicPr>
        <p:blipFill>
          <a:blip r:embed="rId1"/>
          <a:stretch>
            <a:fillRect/>
          </a:stretch>
        </p:blipFill>
        <p:spPr>
          <a:xfrm>
            <a:off x="685800" y="1508760"/>
            <a:ext cx="411480" cy="411480"/>
          </a:xfrm>
          <a:prstGeom prst="rect">
            <a:avLst/>
          </a:prstGeom>
        </p:spPr>
      </p:pic>
      <p:sp>
        <p:nvSpPr>
          <p:cNvPr id="5" name="Card text 1"/>
          <p:cNvSpPr txBox="1"/>
          <p:nvPr/>
        </p:nvSpPr>
        <p:spPr>
          <a:xfrm>
            <a:off x="685800" y="2011680"/>
            <a:ext cx="2194560" cy="1005840"/>
          </a:xfrm>
          <a:prstGeom prst="rect">
            <a:avLst/>
          </a:prstGeom>
          <a:noFill/>
          <a:ln/>
        </p:spPr>
        <p:txBody>
          <a:bodyPr wrap="square" lIns="0" tIns="0" rIns="0" bIns="0" rtlCol="0" anchor="t"/>
          <a:lstStyle/>
          <a:p>
            <a:pPr indent="0" marL="0">
              <a:buNone/>
            </a:pPr>
            <a:r>
              <a:rPr lang="en-US" sz="1800" b="1" dirty="0">
                <a:solidFill>
                  <a:schemeClr val="tx1"/>
                </a:solidFill>
              </a:rPr>
              <a:t>Floor amnesty</a:t>
            </a:r>
            <a:endParaRPr lang="en-US" sz="1800" dirty="0"/>
          </a:p>
          <a:p>
            <a:pPr indent="0" marL="0">
              <a:buNone/>
            </a:pPr>
            <a:r>
              <a:rPr lang="en-US" sz="1400" dirty="0">
                <a:solidFill>
                  <a:schemeClr val="accent4"/>
                </a:solidFill>
              </a:rPr>
              <a:t>Items that fall from pods onto the AR floor while pods travel</a:t>
            </a:r>
            <a:endParaRPr lang="en-US" sz="1800" dirty="0"/>
          </a:p>
        </p:txBody>
      </p:sp>
      <p:sp>
        <p:nvSpPr>
          <p:cNvPr id="6" name="Card 2"/>
          <p:cNvSpPr/>
          <p:nvPr/>
        </p:nvSpPr>
        <p:spPr>
          <a:xfrm>
            <a:off x="3246120" y="1325880"/>
            <a:ext cx="2606040" cy="1783080"/>
          </a:xfrm>
          <a:prstGeom prst="roundRect">
            <a:avLst>
              <a:gd name="adj" fmla="val 5128"/>
            </a:avLst>
          </a:prstGeom>
          <a:solidFill>
            <a:schemeClr val="bg1"/>
          </a:solidFill>
          <a:ln/>
        </p:spPr>
      </p:sp>
      <p:pic>
        <p:nvPicPr>
          <p:cNvPr id="7" name="Card icon 2" descr="preencoded.png">    </p:cNvPr>
          <p:cNvPicPr>
            <a:picLocks noChangeAspect="1"/>
          </p:cNvPicPr>
          <p:nvPr/>
        </p:nvPicPr>
        <p:blipFill>
          <a:blip r:embed="rId2"/>
          <a:stretch>
            <a:fillRect/>
          </a:stretch>
        </p:blipFill>
        <p:spPr>
          <a:xfrm>
            <a:off x="3474720" y="1508760"/>
            <a:ext cx="411480" cy="411480"/>
          </a:xfrm>
          <a:prstGeom prst="rect">
            <a:avLst/>
          </a:prstGeom>
        </p:spPr>
      </p:pic>
      <p:sp>
        <p:nvSpPr>
          <p:cNvPr id="8" name="Card text 2"/>
          <p:cNvSpPr txBox="1"/>
          <p:nvPr/>
        </p:nvSpPr>
        <p:spPr>
          <a:xfrm>
            <a:off x="3474720" y="2011680"/>
            <a:ext cx="2194560" cy="1005840"/>
          </a:xfrm>
          <a:prstGeom prst="rect">
            <a:avLst/>
          </a:prstGeom>
          <a:noFill/>
          <a:ln/>
        </p:spPr>
        <p:txBody>
          <a:bodyPr wrap="square" lIns="0" tIns="0" rIns="0" bIns="0" rtlCol="0" anchor="t"/>
          <a:lstStyle/>
          <a:p>
            <a:pPr indent="0" marL="0">
              <a:buNone/>
            </a:pPr>
            <a:r>
              <a:rPr lang="en-US" sz="1800" b="1" dirty="0">
                <a:solidFill>
                  <a:schemeClr val="tx1"/>
                </a:solidFill>
              </a:rPr>
              <a:t>Station amnesty</a:t>
            </a:r>
            <a:endParaRPr lang="en-US" sz="1800" dirty="0"/>
          </a:p>
          <a:p>
            <a:pPr indent="0" marL="0">
              <a:buNone/>
            </a:pPr>
            <a:r>
              <a:rPr lang="en-US" sz="1400" dirty="0">
                <a:solidFill>
                  <a:schemeClr val="accent4"/>
                </a:solidFill>
              </a:rPr>
              <a:t>Items left behind at the station when the pod leaves</a:t>
            </a:r>
            <a:endParaRPr lang="en-US" sz="1800" dirty="0"/>
          </a:p>
        </p:txBody>
      </p:sp>
      <p:sp>
        <p:nvSpPr>
          <p:cNvPr id="9" name="Callout"/>
          <p:cNvSpPr/>
          <p:nvPr/>
        </p:nvSpPr>
        <p:spPr>
          <a:xfrm>
            <a:off x="457200" y="3383280"/>
            <a:ext cx="5394960" cy="1143000"/>
          </a:xfrm>
          <a:prstGeom prst="roundRect">
            <a:avLst>
              <a:gd name="adj" fmla="val 8000"/>
            </a:avLst>
          </a:prstGeom>
          <a:solidFill>
            <a:schemeClr val="tx2"/>
          </a:solidFill>
          <a:ln/>
        </p:spPr>
      </p:sp>
      <p:sp>
        <p:nvSpPr>
          <p:cNvPr id="10" name="Callout text"/>
          <p:cNvSpPr txBox="1"/>
          <p:nvPr/>
        </p:nvSpPr>
        <p:spPr>
          <a:xfrm>
            <a:off x="731520" y="3383280"/>
            <a:ext cx="4846320" cy="1143000"/>
          </a:xfrm>
          <a:prstGeom prst="rect">
            <a:avLst/>
          </a:prstGeom>
          <a:noFill/>
          <a:ln/>
        </p:spPr>
        <p:txBody>
          <a:bodyPr wrap="square" lIns="0" tIns="0" rIns="0" bIns="0" rtlCol="0" anchor="ctr"/>
          <a:lstStyle/>
          <a:p>
            <a:pPr indent="0" marL="0">
              <a:buNone/>
            </a:pPr>
            <a:r>
              <a:rPr lang="en-US" sz="1800" b="1" dirty="0">
                <a:solidFill>
                  <a:schemeClr val="bg1"/>
                </a:solidFill>
              </a:rPr>
              <a:t>Poor bin etiquette is the #1 cause of amnesty.</a:t>
            </a:r>
            <a:endParaRPr lang="en-US" sz="1800" dirty="0"/>
          </a:p>
          <a:p>
            <a:pPr indent="0" marL="0">
              <a:buNone/>
            </a:pPr>
            <a:r>
              <a:rPr lang="en-US" sz="1500" dirty="0">
                <a:solidFill>
                  <a:srgbClr val="9EDFF7"/>
                </a:solidFill>
              </a:rPr>
              <a:t>Good bin etiquette is something every one of us controls.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Amnesty or problem solve?</a:t>
            </a:r>
            <a:endParaRPr lang="en-US" sz="2800" dirty="0"/>
          </a:p>
        </p:txBody>
      </p:sp>
      <p:sp>
        <p:nvSpPr>
          <p:cNvPr id="3" name="Column card 1"/>
          <p:cNvSpPr/>
          <p:nvPr/>
        </p:nvSpPr>
        <p:spPr>
          <a:xfrm>
            <a:off x="457200" y="1325880"/>
            <a:ext cx="1691640" cy="2697480"/>
          </a:xfrm>
          <a:prstGeom prst="roundRect">
            <a:avLst>
              <a:gd name="adj" fmla="val 5405"/>
            </a:avLst>
          </a:prstGeom>
          <a:solidFill>
            <a:schemeClr val="bg1"/>
          </a:solidFill>
          <a:ln/>
        </p:spPr>
      </p:sp>
      <p:pic>
        <p:nvPicPr>
          <p:cNvPr id="4" name="Column icon 1" descr="preencoded.png">    </p:cNvPr>
          <p:cNvPicPr>
            <a:picLocks noChangeAspect="1"/>
          </p:cNvPicPr>
          <p:nvPr/>
        </p:nvPicPr>
        <p:blipFill>
          <a:blip r:embed="rId1"/>
          <a:stretch>
            <a:fillRect/>
          </a:stretch>
        </p:blipFill>
        <p:spPr>
          <a:xfrm>
            <a:off x="594360" y="1463040"/>
            <a:ext cx="310896" cy="310896"/>
          </a:xfrm>
          <a:prstGeom prst="rect">
            <a:avLst/>
          </a:prstGeom>
        </p:spPr>
      </p:pic>
      <p:sp>
        <p:nvSpPr>
          <p:cNvPr id="5" name="Column tag 1"/>
          <p:cNvSpPr txBox="1"/>
          <p:nvPr/>
        </p:nvSpPr>
        <p:spPr>
          <a:xfrm>
            <a:off x="987552" y="1463040"/>
            <a:ext cx="1097280" cy="310896"/>
          </a:xfrm>
          <a:prstGeom prst="rect">
            <a:avLst/>
          </a:prstGeom>
          <a:noFill/>
          <a:ln/>
        </p:spPr>
        <p:txBody>
          <a:bodyPr wrap="square" lIns="0" tIns="0" rIns="0" bIns="0" rtlCol="0" anchor="ctr"/>
          <a:lstStyle/>
          <a:p>
            <a:pPr indent="0" marL="0">
              <a:buNone/>
            </a:pPr>
            <a:r>
              <a:rPr lang="en-US" sz="1100" b="1" spc="100" kern="0" dirty="0">
                <a:solidFill>
                  <a:schemeClr val="accent6"/>
                </a:solidFill>
              </a:rPr>
              <a:t>AMNESTY</a:t>
            </a:r>
            <a:endParaRPr lang="en-US" sz="1100" dirty="0"/>
          </a:p>
        </p:txBody>
      </p:sp>
      <p:sp>
        <p:nvSpPr>
          <p:cNvPr id="6" name="Column text 1"/>
          <p:cNvSpPr txBox="1"/>
          <p:nvPr/>
        </p:nvSpPr>
        <p:spPr>
          <a:xfrm>
            <a:off x="594360" y="1874520"/>
            <a:ext cx="1463040" cy="160020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Stowed, not picked yet</a:t>
            </a:r>
            <a:endParaRPr lang="en-US" sz="1400" dirty="0"/>
          </a:p>
          <a:p>
            <a:pPr marL="127000" indent="-127000">
              <a:spcAft>
                <a:spcPts val="300"/>
              </a:spcAft>
              <a:buSzPct val="100000"/>
              <a:buChar char="•"/>
            </a:pPr>
            <a:r>
              <a:rPr lang="en-US" sz="1200" dirty="0">
                <a:solidFill>
                  <a:schemeClr val="accent4"/>
                </a:solidFill>
              </a:rPr>
              <a:t>Belongs in a stowed pod bin</a:t>
            </a:r>
            <a:endParaRPr lang="en-US" sz="1400" dirty="0"/>
          </a:p>
          <a:p>
            <a:pPr marL="127000" indent="-127000">
              <a:spcAft>
                <a:spcPts val="300"/>
              </a:spcAft>
              <a:buSzPct val="100000"/>
              <a:buChar char="•"/>
            </a:pPr>
            <a:r>
              <a:rPr lang="en-US" sz="1200" dirty="0">
                <a:solidFill>
                  <a:schemeClr val="accent4"/>
                </a:solidFill>
              </a:rPr>
              <a:t>Fell out or is missing from that bin</a:t>
            </a:r>
            <a:endParaRPr lang="en-US" sz="1400" dirty="0"/>
          </a:p>
        </p:txBody>
      </p:sp>
      <p:sp>
        <p:nvSpPr>
          <p:cNvPr id="7" name="Column action 1"/>
          <p:cNvSpPr txBox="1"/>
          <p:nvPr/>
        </p:nvSpPr>
        <p:spPr>
          <a:xfrm>
            <a:off x="594360" y="3520440"/>
            <a:ext cx="1463040" cy="411480"/>
          </a:xfrm>
          <a:prstGeom prst="rect">
            <a:avLst/>
          </a:prstGeom>
          <a:noFill/>
          <a:ln/>
        </p:spPr>
        <p:txBody>
          <a:bodyPr wrap="square" lIns="0" tIns="0" rIns="0" bIns="0" rtlCol="0" anchor="ctr"/>
          <a:lstStyle/>
          <a:p>
            <a:pPr indent="0" marL="0">
              <a:buNone/>
            </a:pPr>
            <a:r>
              <a:rPr lang="en-US" sz="1300" b="1" dirty="0">
                <a:solidFill>
                  <a:schemeClr val="accent6"/>
                </a:solidFill>
              </a:rPr>
              <a:t>Send to amnesty</a:t>
            </a:r>
            <a:endParaRPr lang="en-US" sz="1300" dirty="0"/>
          </a:p>
        </p:txBody>
      </p:sp>
      <p:sp>
        <p:nvSpPr>
          <p:cNvPr id="8" name="Column card 2"/>
          <p:cNvSpPr/>
          <p:nvPr/>
        </p:nvSpPr>
        <p:spPr>
          <a:xfrm>
            <a:off x="2308860" y="1325880"/>
            <a:ext cx="1691640" cy="2697480"/>
          </a:xfrm>
          <a:prstGeom prst="roundRect">
            <a:avLst>
              <a:gd name="adj" fmla="val 5405"/>
            </a:avLst>
          </a:prstGeom>
          <a:solidFill>
            <a:srgbClr val="FBECEC"/>
          </a:solidFill>
          <a:ln/>
        </p:spPr>
      </p:sp>
      <p:pic>
        <p:nvPicPr>
          <p:cNvPr id="9" name="Column icon 2" descr="preencoded.png">    </p:cNvPr>
          <p:cNvPicPr>
            <a:picLocks noChangeAspect="1"/>
          </p:cNvPicPr>
          <p:nvPr/>
        </p:nvPicPr>
        <p:blipFill>
          <a:blip r:embed="rId2"/>
          <a:stretch>
            <a:fillRect/>
          </a:stretch>
        </p:blipFill>
        <p:spPr>
          <a:xfrm>
            <a:off x="2446020" y="1463040"/>
            <a:ext cx="310896" cy="310896"/>
          </a:xfrm>
          <a:prstGeom prst="rect">
            <a:avLst/>
          </a:prstGeom>
        </p:spPr>
      </p:pic>
      <p:sp>
        <p:nvSpPr>
          <p:cNvPr id="10" name="Column tag 2"/>
          <p:cNvSpPr txBox="1"/>
          <p:nvPr/>
        </p:nvSpPr>
        <p:spPr>
          <a:xfrm>
            <a:off x="2839212" y="1463040"/>
            <a:ext cx="1097280" cy="310896"/>
          </a:xfrm>
          <a:prstGeom prst="rect">
            <a:avLst/>
          </a:prstGeom>
          <a:noFill/>
          <a:ln/>
        </p:spPr>
        <p:txBody>
          <a:bodyPr wrap="square" lIns="0" tIns="0" rIns="0" bIns="0" rtlCol="0" anchor="ctr"/>
          <a:lstStyle/>
          <a:p>
            <a:pPr indent="0" marL="0">
              <a:buNone/>
            </a:pPr>
            <a:r>
              <a:rPr lang="en-US" sz="1100" b="1" spc="100" kern="0" dirty="0">
                <a:solidFill>
                  <a:schemeClr val="accent3"/>
                </a:solidFill>
              </a:rPr>
              <a:t>NOT AMNESTY</a:t>
            </a:r>
            <a:endParaRPr lang="en-US" sz="1100" dirty="0"/>
          </a:p>
        </p:txBody>
      </p:sp>
      <p:sp>
        <p:nvSpPr>
          <p:cNvPr id="11" name="Column text 2"/>
          <p:cNvSpPr txBox="1"/>
          <p:nvPr/>
        </p:nvSpPr>
        <p:spPr>
          <a:xfrm>
            <a:off x="2446020" y="1874520"/>
            <a:ext cx="1463040" cy="160020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Not stowed yet</a:t>
            </a:r>
            <a:endParaRPr lang="en-US" sz="1400" dirty="0"/>
          </a:p>
          <a:p>
            <a:pPr marL="127000" indent="-127000">
              <a:spcAft>
                <a:spcPts val="300"/>
              </a:spcAft>
              <a:buSzPct val="100000"/>
              <a:buChar char="•"/>
            </a:pPr>
            <a:r>
              <a:rPr lang="en-US" sz="1200" dirty="0">
                <a:solidFill>
                  <a:schemeClr val="accent4"/>
                </a:solidFill>
              </a:rPr>
              <a:t>Still belongs in a stow tote or cart</a:t>
            </a:r>
            <a:endParaRPr lang="en-US" sz="1400" dirty="0"/>
          </a:p>
          <a:p>
            <a:pPr marL="127000" indent="-127000">
              <a:spcAft>
                <a:spcPts val="300"/>
              </a:spcAft>
              <a:buSzPct val="100000"/>
              <a:buChar char="•"/>
            </a:pPr>
            <a:r>
              <a:rPr lang="en-US" sz="1200" dirty="0">
                <a:solidFill>
                  <a:schemeClr val="accent4"/>
                </a:solidFill>
              </a:rPr>
              <a:t>Fell or was left before it was stowed</a:t>
            </a:r>
            <a:endParaRPr lang="en-US" sz="1400" dirty="0"/>
          </a:p>
        </p:txBody>
      </p:sp>
      <p:sp>
        <p:nvSpPr>
          <p:cNvPr id="12" name="Column action 2"/>
          <p:cNvSpPr txBox="1"/>
          <p:nvPr/>
        </p:nvSpPr>
        <p:spPr>
          <a:xfrm>
            <a:off x="2446020" y="3520440"/>
            <a:ext cx="1463040" cy="411480"/>
          </a:xfrm>
          <a:prstGeom prst="rect">
            <a:avLst/>
          </a:prstGeom>
          <a:noFill/>
          <a:ln/>
        </p:spPr>
        <p:txBody>
          <a:bodyPr wrap="square" lIns="0" tIns="0" rIns="0" bIns="0" rtlCol="0" anchor="ctr"/>
          <a:lstStyle/>
          <a:p>
            <a:pPr indent="0" marL="0">
              <a:buNone/>
            </a:pPr>
            <a:r>
              <a:rPr lang="en-US" sz="1300" b="1" dirty="0">
                <a:solidFill>
                  <a:schemeClr val="accent3"/>
                </a:solidFill>
              </a:rPr>
              <a:t>Inbound problem solve</a:t>
            </a:r>
            <a:endParaRPr lang="en-US" sz="1300" dirty="0"/>
          </a:p>
        </p:txBody>
      </p:sp>
      <p:sp>
        <p:nvSpPr>
          <p:cNvPr id="13" name="Column card 3"/>
          <p:cNvSpPr/>
          <p:nvPr/>
        </p:nvSpPr>
        <p:spPr>
          <a:xfrm>
            <a:off x="4160520" y="1325880"/>
            <a:ext cx="1691640" cy="2697480"/>
          </a:xfrm>
          <a:prstGeom prst="roundRect">
            <a:avLst>
              <a:gd name="adj" fmla="val 5405"/>
            </a:avLst>
          </a:prstGeom>
          <a:solidFill>
            <a:srgbClr val="FBECEC"/>
          </a:solidFill>
          <a:ln/>
        </p:spPr>
      </p:sp>
      <p:pic>
        <p:nvPicPr>
          <p:cNvPr id="14" name="Column icon 3" descr="preencoded.png">    </p:cNvPr>
          <p:cNvPicPr>
            <a:picLocks noChangeAspect="1"/>
          </p:cNvPicPr>
          <p:nvPr/>
        </p:nvPicPr>
        <p:blipFill>
          <a:blip r:embed="rId3"/>
          <a:stretch>
            <a:fillRect/>
          </a:stretch>
        </p:blipFill>
        <p:spPr>
          <a:xfrm>
            <a:off x="4297680" y="1463040"/>
            <a:ext cx="310896" cy="310896"/>
          </a:xfrm>
          <a:prstGeom prst="rect">
            <a:avLst/>
          </a:prstGeom>
        </p:spPr>
      </p:pic>
      <p:sp>
        <p:nvSpPr>
          <p:cNvPr id="15" name="Column tag 3"/>
          <p:cNvSpPr txBox="1"/>
          <p:nvPr/>
        </p:nvSpPr>
        <p:spPr>
          <a:xfrm>
            <a:off x="4690872" y="1463040"/>
            <a:ext cx="1097280" cy="310896"/>
          </a:xfrm>
          <a:prstGeom prst="rect">
            <a:avLst/>
          </a:prstGeom>
          <a:noFill/>
          <a:ln/>
        </p:spPr>
        <p:txBody>
          <a:bodyPr wrap="square" lIns="0" tIns="0" rIns="0" bIns="0" rtlCol="0" anchor="ctr"/>
          <a:lstStyle/>
          <a:p>
            <a:pPr indent="0" marL="0">
              <a:buNone/>
            </a:pPr>
            <a:r>
              <a:rPr lang="en-US" sz="1100" b="1" spc="100" kern="0" dirty="0">
                <a:solidFill>
                  <a:schemeClr val="accent3"/>
                </a:solidFill>
              </a:rPr>
              <a:t>NOT AMNESTY</a:t>
            </a:r>
            <a:endParaRPr lang="en-US" sz="1100" dirty="0"/>
          </a:p>
        </p:txBody>
      </p:sp>
      <p:sp>
        <p:nvSpPr>
          <p:cNvPr id="16" name="Column text 3"/>
          <p:cNvSpPr txBox="1"/>
          <p:nvPr/>
        </p:nvSpPr>
        <p:spPr>
          <a:xfrm>
            <a:off x="4297680" y="1874520"/>
            <a:ext cx="1463040" cy="160020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Already picked</a:t>
            </a:r>
            <a:endParaRPr lang="en-US" sz="1400" dirty="0"/>
          </a:p>
          <a:p>
            <a:pPr marL="127000" indent="-127000">
              <a:spcAft>
                <a:spcPts val="300"/>
              </a:spcAft>
              <a:buSzPct val="100000"/>
              <a:buChar char="•"/>
            </a:pPr>
            <a:r>
              <a:rPr lang="en-US" sz="1200" dirty="0">
                <a:solidFill>
                  <a:schemeClr val="accent4"/>
                </a:solidFill>
              </a:rPr>
              <a:t>Belongs in a tote, rebin location or chute</a:t>
            </a:r>
            <a:endParaRPr lang="en-US" sz="1400" dirty="0"/>
          </a:p>
          <a:p>
            <a:pPr marL="127000" indent="-127000">
              <a:spcAft>
                <a:spcPts val="300"/>
              </a:spcAft>
              <a:buSzPct val="100000"/>
              <a:buChar char="•"/>
            </a:pPr>
            <a:r>
              <a:rPr lang="en-US" sz="1200" dirty="0">
                <a:solidFill>
                  <a:schemeClr val="accent4"/>
                </a:solidFill>
              </a:rPr>
              <a:t>Fell or was put in the wrong place</a:t>
            </a:r>
            <a:endParaRPr lang="en-US" sz="1400" dirty="0"/>
          </a:p>
        </p:txBody>
      </p:sp>
      <p:sp>
        <p:nvSpPr>
          <p:cNvPr id="17" name="Column action 3"/>
          <p:cNvSpPr txBox="1"/>
          <p:nvPr/>
        </p:nvSpPr>
        <p:spPr>
          <a:xfrm>
            <a:off x="4297680" y="3520440"/>
            <a:ext cx="1463040" cy="411480"/>
          </a:xfrm>
          <a:prstGeom prst="rect">
            <a:avLst/>
          </a:prstGeom>
          <a:noFill/>
          <a:ln/>
        </p:spPr>
        <p:txBody>
          <a:bodyPr wrap="square" lIns="0" tIns="0" rIns="0" bIns="0" rtlCol="0" anchor="ctr"/>
          <a:lstStyle/>
          <a:p>
            <a:pPr indent="0" marL="0">
              <a:buNone/>
            </a:pPr>
            <a:r>
              <a:rPr lang="en-US" sz="1300" b="1" dirty="0">
                <a:solidFill>
                  <a:schemeClr val="accent3"/>
                </a:solidFill>
              </a:rPr>
              <a:t>Outbound problem solve</a:t>
            </a:r>
            <a:endParaRPr lang="en-US" sz="1300" dirty="0"/>
          </a:p>
        </p:txBody>
      </p:sp>
      <p:sp>
        <p:nvSpPr>
          <p:cNvPr id="18" name="Inflate callout"/>
          <p:cNvSpPr/>
          <p:nvPr/>
        </p:nvSpPr>
        <p:spPr>
          <a:xfrm>
            <a:off x="457200" y="4114800"/>
            <a:ext cx="5394960" cy="548640"/>
          </a:xfrm>
          <a:prstGeom prst="roundRect">
            <a:avLst>
              <a:gd name="adj" fmla="val 16667"/>
            </a:avLst>
          </a:prstGeom>
          <a:solidFill>
            <a:schemeClr val="tx2"/>
          </a:solidFill>
          <a:ln/>
        </p:spPr>
      </p:sp>
      <p:sp>
        <p:nvSpPr>
          <p:cNvPr id="19" name="Inflate text"/>
          <p:cNvSpPr txBox="1"/>
          <p:nvPr/>
        </p:nvSpPr>
        <p:spPr>
          <a:xfrm>
            <a:off x="731520" y="4114800"/>
            <a:ext cx="4846320" cy="548640"/>
          </a:xfrm>
          <a:prstGeom prst="rect">
            <a:avLst/>
          </a:prstGeom>
          <a:noFill/>
          <a:ln/>
        </p:spPr>
        <p:txBody>
          <a:bodyPr wrap="square" lIns="0" tIns="0" rIns="0" bIns="0" rtlCol="0" anchor="ctr"/>
          <a:lstStyle/>
          <a:p>
            <a:pPr indent="0" marL="0">
              <a:buNone/>
            </a:pPr>
            <a:r>
              <a:rPr lang="en-US" sz="1400" b="1" dirty="0">
                <a:solidFill>
                  <a:schemeClr val="bg1"/>
                </a:solidFill>
              </a:rPr>
              <a:t>Only stowed, not-yet-picked items are amnesty. Anything else just inflates wAPMT.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Two questions to ask</a:t>
            </a:r>
            <a:endParaRPr lang="en-US" sz="2800" dirty="0"/>
          </a:p>
        </p:txBody>
      </p:sp>
      <p:sp>
        <p:nvSpPr>
          <p:cNvPr id="3" name="Start box"/>
          <p:cNvSpPr/>
          <p:nvPr/>
        </p:nvSpPr>
        <p:spPr>
          <a:xfrm>
            <a:off x="1783080" y="1325880"/>
            <a:ext cx="2743200" cy="411480"/>
          </a:xfrm>
          <a:prstGeom prst="roundRect">
            <a:avLst>
              <a:gd name="adj" fmla="val 22222"/>
            </a:avLst>
          </a:prstGeom>
          <a:solidFill>
            <a:schemeClr val="tx2"/>
          </a:solidFill>
          <a:ln/>
        </p:spPr>
      </p:sp>
      <p:sp>
        <p:nvSpPr>
          <p:cNvPr id="4" name="Start box text"/>
          <p:cNvSpPr txBox="1"/>
          <p:nvPr/>
        </p:nvSpPr>
        <p:spPr>
          <a:xfrm>
            <a:off x="1783080" y="1325880"/>
            <a:ext cx="2743200" cy="411480"/>
          </a:xfrm>
          <a:prstGeom prst="rect">
            <a:avLst/>
          </a:prstGeom>
          <a:noFill/>
          <a:ln/>
        </p:spPr>
        <p:txBody>
          <a:bodyPr wrap="square" lIns="0" tIns="0" rIns="0" bIns="0" rtlCol="0" anchor="ctr"/>
          <a:lstStyle/>
          <a:p>
            <a:pPr algn="ctr" indent="0" marL="0">
              <a:buNone/>
            </a:pPr>
            <a:r>
              <a:rPr lang="en-US" sz="1400" dirty="0">
                <a:solidFill>
                  <a:schemeClr val="bg1"/>
                </a:solidFill>
              </a:rPr>
              <a:t>You find an item out of place</a:t>
            </a:r>
            <a:endParaRPr lang="en-US" sz="1400" dirty="0"/>
          </a:p>
        </p:txBody>
      </p:sp>
      <p:sp>
        <p:nvSpPr>
          <p:cNvPr id="5" name="Line start"/>
          <p:cNvSpPr/>
          <p:nvPr/>
        </p:nvSpPr>
        <p:spPr>
          <a:xfrm>
            <a:off x="3154680" y="1737360"/>
            <a:ext cx="0" cy="182880"/>
          </a:xfrm>
          <a:prstGeom prst="line">
            <a:avLst/>
          </a:prstGeom>
          <a:noFill/>
          <a:ln w="25400">
            <a:solidFill>
              <a:srgbClr val="9AA6B2"/>
            </a:solidFill>
            <a:prstDash val="solid"/>
          </a:ln>
        </p:spPr>
      </p:sp>
      <p:sp>
        <p:nvSpPr>
          <p:cNvPr id="6" name="Question 1"/>
          <p:cNvSpPr/>
          <p:nvPr/>
        </p:nvSpPr>
        <p:spPr>
          <a:xfrm>
            <a:off x="1783080" y="1920240"/>
            <a:ext cx="2743200" cy="457200"/>
          </a:xfrm>
          <a:prstGeom prst="roundRect">
            <a:avLst>
              <a:gd name="adj" fmla="val 20000"/>
            </a:avLst>
          </a:prstGeom>
          <a:solidFill>
            <a:schemeClr val="accent1"/>
          </a:solidFill>
          <a:ln/>
        </p:spPr>
      </p:sp>
      <p:sp>
        <p:nvSpPr>
          <p:cNvPr id="7" name="Question 1 text"/>
          <p:cNvSpPr txBox="1"/>
          <p:nvPr/>
        </p:nvSpPr>
        <p:spPr>
          <a:xfrm>
            <a:off x="1783080" y="1920240"/>
            <a:ext cx="2743200" cy="457200"/>
          </a:xfrm>
          <a:prstGeom prst="rect">
            <a:avLst/>
          </a:prstGeom>
          <a:noFill/>
          <a:ln/>
        </p:spPr>
        <p:txBody>
          <a:bodyPr wrap="square" lIns="0" tIns="0" rIns="0" bIns="0" rtlCol="0" anchor="ctr"/>
          <a:lstStyle/>
          <a:p>
            <a:pPr algn="ctr" indent="0" marL="0">
              <a:buNone/>
            </a:pPr>
            <a:r>
              <a:rPr lang="en-US" sz="1500" b="1" dirty="0">
                <a:solidFill>
                  <a:schemeClr val="bg1"/>
                </a:solidFill>
              </a:rPr>
              <a:t>Has it been stowed yet?</a:t>
            </a:r>
            <a:endParaRPr lang="en-US" sz="1500" dirty="0"/>
          </a:p>
        </p:txBody>
      </p:sp>
      <p:sp>
        <p:nvSpPr>
          <p:cNvPr id="8" name="Line Q1 no a"/>
          <p:cNvSpPr/>
          <p:nvPr/>
        </p:nvSpPr>
        <p:spPr>
          <a:xfrm>
            <a:off x="1303020" y="2148840"/>
            <a:ext cx="480060" cy="0"/>
          </a:xfrm>
          <a:prstGeom prst="line">
            <a:avLst/>
          </a:prstGeom>
          <a:noFill/>
          <a:ln w="25400">
            <a:solidFill>
              <a:srgbClr val="9AA6B2"/>
            </a:solidFill>
            <a:prstDash val="solid"/>
          </a:ln>
        </p:spPr>
      </p:sp>
      <p:sp>
        <p:nvSpPr>
          <p:cNvPr id="9" name="Line Q1 no b"/>
          <p:cNvSpPr/>
          <p:nvPr/>
        </p:nvSpPr>
        <p:spPr>
          <a:xfrm>
            <a:off x="1303020" y="2148840"/>
            <a:ext cx="0" cy="1280160"/>
          </a:xfrm>
          <a:prstGeom prst="line">
            <a:avLst/>
          </a:prstGeom>
          <a:noFill/>
          <a:ln w="25400">
            <a:solidFill>
              <a:srgbClr val="9AA6B2"/>
            </a:solidFill>
            <a:prstDash val="solid"/>
          </a:ln>
        </p:spPr>
      </p:sp>
      <p:sp>
        <p:nvSpPr>
          <p:cNvPr id="10" name="Line Q1 yes"/>
          <p:cNvSpPr/>
          <p:nvPr/>
        </p:nvSpPr>
        <p:spPr>
          <a:xfrm>
            <a:off x="4297680" y="2377440"/>
            <a:ext cx="0" cy="228600"/>
          </a:xfrm>
          <a:prstGeom prst="line">
            <a:avLst/>
          </a:prstGeom>
          <a:noFill/>
          <a:ln w="25400">
            <a:solidFill>
              <a:srgbClr val="9AA6B2"/>
            </a:solidFill>
            <a:prstDash val="solid"/>
          </a:ln>
        </p:spPr>
      </p:sp>
      <p:sp>
        <p:nvSpPr>
          <p:cNvPr id="11" name="Q1 no label"/>
          <p:cNvSpPr txBox="1"/>
          <p:nvPr/>
        </p:nvSpPr>
        <p:spPr>
          <a:xfrm>
            <a:off x="1325880" y="1892808"/>
            <a:ext cx="411480" cy="228600"/>
          </a:xfrm>
          <a:prstGeom prst="rect">
            <a:avLst/>
          </a:prstGeom>
          <a:noFill/>
          <a:ln/>
        </p:spPr>
        <p:txBody>
          <a:bodyPr wrap="square" lIns="0" tIns="0" rIns="0" bIns="0" rtlCol="0" anchor="ctr"/>
          <a:lstStyle/>
          <a:p>
            <a:pPr indent="0" marL="0">
              <a:buNone/>
            </a:pPr>
            <a:r>
              <a:rPr lang="en-US" sz="1100" b="1" dirty="0">
                <a:solidFill>
                  <a:schemeClr val="accent4"/>
                </a:solidFill>
              </a:rPr>
              <a:t>NO</a:t>
            </a:r>
            <a:endParaRPr lang="en-US" sz="1100" dirty="0"/>
          </a:p>
        </p:txBody>
      </p:sp>
      <p:sp>
        <p:nvSpPr>
          <p:cNvPr id="12" name="Q1 yes label"/>
          <p:cNvSpPr txBox="1"/>
          <p:nvPr/>
        </p:nvSpPr>
        <p:spPr>
          <a:xfrm>
            <a:off x="4370832" y="2377440"/>
            <a:ext cx="457200" cy="228600"/>
          </a:xfrm>
          <a:prstGeom prst="rect">
            <a:avLst/>
          </a:prstGeom>
          <a:noFill/>
          <a:ln/>
        </p:spPr>
        <p:txBody>
          <a:bodyPr wrap="square" lIns="0" tIns="0" rIns="0" bIns="0" rtlCol="0" anchor="ctr"/>
          <a:lstStyle/>
          <a:p>
            <a:pPr indent="0" marL="0">
              <a:buNone/>
            </a:pPr>
            <a:r>
              <a:rPr lang="en-US" sz="1100" b="1" dirty="0">
                <a:solidFill>
                  <a:schemeClr val="accent4"/>
                </a:solidFill>
              </a:rPr>
              <a:t>YES</a:t>
            </a:r>
            <a:endParaRPr lang="en-US" sz="1100" dirty="0"/>
          </a:p>
        </p:txBody>
      </p:sp>
      <p:sp>
        <p:nvSpPr>
          <p:cNvPr id="13" name="Question 2"/>
          <p:cNvSpPr/>
          <p:nvPr/>
        </p:nvSpPr>
        <p:spPr>
          <a:xfrm>
            <a:off x="2743200" y="2606040"/>
            <a:ext cx="3108960" cy="457200"/>
          </a:xfrm>
          <a:prstGeom prst="roundRect">
            <a:avLst>
              <a:gd name="adj" fmla="val 20000"/>
            </a:avLst>
          </a:prstGeom>
          <a:solidFill>
            <a:schemeClr val="accent1"/>
          </a:solidFill>
          <a:ln/>
        </p:spPr>
      </p:sp>
      <p:sp>
        <p:nvSpPr>
          <p:cNvPr id="14" name="Question 2 text"/>
          <p:cNvSpPr txBox="1"/>
          <p:nvPr/>
        </p:nvSpPr>
        <p:spPr>
          <a:xfrm>
            <a:off x="2743200" y="2606040"/>
            <a:ext cx="3108960" cy="457200"/>
          </a:xfrm>
          <a:prstGeom prst="rect">
            <a:avLst/>
          </a:prstGeom>
          <a:noFill/>
          <a:ln/>
        </p:spPr>
        <p:txBody>
          <a:bodyPr wrap="square" lIns="0" tIns="0" rIns="0" bIns="0" rtlCol="0" anchor="ctr"/>
          <a:lstStyle/>
          <a:p>
            <a:pPr algn="ctr" indent="0" marL="0">
              <a:buNone/>
            </a:pPr>
            <a:r>
              <a:rPr lang="en-US" sz="1500" b="1" dirty="0">
                <a:solidFill>
                  <a:schemeClr val="bg1"/>
                </a:solidFill>
              </a:rPr>
              <a:t>Has it already been picked?</a:t>
            </a:r>
            <a:endParaRPr lang="en-US" sz="1500" dirty="0"/>
          </a:p>
        </p:txBody>
      </p:sp>
      <p:sp>
        <p:nvSpPr>
          <p:cNvPr id="15" name="Line Q2 a"/>
          <p:cNvSpPr/>
          <p:nvPr/>
        </p:nvSpPr>
        <p:spPr>
          <a:xfrm>
            <a:off x="4297680" y="3063240"/>
            <a:ext cx="0" cy="182880"/>
          </a:xfrm>
          <a:prstGeom prst="line">
            <a:avLst/>
          </a:prstGeom>
          <a:noFill/>
          <a:ln w="25400">
            <a:solidFill>
              <a:srgbClr val="9AA6B2"/>
            </a:solidFill>
            <a:prstDash val="solid"/>
          </a:ln>
        </p:spPr>
      </p:sp>
      <p:sp>
        <p:nvSpPr>
          <p:cNvPr id="16" name="Line Q2 b"/>
          <p:cNvSpPr/>
          <p:nvPr/>
        </p:nvSpPr>
        <p:spPr>
          <a:xfrm>
            <a:off x="3154680" y="3246120"/>
            <a:ext cx="1851660" cy="0"/>
          </a:xfrm>
          <a:prstGeom prst="line">
            <a:avLst/>
          </a:prstGeom>
          <a:noFill/>
          <a:ln w="25400">
            <a:solidFill>
              <a:srgbClr val="9AA6B2"/>
            </a:solidFill>
            <a:prstDash val="solid"/>
          </a:ln>
        </p:spPr>
      </p:sp>
      <p:sp>
        <p:nvSpPr>
          <p:cNvPr id="17" name="Line Q2 c"/>
          <p:cNvSpPr/>
          <p:nvPr/>
        </p:nvSpPr>
        <p:spPr>
          <a:xfrm>
            <a:off x="3154680" y="3246120"/>
            <a:ext cx="0" cy="182880"/>
          </a:xfrm>
          <a:prstGeom prst="line">
            <a:avLst/>
          </a:prstGeom>
          <a:noFill/>
          <a:ln w="25400">
            <a:solidFill>
              <a:srgbClr val="9AA6B2"/>
            </a:solidFill>
            <a:prstDash val="solid"/>
          </a:ln>
        </p:spPr>
      </p:sp>
      <p:sp>
        <p:nvSpPr>
          <p:cNvPr id="18" name="Line Q2 d"/>
          <p:cNvSpPr/>
          <p:nvPr/>
        </p:nvSpPr>
        <p:spPr>
          <a:xfrm>
            <a:off x="5006340" y="3246120"/>
            <a:ext cx="0" cy="182880"/>
          </a:xfrm>
          <a:prstGeom prst="line">
            <a:avLst/>
          </a:prstGeom>
          <a:noFill/>
          <a:ln w="25400">
            <a:solidFill>
              <a:srgbClr val="9AA6B2"/>
            </a:solidFill>
            <a:prstDash val="solid"/>
          </a:ln>
        </p:spPr>
      </p:sp>
      <p:sp>
        <p:nvSpPr>
          <p:cNvPr id="19" name="Leaf 1"/>
          <p:cNvSpPr/>
          <p:nvPr/>
        </p:nvSpPr>
        <p:spPr>
          <a:xfrm>
            <a:off x="457200" y="3429000"/>
            <a:ext cx="1691640" cy="1188720"/>
          </a:xfrm>
          <a:prstGeom prst="roundRect">
            <a:avLst>
              <a:gd name="adj" fmla="val 7692"/>
            </a:avLst>
          </a:prstGeom>
          <a:solidFill>
            <a:srgbClr val="FBECEC"/>
          </a:solidFill>
          <a:ln/>
        </p:spPr>
      </p:sp>
      <p:sp>
        <p:nvSpPr>
          <p:cNvPr id="20" name="Leaf text 1"/>
          <p:cNvSpPr txBox="1"/>
          <p:nvPr/>
        </p:nvSpPr>
        <p:spPr>
          <a:xfrm>
            <a:off x="548640" y="3429000"/>
            <a:ext cx="1508760" cy="1188720"/>
          </a:xfrm>
          <a:prstGeom prst="rect">
            <a:avLst/>
          </a:prstGeom>
          <a:noFill/>
          <a:ln/>
        </p:spPr>
        <p:txBody>
          <a:bodyPr wrap="square" lIns="0" tIns="0" rIns="0" bIns="0" rtlCol="0" anchor="ctr"/>
          <a:lstStyle/>
          <a:p>
            <a:pPr algn="ctr" indent="0" marL="0">
              <a:buNone/>
            </a:pPr>
            <a:r>
              <a:rPr lang="en-US" sz="1200" dirty="0">
                <a:solidFill>
                  <a:schemeClr val="accent4"/>
                </a:solidFill>
              </a:rPr>
              <a:t>Not stowed yet</a:t>
            </a:r>
            <a:endParaRPr lang="en-US" sz="1200" dirty="0"/>
          </a:p>
          <a:p>
            <a:pPr algn="ctr" indent="0" marL="0">
              <a:buNone/>
            </a:pPr>
            <a:r>
              <a:rPr lang="en-US" sz="1500" b="1" dirty="0">
                <a:solidFill>
                  <a:schemeClr val="accent3"/>
                </a:solidFill>
              </a:rPr>
              <a:t>Inbound problem solve</a:t>
            </a:r>
            <a:endParaRPr lang="en-US" sz="1200" dirty="0"/>
          </a:p>
        </p:txBody>
      </p:sp>
      <p:sp>
        <p:nvSpPr>
          <p:cNvPr id="21" name="Leaf 2"/>
          <p:cNvSpPr/>
          <p:nvPr/>
        </p:nvSpPr>
        <p:spPr>
          <a:xfrm>
            <a:off x="2308860" y="3429000"/>
            <a:ext cx="1691640" cy="1188720"/>
          </a:xfrm>
          <a:prstGeom prst="roundRect">
            <a:avLst>
              <a:gd name="adj" fmla="val 7692"/>
            </a:avLst>
          </a:prstGeom>
          <a:solidFill>
            <a:schemeClr val="bg1"/>
          </a:solidFill>
          <a:ln/>
        </p:spPr>
      </p:sp>
      <p:sp>
        <p:nvSpPr>
          <p:cNvPr id="22" name="Leaf text 2"/>
          <p:cNvSpPr txBox="1"/>
          <p:nvPr/>
        </p:nvSpPr>
        <p:spPr>
          <a:xfrm>
            <a:off x="2400300" y="3429000"/>
            <a:ext cx="1508760" cy="1188720"/>
          </a:xfrm>
          <a:prstGeom prst="rect">
            <a:avLst/>
          </a:prstGeom>
          <a:noFill/>
          <a:ln/>
        </p:spPr>
        <p:txBody>
          <a:bodyPr wrap="square" lIns="0" tIns="0" rIns="0" bIns="0" rtlCol="0" anchor="ctr"/>
          <a:lstStyle/>
          <a:p>
            <a:pPr algn="ctr" indent="0" marL="0">
              <a:buNone/>
            </a:pPr>
            <a:r>
              <a:rPr lang="en-US" sz="1200" dirty="0">
                <a:solidFill>
                  <a:schemeClr val="accent4"/>
                </a:solidFill>
              </a:rPr>
              <a:t>Stowed, not picked yet</a:t>
            </a:r>
            <a:endParaRPr lang="en-US" sz="1200" dirty="0"/>
          </a:p>
          <a:p>
            <a:pPr algn="ctr" indent="0" marL="0">
              <a:buNone/>
            </a:pPr>
            <a:r>
              <a:rPr lang="en-US" sz="1500" b="1" dirty="0">
                <a:solidFill>
                  <a:schemeClr val="accent6"/>
                </a:solidFill>
              </a:rPr>
              <a:t>Amnesty</a:t>
            </a:r>
            <a:endParaRPr lang="en-US" sz="1200" dirty="0"/>
          </a:p>
        </p:txBody>
      </p:sp>
      <p:sp>
        <p:nvSpPr>
          <p:cNvPr id="23" name="Leaf 3"/>
          <p:cNvSpPr/>
          <p:nvPr/>
        </p:nvSpPr>
        <p:spPr>
          <a:xfrm>
            <a:off x="4160520" y="3429000"/>
            <a:ext cx="1691640" cy="1188720"/>
          </a:xfrm>
          <a:prstGeom prst="roundRect">
            <a:avLst>
              <a:gd name="adj" fmla="val 7692"/>
            </a:avLst>
          </a:prstGeom>
          <a:solidFill>
            <a:srgbClr val="FBECEC"/>
          </a:solidFill>
          <a:ln/>
        </p:spPr>
      </p:sp>
      <p:sp>
        <p:nvSpPr>
          <p:cNvPr id="24" name="Leaf text 3"/>
          <p:cNvSpPr txBox="1"/>
          <p:nvPr/>
        </p:nvSpPr>
        <p:spPr>
          <a:xfrm>
            <a:off x="4251960" y="3429000"/>
            <a:ext cx="1508760" cy="1188720"/>
          </a:xfrm>
          <a:prstGeom prst="rect">
            <a:avLst/>
          </a:prstGeom>
          <a:noFill/>
          <a:ln/>
        </p:spPr>
        <p:txBody>
          <a:bodyPr wrap="square" lIns="0" tIns="0" rIns="0" bIns="0" rtlCol="0" anchor="ctr"/>
          <a:lstStyle/>
          <a:p>
            <a:pPr algn="ctr" indent="0" marL="0">
              <a:buNone/>
            </a:pPr>
            <a:r>
              <a:rPr lang="en-US" sz="1200" dirty="0">
                <a:solidFill>
                  <a:schemeClr val="accent4"/>
                </a:solidFill>
              </a:rPr>
              <a:t>Already picked</a:t>
            </a:r>
            <a:endParaRPr lang="en-US" sz="1200" dirty="0"/>
          </a:p>
          <a:p>
            <a:pPr algn="ctr" indent="0" marL="0">
              <a:buNone/>
            </a:pPr>
            <a:r>
              <a:rPr lang="en-US" sz="1500" b="1" dirty="0">
                <a:solidFill>
                  <a:schemeClr val="accent3"/>
                </a:solidFill>
              </a:rPr>
              <a:t>Outbound problem solve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2514600" y="502920"/>
            <a:ext cx="6400800" cy="320040"/>
          </a:xfrm>
          <a:prstGeom prst="rect">
            <a:avLst/>
          </a:prstGeom>
          <a:noFill/>
          <a:ln/>
        </p:spPr>
        <p:txBody>
          <a:bodyPr wrap="square" lIns="0" tIns="0" rIns="0" bIns="0" rtlCol="0"/>
          <a:lstStyle/>
          <a:p>
            <a:pPr algn="ctr" indent="0" marL="0">
              <a:buNone/>
            </a:pPr>
            <a:r>
              <a:rPr lang="en-US" sz="1300" b="1" spc="300" kern="0" dirty="0">
                <a:solidFill>
                  <a:schemeClr val="accent6"/>
                </a:solidFill>
              </a:rPr>
              <a:t>PART 1</a:t>
            </a:r>
            <a:endParaRPr lang="en-US" sz="1300" dirty="0"/>
          </a:p>
        </p:txBody>
      </p:sp>
      <p:sp>
        <p:nvSpPr>
          <p:cNvPr id="3" name="Text 1"/>
          <p:cNvSpPr/>
          <p:nvPr>
            <p:ph idx="103" type="title" hasCustomPrompt="1"/>
          </p:nvPr>
        </p:nvSpPr>
        <p:spPr>
          <a:xfrm>
            <a:off x="2514600" y="868680"/>
            <a:ext cx="6400800" cy="868680"/>
          </a:xfrm>
          <a:prstGeom prst="rect">
            <a:avLst/>
          </a:prstGeom>
          <a:noFill/>
          <a:ln/>
        </p:spPr>
        <p:txBody>
          <a:bodyPr wrap="square" lIns="0" tIns="0" rIns="0" bIns="0" rtlCol="0" anchor="ctr"/>
          <a:lstStyle/>
          <a:p>
            <a:pPr algn="ctr" indent="0" marL="0">
              <a:buNone/>
            </a:pPr>
            <a:r>
              <a:rPr lang="en-US" sz="3600" b="1" dirty="0">
                <a:solidFill>
                  <a:schemeClr val="tx1"/>
                </a:solidFill>
              </a:rPr>
              <a:t>First Face Fix</a:t>
            </a:r>
            <a:endParaRPr lang="en-US" sz="3600" dirty="0"/>
          </a:p>
        </p:txBody>
      </p:sp>
      <p:sp>
        <p:nvSpPr>
          <p:cNvPr id="4" name="Text 1"/>
          <p:cNvSpPr/>
          <p:nvPr>
            <p:ph idx="104" type="body" hasCustomPrompt="1"/>
          </p:nvPr>
        </p:nvSpPr>
        <p:spPr>
          <a:xfrm>
            <a:off x="2971800" y="1783080"/>
            <a:ext cx="5486400" cy="685800"/>
          </a:xfrm>
          <a:prstGeom prst="rect">
            <a:avLst/>
          </a:prstGeom>
          <a:noFill/>
          <a:ln/>
        </p:spPr>
        <p:txBody>
          <a:bodyPr wrap="square" lIns="0" tIns="0" rIns="0" bIns="0" rtlCol="0" anchor="t"/>
          <a:lstStyle/>
          <a:p>
            <a:pPr algn="ctr" indent="0" marL="0">
              <a:buNone/>
            </a:pPr>
            <a:r>
              <a:rPr lang="en-US" sz="1600" dirty="0">
                <a:solidFill>
                  <a:schemeClr val="accent4"/>
                </a:solidFill>
              </a:rPr>
              <a:t>One minute. The first pod face. Every shift start and after every break.</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What is First Face Fix?</a:t>
            </a:r>
            <a:endParaRPr lang="en-US" sz="2800" dirty="0"/>
          </a:p>
        </p:txBody>
      </p:sp>
      <p:sp>
        <p:nvSpPr>
          <p:cNvPr id="3" name="Stat card"/>
          <p:cNvSpPr/>
          <p:nvPr/>
        </p:nvSpPr>
        <p:spPr>
          <a:xfrm>
            <a:off x="457200" y="1325880"/>
            <a:ext cx="2011680" cy="3200400"/>
          </a:xfrm>
          <a:prstGeom prst="roundRect">
            <a:avLst>
              <a:gd name="adj" fmla="val 4545"/>
            </a:avLst>
          </a:prstGeom>
          <a:solidFill>
            <a:schemeClr val="tx2"/>
          </a:solidFill>
          <a:ln/>
        </p:spPr>
      </p:sp>
      <p:sp>
        <p:nvSpPr>
          <p:cNvPr id="4" name="Stat"/>
          <p:cNvSpPr txBox="1"/>
          <p:nvPr/>
        </p:nvSpPr>
        <p:spPr>
          <a:xfrm>
            <a:off x="685800" y="1325880"/>
            <a:ext cx="1554480" cy="3200400"/>
          </a:xfrm>
          <a:prstGeom prst="rect">
            <a:avLst/>
          </a:prstGeom>
          <a:noFill/>
          <a:ln/>
        </p:spPr>
        <p:txBody>
          <a:bodyPr wrap="square" lIns="0" tIns="0" rIns="0" bIns="0" rtlCol="0" anchor="ctr"/>
          <a:lstStyle/>
          <a:p>
            <a:pPr indent="0" marL="0">
              <a:buNone/>
            </a:pPr>
            <a:r>
              <a:rPr lang="en-US" sz="7200" b="1" dirty="0">
                <a:solidFill>
                  <a:schemeClr val="accent1"/>
                </a:solidFill>
              </a:rPr>
              <a:t>1</a:t>
            </a:r>
            <a:endParaRPr lang="en-US" sz="7200" dirty="0"/>
          </a:p>
          <a:p>
            <a:pPr indent="0" marL="0">
              <a:buNone/>
            </a:pPr>
            <a:r>
              <a:rPr lang="en-US" sz="1600" dirty="0">
                <a:solidFill>
                  <a:schemeClr val="bg1"/>
                </a:solidFill>
              </a:rPr>
              <a:t>minute to fix the first pod face</a:t>
            </a:r>
            <a:endParaRPr lang="en-US" sz="7200" dirty="0"/>
          </a:p>
        </p:txBody>
      </p:sp>
      <p:pic>
        <p:nvPicPr>
          <p:cNvPr id="5" name="Fact icon 1" descr="preencoded.png">    </p:cNvPr>
          <p:cNvPicPr>
            <a:picLocks noChangeAspect="1"/>
          </p:cNvPicPr>
          <p:nvPr/>
        </p:nvPicPr>
        <p:blipFill>
          <a:blip r:embed="rId1"/>
          <a:stretch>
            <a:fillRect/>
          </a:stretch>
        </p:blipFill>
        <p:spPr>
          <a:xfrm>
            <a:off x="2743200" y="1444752"/>
            <a:ext cx="347472" cy="347472"/>
          </a:xfrm>
          <a:prstGeom prst="rect">
            <a:avLst/>
          </a:prstGeom>
        </p:spPr>
      </p:pic>
      <p:sp>
        <p:nvSpPr>
          <p:cNvPr id="6" name="Fact 1"/>
          <p:cNvSpPr txBox="1"/>
          <p:nvPr/>
        </p:nvSpPr>
        <p:spPr>
          <a:xfrm>
            <a:off x="3246120" y="1371600"/>
            <a:ext cx="2606040" cy="868680"/>
          </a:xfrm>
          <a:prstGeom prst="rect">
            <a:avLst/>
          </a:prstGeom>
          <a:noFill/>
          <a:ln/>
        </p:spPr>
        <p:txBody>
          <a:bodyPr wrap="square" lIns="0" tIns="0" rIns="0" bIns="0" rtlCol="0" anchor="t"/>
          <a:lstStyle/>
          <a:p>
            <a:pPr indent="0" marL="0">
              <a:buNone/>
            </a:pPr>
            <a:r>
              <a:rPr lang="en-US" sz="1700" b="1" dirty="0">
                <a:solidFill>
                  <a:schemeClr val="tx1"/>
                </a:solidFill>
              </a:rPr>
              <a:t>When</a:t>
            </a:r>
            <a:endParaRPr lang="en-US" sz="1700" dirty="0"/>
          </a:p>
          <a:p>
            <a:pPr indent="0" marL="0">
              <a:buNone/>
            </a:pPr>
            <a:r>
              <a:rPr lang="en-US" sz="1400" dirty="0">
                <a:solidFill>
                  <a:schemeClr val="accent4"/>
                </a:solidFill>
              </a:rPr>
              <a:t>At shift start and after every break</a:t>
            </a:r>
            <a:endParaRPr lang="en-US" sz="1700" dirty="0"/>
          </a:p>
        </p:txBody>
      </p:sp>
      <p:pic>
        <p:nvPicPr>
          <p:cNvPr id="7" name="Fact icon 2" descr="preencoded.png">    </p:cNvPr>
          <p:cNvPicPr>
            <a:picLocks noChangeAspect="1"/>
          </p:cNvPicPr>
          <p:nvPr/>
        </p:nvPicPr>
        <p:blipFill>
          <a:blip r:embed="rId2"/>
          <a:stretch>
            <a:fillRect/>
          </a:stretch>
        </p:blipFill>
        <p:spPr>
          <a:xfrm>
            <a:off x="2743200" y="2514600"/>
            <a:ext cx="347472" cy="347472"/>
          </a:xfrm>
          <a:prstGeom prst="rect">
            <a:avLst/>
          </a:prstGeom>
        </p:spPr>
      </p:pic>
      <p:sp>
        <p:nvSpPr>
          <p:cNvPr id="8" name="Fact 2"/>
          <p:cNvSpPr txBox="1"/>
          <p:nvPr/>
        </p:nvSpPr>
        <p:spPr>
          <a:xfrm>
            <a:off x="3246120" y="2441448"/>
            <a:ext cx="2606040" cy="868680"/>
          </a:xfrm>
          <a:prstGeom prst="rect">
            <a:avLst/>
          </a:prstGeom>
          <a:noFill/>
          <a:ln/>
        </p:spPr>
        <p:txBody>
          <a:bodyPr wrap="square" lIns="0" tIns="0" rIns="0" bIns="0" rtlCol="0" anchor="t"/>
          <a:lstStyle/>
          <a:p>
            <a:pPr indent="0" marL="0">
              <a:buNone/>
            </a:pPr>
            <a:r>
              <a:rPr lang="en-US" sz="1700" b="1" dirty="0">
                <a:solidFill>
                  <a:schemeClr val="tx1"/>
                </a:solidFill>
              </a:rPr>
              <a:t>What</a:t>
            </a:r>
            <a:endParaRPr lang="en-US" sz="1700" dirty="0"/>
          </a:p>
          <a:p>
            <a:pPr indent="0" marL="0">
              <a:buNone/>
            </a:pPr>
            <a:r>
              <a:rPr lang="en-US" sz="1400" dirty="0">
                <a:solidFill>
                  <a:schemeClr val="accent4"/>
                </a:solidFill>
              </a:rPr>
              <a:t>The first pod face that arrives at your station</a:t>
            </a:r>
            <a:endParaRPr lang="en-US" sz="1700" dirty="0"/>
          </a:p>
        </p:txBody>
      </p:sp>
      <p:pic>
        <p:nvPicPr>
          <p:cNvPr id="9" name="Fact icon 3" descr="preencoded.png">    </p:cNvPr>
          <p:cNvPicPr>
            <a:picLocks noChangeAspect="1"/>
          </p:cNvPicPr>
          <p:nvPr/>
        </p:nvPicPr>
        <p:blipFill>
          <a:blip r:embed="rId3"/>
          <a:stretch>
            <a:fillRect/>
          </a:stretch>
        </p:blipFill>
        <p:spPr>
          <a:xfrm>
            <a:off x="2743200" y="3584448"/>
            <a:ext cx="347472" cy="347472"/>
          </a:xfrm>
          <a:prstGeom prst="rect">
            <a:avLst/>
          </a:prstGeom>
        </p:spPr>
      </p:pic>
      <p:sp>
        <p:nvSpPr>
          <p:cNvPr id="10" name="Fact 3"/>
          <p:cNvSpPr txBox="1"/>
          <p:nvPr/>
        </p:nvSpPr>
        <p:spPr>
          <a:xfrm>
            <a:off x="3246120" y="3511296"/>
            <a:ext cx="2606040" cy="868680"/>
          </a:xfrm>
          <a:prstGeom prst="rect">
            <a:avLst/>
          </a:prstGeom>
          <a:noFill/>
          <a:ln/>
        </p:spPr>
        <p:txBody>
          <a:bodyPr wrap="square" lIns="0" tIns="0" rIns="0" bIns="0" rtlCol="0" anchor="t"/>
          <a:lstStyle/>
          <a:p>
            <a:pPr indent="0" marL="0">
              <a:buNone/>
            </a:pPr>
            <a:r>
              <a:rPr lang="en-US" sz="1700" b="1" dirty="0">
                <a:solidFill>
                  <a:schemeClr val="tx1"/>
                </a:solidFill>
              </a:rPr>
              <a:t>Who</a:t>
            </a:r>
            <a:endParaRPr lang="en-US" sz="1700" dirty="0"/>
          </a:p>
          <a:p>
            <a:pPr indent="0" marL="0">
              <a:buNone/>
            </a:pPr>
            <a:r>
              <a:rPr lang="en-US" sz="1400" dirty="0">
                <a:solidFill>
                  <a:schemeClr val="accent4"/>
                </a:solidFill>
              </a:rPr>
              <a:t>All Stow and ICQA associates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How to do FFF in 4 steps</a:t>
            </a:r>
            <a:endParaRPr lang="en-US" sz="2800" dirty="0"/>
          </a:p>
        </p:txBody>
      </p:sp>
      <p:sp>
        <p:nvSpPr>
          <p:cNvPr id="3" name="Step badge 1"/>
          <p:cNvSpPr/>
          <p:nvPr/>
        </p:nvSpPr>
        <p:spPr>
          <a:xfrm>
            <a:off x="457200" y="1325880"/>
            <a:ext cx="548640" cy="548640"/>
          </a:xfrm>
          <a:prstGeom prst="ellipse">
            <a:avLst/>
          </a:prstGeom>
          <a:solidFill>
            <a:schemeClr val="accent1"/>
          </a:solidFill>
          <a:ln/>
        </p:spPr>
      </p:sp>
      <p:sp>
        <p:nvSpPr>
          <p:cNvPr id="4" name="Step number 1"/>
          <p:cNvSpPr txBox="1"/>
          <p:nvPr/>
        </p:nvSpPr>
        <p:spPr>
          <a:xfrm>
            <a:off x="457200" y="13258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Step 1"/>
          <p:cNvSpPr txBox="1"/>
          <p:nvPr/>
        </p:nvSpPr>
        <p:spPr>
          <a:xfrm>
            <a:off x="1280160" y="1261872"/>
            <a:ext cx="4572000" cy="685800"/>
          </a:xfrm>
          <a:prstGeom prst="rect">
            <a:avLst/>
          </a:prstGeom>
          <a:noFill/>
          <a:ln/>
        </p:spPr>
        <p:txBody>
          <a:bodyPr wrap="square" lIns="0" tIns="0" rIns="0" bIns="0" rtlCol="0" anchor="ctr"/>
          <a:lstStyle/>
          <a:p>
            <a:pPr indent="0" marL="0">
              <a:buNone/>
            </a:pPr>
            <a:r>
              <a:rPr lang="en-US" sz="1700" b="1" dirty="0">
                <a:solidFill>
                  <a:schemeClr val="tx1"/>
                </a:solidFill>
              </a:rPr>
              <a:t>Get ready</a:t>
            </a:r>
            <a:endParaRPr lang="en-US" sz="1700" dirty="0"/>
          </a:p>
          <a:p>
            <a:pPr indent="0" marL="0">
              <a:buNone/>
            </a:pPr>
            <a:r>
              <a:rPr lang="en-US" sz="1400" dirty="0">
                <a:solidFill>
                  <a:schemeClr val="accent4"/>
                </a:solidFill>
              </a:rPr>
              <a:t>Log in, choose your process path, check your station</a:t>
            </a:r>
            <a:endParaRPr lang="en-US" sz="1700" dirty="0"/>
          </a:p>
        </p:txBody>
      </p:sp>
      <p:sp>
        <p:nvSpPr>
          <p:cNvPr id="6" name="Step badge 2"/>
          <p:cNvSpPr/>
          <p:nvPr/>
        </p:nvSpPr>
        <p:spPr>
          <a:xfrm>
            <a:off x="457200" y="2148840"/>
            <a:ext cx="548640" cy="548640"/>
          </a:xfrm>
          <a:prstGeom prst="ellipse">
            <a:avLst/>
          </a:prstGeom>
          <a:solidFill>
            <a:schemeClr val="accent1"/>
          </a:solidFill>
          <a:ln/>
        </p:spPr>
      </p:sp>
      <p:sp>
        <p:nvSpPr>
          <p:cNvPr id="7" name="Step number 2"/>
          <p:cNvSpPr txBox="1"/>
          <p:nvPr/>
        </p:nvSpPr>
        <p:spPr>
          <a:xfrm>
            <a:off x="457200" y="21488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Step 2"/>
          <p:cNvSpPr txBox="1"/>
          <p:nvPr/>
        </p:nvSpPr>
        <p:spPr>
          <a:xfrm>
            <a:off x="1280160" y="2084832"/>
            <a:ext cx="4572000" cy="685800"/>
          </a:xfrm>
          <a:prstGeom prst="rect">
            <a:avLst/>
          </a:prstGeom>
          <a:noFill/>
          <a:ln/>
        </p:spPr>
        <p:txBody>
          <a:bodyPr wrap="square" lIns="0" tIns="0" rIns="0" bIns="0" rtlCol="0" anchor="ctr"/>
          <a:lstStyle/>
          <a:p>
            <a:pPr indent="0" marL="0">
              <a:buNone/>
            </a:pPr>
            <a:r>
              <a:rPr lang="en-US" sz="1700" b="1" dirty="0">
                <a:solidFill>
                  <a:schemeClr val="tx1"/>
                </a:solidFill>
              </a:rPr>
              <a:t>Work top to bottom</a:t>
            </a:r>
            <a:endParaRPr lang="en-US" sz="1700" dirty="0"/>
          </a:p>
          <a:p>
            <a:pPr indent="0" marL="0">
              <a:buNone/>
            </a:pPr>
            <a:r>
              <a:rPr lang="en-US" sz="1400" dirty="0">
                <a:solidFill>
                  <a:schemeClr val="accent4"/>
                </a:solidFill>
              </a:rPr>
              <a:t>Start at the top of the face and follow the stow snake</a:t>
            </a:r>
            <a:endParaRPr lang="en-US" sz="1700" dirty="0"/>
          </a:p>
        </p:txBody>
      </p:sp>
      <p:sp>
        <p:nvSpPr>
          <p:cNvPr id="9" name="Step badge 3"/>
          <p:cNvSpPr/>
          <p:nvPr/>
        </p:nvSpPr>
        <p:spPr>
          <a:xfrm>
            <a:off x="457200" y="2971800"/>
            <a:ext cx="548640" cy="548640"/>
          </a:xfrm>
          <a:prstGeom prst="ellipse">
            <a:avLst/>
          </a:prstGeom>
          <a:solidFill>
            <a:schemeClr val="accent1"/>
          </a:solidFill>
          <a:ln/>
        </p:spPr>
      </p:sp>
      <p:sp>
        <p:nvSpPr>
          <p:cNvPr id="10" name="Step number 3"/>
          <p:cNvSpPr txBox="1"/>
          <p:nvPr/>
        </p:nvSpPr>
        <p:spPr>
          <a:xfrm>
            <a:off x="457200" y="2971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1" name="Step 3"/>
          <p:cNvSpPr txBox="1"/>
          <p:nvPr/>
        </p:nvSpPr>
        <p:spPr>
          <a:xfrm>
            <a:off x="1280160" y="2907792"/>
            <a:ext cx="4572000" cy="685800"/>
          </a:xfrm>
          <a:prstGeom prst="rect">
            <a:avLst/>
          </a:prstGeom>
          <a:noFill/>
          <a:ln/>
        </p:spPr>
        <p:txBody>
          <a:bodyPr wrap="square" lIns="0" tIns="0" rIns="0" bIns="0" rtlCol="0" anchor="ctr"/>
          <a:lstStyle/>
          <a:p>
            <a:pPr indent="0" marL="0">
              <a:buNone/>
            </a:pPr>
            <a:r>
              <a:rPr lang="en-US" sz="1700" b="1" dirty="0">
                <a:solidFill>
                  <a:schemeClr val="tx1"/>
                </a:solidFill>
              </a:rPr>
              <a:t>Fix every bin</a:t>
            </a:r>
            <a:endParaRPr lang="en-US" sz="1700" dirty="0"/>
          </a:p>
          <a:p>
            <a:pPr indent="0" marL="0">
              <a:buNone/>
            </a:pPr>
            <a:r>
              <a:rPr lang="en-US" sz="1400" dirty="0">
                <a:solidFill>
                  <a:schemeClr val="accent4"/>
                </a:solidFill>
              </a:rPr>
              <a:t>Bring each bin up to the ROBOTSS rules</a:t>
            </a:r>
            <a:endParaRPr lang="en-US" sz="1700" dirty="0"/>
          </a:p>
        </p:txBody>
      </p:sp>
      <p:sp>
        <p:nvSpPr>
          <p:cNvPr id="12" name="Step badge 4"/>
          <p:cNvSpPr/>
          <p:nvPr/>
        </p:nvSpPr>
        <p:spPr>
          <a:xfrm>
            <a:off x="457200" y="3794760"/>
            <a:ext cx="548640" cy="548640"/>
          </a:xfrm>
          <a:prstGeom prst="ellipse">
            <a:avLst/>
          </a:prstGeom>
          <a:solidFill>
            <a:schemeClr val="accent1"/>
          </a:solidFill>
          <a:ln/>
        </p:spPr>
      </p:sp>
      <p:sp>
        <p:nvSpPr>
          <p:cNvPr id="13" name="Step number 4"/>
          <p:cNvSpPr txBox="1"/>
          <p:nvPr/>
        </p:nvSpPr>
        <p:spPr>
          <a:xfrm>
            <a:off x="457200" y="37947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4" name="Step 4"/>
          <p:cNvSpPr txBox="1"/>
          <p:nvPr/>
        </p:nvSpPr>
        <p:spPr>
          <a:xfrm>
            <a:off x="1280160" y="3730752"/>
            <a:ext cx="4572000" cy="685800"/>
          </a:xfrm>
          <a:prstGeom prst="rect">
            <a:avLst/>
          </a:prstGeom>
          <a:noFill/>
          <a:ln/>
        </p:spPr>
        <p:txBody>
          <a:bodyPr wrap="square" lIns="0" tIns="0" rIns="0" bIns="0" rtlCol="0" anchor="ctr"/>
          <a:lstStyle/>
          <a:p>
            <a:pPr indent="0" marL="0">
              <a:buNone/>
            </a:pPr>
            <a:r>
              <a:rPr lang="en-US" sz="1700" b="1" dirty="0">
                <a:solidFill>
                  <a:schemeClr val="tx1"/>
                </a:solidFill>
              </a:rPr>
              <a:t>Start your process</a:t>
            </a:r>
            <a:endParaRPr lang="en-US" sz="1700" dirty="0"/>
          </a:p>
          <a:p>
            <a:pPr indent="0" marL="0">
              <a:buNone/>
            </a:pPr>
            <a:r>
              <a:rPr lang="en-US" sz="1400" dirty="0">
                <a:solidFill>
                  <a:schemeClr val="accent4"/>
                </a:solidFill>
              </a:rPr>
              <a:t>After 1 minute, or once the face meets ROBOTSS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During FFF, do NOT</a:t>
            </a:r>
            <a:endParaRPr lang="en-US" sz="2800" dirty="0"/>
          </a:p>
        </p:txBody>
      </p:sp>
      <p:sp>
        <p:nvSpPr>
          <p:cNvPr id="3" name="Dont card 1"/>
          <p:cNvSpPr/>
          <p:nvPr/>
        </p:nvSpPr>
        <p:spPr>
          <a:xfrm>
            <a:off x="457200" y="1325880"/>
            <a:ext cx="1691640" cy="2194560"/>
          </a:xfrm>
          <a:prstGeom prst="roundRect">
            <a:avLst>
              <a:gd name="adj" fmla="val 5405"/>
            </a:avLst>
          </a:prstGeom>
          <a:solidFill>
            <a:srgbClr val="FBECEC"/>
          </a:solidFill>
          <a:ln/>
        </p:spPr>
      </p:sp>
      <p:pic>
        <p:nvPicPr>
          <p:cNvPr id="4" name="Dont icon 1" descr="preencoded.png">    </p:cNvPr>
          <p:cNvPicPr>
            <a:picLocks noChangeAspect="1"/>
          </p:cNvPicPr>
          <p:nvPr/>
        </p:nvPicPr>
        <p:blipFill>
          <a:blip r:embed="rId1"/>
          <a:stretch>
            <a:fillRect/>
          </a:stretch>
        </p:blipFill>
        <p:spPr>
          <a:xfrm>
            <a:off x="685800" y="1554480"/>
            <a:ext cx="457200" cy="457200"/>
          </a:xfrm>
          <a:prstGeom prst="rect">
            <a:avLst/>
          </a:prstGeom>
        </p:spPr>
      </p:pic>
      <p:pic>
        <p:nvPicPr>
          <p:cNvPr id="5" name="Ban icon 1" descr="preencoded.png">    </p:cNvPr>
          <p:cNvPicPr>
            <a:picLocks noChangeAspect="1"/>
          </p:cNvPicPr>
          <p:nvPr/>
        </p:nvPicPr>
        <p:blipFill>
          <a:blip r:embed="rId2"/>
          <a:stretch>
            <a:fillRect/>
          </a:stretch>
        </p:blipFill>
        <p:spPr>
          <a:xfrm>
            <a:off x="1554480" y="1554480"/>
            <a:ext cx="365760" cy="365760"/>
          </a:xfrm>
          <a:prstGeom prst="rect">
            <a:avLst/>
          </a:prstGeom>
        </p:spPr>
      </p:pic>
      <p:sp>
        <p:nvSpPr>
          <p:cNvPr id="6" name="Dont text 1"/>
          <p:cNvSpPr txBox="1"/>
          <p:nvPr/>
        </p:nvSpPr>
        <p:spPr>
          <a:xfrm>
            <a:off x="685800" y="2194560"/>
            <a:ext cx="1280160" cy="1234440"/>
          </a:xfrm>
          <a:prstGeom prst="rect">
            <a:avLst/>
          </a:prstGeom>
          <a:noFill/>
          <a:ln/>
        </p:spPr>
        <p:txBody>
          <a:bodyPr wrap="square" lIns="0" tIns="0" rIns="0" bIns="0" rtlCol="0" anchor="t"/>
          <a:lstStyle/>
          <a:p>
            <a:pPr indent="0" marL="0">
              <a:buNone/>
            </a:pPr>
            <a:r>
              <a:rPr lang="en-US" sz="2000" b="1" dirty="0">
                <a:solidFill>
                  <a:schemeClr val="accent3"/>
                </a:solidFill>
              </a:rPr>
              <a:t>Scan</a:t>
            </a:r>
            <a:endParaRPr lang="en-US" sz="2000" dirty="0"/>
          </a:p>
          <a:p>
            <a:pPr indent="0" marL="0">
              <a:buNone/>
            </a:pPr>
            <a:r>
              <a:rPr lang="en-US" sz="1400" dirty="0">
                <a:solidFill>
                  <a:schemeClr val="tx1"/>
                </a:solidFill>
              </a:rPr>
              <a:t>any articles in totes or bins</a:t>
            </a:r>
            <a:endParaRPr lang="en-US" sz="2000" dirty="0"/>
          </a:p>
        </p:txBody>
      </p:sp>
      <p:sp>
        <p:nvSpPr>
          <p:cNvPr id="7" name="Dont card 2"/>
          <p:cNvSpPr/>
          <p:nvPr/>
        </p:nvSpPr>
        <p:spPr>
          <a:xfrm>
            <a:off x="2286000" y="1325880"/>
            <a:ext cx="1691640" cy="2194560"/>
          </a:xfrm>
          <a:prstGeom prst="roundRect">
            <a:avLst>
              <a:gd name="adj" fmla="val 5405"/>
            </a:avLst>
          </a:prstGeom>
          <a:solidFill>
            <a:srgbClr val="FBECEC"/>
          </a:solidFill>
          <a:ln/>
        </p:spPr>
      </p:sp>
      <p:pic>
        <p:nvPicPr>
          <p:cNvPr id="8" name="Dont icon 2" descr="preencoded.png">    </p:cNvPr>
          <p:cNvPicPr>
            <a:picLocks noChangeAspect="1"/>
          </p:cNvPicPr>
          <p:nvPr/>
        </p:nvPicPr>
        <p:blipFill>
          <a:blip r:embed="rId3"/>
          <a:stretch>
            <a:fillRect/>
          </a:stretch>
        </p:blipFill>
        <p:spPr>
          <a:xfrm>
            <a:off x="2514600" y="1554480"/>
            <a:ext cx="457200" cy="457200"/>
          </a:xfrm>
          <a:prstGeom prst="rect">
            <a:avLst/>
          </a:prstGeom>
        </p:spPr>
      </p:pic>
      <p:pic>
        <p:nvPicPr>
          <p:cNvPr id="9" name="Ban icon 2" descr="preencoded.png">    </p:cNvPr>
          <p:cNvPicPr>
            <a:picLocks noChangeAspect="1"/>
          </p:cNvPicPr>
          <p:nvPr/>
        </p:nvPicPr>
        <p:blipFill>
          <a:blip r:embed="rId4"/>
          <a:stretch>
            <a:fillRect/>
          </a:stretch>
        </p:blipFill>
        <p:spPr>
          <a:xfrm>
            <a:off x="3383280" y="1554480"/>
            <a:ext cx="365760" cy="365760"/>
          </a:xfrm>
          <a:prstGeom prst="rect">
            <a:avLst/>
          </a:prstGeom>
        </p:spPr>
      </p:pic>
      <p:sp>
        <p:nvSpPr>
          <p:cNvPr id="10" name="Dont text 2"/>
          <p:cNvSpPr txBox="1"/>
          <p:nvPr/>
        </p:nvSpPr>
        <p:spPr>
          <a:xfrm>
            <a:off x="2514600" y="2194560"/>
            <a:ext cx="1280160" cy="1234440"/>
          </a:xfrm>
          <a:prstGeom prst="rect">
            <a:avLst/>
          </a:prstGeom>
          <a:noFill/>
          <a:ln/>
        </p:spPr>
        <p:txBody>
          <a:bodyPr wrap="square" lIns="0" tIns="0" rIns="0" bIns="0" rtlCol="0" anchor="t"/>
          <a:lstStyle/>
          <a:p>
            <a:pPr indent="0" marL="0">
              <a:buNone/>
            </a:pPr>
            <a:r>
              <a:rPr lang="en-US" sz="2000" b="1" dirty="0">
                <a:solidFill>
                  <a:schemeClr val="accent3"/>
                </a:solidFill>
              </a:rPr>
              <a:t>Move</a:t>
            </a:r>
            <a:endParaRPr lang="en-US" sz="2000" dirty="0"/>
          </a:p>
          <a:p>
            <a:pPr indent="0" marL="0">
              <a:buNone/>
            </a:pPr>
            <a:r>
              <a:rPr lang="en-US" sz="1400" dirty="0">
                <a:solidFill>
                  <a:schemeClr val="tx1"/>
                </a:solidFill>
              </a:rPr>
              <a:t>articles to a different bin</a:t>
            </a:r>
            <a:endParaRPr lang="en-US" sz="2000" dirty="0"/>
          </a:p>
        </p:txBody>
      </p:sp>
      <p:sp>
        <p:nvSpPr>
          <p:cNvPr id="11" name="Dont card 3"/>
          <p:cNvSpPr/>
          <p:nvPr/>
        </p:nvSpPr>
        <p:spPr>
          <a:xfrm>
            <a:off x="4114800" y="1325880"/>
            <a:ext cx="1691640" cy="2194560"/>
          </a:xfrm>
          <a:prstGeom prst="roundRect">
            <a:avLst>
              <a:gd name="adj" fmla="val 5405"/>
            </a:avLst>
          </a:prstGeom>
          <a:solidFill>
            <a:srgbClr val="FBECEC"/>
          </a:solidFill>
          <a:ln/>
        </p:spPr>
      </p:sp>
      <p:pic>
        <p:nvPicPr>
          <p:cNvPr id="12" name="Dont icon 3" descr="preencoded.png">    </p:cNvPr>
          <p:cNvPicPr>
            <a:picLocks noChangeAspect="1"/>
          </p:cNvPicPr>
          <p:nvPr/>
        </p:nvPicPr>
        <p:blipFill>
          <a:blip r:embed="rId5"/>
          <a:stretch>
            <a:fillRect/>
          </a:stretch>
        </p:blipFill>
        <p:spPr>
          <a:xfrm>
            <a:off x="4343400" y="1554480"/>
            <a:ext cx="457200" cy="457200"/>
          </a:xfrm>
          <a:prstGeom prst="rect">
            <a:avLst/>
          </a:prstGeom>
        </p:spPr>
      </p:pic>
      <p:pic>
        <p:nvPicPr>
          <p:cNvPr id="13" name="Ban icon 3" descr="preencoded.png">    </p:cNvPr>
          <p:cNvPicPr>
            <a:picLocks noChangeAspect="1"/>
          </p:cNvPicPr>
          <p:nvPr/>
        </p:nvPicPr>
        <p:blipFill>
          <a:blip r:embed="rId6"/>
          <a:stretch>
            <a:fillRect/>
          </a:stretch>
        </p:blipFill>
        <p:spPr>
          <a:xfrm>
            <a:off x="5212080" y="1554480"/>
            <a:ext cx="365760" cy="365760"/>
          </a:xfrm>
          <a:prstGeom prst="rect">
            <a:avLst/>
          </a:prstGeom>
        </p:spPr>
      </p:pic>
      <p:sp>
        <p:nvSpPr>
          <p:cNvPr id="14" name="Dont text 3"/>
          <p:cNvSpPr txBox="1"/>
          <p:nvPr/>
        </p:nvSpPr>
        <p:spPr>
          <a:xfrm>
            <a:off x="4343400" y="2194560"/>
            <a:ext cx="1280160" cy="1234440"/>
          </a:xfrm>
          <a:prstGeom prst="rect">
            <a:avLst/>
          </a:prstGeom>
          <a:noFill/>
          <a:ln/>
        </p:spPr>
        <p:txBody>
          <a:bodyPr wrap="square" lIns="0" tIns="0" rIns="0" bIns="0" rtlCol="0" anchor="t"/>
          <a:lstStyle/>
          <a:p>
            <a:pPr indent="0" marL="0">
              <a:buNone/>
            </a:pPr>
            <a:r>
              <a:rPr lang="en-US" sz="2000" b="1" dirty="0">
                <a:solidFill>
                  <a:schemeClr val="accent3"/>
                </a:solidFill>
              </a:rPr>
              <a:t>Remove</a:t>
            </a:r>
            <a:endParaRPr lang="en-US" sz="2000" dirty="0"/>
          </a:p>
          <a:p>
            <a:pPr indent="0" marL="0">
              <a:buNone/>
            </a:pPr>
            <a:r>
              <a:rPr lang="en-US" sz="1400" dirty="0">
                <a:solidFill>
                  <a:schemeClr val="tx1"/>
                </a:solidFill>
              </a:rPr>
              <a:t>any articles from bins</a:t>
            </a:r>
            <a:endParaRPr lang="en-US" sz="2000" dirty="0"/>
          </a:p>
        </p:txBody>
      </p:sp>
      <p:pic>
        <p:nvPicPr>
          <p:cNvPr id="15" name="Check icon" descr="preencoded.png">    </p:cNvPr>
          <p:cNvPicPr>
            <a:picLocks noChangeAspect="1"/>
          </p:cNvPicPr>
          <p:nvPr/>
        </p:nvPicPr>
        <p:blipFill>
          <a:blip r:embed="rId7"/>
          <a:stretch>
            <a:fillRect/>
          </a:stretch>
        </p:blipFill>
        <p:spPr>
          <a:xfrm>
            <a:off x="457200" y="3886200"/>
            <a:ext cx="365760" cy="365760"/>
          </a:xfrm>
          <a:prstGeom prst="rect">
            <a:avLst/>
          </a:prstGeom>
        </p:spPr>
      </p:pic>
      <p:sp>
        <p:nvSpPr>
          <p:cNvPr id="16" name="Do text"/>
          <p:cNvSpPr txBox="1"/>
          <p:nvPr/>
        </p:nvSpPr>
        <p:spPr>
          <a:xfrm>
            <a:off x="1005840" y="3776472"/>
            <a:ext cx="4846320" cy="594360"/>
          </a:xfrm>
          <a:prstGeom prst="rect">
            <a:avLst/>
          </a:prstGeom>
          <a:noFill/>
          <a:ln/>
        </p:spPr>
        <p:txBody>
          <a:bodyPr wrap="square" lIns="0" tIns="0" rIns="0" bIns="0" rtlCol="0" anchor="ctr"/>
          <a:lstStyle/>
          <a:p>
            <a:pPr indent="0" marL="0">
              <a:buNone/>
            </a:pPr>
            <a:r>
              <a:rPr lang="en-US" sz="1600" b="1" dirty="0">
                <a:solidFill>
                  <a:schemeClr val="accent2"/>
                </a:solidFill>
              </a:rPr>
              <a:t>FFF is only about organizing what is already in each bin.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Then keep fixing as you go</a:t>
            </a:r>
            <a:endParaRPr lang="en-US" sz="2800" dirty="0"/>
          </a:p>
        </p:txBody>
      </p:sp>
      <p:sp>
        <p:nvSpPr>
          <p:cNvPr id="3" name="Quote card"/>
          <p:cNvSpPr/>
          <p:nvPr/>
        </p:nvSpPr>
        <p:spPr>
          <a:xfrm>
            <a:off x="457200" y="1325880"/>
            <a:ext cx="5394960" cy="1188720"/>
          </a:xfrm>
          <a:prstGeom prst="roundRect">
            <a:avLst>
              <a:gd name="adj" fmla="val 7692"/>
            </a:avLst>
          </a:prstGeom>
          <a:solidFill>
            <a:schemeClr val="bg1"/>
          </a:solidFill>
          <a:ln/>
        </p:spPr>
      </p:sp>
      <p:pic>
        <p:nvPicPr>
          <p:cNvPr id="4" name="Redo icon" descr="preencoded.png">    </p:cNvPr>
          <p:cNvPicPr>
            <a:picLocks noChangeAspect="1"/>
          </p:cNvPicPr>
          <p:nvPr/>
        </p:nvPicPr>
        <p:blipFill>
          <a:blip r:embed="rId1"/>
          <a:stretch>
            <a:fillRect/>
          </a:stretch>
        </p:blipFill>
        <p:spPr>
          <a:xfrm>
            <a:off x="731520" y="1709928"/>
            <a:ext cx="411480" cy="411480"/>
          </a:xfrm>
          <a:prstGeom prst="rect">
            <a:avLst/>
          </a:prstGeom>
        </p:spPr>
      </p:pic>
      <p:sp>
        <p:nvSpPr>
          <p:cNvPr id="5" name="Quote"/>
          <p:cNvSpPr txBox="1"/>
          <p:nvPr/>
        </p:nvSpPr>
        <p:spPr>
          <a:xfrm>
            <a:off x="1371600" y="1325880"/>
            <a:ext cx="4297680" cy="1188720"/>
          </a:xfrm>
          <a:prstGeom prst="rect">
            <a:avLst/>
          </a:prstGeom>
          <a:noFill/>
          <a:ln/>
        </p:spPr>
        <p:txBody>
          <a:bodyPr wrap="square" lIns="0" tIns="0" rIns="0" bIns="0" rtlCol="0" anchor="ctr"/>
          <a:lstStyle/>
          <a:p>
            <a:pPr indent="0" marL="0">
              <a:buNone/>
            </a:pPr>
            <a:r>
              <a:rPr lang="en-US" sz="1800" b="1" dirty="0">
                <a:solidFill>
                  <a:schemeClr val="tx1"/>
                </a:solidFill>
              </a:rPr>
              <a:t>Leave every bin better than you found it.</a:t>
            </a:r>
            <a:endParaRPr lang="en-US" sz="1800" dirty="0"/>
          </a:p>
          <a:p>
            <a:pPr indent="0" marL="0">
              <a:buNone/>
            </a:pPr>
            <a:r>
              <a:rPr lang="en-US" sz="1400" dirty="0">
                <a:solidFill>
                  <a:schemeClr val="accent4"/>
                </a:solidFill>
              </a:rPr>
              <a:t>Whenever your hands are in a bin, fix its etiquette.</a:t>
            </a:r>
            <a:endParaRPr lang="en-US" sz="1800" dirty="0"/>
          </a:p>
        </p:txBody>
      </p:sp>
      <p:sp>
        <p:nvSpPr>
          <p:cNvPr id="6" name="Stat 1"/>
          <p:cNvSpPr txBox="1"/>
          <p:nvPr/>
        </p:nvSpPr>
        <p:spPr>
          <a:xfrm>
            <a:off x="457200" y="2743200"/>
            <a:ext cx="2606040" cy="1463040"/>
          </a:xfrm>
          <a:prstGeom prst="rect">
            <a:avLst/>
          </a:prstGeom>
          <a:noFill/>
          <a:ln/>
        </p:spPr>
        <p:txBody>
          <a:bodyPr wrap="square" lIns="0" tIns="0" rIns="0" bIns="0" rtlCol="0" anchor="t"/>
          <a:lstStyle/>
          <a:p>
            <a:pPr indent="0" marL="0">
              <a:buNone/>
            </a:pPr>
            <a:r>
              <a:rPr lang="en-US" sz="5400" b="1" dirty="0">
                <a:solidFill>
                  <a:schemeClr val="accent1"/>
                </a:solidFill>
              </a:rPr>
              <a:t>15</a:t>
            </a:r>
            <a:endParaRPr lang="en-US" sz="5400" dirty="0"/>
          </a:p>
          <a:p>
            <a:pPr indent="0" marL="0">
              <a:buNone/>
            </a:pPr>
            <a:r>
              <a:rPr lang="en-US" sz="1500" dirty="0">
                <a:solidFill>
                  <a:schemeClr val="accent4"/>
                </a:solidFill>
              </a:rPr>
              <a:t>FFF audits per shift</a:t>
            </a:r>
            <a:endParaRPr lang="en-US" sz="5400" dirty="0"/>
          </a:p>
        </p:txBody>
      </p:sp>
      <p:sp>
        <p:nvSpPr>
          <p:cNvPr id="7" name="Stat 2"/>
          <p:cNvSpPr txBox="1"/>
          <p:nvPr/>
        </p:nvSpPr>
        <p:spPr>
          <a:xfrm>
            <a:off x="3246120" y="2743200"/>
            <a:ext cx="2606040" cy="1463040"/>
          </a:xfrm>
          <a:prstGeom prst="rect">
            <a:avLst/>
          </a:prstGeom>
          <a:noFill/>
          <a:ln/>
        </p:spPr>
        <p:txBody>
          <a:bodyPr wrap="square" lIns="0" tIns="0" rIns="0" bIns="0" rtlCol="0" anchor="t"/>
          <a:lstStyle/>
          <a:p>
            <a:pPr indent="0" marL="0">
              <a:buNone/>
            </a:pPr>
            <a:r>
              <a:rPr lang="en-US" sz="5400" b="1" dirty="0">
                <a:solidFill>
                  <a:schemeClr val="accent1"/>
                </a:solidFill>
              </a:rPr>
              <a:t>90%+</a:t>
            </a:r>
            <a:endParaRPr lang="en-US" sz="5400" dirty="0"/>
          </a:p>
          <a:p>
            <a:pPr indent="0" marL="0">
              <a:buNone/>
            </a:pPr>
            <a:r>
              <a:rPr lang="en-US" sz="1500" dirty="0">
                <a:solidFill>
                  <a:schemeClr val="accent4"/>
                </a:solidFill>
              </a:rPr>
              <a:t>daily compliance target</a:t>
            </a:r>
            <a:endParaRPr lang="en-US" sz="5400" dirty="0"/>
          </a:p>
        </p:txBody>
      </p:sp>
      <p:sp>
        <p:nvSpPr>
          <p:cNvPr id="8" name="Caption"/>
          <p:cNvSpPr txBox="1"/>
          <p:nvPr/>
        </p:nvSpPr>
        <p:spPr>
          <a:xfrm>
            <a:off x="457200" y="4343400"/>
            <a:ext cx="5394960" cy="320040"/>
          </a:xfrm>
          <a:prstGeom prst="rect">
            <a:avLst/>
          </a:prstGeom>
          <a:noFill/>
          <a:ln/>
        </p:spPr>
        <p:txBody>
          <a:bodyPr wrap="square" lIns="0" tIns="0" rIns="0" bIns="0" rtlCol="0" anchor="ctr"/>
          <a:lstStyle/>
          <a:p>
            <a:pPr indent="0" marL="0">
              <a:buNone/>
            </a:pPr>
            <a:r>
              <a:rPr lang="en-US" sz="1200" dirty="0">
                <a:solidFill>
                  <a:srgbClr val="7A8795"/>
                </a:solidFill>
              </a:rPr>
              <a:t>Audited by ICQA, Ops and L&amp;D, with feedback on the spot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2514600" y="502920"/>
            <a:ext cx="6400800" cy="320040"/>
          </a:xfrm>
          <a:prstGeom prst="rect">
            <a:avLst/>
          </a:prstGeom>
          <a:noFill/>
          <a:ln/>
        </p:spPr>
        <p:txBody>
          <a:bodyPr wrap="square" lIns="0" tIns="0" rIns="0" bIns="0" rtlCol="0"/>
          <a:lstStyle/>
          <a:p>
            <a:pPr algn="ctr" indent="0" marL="0">
              <a:buNone/>
            </a:pPr>
            <a:r>
              <a:rPr lang="en-US" sz="1300" b="1" spc="300" kern="0" dirty="0">
                <a:solidFill>
                  <a:schemeClr val="accent6"/>
                </a:solidFill>
              </a:rPr>
              <a:t>PART 2</a:t>
            </a:r>
            <a:endParaRPr lang="en-US" sz="1300" dirty="0"/>
          </a:p>
        </p:txBody>
      </p:sp>
      <p:sp>
        <p:nvSpPr>
          <p:cNvPr id="3" name="Text 1"/>
          <p:cNvSpPr/>
          <p:nvPr>
            <p:ph idx="103" type="title" hasCustomPrompt="1"/>
          </p:nvPr>
        </p:nvSpPr>
        <p:spPr>
          <a:xfrm>
            <a:off x="2514600" y="868680"/>
            <a:ext cx="6400800" cy="868680"/>
          </a:xfrm>
          <a:prstGeom prst="rect">
            <a:avLst/>
          </a:prstGeom>
          <a:noFill/>
          <a:ln/>
        </p:spPr>
        <p:txBody>
          <a:bodyPr wrap="square" lIns="0" tIns="0" rIns="0" bIns="0" rtlCol="0" anchor="ctr"/>
          <a:lstStyle/>
          <a:p>
            <a:pPr algn="ctr" indent="0" marL="0">
              <a:buNone/>
            </a:pPr>
            <a:r>
              <a:rPr lang="en-US" sz="3600" b="1" dirty="0">
                <a:solidFill>
                  <a:schemeClr val="tx1"/>
                </a:solidFill>
              </a:rPr>
              <a:t>Bin Etiquette: ROBOTSS</a:t>
            </a:r>
            <a:endParaRPr lang="en-US" sz="3600" dirty="0"/>
          </a:p>
        </p:txBody>
      </p:sp>
      <p:sp>
        <p:nvSpPr>
          <p:cNvPr id="4" name="Text 1"/>
          <p:cNvSpPr/>
          <p:nvPr>
            <p:ph idx="104" type="body" hasCustomPrompt="1"/>
          </p:nvPr>
        </p:nvSpPr>
        <p:spPr>
          <a:xfrm>
            <a:off x="2971800" y="1783080"/>
            <a:ext cx="5486400" cy="685800"/>
          </a:xfrm>
          <a:prstGeom prst="rect">
            <a:avLst/>
          </a:prstGeom>
          <a:noFill/>
          <a:ln/>
        </p:spPr>
        <p:txBody>
          <a:bodyPr wrap="square" lIns="0" tIns="0" rIns="0" bIns="0" rtlCol="0" anchor="t"/>
          <a:lstStyle/>
          <a:p>
            <a:pPr algn="ctr" indent="0" marL="0">
              <a:buNone/>
            </a:pPr>
            <a:r>
              <a:rPr lang="en-US" sz="1600" dirty="0">
                <a:solidFill>
                  <a:schemeClr val="accent4"/>
                </a:solidFill>
              </a:rPr>
              <a:t>Seven rules for every bin you touch, in Stow, Pick and ICQA.</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Seven rules, one word</a:t>
            </a:r>
            <a:endParaRPr lang="en-US" sz="2800" dirty="0"/>
          </a:p>
        </p:txBody>
      </p:sp>
      <p:sp>
        <p:nvSpPr>
          <p:cNvPr id="3" name="Tile 1"/>
          <p:cNvSpPr/>
          <p:nvPr/>
        </p:nvSpPr>
        <p:spPr>
          <a:xfrm>
            <a:off x="457200" y="1417320"/>
            <a:ext cx="676656" cy="868680"/>
          </a:xfrm>
          <a:prstGeom prst="roundRect">
            <a:avLst>
              <a:gd name="adj" fmla="val 13514"/>
            </a:avLst>
          </a:prstGeom>
          <a:solidFill>
            <a:schemeClr val="tx2"/>
          </a:solidFill>
          <a:ln/>
        </p:spPr>
      </p:sp>
      <p:sp>
        <p:nvSpPr>
          <p:cNvPr id="4" name="Letter 1"/>
          <p:cNvSpPr txBox="1"/>
          <p:nvPr/>
        </p:nvSpPr>
        <p:spPr>
          <a:xfrm>
            <a:off x="457200"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R</a:t>
            </a:r>
            <a:endParaRPr lang="en-US" sz="3600" dirty="0"/>
          </a:p>
        </p:txBody>
      </p:sp>
      <p:sp>
        <p:nvSpPr>
          <p:cNvPr id="5" name="Label 1"/>
          <p:cNvSpPr txBox="1"/>
          <p:nvPr/>
        </p:nvSpPr>
        <p:spPr>
          <a:xfrm>
            <a:off x="420624"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Right bin size</a:t>
            </a:r>
            <a:endParaRPr lang="en-US" sz="1200" dirty="0"/>
          </a:p>
        </p:txBody>
      </p:sp>
      <p:sp>
        <p:nvSpPr>
          <p:cNvPr id="6" name="Tile 2"/>
          <p:cNvSpPr/>
          <p:nvPr/>
        </p:nvSpPr>
        <p:spPr>
          <a:xfrm>
            <a:off x="1243584" y="1417320"/>
            <a:ext cx="676656" cy="868680"/>
          </a:xfrm>
          <a:prstGeom prst="roundRect">
            <a:avLst>
              <a:gd name="adj" fmla="val 13514"/>
            </a:avLst>
          </a:prstGeom>
          <a:solidFill>
            <a:schemeClr val="tx2"/>
          </a:solidFill>
          <a:ln/>
        </p:spPr>
      </p:sp>
      <p:sp>
        <p:nvSpPr>
          <p:cNvPr id="7" name="Letter 2"/>
          <p:cNvSpPr txBox="1"/>
          <p:nvPr/>
        </p:nvSpPr>
        <p:spPr>
          <a:xfrm>
            <a:off x="1243584"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O</a:t>
            </a:r>
            <a:endParaRPr lang="en-US" sz="3600" dirty="0"/>
          </a:p>
        </p:txBody>
      </p:sp>
      <p:sp>
        <p:nvSpPr>
          <p:cNvPr id="8" name="Label 2"/>
          <p:cNvSpPr txBox="1"/>
          <p:nvPr/>
        </p:nvSpPr>
        <p:spPr>
          <a:xfrm>
            <a:off x="1207008"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No overhang</a:t>
            </a:r>
            <a:endParaRPr lang="en-US" sz="1200" dirty="0"/>
          </a:p>
        </p:txBody>
      </p:sp>
      <p:sp>
        <p:nvSpPr>
          <p:cNvPr id="9" name="Tile 3"/>
          <p:cNvSpPr/>
          <p:nvPr/>
        </p:nvSpPr>
        <p:spPr>
          <a:xfrm>
            <a:off x="2029968" y="1417320"/>
            <a:ext cx="676656" cy="868680"/>
          </a:xfrm>
          <a:prstGeom prst="roundRect">
            <a:avLst>
              <a:gd name="adj" fmla="val 13514"/>
            </a:avLst>
          </a:prstGeom>
          <a:solidFill>
            <a:schemeClr val="tx2"/>
          </a:solidFill>
          <a:ln/>
        </p:spPr>
      </p:sp>
      <p:sp>
        <p:nvSpPr>
          <p:cNvPr id="10" name="Letter 3"/>
          <p:cNvSpPr txBox="1"/>
          <p:nvPr/>
        </p:nvSpPr>
        <p:spPr>
          <a:xfrm>
            <a:off x="2029968"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B</a:t>
            </a:r>
            <a:endParaRPr lang="en-US" sz="3600" dirty="0"/>
          </a:p>
        </p:txBody>
      </p:sp>
      <p:sp>
        <p:nvSpPr>
          <p:cNvPr id="11" name="Label 3"/>
          <p:cNvSpPr txBox="1"/>
          <p:nvPr/>
        </p:nvSpPr>
        <p:spPr>
          <a:xfrm>
            <a:off x="1993392"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Blocking</a:t>
            </a:r>
            <a:endParaRPr lang="en-US" sz="1200" dirty="0"/>
          </a:p>
        </p:txBody>
      </p:sp>
      <p:sp>
        <p:nvSpPr>
          <p:cNvPr id="12" name="Tile 4"/>
          <p:cNvSpPr/>
          <p:nvPr/>
        </p:nvSpPr>
        <p:spPr>
          <a:xfrm>
            <a:off x="2816352" y="1417320"/>
            <a:ext cx="676656" cy="868680"/>
          </a:xfrm>
          <a:prstGeom prst="roundRect">
            <a:avLst>
              <a:gd name="adj" fmla="val 13514"/>
            </a:avLst>
          </a:prstGeom>
          <a:solidFill>
            <a:schemeClr val="tx2"/>
          </a:solidFill>
          <a:ln/>
        </p:spPr>
      </p:sp>
      <p:sp>
        <p:nvSpPr>
          <p:cNvPr id="13" name="Letter 4"/>
          <p:cNvSpPr txBox="1"/>
          <p:nvPr/>
        </p:nvSpPr>
        <p:spPr>
          <a:xfrm>
            <a:off x="2816352"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O</a:t>
            </a:r>
            <a:endParaRPr lang="en-US" sz="3600" dirty="0"/>
          </a:p>
        </p:txBody>
      </p:sp>
      <p:sp>
        <p:nvSpPr>
          <p:cNvPr id="14" name="Label 4"/>
          <p:cNvSpPr txBox="1"/>
          <p:nvPr/>
        </p:nvSpPr>
        <p:spPr>
          <a:xfrm>
            <a:off x="2779776"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Over-stuffing</a:t>
            </a:r>
            <a:endParaRPr lang="en-US" sz="1200" dirty="0"/>
          </a:p>
        </p:txBody>
      </p:sp>
      <p:sp>
        <p:nvSpPr>
          <p:cNvPr id="15" name="Tile 5"/>
          <p:cNvSpPr/>
          <p:nvPr/>
        </p:nvSpPr>
        <p:spPr>
          <a:xfrm>
            <a:off x="3602736" y="1417320"/>
            <a:ext cx="676656" cy="868680"/>
          </a:xfrm>
          <a:prstGeom prst="roundRect">
            <a:avLst>
              <a:gd name="adj" fmla="val 13514"/>
            </a:avLst>
          </a:prstGeom>
          <a:solidFill>
            <a:schemeClr val="tx2"/>
          </a:solidFill>
          <a:ln/>
        </p:spPr>
      </p:sp>
      <p:sp>
        <p:nvSpPr>
          <p:cNvPr id="16" name="Letter 5"/>
          <p:cNvSpPr txBox="1"/>
          <p:nvPr/>
        </p:nvSpPr>
        <p:spPr>
          <a:xfrm>
            <a:off x="3602736"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T</a:t>
            </a:r>
            <a:endParaRPr lang="en-US" sz="3600" dirty="0"/>
          </a:p>
        </p:txBody>
      </p:sp>
      <p:sp>
        <p:nvSpPr>
          <p:cNvPr id="17" name="Label 5"/>
          <p:cNvSpPr txBox="1"/>
          <p:nvPr/>
        </p:nvSpPr>
        <p:spPr>
          <a:xfrm>
            <a:off x="3566160"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Titles out</a:t>
            </a:r>
            <a:endParaRPr lang="en-US" sz="1200" dirty="0"/>
          </a:p>
        </p:txBody>
      </p:sp>
      <p:sp>
        <p:nvSpPr>
          <p:cNvPr id="18" name="Tile 6"/>
          <p:cNvSpPr/>
          <p:nvPr/>
        </p:nvSpPr>
        <p:spPr>
          <a:xfrm>
            <a:off x="4389120" y="1417320"/>
            <a:ext cx="676656" cy="868680"/>
          </a:xfrm>
          <a:prstGeom prst="roundRect">
            <a:avLst>
              <a:gd name="adj" fmla="val 13514"/>
            </a:avLst>
          </a:prstGeom>
          <a:solidFill>
            <a:schemeClr val="tx2"/>
          </a:solidFill>
          <a:ln/>
        </p:spPr>
      </p:sp>
      <p:sp>
        <p:nvSpPr>
          <p:cNvPr id="19" name="Letter 6"/>
          <p:cNvSpPr txBox="1"/>
          <p:nvPr/>
        </p:nvSpPr>
        <p:spPr>
          <a:xfrm>
            <a:off x="4389120"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S</a:t>
            </a:r>
            <a:endParaRPr lang="en-US" sz="3600" dirty="0"/>
          </a:p>
        </p:txBody>
      </p:sp>
      <p:sp>
        <p:nvSpPr>
          <p:cNvPr id="20" name="Label 6"/>
          <p:cNvSpPr txBox="1"/>
          <p:nvPr/>
        </p:nvSpPr>
        <p:spPr>
          <a:xfrm>
            <a:off x="4352544"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Stacking</a:t>
            </a:r>
            <a:endParaRPr lang="en-US" sz="1200" dirty="0"/>
          </a:p>
        </p:txBody>
      </p:sp>
      <p:sp>
        <p:nvSpPr>
          <p:cNvPr id="21" name="Tile 7"/>
          <p:cNvSpPr/>
          <p:nvPr/>
        </p:nvSpPr>
        <p:spPr>
          <a:xfrm>
            <a:off x="5175504" y="1417320"/>
            <a:ext cx="676656" cy="868680"/>
          </a:xfrm>
          <a:prstGeom prst="roundRect">
            <a:avLst>
              <a:gd name="adj" fmla="val 13514"/>
            </a:avLst>
          </a:prstGeom>
          <a:solidFill>
            <a:schemeClr val="tx2"/>
          </a:solidFill>
          <a:ln/>
        </p:spPr>
      </p:sp>
      <p:sp>
        <p:nvSpPr>
          <p:cNvPr id="22" name="Letter 7"/>
          <p:cNvSpPr txBox="1"/>
          <p:nvPr/>
        </p:nvSpPr>
        <p:spPr>
          <a:xfrm>
            <a:off x="5175504"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S</a:t>
            </a:r>
            <a:endParaRPr lang="en-US" sz="3600" dirty="0"/>
          </a:p>
        </p:txBody>
      </p:sp>
      <p:sp>
        <p:nvSpPr>
          <p:cNvPr id="23" name="Label 7"/>
          <p:cNvSpPr txBox="1"/>
          <p:nvPr/>
        </p:nvSpPr>
        <p:spPr>
          <a:xfrm>
            <a:off x="5138928"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Similar items</a:t>
            </a:r>
            <a:endParaRPr lang="en-US" sz="1200" dirty="0"/>
          </a:p>
        </p:txBody>
      </p:sp>
      <p:sp>
        <p:nvSpPr>
          <p:cNvPr id="24" name="Why card"/>
          <p:cNvSpPr/>
          <p:nvPr/>
        </p:nvSpPr>
        <p:spPr>
          <a:xfrm>
            <a:off x="457200" y="3429000"/>
            <a:ext cx="5394960" cy="1097280"/>
          </a:xfrm>
          <a:prstGeom prst="roundRect">
            <a:avLst>
              <a:gd name="adj" fmla="val 8333"/>
            </a:avLst>
          </a:prstGeom>
          <a:solidFill>
            <a:schemeClr val="bg1"/>
          </a:solidFill>
          <a:ln/>
        </p:spPr>
      </p:sp>
      <p:sp>
        <p:nvSpPr>
          <p:cNvPr id="25" name="Why text"/>
          <p:cNvSpPr txBox="1"/>
          <p:nvPr/>
        </p:nvSpPr>
        <p:spPr>
          <a:xfrm>
            <a:off x="731520" y="3429000"/>
            <a:ext cx="4846320" cy="1097280"/>
          </a:xfrm>
          <a:prstGeom prst="rect">
            <a:avLst/>
          </a:prstGeom>
          <a:noFill/>
          <a:ln/>
        </p:spPr>
        <p:txBody>
          <a:bodyPr wrap="square" lIns="0" tIns="0" rIns="0" bIns="0" rtlCol="0" anchor="ctr"/>
          <a:lstStyle/>
          <a:p>
            <a:pPr indent="0" marL="0">
              <a:buNone/>
            </a:pPr>
            <a:r>
              <a:rPr lang="en-US" sz="1500" b="1" dirty="0">
                <a:solidFill>
                  <a:schemeClr val="tx1"/>
                </a:solidFill>
              </a:rPr>
              <a:t>Why it matters: </a:t>
            </a:r>
            <a:pPr indent="0" marL="0">
              <a:buNone/>
            </a:pPr>
            <a:r>
              <a:rPr lang="en-US" sz="1500" dirty="0">
                <a:solidFill>
                  <a:schemeClr val="accent4"/>
                </a:solidFill>
              </a:rPr>
              <a:t>pickers find items faster, bins hold more, and nothing falls out when the pod moves.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R: Right bin size</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Right bin size: wrong example. A tiny item in a big bin wastes space">    </p:cNvPr>
          <p:cNvPicPr>
            <a:picLocks noChangeAspect="1"/>
          </p:cNvPicPr>
          <p:nvPr/>
        </p:nvPicPr>
        <p:blipFill>
          <a:blip r:embed="rId1"/>
          <a:stretch>
            <a:fillRect/>
          </a:stretch>
        </p:blipFill>
        <p:spPr>
          <a:xfrm>
            <a:off x="733451" y="1417320"/>
            <a:ext cx="2053538"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WRONG: </a:t>
            </a:r>
            <a:pPr algn="ctr" indent="0" marL="0">
              <a:buNone/>
            </a:pPr>
            <a:r>
              <a:rPr lang="en-US" sz="1300" dirty="0">
                <a:solidFill>
                  <a:schemeClr val="tx1"/>
                </a:solidFill>
              </a:rPr>
              <a:t>A tiny item in a big bin wastes space</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Right bin size: right example. The item suits the size of the bin">    </p:cNvPr>
          <p:cNvPicPr>
            <a:picLocks noChangeAspect="1"/>
          </p:cNvPicPr>
          <p:nvPr/>
        </p:nvPicPr>
        <p:blipFill>
          <a:blip r:embed="rId2"/>
          <a:stretch>
            <a:fillRect/>
          </a:stretch>
        </p:blipFill>
        <p:spPr>
          <a:xfrm>
            <a:off x="3478987" y="1417320"/>
            <a:ext cx="2140307"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RIGHT: </a:t>
            </a:r>
            <a:pPr algn="ctr" indent="0" marL="0">
              <a:buNone/>
            </a:pPr>
            <a:r>
              <a:rPr lang="en-US" sz="1300" dirty="0">
                <a:solidFill>
                  <a:schemeClr val="tx1"/>
                </a:solidFill>
              </a:rPr>
              <a:t>The item suits the size of the bin</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Use the smallest bin possible, and place items by length first.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O: No overhang</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No overhang: wrong example. The box sticks out past the bin edge">    </p:cNvPr>
          <p:cNvPicPr>
            <a:picLocks noChangeAspect="1"/>
          </p:cNvPicPr>
          <p:nvPr/>
        </p:nvPicPr>
        <p:blipFill>
          <a:blip r:embed="rId1"/>
          <a:stretch>
            <a:fillRect/>
          </a:stretch>
        </p:blipFill>
        <p:spPr>
          <a:xfrm>
            <a:off x="700128" y="1417320"/>
            <a:ext cx="2120184"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WRONG: </a:t>
            </a:r>
            <a:pPr algn="ctr" indent="0" marL="0">
              <a:buNone/>
            </a:pPr>
            <a:r>
              <a:rPr lang="en-US" sz="1300" dirty="0">
                <a:solidFill>
                  <a:schemeClr val="tx1"/>
                </a:solidFill>
              </a:rPr>
              <a:t>The box sticks out past the bin edge</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No overhang: right example. Everything sits fully inside the bin">    </p:cNvPr>
          <p:cNvPicPr>
            <a:picLocks noChangeAspect="1"/>
          </p:cNvPicPr>
          <p:nvPr/>
        </p:nvPicPr>
        <p:blipFill>
          <a:blip r:embed="rId2"/>
          <a:stretch>
            <a:fillRect/>
          </a:stretch>
        </p:blipFill>
        <p:spPr>
          <a:xfrm>
            <a:off x="3521332" y="1417320"/>
            <a:ext cx="2055616"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RIGHT: </a:t>
            </a:r>
            <a:pPr algn="ctr" indent="0" marL="0">
              <a:buNone/>
            </a:pPr>
            <a:r>
              <a:rPr lang="en-US" sz="1300" dirty="0">
                <a:solidFill>
                  <a:schemeClr val="tx1"/>
                </a:solidFill>
              </a:rPr>
              <a:t>Everything sits fully inside the bin</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All items must fit inside the bin. Overhang causes drive obstructions and pod crashes.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B: Blocking</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Blocking: wrong example. A flat item in front hides the items behind it">    </p:cNvPr>
          <p:cNvPicPr>
            <a:picLocks noChangeAspect="1"/>
          </p:cNvPicPr>
          <p:nvPr/>
        </p:nvPicPr>
        <p:blipFill>
          <a:blip r:embed="rId1"/>
          <a:stretch>
            <a:fillRect/>
          </a:stretch>
        </p:blipFill>
        <p:spPr>
          <a:xfrm>
            <a:off x="706557" y="1417320"/>
            <a:ext cx="2107326"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WRONG: </a:t>
            </a:r>
            <a:pPr algn="ctr" indent="0" marL="0">
              <a:buNone/>
            </a:pPr>
            <a:r>
              <a:rPr lang="en-US" sz="1300" dirty="0">
                <a:solidFill>
                  <a:schemeClr val="tx1"/>
                </a:solidFill>
              </a:rPr>
              <a:t>A flat item in front hides the items behind it</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Blocking: right example. Every item is visible from the front">    </p:cNvPr>
          <p:cNvPicPr>
            <a:picLocks noChangeAspect="1"/>
          </p:cNvPicPr>
          <p:nvPr/>
        </p:nvPicPr>
        <p:blipFill>
          <a:blip r:embed="rId2"/>
          <a:stretch>
            <a:fillRect/>
          </a:stretch>
        </p:blipFill>
        <p:spPr>
          <a:xfrm>
            <a:off x="3489168" y="1417320"/>
            <a:ext cx="2119945"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RIGHT: </a:t>
            </a:r>
            <a:pPr algn="ctr" indent="0" marL="0">
              <a:buNone/>
            </a:pPr>
            <a:r>
              <a:rPr lang="en-US" sz="1300" dirty="0">
                <a:solidFill>
                  <a:schemeClr val="tx1"/>
                </a:solidFill>
              </a:rPr>
              <a:t>Every item is visible from the front</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Never block small items with larger ones. Stand flat items upright.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O: Overstuffing</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Overstuffing: wrong example. Items forced in, the bin is bulging">    </p:cNvPr>
          <p:cNvPicPr>
            <a:picLocks noChangeAspect="1"/>
          </p:cNvPicPr>
          <p:nvPr/>
        </p:nvPicPr>
        <p:blipFill>
          <a:blip r:embed="rId1"/>
          <a:stretch>
            <a:fillRect/>
          </a:stretch>
        </p:blipFill>
        <p:spPr>
          <a:xfrm>
            <a:off x="619733" y="1417320"/>
            <a:ext cx="2280974"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WRONG: </a:t>
            </a:r>
            <a:pPr algn="ctr" indent="0" marL="0">
              <a:buNone/>
            </a:pPr>
            <a:r>
              <a:rPr lang="en-US" sz="1300" dirty="0">
                <a:solidFill>
                  <a:schemeClr val="tx1"/>
                </a:solidFill>
              </a:rPr>
              <a:t>Items forced in, the bin is bulging</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Overstuffing: right example. Items fit with room to pick">    </p:cNvPr>
          <p:cNvPicPr>
            <a:picLocks noChangeAspect="1"/>
          </p:cNvPicPr>
          <p:nvPr/>
        </p:nvPicPr>
        <p:blipFill>
          <a:blip r:embed="rId2"/>
          <a:stretch>
            <a:fillRect/>
          </a:stretch>
        </p:blipFill>
        <p:spPr>
          <a:xfrm>
            <a:off x="3413099" y="1417320"/>
            <a:ext cx="2272081"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RIGHT: </a:t>
            </a:r>
            <a:pPr algn="ctr" indent="0" marL="0">
              <a:buNone/>
            </a:pPr>
            <a:r>
              <a:rPr lang="en-US" sz="1300" dirty="0">
                <a:solidFill>
                  <a:schemeClr val="tx1"/>
                </a:solidFill>
              </a:rPr>
              <a:t>Items fit with room to pick</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Don't overfill bins. Forcing items in damages customer products.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T: Titles out</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Titles out: wrong example. Spines face in, so titles can't be read">    </p:cNvPr>
          <p:cNvPicPr>
            <a:picLocks noChangeAspect="1"/>
          </p:cNvPicPr>
          <p:nvPr/>
        </p:nvPicPr>
        <p:blipFill>
          <a:blip r:embed="rId1"/>
          <a:stretch>
            <a:fillRect/>
          </a:stretch>
        </p:blipFill>
        <p:spPr>
          <a:xfrm>
            <a:off x="592074" y="1417320"/>
            <a:ext cx="2336292"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WRONG: </a:t>
            </a:r>
            <a:pPr algn="ctr" indent="0" marL="0">
              <a:buNone/>
            </a:pPr>
            <a:r>
              <a:rPr lang="en-US" sz="1300" dirty="0">
                <a:solidFill>
                  <a:schemeClr val="tx1"/>
                </a:solidFill>
              </a:rPr>
              <a:t>Spines face in, so titles can't be read</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Titles out: right example. Spines face out, titles easy to read">    </p:cNvPr>
          <p:cNvPicPr>
            <a:picLocks noChangeAspect="1"/>
          </p:cNvPicPr>
          <p:nvPr/>
        </p:nvPicPr>
        <p:blipFill>
          <a:blip r:embed="rId2"/>
          <a:stretch>
            <a:fillRect/>
          </a:stretch>
        </p:blipFill>
        <p:spPr>
          <a:xfrm>
            <a:off x="3385566" y="1417320"/>
            <a:ext cx="2327148"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RIGHT: </a:t>
            </a:r>
            <a:pPr algn="ctr" indent="0" marL="0">
              <a:buNone/>
            </a:pPr>
            <a:r>
              <a:rPr lang="en-US" sz="1300" dirty="0">
                <a:solidFill>
                  <a:schemeClr val="tx1"/>
                </a:solidFill>
              </a:rPr>
              <a:t>Spines face out, titles easy to read</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Books and DVDs go in with the spine facing out.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S: Stacking</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Stacking: wrong example. Different items stacked on top of each other">    </p:cNvPr>
          <p:cNvPicPr>
            <a:picLocks noChangeAspect="1"/>
          </p:cNvPicPr>
          <p:nvPr/>
        </p:nvPicPr>
        <p:blipFill>
          <a:blip r:embed="rId1"/>
          <a:stretch>
            <a:fillRect/>
          </a:stretch>
        </p:blipFill>
        <p:spPr>
          <a:xfrm>
            <a:off x="623277" y="1417320"/>
            <a:ext cx="2273886"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WRONG: </a:t>
            </a:r>
            <a:pPr algn="ctr" indent="0" marL="0">
              <a:buNone/>
            </a:pPr>
            <a:r>
              <a:rPr lang="en-US" sz="1300" dirty="0">
                <a:solidFill>
                  <a:schemeClr val="tx1"/>
                </a:solidFill>
              </a:rPr>
              <a:t>Different items stacked on top of each other</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Stacking: right example. Items stand side by side, below the bands">    </p:cNvPr>
          <p:cNvPicPr>
            <a:picLocks noChangeAspect="1"/>
          </p:cNvPicPr>
          <p:nvPr/>
        </p:nvPicPr>
        <p:blipFill>
          <a:blip r:embed="rId2"/>
          <a:stretch>
            <a:fillRect/>
          </a:stretch>
        </p:blipFill>
        <p:spPr>
          <a:xfrm>
            <a:off x="3430172" y="1417320"/>
            <a:ext cx="2237935"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RIGHT: </a:t>
            </a:r>
            <a:pPr algn="ctr" indent="0" marL="0">
              <a:buNone/>
            </a:pPr>
            <a:r>
              <a:rPr lang="en-US" sz="1300" dirty="0">
                <a:solidFill>
                  <a:schemeClr val="tx1"/>
                </a:solidFill>
              </a:rPr>
              <a:t>Items stand side by side, below the bands</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Only stack the same ASIN, with two flat sides, and stay below the bands.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S: Similar items</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Similar items: wrong example. Two look-alike items share one bin">    </p:cNvPr>
          <p:cNvPicPr>
            <a:picLocks noChangeAspect="1"/>
          </p:cNvPicPr>
          <p:nvPr/>
        </p:nvPicPr>
        <p:blipFill>
          <a:blip r:embed="rId1"/>
          <a:stretch>
            <a:fillRect/>
          </a:stretch>
        </p:blipFill>
        <p:spPr>
          <a:xfrm>
            <a:off x="608511" y="1417320"/>
            <a:ext cx="2303417"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WRONG: </a:t>
            </a:r>
            <a:pPr algn="ctr" indent="0" marL="0">
              <a:buNone/>
            </a:pPr>
            <a:r>
              <a:rPr lang="en-US" sz="1300" dirty="0">
                <a:solidFill>
                  <a:schemeClr val="tx1"/>
                </a:solidFill>
              </a:rPr>
              <a:t>Two look-alike items share one bin</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Similar items: right example. Look-alikes are kept in different bins">    </p:cNvPr>
          <p:cNvPicPr>
            <a:picLocks noChangeAspect="1"/>
          </p:cNvPicPr>
          <p:nvPr/>
        </p:nvPicPr>
        <p:blipFill>
          <a:blip r:embed="rId2"/>
          <a:stretch>
            <a:fillRect/>
          </a:stretch>
        </p:blipFill>
        <p:spPr>
          <a:xfrm>
            <a:off x="3397431" y="1417320"/>
            <a:ext cx="2303417"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RIGHT: </a:t>
            </a:r>
            <a:pPr algn="ctr" indent="0" marL="0">
              <a:buNone/>
            </a:pPr>
            <a:r>
              <a:rPr lang="en-US" sz="1300" dirty="0">
                <a:solidFill>
                  <a:schemeClr val="tx1"/>
                </a:solidFill>
              </a:rPr>
              <a:t>Look-alikes are kept in different bins</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Use the cross method. The system won't always flag similar items on screen.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For pickers: one item at a time</a:t>
            </a:r>
            <a:endParaRPr lang="en-US" sz="2800" dirty="0"/>
          </a:p>
        </p:txBody>
      </p:sp>
      <p:sp>
        <p:nvSpPr>
          <p:cNvPr id="3" name="Stat card"/>
          <p:cNvSpPr/>
          <p:nvPr/>
        </p:nvSpPr>
        <p:spPr>
          <a:xfrm>
            <a:off x="457200" y="1325880"/>
            <a:ext cx="2011680" cy="3200400"/>
          </a:xfrm>
          <a:prstGeom prst="roundRect">
            <a:avLst>
              <a:gd name="adj" fmla="val 4545"/>
            </a:avLst>
          </a:prstGeom>
          <a:solidFill>
            <a:schemeClr val="tx2"/>
          </a:solidFill>
          <a:ln/>
        </p:spPr>
      </p:sp>
      <p:sp>
        <p:nvSpPr>
          <p:cNvPr id="4" name="Stat"/>
          <p:cNvSpPr txBox="1"/>
          <p:nvPr/>
        </p:nvSpPr>
        <p:spPr>
          <a:xfrm>
            <a:off x="685800" y="1325880"/>
            <a:ext cx="1554480" cy="3200400"/>
          </a:xfrm>
          <a:prstGeom prst="rect">
            <a:avLst/>
          </a:prstGeom>
          <a:noFill/>
          <a:ln/>
        </p:spPr>
        <p:txBody>
          <a:bodyPr wrap="square" lIns="0" tIns="0" rIns="0" bIns="0" rtlCol="0" anchor="ctr"/>
          <a:lstStyle/>
          <a:p>
            <a:pPr indent="0" marL="0">
              <a:buNone/>
            </a:pPr>
            <a:r>
              <a:rPr lang="en-US" sz="7200" b="1" dirty="0">
                <a:solidFill>
                  <a:schemeClr val="accent1"/>
                </a:solidFill>
              </a:rPr>
              <a:t>1</a:t>
            </a:r>
            <a:endParaRPr lang="en-US" sz="7200" dirty="0"/>
          </a:p>
          <a:p>
            <a:pPr indent="0" marL="0">
              <a:buNone/>
            </a:pPr>
            <a:r>
              <a:rPr lang="en-US" sz="1600" dirty="0">
                <a:solidFill>
                  <a:schemeClr val="bg1"/>
                </a:solidFill>
              </a:rPr>
              <a:t>item in your hands at a time</a:t>
            </a:r>
            <a:endParaRPr lang="en-US" sz="7200" dirty="0"/>
          </a:p>
        </p:txBody>
      </p:sp>
      <p:pic>
        <p:nvPicPr>
          <p:cNvPr id="5" name="Flow icon 1" descr="preencoded.png">    </p:cNvPr>
          <p:cNvPicPr>
            <a:picLocks noChangeAspect="1"/>
          </p:cNvPicPr>
          <p:nvPr/>
        </p:nvPicPr>
        <p:blipFill>
          <a:blip r:embed="rId1"/>
          <a:stretch>
            <a:fillRect/>
          </a:stretch>
        </p:blipFill>
        <p:spPr>
          <a:xfrm>
            <a:off x="2743200" y="1444752"/>
            <a:ext cx="347472" cy="347472"/>
          </a:xfrm>
          <a:prstGeom prst="rect">
            <a:avLst/>
          </a:prstGeom>
        </p:spPr>
      </p:pic>
      <p:sp>
        <p:nvSpPr>
          <p:cNvPr id="6" name="Flow 1"/>
          <p:cNvSpPr txBox="1"/>
          <p:nvPr/>
        </p:nvSpPr>
        <p:spPr>
          <a:xfrm>
            <a:off x="3246120" y="1371600"/>
            <a:ext cx="2606040" cy="868680"/>
          </a:xfrm>
          <a:prstGeom prst="rect">
            <a:avLst/>
          </a:prstGeom>
          <a:noFill/>
          <a:ln/>
        </p:spPr>
        <p:txBody>
          <a:bodyPr wrap="square" lIns="0" tIns="0" rIns="0" bIns="0" rtlCol="0" anchor="t"/>
          <a:lstStyle/>
          <a:p>
            <a:pPr indent="0" marL="0">
              <a:buNone/>
            </a:pPr>
            <a:r>
              <a:rPr lang="en-US" sz="1700" b="1" dirty="0">
                <a:solidFill>
                  <a:schemeClr val="tx1"/>
                </a:solidFill>
              </a:rPr>
              <a:t>Take one item</a:t>
            </a:r>
            <a:endParaRPr lang="en-US" sz="1700" dirty="0"/>
          </a:p>
          <a:p>
            <a:pPr indent="0" marL="0">
              <a:buNone/>
            </a:pPr>
            <a:r>
              <a:rPr lang="en-US" sz="1400" dirty="0">
                <a:solidFill>
                  <a:schemeClr val="accent4"/>
                </a:solidFill>
              </a:rPr>
              <a:t>Pick a single item, using both hands</a:t>
            </a:r>
            <a:endParaRPr lang="en-US" sz="1700" dirty="0"/>
          </a:p>
        </p:txBody>
      </p:sp>
      <p:pic>
        <p:nvPicPr>
          <p:cNvPr id="7" name="Flow icon 2" descr="preencoded.png">    </p:cNvPr>
          <p:cNvPicPr>
            <a:picLocks noChangeAspect="1"/>
          </p:cNvPicPr>
          <p:nvPr/>
        </p:nvPicPr>
        <p:blipFill>
          <a:blip r:embed="rId2"/>
          <a:stretch>
            <a:fillRect/>
          </a:stretch>
        </p:blipFill>
        <p:spPr>
          <a:xfrm>
            <a:off x="2743200" y="2514600"/>
            <a:ext cx="347472" cy="347472"/>
          </a:xfrm>
          <a:prstGeom prst="rect">
            <a:avLst/>
          </a:prstGeom>
        </p:spPr>
      </p:pic>
      <p:sp>
        <p:nvSpPr>
          <p:cNvPr id="8" name="Flow 2"/>
          <p:cNvSpPr txBox="1"/>
          <p:nvPr/>
        </p:nvSpPr>
        <p:spPr>
          <a:xfrm>
            <a:off x="3246120" y="2441448"/>
            <a:ext cx="2606040" cy="868680"/>
          </a:xfrm>
          <a:prstGeom prst="rect">
            <a:avLst/>
          </a:prstGeom>
          <a:noFill/>
          <a:ln/>
        </p:spPr>
        <p:txBody>
          <a:bodyPr wrap="square" lIns="0" tIns="0" rIns="0" bIns="0" rtlCol="0" anchor="t"/>
          <a:lstStyle/>
          <a:p>
            <a:pPr indent="0" marL="0">
              <a:buNone/>
            </a:pPr>
            <a:r>
              <a:rPr lang="en-US" sz="1700" b="1" dirty="0">
                <a:solidFill>
                  <a:schemeClr val="tx1"/>
                </a:solidFill>
              </a:rPr>
              <a:t>Scan it once</a:t>
            </a:r>
            <a:endParaRPr lang="en-US" sz="1700" dirty="0"/>
          </a:p>
          <a:p>
            <a:pPr indent="0" marL="0">
              <a:buNone/>
            </a:pPr>
            <a:r>
              <a:rPr lang="en-US" sz="1400" dirty="0">
                <a:solidFill>
                  <a:schemeClr val="accent4"/>
                </a:solidFill>
              </a:rPr>
              <a:t>One item, one scan</a:t>
            </a:r>
            <a:endParaRPr lang="en-US" sz="1700" dirty="0"/>
          </a:p>
        </p:txBody>
      </p:sp>
      <p:pic>
        <p:nvPicPr>
          <p:cNvPr id="9" name="Flow icon 3" descr="preencoded.png">    </p:cNvPr>
          <p:cNvPicPr>
            <a:picLocks noChangeAspect="1"/>
          </p:cNvPicPr>
          <p:nvPr/>
        </p:nvPicPr>
        <p:blipFill>
          <a:blip r:embed="rId3"/>
          <a:stretch>
            <a:fillRect/>
          </a:stretch>
        </p:blipFill>
        <p:spPr>
          <a:xfrm>
            <a:off x="2743200" y="3584448"/>
            <a:ext cx="347472" cy="347472"/>
          </a:xfrm>
          <a:prstGeom prst="rect">
            <a:avLst/>
          </a:prstGeom>
        </p:spPr>
      </p:pic>
      <p:sp>
        <p:nvSpPr>
          <p:cNvPr id="10" name="Flow 3"/>
          <p:cNvSpPr txBox="1"/>
          <p:nvPr/>
        </p:nvSpPr>
        <p:spPr>
          <a:xfrm>
            <a:off x="3246120" y="3511296"/>
            <a:ext cx="2606040" cy="868680"/>
          </a:xfrm>
          <a:prstGeom prst="rect">
            <a:avLst/>
          </a:prstGeom>
          <a:noFill/>
          <a:ln/>
        </p:spPr>
        <p:txBody>
          <a:bodyPr wrap="square" lIns="0" tIns="0" rIns="0" bIns="0" rtlCol="0" anchor="t"/>
          <a:lstStyle/>
          <a:p>
            <a:pPr indent="0" marL="0">
              <a:buNone/>
            </a:pPr>
            <a:r>
              <a:rPr lang="en-US" sz="1700" b="1" dirty="0">
                <a:solidFill>
                  <a:schemeClr val="tx1"/>
                </a:solidFill>
              </a:rPr>
              <a:t>Place it in your tote</a:t>
            </a:r>
            <a:endParaRPr lang="en-US" sz="1700" dirty="0"/>
          </a:p>
          <a:p>
            <a:pPr indent="0" marL="0">
              <a:buNone/>
            </a:pPr>
            <a:r>
              <a:rPr lang="en-US" sz="1400" dirty="0">
                <a:solidFill>
                  <a:schemeClr val="accent4"/>
                </a:solidFill>
              </a:rPr>
              <a:t>Before you reach back into the bin</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Bin by bin, every shift</a:t>
            </a:r>
            <a:endParaRPr lang="en-US" sz="2800" dirty="0"/>
          </a:p>
        </p:txBody>
      </p:sp>
      <p:sp>
        <p:nvSpPr>
          <p:cNvPr id="3" name="Recap circle 1"/>
          <p:cNvSpPr/>
          <p:nvPr/>
        </p:nvSpPr>
        <p:spPr>
          <a:xfrm>
            <a:off x="868680" y="1371600"/>
            <a:ext cx="868680" cy="868680"/>
          </a:xfrm>
          <a:prstGeom prst="ellipse">
            <a:avLst/>
          </a:prstGeom>
          <a:solidFill>
            <a:schemeClr val="accent1"/>
          </a:solidFill>
          <a:ln/>
        </p:spPr>
      </p:sp>
      <p:pic>
        <p:nvPicPr>
          <p:cNvPr id="4" name="Recap icon 1" descr="preencoded.png">    </p:cNvPr>
          <p:cNvPicPr>
            <a:picLocks noChangeAspect="1"/>
          </p:cNvPicPr>
          <p:nvPr/>
        </p:nvPicPr>
        <p:blipFill>
          <a:blip r:embed="rId1"/>
          <a:stretch>
            <a:fillRect/>
          </a:stretch>
        </p:blipFill>
        <p:spPr>
          <a:xfrm>
            <a:off x="1088136" y="1591056"/>
            <a:ext cx="429768" cy="429768"/>
          </a:xfrm>
          <a:prstGeom prst="rect">
            <a:avLst/>
          </a:prstGeom>
        </p:spPr>
      </p:pic>
      <p:sp>
        <p:nvSpPr>
          <p:cNvPr id="5" name="Recap text 1"/>
          <p:cNvSpPr txBox="1"/>
          <p:nvPr/>
        </p:nvSpPr>
        <p:spPr>
          <a:xfrm>
            <a:off x="457200" y="2423160"/>
            <a:ext cx="1691640" cy="1097280"/>
          </a:xfrm>
          <a:prstGeom prst="rect">
            <a:avLst/>
          </a:prstGeom>
          <a:noFill/>
          <a:ln/>
        </p:spPr>
        <p:txBody>
          <a:bodyPr wrap="square" lIns="0" tIns="0" rIns="0" bIns="0" rtlCol="0" anchor="t"/>
          <a:lstStyle/>
          <a:p>
            <a:pPr algn="ctr" indent="0" marL="0">
              <a:buNone/>
            </a:pPr>
            <a:r>
              <a:rPr lang="en-US" sz="1300" dirty="0">
                <a:solidFill>
                  <a:schemeClr val="accent4"/>
                </a:solidFill>
              </a:rPr>
              <a:t>Stow and ICQA, at shift start</a:t>
            </a:r>
            <a:endParaRPr lang="en-US" sz="1300" dirty="0"/>
          </a:p>
          <a:p>
            <a:pPr algn="ctr" indent="0" marL="0">
              <a:buNone/>
            </a:pPr>
            <a:r>
              <a:rPr lang="en-US" sz="1700" b="1" dirty="0">
                <a:solidFill>
                  <a:schemeClr val="tx1"/>
                </a:solidFill>
              </a:rPr>
              <a:t>1-minute First Face Fix</a:t>
            </a:r>
            <a:endParaRPr lang="en-US" sz="1300" dirty="0"/>
          </a:p>
        </p:txBody>
      </p:sp>
      <p:pic>
        <p:nvPicPr>
          <p:cNvPr id="6" name="Arrow 1" descr="preencoded.png">    </p:cNvPr>
          <p:cNvPicPr>
            <a:picLocks noChangeAspect="1"/>
          </p:cNvPicPr>
          <p:nvPr/>
        </p:nvPicPr>
        <p:blipFill>
          <a:blip r:embed="rId2"/>
          <a:stretch>
            <a:fillRect/>
          </a:stretch>
        </p:blipFill>
        <p:spPr>
          <a:xfrm>
            <a:off x="2121408" y="1664208"/>
            <a:ext cx="274320" cy="274320"/>
          </a:xfrm>
          <a:prstGeom prst="rect">
            <a:avLst/>
          </a:prstGeom>
        </p:spPr>
      </p:pic>
      <p:sp>
        <p:nvSpPr>
          <p:cNvPr id="7" name="Recap circle 2"/>
          <p:cNvSpPr/>
          <p:nvPr/>
        </p:nvSpPr>
        <p:spPr>
          <a:xfrm>
            <a:off x="2697480" y="1371600"/>
            <a:ext cx="868680" cy="868680"/>
          </a:xfrm>
          <a:prstGeom prst="ellipse">
            <a:avLst/>
          </a:prstGeom>
          <a:solidFill>
            <a:schemeClr val="accent1"/>
          </a:solidFill>
          <a:ln/>
        </p:spPr>
      </p:sp>
      <p:pic>
        <p:nvPicPr>
          <p:cNvPr id="8" name="Recap icon 2" descr="preencoded.png">    </p:cNvPr>
          <p:cNvPicPr>
            <a:picLocks noChangeAspect="1"/>
          </p:cNvPicPr>
          <p:nvPr/>
        </p:nvPicPr>
        <p:blipFill>
          <a:blip r:embed="rId3"/>
          <a:stretch>
            <a:fillRect/>
          </a:stretch>
        </p:blipFill>
        <p:spPr>
          <a:xfrm>
            <a:off x="2916936" y="1591056"/>
            <a:ext cx="429768" cy="429768"/>
          </a:xfrm>
          <a:prstGeom prst="rect">
            <a:avLst/>
          </a:prstGeom>
        </p:spPr>
      </p:pic>
      <p:sp>
        <p:nvSpPr>
          <p:cNvPr id="9" name="Recap text 2"/>
          <p:cNvSpPr txBox="1"/>
          <p:nvPr/>
        </p:nvSpPr>
        <p:spPr>
          <a:xfrm>
            <a:off x="2286000" y="2423160"/>
            <a:ext cx="1691640" cy="1097280"/>
          </a:xfrm>
          <a:prstGeom prst="rect">
            <a:avLst/>
          </a:prstGeom>
          <a:noFill/>
          <a:ln/>
        </p:spPr>
        <p:txBody>
          <a:bodyPr wrap="square" lIns="0" tIns="0" rIns="0" bIns="0" rtlCol="0" anchor="t"/>
          <a:lstStyle/>
          <a:p>
            <a:pPr algn="ctr" indent="0" marL="0">
              <a:buNone/>
            </a:pPr>
            <a:r>
              <a:rPr lang="en-US" sz="1300" dirty="0">
                <a:solidFill>
                  <a:schemeClr val="accent4"/>
                </a:solidFill>
              </a:rPr>
              <a:t>Every bin you touch</a:t>
            </a:r>
            <a:endParaRPr lang="en-US" sz="1300" dirty="0"/>
          </a:p>
          <a:p>
            <a:pPr algn="ctr" indent="0" marL="0">
              <a:buNone/>
            </a:pPr>
            <a:r>
              <a:rPr lang="en-US" sz="1700" b="1" dirty="0">
                <a:solidFill>
                  <a:schemeClr val="tx1"/>
                </a:solidFill>
              </a:rPr>
              <a:t>ROBOTSS, fix as you go</a:t>
            </a:r>
            <a:endParaRPr lang="en-US" sz="1300" dirty="0"/>
          </a:p>
        </p:txBody>
      </p:sp>
      <p:pic>
        <p:nvPicPr>
          <p:cNvPr id="10" name="Arrow 2" descr="preencoded.png">    </p:cNvPr>
          <p:cNvPicPr>
            <a:picLocks noChangeAspect="1"/>
          </p:cNvPicPr>
          <p:nvPr/>
        </p:nvPicPr>
        <p:blipFill>
          <a:blip r:embed="rId4"/>
          <a:stretch>
            <a:fillRect/>
          </a:stretch>
        </p:blipFill>
        <p:spPr>
          <a:xfrm>
            <a:off x="3950208" y="1664208"/>
            <a:ext cx="274320" cy="274320"/>
          </a:xfrm>
          <a:prstGeom prst="rect">
            <a:avLst/>
          </a:prstGeom>
        </p:spPr>
      </p:pic>
      <p:sp>
        <p:nvSpPr>
          <p:cNvPr id="11" name="Recap circle 3"/>
          <p:cNvSpPr/>
          <p:nvPr/>
        </p:nvSpPr>
        <p:spPr>
          <a:xfrm>
            <a:off x="4526280" y="1371600"/>
            <a:ext cx="868680" cy="868680"/>
          </a:xfrm>
          <a:prstGeom prst="ellipse">
            <a:avLst/>
          </a:prstGeom>
          <a:solidFill>
            <a:schemeClr val="accent1"/>
          </a:solidFill>
          <a:ln/>
        </p:spPr>
      </p:sp>
      <p:pic>
        <p:nvPicPr>
          <p:cNvPr id="12" name="Recap icon 3" descr="preencoded.png">    </p:cNvPr>
          <p:cNvPicPr>
            <a:picLocks noChangeAspect="1"/>
          </p:cNvPicPr>
          <p:nvPr/>
        </p:nvPicPr>
        <p:blipFill>
          <a:blip r:embed="rId5"/>
          <a:stretch>
            <a:fillRect/>
          </a:stretch>
        </p:blipFill>
        <p:spPr>
          <a:xfrm>
            <a:off x="4745736" y="1591056"/>
            <a:ext cx="429768" cy="429768"/>
          </a:xfrm>
          <a:prstGeom prst="rect">
            <a:avLst/>
          </a:prstGeom>
        </p:spPr>
      </p:pic>
      <p:sp>
        <p:nvSpPr>
          <p:cNvPr id="13" name="Recap text 3"/>
          <p:cNvSpPr txBox="1"/>
          <p:nvPr/>
        </p:nvSpPr>
        <p:spPr>
          <a:xfrm>
            <a:off x="4114800" y="2423160"/>
            <a:ext cx="1691640" cy="1097280"/>
          </a:xfrm>
          <a:prstGeom prst="rect">
            <a:avLst/>
          </a:prstGeom>
          <a:noFill/>
          <a:ln/>
        </p:spPr>
        <p:txBody>
          <a:bodyPr wrap="square" lIns="0" tIns="0" rIns="0" bIns="0" rtlCol="0" anchor="t"/>
          <a:lstStyle/>
          <a:p>
            <a:pPr algn="ctr" indent="0" marL="0">
              <a:buNone/>
            </a:pPr>
            <a:r>
              <a:rPr lang="en-US" sz="1300" dirty="0">
                <a:solidFill>
                  <a:schemeClr val="accent4"/>
                </a:solidFill>
              </a:rPr>
              <a:t>Found an item?</a:t>
            </a:r>
            <a:endParaRPr lang="en-US" sz="1300" dirty="0"/>
          </a:p>
          <a:p>
            <a:pPr algn="ctr" indent="0" marL="0">
              <a:buNone/>
            </a:pPr>
            <a:r>
              <a:rPr lang="en-US" sz="1700" b="1" dirty="0">
                <a:solidFill>
                  <a:schemeClr val="tx1"/>
                </a:solidFill>
              </a:rPr>
              <a:t>Amnesty or problem solve?</a:t>
            </a:r>
            <a:endParaRPr lang="en-US" sz="1300" dirty="0"/>
          </a:p>
        </p:txBody>
      </p:sp>
      <p:sp>
        <p:nvSpPr>
          <p:cNvPr id="14" name="Goal card"/>
          <p:cNvSpPr/>
          <p:nvPr/>
        </p:nvSpPr>
        <p:spPr>
          <a:xfrm>
            <a:off x="457200" y="3749040"/>
            <a:ext cx="5394960" cy="777240"/>
          </a:xfrm>
          <a:prstGeom prst="roundRect">
            <a:avLst>
              <a:gd name="adj" fmla="val 11765"/>
            </a:avLst>
          </a:prstGeom>
          <a:solidFill>
            <a:schemeClr val="tx2"/>
          </a:solidFill>
          <a:ln/>
        </p:spPr>
      </p:sp>
      <p:sp>
        <p:nvSpPr>
          <p:cNvPr id="15" name="Goal text"/>
          <p:cNvSpPr txBox="1"/>
          <p:nvPr/>
        </p:nvSpPr>
        <p:spPr>
          <a:xfrm>
            <a:off x="731520" y="3749040"/>
            <a:ext cx="4846320" cy="777240"/>
          </a:xfrm>
          <a:prstGeom prst="rect">
            <a:avLst/>
          </a:prstGeom>
          <a:noFill/>
          <a:ln/>
        </p:spPr>
        <p:txBody>
          <a:bodyPr wrap="square" lIns="0" tIns="0" rIns="0" bIns="0" rtlCol="0" anchor="ctr"/>
          <a:lstStyle/>
          <a:p>
            <a:pPr indent="0" marL="0">
              <a:buNone/>
            </a:pPr>
            <a:r>
              <a:rPr lang="en-US" sz="1600" b="1" dirty="0">
                <a:solidFill>
                  <a:srgbClr val="9EDFF7"/>
                </a:solidFill>
              </a:rPr>
              <a:t>Goal: </a:t>
            </a:r>
            <a:pPr indent="0" marL="0">
              <a:buNone/>
            </a:pPr>
            <a:r>
              <a:rPr lang="en-US" sz="1600" dirty="0">
                <a:solidFill>
                  <a:schemeClr val="bg1"/>
                </a:solidFill>
              </a:rPr>
              <a:t>an accurate wAPMT, fewer units falling, happier customers.</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Closing title"/>
          <p:cNvSpPr txBox="1"/>
          <p:nvPr/>
        </p:nvSpPr>
        <p:spPr>
          <a:xfrm>
            <a:off x="1371600" y="411480"/>
            <a:ext cx="6400800" cy="640080"/>
          </a:xfrm>
          <a:prstGeom prst="rect">
            <a:avLst/>
          </a:prstGeom>
          <a:noFill/>
          <a:ln/>
        </p:spPr>
        <p:txBody>
          <a:bodyPr wrap="square" lIns="0" tIns="0" rIns="0" bIns="0" rtlCol="0" anchor="ctr"/>
          <a:lstStyle/>
          <a:p>
            <a:pPr algn="ctr" indent="0" marL="0">
              <a:buNone/>
            </a:pPr>
            <a:r>
              <a:rPr lang="en-US" sz="3200" dirty="0">
                <a:solidFill>
                  <a:schemeClr val="accent1"/>
                </a:solidFill>
                <a:latin typeface="Arial" pitchFamily="34" charset="0"/>
                <a:ea typeface="Arial" pitchFamily="34" charset="-122"/>
                <a:cs typeface="Arial" pitchFamily="34" charset="-120"/>
              </a:rPr>
              <a:t>Learn and be curious</a:t>
            </a:r>
            <a:endParaRPr lang="en-US" sz="3200" dirty="0"/>
          </a:p>
        </p:txBody>
      </p:sp>
      <p:sp>
        <p:nvSpPr>
          <p:cNvPr id="3" name="Closing tagline"/>
          <p:cNvSpPr txBox="1"/>
          <p:nvPr/>
        </p:nvSpPr>
        <p:spPr>
          <a:xfrm>
            <a:off x="1371600" y="2651760"/>
            <a:ext cx="6400800" cy="457200"/>
          </a:xfrm>
          <a:prstGeom prst="rect">
            <a:avLst/>
          </a:prstGeom>
          <a:noFill/>
          <a:ln/>
        </p:spPr>
        <p:txBody>
          <a:bodyPr wrap="square" lIns="0" tIns="0" rIns="0" bIns="0" rtlCol="0" anchor="ctr"/>
          <a:lstStyle/>
          <a:p>
            <a:pPr algn="ctr" indent="0" marL="0">
              <a:buNone/>
            </a:pPr>
            <a:r>
              <a:rPr lang="en-US" sz="1800" b="1" dirty="0">
                <a:solidFill>
                  <a:schemeClr val="tx1"/>
                </a:solidFill>
              </a:rPr>
              <a:t>Small fixes. Big impact.</a:t>
            </a:r>
            <a:endParaRPr lang="en-US" sz="1800" dirty="0"/>
          </a:p>
        </p:txBody>
      </p:sp>
      <p:sp>
        <p:nvSpPr>
          <p:cNvPr id="4" name="Rate label"/>
          <p:cNvSpPr txBox="1"/>
          <p:nvPr/>
        </p:nvSpPr>
        <p:spPr>
          <a:xfrm>
            <a:off x="2788920" y="3429000"/>
            <a:ext cx="1600200" cy="365760"/>
          </a:xfrm>
          <a:prstGeom prst="rect">
            <a:avLst/>
          </a:prstGeom>
          <a:noFill/>
          <a:ln/>
        </p:spPr>
        <p:txBody>
          <a:bodyPr wrap="square" lIns="0" tIns="0" rIns="0" bIns="0" rtlCol="0" anchor="ctr"/>
          <a:lstStyle/>
          <a:p>
            <a:pPr algn="r" indent="0" marL="0">
              <a:buNone/>
            </a:pPr>
            <a:r>
              <a:rPr lang="en-US" sz="1600" dirty="0">
                <a:solidFill>
                  <a:schemeClr val="tx1"/>
                </a:solidFill>
              </a:rPr>
              <a:t>Rate this video</a:t>
            </a:r>
            <a:endParaRPr lang="en-US" sz="1600" dirty="0"/>
          </a:p>
        </p:txBody>
      </p:sp>
      <p:pic>
        <p:nvPicPr>
          <p:cNvPr id="5" name="Star 1" descr="preencoded.png">    </p:cNvPr>
          <p:cNvPicPr>
            <a:picLocks noChangeAspect="1"/>
          </p:cNvPicPr>
          <p:nvPr/>
        </p:nvPicPr>
        <p:blipFill>
          <a:blip r:embed="rId1"/>
          <a:stretch>
            <a:fillRect/>
          </a:stretch>
        </p:blipFill>
        <p:spPr>
          <a:xfrm>
            <a:off x="4526280" y="3474720"/>
            <a:ext cx="274320" cy="274320"/>
          </a:xfrm>
          <a:prstGeom prst="rect">
            <a:avLst/>
          </a:prstGeom>
        </p:spPr>
      </p:pic>
      <p:pic>
        <p:nvPicPr>
          <p:cNvPr id="6" name="Star 2" descr="preencoded.png">    </p:cNvPr>
          <p:cNvPicPr>
            <a:picLocks noChangeAspect="1"/>
          </p:cNvPicPr>
          <p:nvPr/>
        </p:nvPicPr>
        <p:blipFill>
          <a:blip r:embed="rId2"/>
          <a:stretch>
            <a:fillRect/>
          </a:stretch>
        </p:blipFill>
        <p:spPr>
          <a:xfrm>
            <a:off x="4873752" y="3474720"/>
            <a:ext cx="274320" cy="274320"/>
          </a:xfrm>
          <a:prstGeom prst="rect">
            <a:avLst/>
          </a:prstGeom>
        </p:spPr>
      </p:pic>
      <p:pic>
        <p:nvPicPr>
          <p:cNvPr id="7" name="Star 3" descr="preencoded.png">    </p:cNvPr>
          <p:cNvPicPr>
            <a:picLocks noChangeAspect="1"/>
          </p:cNvPicPr>
          <p:nvPr/>
        </p:nvPicPr>
        <p:blipFill>
          <a:blip r:embed="rId3"/>
          <a:stretch>
            <a:fillRect/>
          </a:stretch>
        </p:blipFill>
        <p:spPr>
          <a:xfrm>
            <a:off x="5221224" y="3474720"/>
            <a:ext cx="274320" cy="274320"/>
          </a:xfrm>
          <a:prstGeom prst="rect">
            <a:avLst/>
          </a:prstGeom>
        </p:spPr>
      </p:pic>
      <p:pic>
        <p:nvPicPr>
          <p:cNvPr id="8" name="Star 4" descr="preencoded.png">    </p:cNvPr>
          <p:cNvPicPr>
            <a:picLocks noChangeAspect="1"/>
          </p:cNvPicPr>
          <p:nvPr/>
        </p:nvPicPr>
        <p:blipFill>
          <a:blip r:embed="rId4"/>
          <a:stretch>
            <a:fillRect/>
          </a:stretch>
        </p:blipFill>
        <p:spPr>
          <a:xfrm>
            <a:off x="5568696" y="3474720"/>
            <a:ext cx="274320" cy="274320"/>
          </a:xfrm>
          <a:prstGeom prst="rect">
            <a:avLst/>
          </a:prstGeom>
        </p:spPr>
      </p:pic>
      <p:pic>
        <p:nvPicPr>
          <p:cNvPr id="9" name="Star 5" descr="preencoded.png">    </p:cNvPr>
          <p:cNvPicPr>
            <a:picLocks noChangeAspect="1"/>
          </p:cNvPicPr>
          <p:nvPr/>
        </p:nvPicPr>
        <p:blipFill>
          <a:blip r:embed="rId5"/>
          <a:stretch>
            <a:fillRect/>
          </a:stretch>
        </p:blipFill>
        <p:spPr>
          <a:xfrm>
            <a:off x="5916168" y="3474720"/>
            <a:ext cx="274320" cy="274320"/>
          </a:xfrm>
          <a:prstGeom prst="rect">
            <a:avLst/>
          </a:prstGeom>
        </p:spPr>
      </p:pic>
    </p:spTree>
  </p:cSld>
  <p:clrMapOvr>
    <a:masterClrMapping/>
  </p:clrMapOvr>
</p:sld>
</file>

<file path=ppt/theme/theme1.xml><?xml version="1.0" encoding="utf-8"?>
<a:theme xmlns:a="http://schemas.openxmlformats.org/drawingml/2006/main" name="L&amp;D Field Team">
  <a:themeElements>
    <a:clrScheme name="L&amp;D Field Team">
      <a:dk1>
        <a:srgbClr val="121921"/>
      </a:dk1>
      <a:lt1>
        <a:srgbClr val="FFFFFF"/>
      </a:lt1>
      <a:dk2>
        <a:srgbClr val="37475A"/>
      </a:dk2>
      <a:lt2>
        <a:srgbClr val="F5F6FA"/>
      </a:lt2>
      <a:accent1>
        <a:srgbClr val="02A6E1"/>
      </a:accent1>
      <a:accent2>
        <a:srgbClr val="1E8C7E"/>
      </a:accent2>
      <a:accent3>
        <a:srgbClr val="D64545"/>
      </a:accent3>
      <a:accent4>
        <a:srgbClr val="5B6B7B"/>
      </a:accent4>
      <a:accent5>
        <a:srgbClr val="FFB400"/>
      </a:accent5>
      <a:accent6>
        <a:srgbClr val="0B6E99"/>
      </a:accent6>
      <a:hlink>
        <a:srgbClr val="0B6E99"/>
      </a:hlink>
      <a:folHlink>
        <a:srgbClr val="5B6B7B"/>
      </a:folHlink>
    </a:clrScheme>
    <a:fontScheme name="L&amp;D Field Tea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Amnesty Coaching - Stow: First Face Fix and ROBOTSS</dc:title>
  <dc:subject>wAPMT coaching campaign</dc:subject>
  <dc:creator>PptxGenJS</dc:creator>
  <cp:lastModifiedBy>PptxGenJS</cp:lastModifiedBy>
  <cp:revision>1</cp:revision>
  <dcterms:created xsi:type="dcterms:W3CDTF">2026-10-12T14:51:39Z</dcterms:created>
  <dcterms:modified xsi:type="dcterms:W3CDTF">2026-10-12T14:51:39Z</dcterms:modified>
</cp:coreProperties>
</file>